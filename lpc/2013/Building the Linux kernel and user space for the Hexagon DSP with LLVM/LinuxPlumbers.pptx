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5"/>
  </p:sldMasterIdLst>
  <p:notesMasterIdLst>
    <p:notesMasterId r:id="rId24"/>
  </p:notesMasterIdLst>
  <p:handoutMasterIdLst>
    <p:handoutMasterId r:id="rId25"/>
  </p:handoutMasterIdLst>
  <p:sldIdLst>
    <p:sldId id="350" r:id="rId6"/>
    <p:sldId id="354" r:id="rId7"/>
    <p:sldId id="365" r:id="rId8"/>
    <p:sldId id="366" r:id="rId9"/>
    <p:sldId id="367" r:id="rId10"/>
    <p:sldId id="352" r:id="rId11"/>
    <p:sldId id="355" r:id="rId12"/>
    <p:sldId id="368" r:id="rId13"/>
    <p:sldId id="369" r:id="rId14"/>
    <p:sldId id="356" r:id="rId15"/>
    <p:sldId id="357" r:id="rId16"/>
    <p:sldId id="358" r:id="rId17"/>
    <p:sldId id="359" r:id="rId18"/>
    <p:sldId id="360" r:id="rId19"/>
    <p:sldId id="361" r:id="rId20"/>
    <p:sldId id="362" r:id="rId21"/>
    <p:sldId id="363" r:id="rId22"/>
    <p:sldId id="364" r:id="rId23"/>
  </p:sldIdLst>
  <p:sldSz cx="9144000" cy="6858000" type="screen4x3"/>
  <p:notesSz cx="6985000" cy="92837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Arial" charset="0"/>
      </a:defRPr>
    </a:lvl1pPr>
    <a:lvl2pPr marL="457200" algn="l" rtl="0" eaLnBrk="0" fontAlgn="base" hangingPunct="0">
      <a:spcBef>
        <a:spcPct val="0"/>
      </a:spcBef>
      <a:spcAft>
        <a:spcPct val="0"/>
      </a:spcAft>
      <a:defRPr kern="1200">
        <a:solidFill>
          <a:schemeClr val="tx1"/>
        </a:solidFill>
        <a:latin typeface="Arial" charset="0"/>
        <a:ea typeface="+mn-ea"/>
        <a:cs typeface="Arial" charset="0"/>
      </a:defRPr>
    </a:lvl2pPr>
    <a:lvl3pPr marL="914400" algn="l" rtl="0" eaLnBrk="0" fontAlgn="base" hangingPunct="0">
      <a:spcBef>
        <a:spcPct val="0"/>
      </a:spcBef>
      <a:spcAft>
        <a:spcPct val="0"/>
      </a:spcAft>
      <a:defRPr kern="1200">
        <a:solidFill>
          <a:schemeClr val="tx1"/>
        </a:solidFill>
        <a:latin typeface="Arial" charset="0"/>
        <a:ea typeface="+mn-ea"/>
        <a:cs typeface="Arial" charset="0"/>
      </a:defRPr>
    </a:lvl3pPr>
    <a:lvl4pPr marL="1371600" algn="l" rtl="0" eaLnBrk="0" fontAlgn="base" hangingPunct="0">
      <a:spcBef>
        <a:spcPct val="0"/>
      </a:spcBef>
      <a:spcAft>
        <a:spcPct val="0"/>
      </a:spcAft>
      <a:defRPr kern="1200">
        <a:solidFill>
          <a:schemeClr val="tx1"/>
        </a:solidFill>
        <a:latin typeface="Arial" charset="0"/>
        <a:ea typeface="+mn-ea"/>
        <a:cs typeface="Arial" charset="0"/>
      </a:defRPr>
    </a:lvl4pPr>
    <a:lvl5pPr marL="1828800" algn="l" rtl="0" eaLnBrk="0" fontAlgn="base" hangingPunct="0">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_sperki" initials="c"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592C3"/>
    <a:srgbClr val="A2A2A2"/>
    <a:srgbClr val="BC443A"/>
    <a:srgbClr val="C13535"/>
    <a:srgbClr val="3E3233"/>
    <a:srgbClr val="333333"/>
    <a:srgbClr val="7C7570"/>
    <a:srgbClr val="678D32"/>
    <a:srgbClr val="89B259"/>
    <a:srgbClr val="97C0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7869" autoAdjust="0"/>
  </p:normalViewPr>
  <p:slideViewPr>
    <p:cSldViewPr snapToGrid="0">
      <p:cViewPr varScale="1">
        <p:scale>
          <a:sx n="88" d="100"/>
          <a:sy n="88" d="100"/>
        </p:scale>
        <p:origin x="-966" y="-108"/>
      </p:cViewPr>
      <p:guideLst>
        <p:guide orient="horz" pos="4031"/>
        <p:guide pos="171"/>
      </p:guideLst>
    </p:cSldViewPr>
  </p:slideViewPr>
  <p:notesTextViewPr>
    <p:cViewPr>
      <p:scale>
        <a:sx n="100" d="100"/>
        <a:sy n="100" d="100"/>
      </p:scale>
      <p:origin x="0" y="0"/>
    </p:cViewPr>
  </p:notesTextViewPr>
  <p:sorterViewPr>
    <p:cViewPr>
      <p:scale>
        <a:sx n="75" d="100"/>
        <a:sy n="75" d="100"/>
      </p:scale>
      <p:origin x="0" y="0"/>
    </p:cViewPr>
  </p:sorterViewPr>
  <p:notesViewPr>
    <p:cSldViewPr snapToGrid="0">
      <p:cViewPr varScale="1">
        <p:scale>
          <a:sx n="79" d="100"/>
          <a:sy n="79" d="100"/>
        </p:scale>
        <p:origin x="-2010" y="-84"/>
      </p:cViewPr>
      <p:guideLst>
        <p:guide orient="horz" pos="2924"/>
        <p:guide pos="220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notesMaster" Target="notesMasters/notesMaster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1" y="0"/>
            <a:ext cx="3026622" cy="463550"/>
          </a:xfrm>
          <a:prstGeom prst="rect">
            <a:avLst/>
          </a:prstGeom>
          <a:noFill/>
          <a:ln w="9525">
            <a:noFill/>
            <a:miter lim="800000"/>
            <a:headEnd/>
            <a:tailEnd/>
          </a:ln>
        </p:spPr>
        <p:txBody>
          <a:bodyPr vert="horz" wrap="square" lIns="93031" tIns="46516" rIns="93031" bIns="46516" numCol="1" anchor="t" anchorCtr="0" compatLnSpc="1">
            <a:prstTxWarp prst="textNoShape">
              <a:avLst/>
            </a:prstTxWarp>
          </a:bodyPr>
          <a:lstStyle>
            <a:lvl1pPr defTabSz="930275">
              <a:defRPr sz="1200"/>
            </a:lvl1pPr>
          </a:lstStyle>
          <a:p>
            <a:endParaRPr lang="en-US" dirty="0"/>
          </a:p>
        </p:txBody>
      </p:sp>
      <p:sp>
        <p:nvSpPr>
          <p:cNvPr id="8195" name="Rectangle 3"/>
          <p:cNvSpPr>
            <a:spLocks noGrp="1" noChangeArrowheads="1"/>
          </p:cNvSpPr>
          <p:nvPr>
            <p:ph type="dt" sz="quarter" idx="1"/>
          </p:nvPr>
        </p:nvSpPr>
        <p:spPr bwMode="auto">
          <a:xfrm>
            <a:off x="3958378" y="0"/>
            <a:ext cx="3026622" cy="463550"/>
          </a:xfrm>
          <a:prstGeom prst="rect">
            <a:avLst/>
          </a:prstGeom>
          <a:noFill/>
          <a:ln w="9525">
            <a:noFill/>
            <a:miter lim="800000"/>
            <a:headEnd/>
            <a:tailEnd/>
          </a:ln>
        </p:spPr>
        <p:txBody>
          <a:bodyPr vert="horz" wrap="square" lIns="93031" tIns="46516" rIns="93031" bIns="46516" numCol="1" anchor="t" anchorCtr="0" compatLnSpc="1">
            <a:prstTxWarp prst="textNoShape">
              <a:avLst/>
            </a:prstTxWarp>
          </a:bodyPr>
          <a:lstStyle>
            <a:lvl1pPr algn="r" defTabSz="930275">
              <a:defRPr sz="1200"/>
            </a:lvl1pPr>
          </a:lstStyle>
          <a:p>
            <a:endParaRPr lang="en-US" dirty="0"/>
          </a:p>
        </p:txBody>
      </p:sp>
      <p:sp>
        <p:nvSpPr>
          <p:cNvPr id="8196" name="Rectangle 4"/>
          <p:cNvSpPr>
            <a:spLocks noGrp="1" noChangeArrowheads="1"/>
          </p:cNvSpPr>
          <p:nvPr>
            <p:ph type="ftr" sz="quarter" idx="2"/>
          </p:nvPr>
        </p:nvSpPr>
        <p:spPr bwMode="auto">
          <a:xfrm>
            <a:off x="1" y="8820150"/>
            <a:ext cx="3026622" cy="463550"/>
          </a:xfrm>
          <a:prstGeom prst="rect">
            <a:avLst/>
          </a:prstGeom>
          <a:noFill/>
          <a:ln w="9525">
            <a:noFill/>
            <a:miter lim="800000"/>
            <a:headEnd/>
            <a:tailEnd/>
          </a:ln>
        </p:spPr>
        <p:txBody>
          <a:bodyPr vert="horz" wrap="square" lIns="93031" tIns="46516" rIns="93031" bIns="46516" numCol="1" anchor="b" anchorCtr="0" compatLnSpc="1">
            <a:prstTxWarp prst="textNoShape">
              <a:avLst/>
            </a:prstTxWarp>
          </a:bodyPr>
          <a:lstStyle>
            <a:lvl1pPr defTabSz="930275">
              <a:defRPr sz="1200"/>
            </a:lvl1pPr>
          </a:lstStyle>
          <a:p>
            <a:endParaRPr lang="en-US" dirty="0"/>
          </a:p>
        </p:txBody>
      </p:sp>
      <p:sp>
        <p:nvSpPr>
          <p:cNvPr id="8197" name="Rectangle 5"/>
          <p:cNvSpPr>
            <a:spLocks noGrp="1" noChangeArrowheads="1"/>
          </p:cNvSpPr>
          <p:nvPr>
            <p:ph type="sldNum" sz="quarter" idx="3"/>
          </p:nvPr>
        </p:nvSpPr>
        <p:spPr bwMode="auto">
          <a:xfrm>
            <a:off x="3958378" y="8820150"/>
            <a:ext cx="3026622" cy="463550"/>
          </a:xfrm>
          <a:prstGeom prst="rect">
            <a:avLst/>
          </a:prstGeom>
          <a:noFill/>
          <a:ln w="9525">
            <a:noFill/>
            <a:miter lim="800000"/>
            <a:headEnd/>
            <a:tailEnd/>
          </a:ln>
        </p:spPr>
        <p:txBody>
          <a:bodyPr vert="horz" wrap="square" lIns="93031" tIns="46516" rIns="93031" bIns="46516" numCol="1" anchor="b" anchorCtr="0" compatLnSpc="1">
            <a:prstTxWarp prst="textNoShape">
              <a:avLst/>
            </a:prstTxWarp>
          </a:bodyPr>
          <a:lstStyle>
            <a:lvl1pPr algn="r" defTabSz="930275">
              <a:defRPr sz="1200"/>
            </a:lvl1pPr>
          </a:lstStyle>
          <a:p>
            <a:fld id="{89E858B9-9622-41D4-B86C-CC604D6D2293}" type="slidenum">
              <a:rPr lang="en-US"/>
              <a:pPr/>
              <a:t>‹#›</a:t>
            </a:fld>
            <a:endParaRPr lang="en-US" dirty="0"/>
          </a:p>
        </p:txBody>
      </p:sp>
    </p:spTree>
    <p:extLst>
      <p:ext uri="{BB962C8B-B14F-4D97-AF65-F5344CB8AC3E}">
        <p14:creationId xmlns:p14="http://schemas.microsoft.com/office/powerpoint/2010/main" val="38228856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1" y="0"/>
            <a:ext cx="3026622" cy="463550"/>
          </a:xfrm>
          <a:prstGeom prst="rect">
            <a:avLst/>
          </a:prstGeom>
          <a:noFill/>
          <a:ln w="9525">
            <a:noFill/>
            <a:miter lim="800000"/>
            <a:headEnd/>
            <a:tailEnd/>
          </a:ln>
        </p:spPr>
        <p:txBody>
          <a:bodyPr vert="horz" wrap="square" lIns="93031" tIns="46516" rIns="93031" bIns="46516" numCol="1" anchor="t" anchorCtr="0" compatLnSpc="1">
            <a:prstTxWarp prst="textNoShape">
              <a:avLst/>
            </a:prstTxWarp>
          </a:bodyPr>
          <a:lstStyle>
            <a:lvl1pPr defTabSz="930275">
              <a:defRPr sz="1200"/>
            </a:lvl1pPr>
          </a:lstStyle>
          <a:p>
            <a:endParaRPr lang="en-US" dirty="0"/>
          </a:p>
        </p:txBody>
      </p:sp>
      <p:sp>
        <p:nvSpPr>
          <p:cNvPr id="13315" name="Rectangle 3"/>
          <p:cNvSpPr>
            <a:spLocks noGrp="1" noChangeArrowheads="1"/>
          </p:cNvSpPr>
          <p:nvPr>
            <p:ph type="dt" idx="1"/>
          </p:nvPr>
        </p:nvSpPr>
        <p:spPr bwMode="auto">
          <a:xfrm>
            <a:off x="3958378" y="0"/>
            <a:ext cx="3026622" cy="463550"/>
          </a:xfrm>
          <a:prstGeom prst="rect">
            <a:avLst/>
          </a:prstGeom>
          <a:noFill/>
          <a:ln w="9525">
            <a:noFill/>
            <a:miter lim="800000"/>
            <a:headEnd/>
            <a:tailEnd/>
          </a:ln>
        </p:spPr>
        <p:txBody>
          <a:bodyPr vert="horz" wrap="square" lIns="93031" tIns="46516" rIns="93031" bIns="46516" numCol="1" anchor="t" anchorCtr="0" compatLnSpc="1">
            <a:prstTxWarp prst="textNoShape">
              <a:avLst/>
            </a:prstTxWarp>
          </a:bodyPr>
          <a:lstStyle>
            <a:lvl1pPr algn="r" defTabSz="930275">
              <a:defRPr sz="1200"/>
            </a:lvl1pPr>
          </a:lstStyle>
          <a:p>
            <a:endParaRPr lang="en-US" dirty="0"/>
          </a:p>
        </p:txBody>
      </p:sp>
      <p:sp>
        <p:nvSpPr>
          <p:cNvPr id="13316" name="Rectangle 4"/>
          <p:cNvSpPr>
            <a:spLocks noGrp="1" noRot="1" noChangeAspect="1" noChangeArrowheads="1" noTextEdit="1"/>
          </p:cNvSpPr>
          <p:nvPr>
            <p:ph type="sldImg" idx="2"/>
          </p:nvPr>
        </p:nvSpPr>
        <p:spPr bwMode="auto">
          <a:xfrm>
            <a:off x="1171575" y="696913"/>
            <a:ext cx="4641850" cy="3481387"/>
          </a:xfrm>
          <a:prstGeom prst="rect">
            <a:avLst/>
          </a:prstGeom>
          <a:noFill/>
          <a:ln w="9525">
            <a:solidFill>
              <a:srgbClr val="000000"/>
            </a:solidFill>
            <a:miter lim="800000"/>
            <a:headEnd/>
            <a:tailEnd/>
          </a:ln>
          <a:effectLst/>
        </p:spPr>
      </p:sp>
      <p:sp>
        <p:nvSpPr>
          <p:cNvPr id="13317" name="Rectangle 5"/>
          <p:cNvSpPr>
            <a:spLocks noGrp="1" noChangeArrowheads="1"/>
          </p:cNvSpPr>
          <p:nvPr>
            <p:ph type="body" sz="quarter" idx="3"/>
          </p:nvPr>
        </p:nvSpPr>
        <p:spPr bwMode="auto">
          <a:xfrm>
            <a:off x="931756" y="4410076"/>
            <a:ext cx="5121488" cy="4176713"/>
          </a:xfrm>
          <a:prstGeom prst="rect">
            <a:avLst/>
          </a:prstGeom>
          <a:noFill/>
          <a:ln w="9525">
            <a:noFill/>
            <a:miter lim="800000"/>
            <a:headEnd/>
            <a:tailEnd/>
          </a:ln>
        </p:spPr>
        <p:txBody>
          <a:bodyPr vert="horz" wrap="square" lIns="93031" tIns="46516" rIns="93031" bIns="46516"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3318" name="Rectangle 6"/>
          <p:cNvSpPr>
            <a:spLocks noGrp="1" noChangeArrowheads="1"/>
          </p:cNvSpPr>
          <p:nvPr>
            <p:ph type="ftr" sz="quarter" idx="4"/>
          </p:nvPr>
        </p:nvSpPr>
        <p:spPr bwMode="auto">
          <a:xfrm>
            <a:off x="1" y="8820150"/>
            <a:ext cx="3026622" cy="463550"/>
          </a:xfrm>
          <a:prstGeom prst="rect">
            <a:avLst/>
          </a:prstGeom>
          <a:noFill/>
          <a:ln w="9525">
            <a:noFill/>
            <a:miter lim="800000"/>
            <a:headEnd/>
            <a:tailEnd/>
          </a:ln>
        </p:spPr>
        <p:txBody>
          <a:bodyPr vert="horz" wrap="square" lIns="93031" tIns="46516" rIns="93031" bIns="46516" numCol="1" anchor="b" anchorCtr="0" compatLnSpc="1">
            <a:prstTxWarp prst="textNoShape">
              <a:avLst/>
            </a:prstTxWarp>
          </a:bodyPr>
          <a:lstStyle>
            <a:lvl1pPr defTabSz="930275">
              <a:defRPr sz="1200"/>
            </a:lvl1pPr>
          </a:lstStyle>
          <a:p>
            <a:endParaRPr lang="en-US" dirty="0"/>
          </a:p>
        </p:txBody>
      </p:sp>
      <p:sp>
        <p:nvSpPr>
          <p:cNvPr id="13319" name="Rectangle 7"/>
          <p:cNvSpPr>
            <a:spLocks noGrp="1" noChangeArrowheads="1"/>
          </p:cNvSpPr>
          <p:nvPr>
            <p:ph type="sldNum" sz="quarter" idx="5"/>
          </p:nvPr>
        </p:nvSpPr>
        <p:spPr bwMode="auto">
          <a:xfrm>
            <a:off x="3958378" y="8820150"/>
            <a:ext cx="3026622" cy="463550"/>
          </a:xfrm>
          <a:prstGeom prst="rect">
            <a:avLst/>
          </a:prstGeom>
          <a:noFill/>
          <a:ln w="9525">
            <a:noFill/>
            <a:miter lim="800000"/>
            <a:headEnd/>
            <a:tailEnd/>
          </a:ln>
        </p:spPr>
        <p:txBody>
          <a:bodyPr vert="horz" wrap="square" lIns="93031" tIns="46516" rIns="93031" bIns="46516" numCol="1" anchor="b" anchorCtr="0" compatLnSpc="1">
            <a:prstTxWarp prst="textNoShape">
              <a:avLst/>
            </a:prstTxWarp>
          </a:bodyPr>
          <a:lstStyle>
            <a:lvl1pPr algn="r" defTabSz="930275">
              <a:defRPr sz="1200"/>
            </a:lvl1pPr>
          </a:lstStyle>
          <a:p>
            <a:fld id="{E391298E-09D2-4F98-B954-86421036320A}" type="slidenum">
              <a:rPr lang="en-US"/>
              <a:pPr/>
              <a:t>‹#›</a:t>
            </a:fld>
            <a:endParaRPr lang="en-US" dirty="0"/>
          </a:p>
        </p:txBody>
      </p:sp>
    </p:spTree>
    <p:extLst>
      <p:ext uri="{BB962C8B-B14F-4D97-AF65-F5344CB8AC3E}">
        <p14:creationId xmlns:p14="http://schemas.microsoft.com/office/powerpoint/2010/main" val="3043641846"/>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Arial" charset="0"/>
      </a:defRPr>
    </a:lvl1pPr>
    <a:lvl2pPr marL="457200" algn="l" rtl="0" fontAlgn="base">
      <a:spcBef>
        <a:spcPct val="30000"/>
      </a:spcBef>
      <a:spcAft>
        <a:spcPct val="0"/>
      </a:spcAft>
      <a:defRPr sz="1200" kern="1200">
        <a:solidFill>
          <a:schemeClr val="tx1"/>
        </a:solidFill>
        <a:latin typeface="Arial" charset="0"/>
        <a:ea typeface="+mn-ea"/>
        <a:cs typeface="Arial" charset="0"/>
      </a:defRPr>
    </a:lvl2pPr>
    <a:lvl3pPr marL="914400" algn="l" rtl="0" fontAlgn="base">
      <a:spcBef>
        <a:spcPct val="30000"/>
      </a:spcBef>
      <a:spcAft>
        <a:spcPct val="0"/>
      </a:spcAft>
      <a:defRPr sz="1200" kern="1200">
        <a:solidFill>
          <a:schemeClr val="tx1"/>
        </a:solidFill>
        <a:latin typeface="Arial" charset="0"/>
        <a:ea typeface="+mn-ea"/>
        <a:cs typeface="Arial" charset="0"/>
      </a:defRPr>
    </a:lvl3pPr>
    <a:lvl4pPr marL="1371600" algn="l" rtl="0" fontAlgn="base">
      <a:spcBef>
        <a:spcPct val="30000"/>
      </a:spcBef>
      <a:spcAft>
        <a:spcPct val="0"/>
      </a:spcAft>
      <a:defRPr sz="1200" kern="1200">
        <a:solidFill>
          <a:schemeClr val="tx1"/>
        </a:solidFill>
        <a:latin typeface="Arial" charset="0"/>
        <a:ea typeface="+mn-ea"/>
        <a:cs typeface="Arial" charset="0"/>
      </a:defRPr>
    </a:lvl4pPr>
    <a:lvl5pPr marL="1828800" algn="l" rtl="0" fontAlgn="base">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4.jpeg"/><Relationship Id="rId4" Type="http://schemas.openxmlformats.org/officeDocument/2006/relationships/image" Target="../media/image3.jpe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evider Slide (New Section)">
    <p:spTree>
      <p:nvGrpSpPr>
        <p:cNvPr id="1" name=""/>
        <p:cNvGrpSpPr/>
        <p:nvPr/>
      </p:nvGrpSpPr>
      <p:grpSpPr>
        <a:xfrm>
          <a:off x="0" y="0"/>
          <a:ext cx="0" cy="0"/>
          <a:chOff x="0" y="0"/>
          <a:chExt cx="0" cy="0"/>
        </a:xfrm>
      </p:grpSpPr>
      <p:pic>
        <p:nvPicPr>
          <p:cNvPr id="11" name="Picture 10" descr="environment_cell.jpg"/>
          <p:cNvPicPr>
            <a:picLocks noChangeAspect="1"/>
          </p:cNvPicPr>
          <p:nvPr userDrawn="1"/>
        </p:nvPicPr>
        <p:blipFill>
          <a:blip r:embed="rId2" cstate="print"/>
          <a:stretch>
            <a:fillRect/>
          </a:stretch>
        </p:blipFill>
        <p:spPr>
          <a:xfrm>
            <a:off x="4741163" y="1591056"/>
            <a:ext cx="3998539" cy="1882141"/>
          </a:xfrm>
          <a:prstGeom prst="roundRect">
            <a:avLst>
              <a:gd name="adj" fmla="val 6465"/>
            </a:avLst>
          </a:prstGeom>
        </p:spPr>
      </p:pic>
      <p:pic>
        <p:nvPicPr>
          <p:cNvPr id="13" name="Picture 12" descr="qualcomm_11718 copy.jpg"/>
          <p:cNvPicPr>
            <a:picLocks noChangeAspect="1"/>
          </p:cNvPicPr>
          <p:nvPr userDrawn="1"/>
        </p:nvPicPr>
        <p:blipFill>
          <a:blip r:embed="rId3" cstate="print"/>
          <a:srcRect l="10503" t="32269" r="44444"/>
          <a:stretch>
            <a:fillRect/>
          </a:stretch>
        </p:blipFill>
        <p:spPr>
          <a:xfrm>
            <a:off x="4754880" y="3520440"/>
            <a:ext cx="1380744" cy="1655064"/>
          </a:xfrm>
          <a:prstGeom prst="roundRect">
            <a:avLst>
              <a:gd name="adj" fmla="val 7509"/>
            </a:avLst>
          </a:prstGeom>
        </p:spPr>
      </p:pic>
      <p:pic>
        <p:nvPicPr>
          <p:cNvPr id="14" name="Picture 13" descr="qualcomm_16485 copy.jpg"/>
          <p:cNvPicPr>
            <a:picLocks noChangeAspect="1"/>
          </p:cNvPicPr>
          <p:nvPr userDrawn="1"/>
        </p:nvPicPr>
        <p:blipFill>
          <a:blip r:embed="rId4" cstate="print"/>
          <a:srcRect l="2607" t="15721" r="28474" b="27812"/>
          <a:stretch>
            <a:fillRect/>
          </a:stretch>
        </p:blipFill>
        <p:spPr>
          <a:xfrm>
            <a:off x="6208776" y="3538728"/>
            <a:ext cx="2505456" cy="1636776"/>
          </a:xfrm>
          <a:prstGeom prst="roundRect">
            <a:avLst>
              <a:gd name="adj" fmla="val 6266"/>
            </a:avLst>
          </a:prstGeom>
        </p:spPr>
      </p:pic>
      <p:sp>
        <p:nvSpPr>
          <p:cNvPr id="15" name="Rounded Rectangle 14"/>
          <p:cNvSpPr/>
          <p:nvPr userDrawn="1"/>
        </p:nvSpPr>
        <p:spPr bwMode="auto">
          <a:xfrm>
            <a:off x="466344" y="1591056"/>
            <a:ext cx="4206240" cy="3593592"/>
          </a:xfrm>
          <a:prstGeom prst="roundRect">
            <a:avLst>
              <a:gd name="adj" fmla="val 3455"/>
            </a:avLst>
          </a:prstGeom>
          <a:gradFill>
            <a:gsLst>
              <a:gs pos="0">
                <a:schemeClr val="accent2">
                  <a:lumMod val="20000"/>
                  <a:lumOff val="80000"/>
                </a:schemeClr>
              </a:gs>
              <a:gs pos="100000">
                <a:schemeClr val="accent2">
                  <a:lumMod val="60000"/>
                  <a:lumOff val="40000"/>
                </a:schemeClr>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charset="0"/>
              <a:cs typeface="Arial" charset="0"/>
            </a:endParaRPr>
          </a:p>
        </p:txBody>
      </p:sp>
      <p:sp>
        <p:nvSpPr>
          <p:cNvPr id="16" name="Text Box 49"/>
          <p:cNvSpPr txBox="1">
            <a:spLocks noChangeArrowheads="1"/>
          </p:cNvSpPr>
          <p:nvPr userDrawn="1"/>
        </p:nvSpPr>
        <p:spPr bwMode="auto">
          <a:xfrm>
            <a:off x="237744" y="6411110"/>
            <a:ext cx="1152144" cy="215444"/>
          </a:xfrm>
          <a:prstGeom prst="rect">
            <a:avLst/>
          </a:prstGeom>
          <a:noFill/>
          <a:ln w="9525">
            <a:noFill/>
            <a:miter lim="800000"/>
            <a:headEnd/>
            <a:tailEnd/>
          </a:ln>
        </p:spPr>
        <p:txBody>
          <a:bodyPr wrap="square" anchor="ctr">
            <a:spAutoFit/>
          </a:bodyPr>
          <a:lstStyle/>
          <a:p>
            <a:r>
              <a:rPr lang="en-US" sz="800" b="1" dirty="0">
                <a:solidFill>
                  <a:schemeClr val="accent1"/>
                </a:solidFill>
              </a:rPr>
              <a:t>PAGE</a:t>
            </a:r>
            <a:r>
              <a:rPr lang="en-US" sz="800" b="1" dirty="0" smtClean="0">
                <a:solidFill>
                  <a:schemeClr val="accent1"/>
                </a:solidFill>
              </a:rPr>
              <a:t>  </a:t>
            </a:r>
            <a:fld id="{DF573F04-0965-4020-B5B5-991C2993D9D9}" type="slidenum">
              <a:rPr lang="en-US" sz="800" b="1" smtClean="0">
                <a:solidFill>
                  <a:schemeClr val="accent1"/>
                </a:solidFill>
              </a:rPr>
              <a:pPr/>
              <a:t>‹#›</a:t>
            </a:fld>
            <a:endParaRPr lang="en-US" sz="800" b="1" dirty="0">
              <a:solidFill>
                <a:schemeClr val="accent1"/>
              </a:solidFill>
            </a:endParaRPr>
          </a:p>
        </p:txBody>
      </p:sp>
      <p:pic>
        <p:nvPicPr>
          <p:cNvPr id="17" name="Picture 16" descr="QuIC.png"/>
          <p:cNvPicPr>
            <a:picLocks noChangeAspect="1"/>
          </p:cNvPicPr>
          <p:nvPr userDrawn="1"/>
        </p:nvPicPr>
        <p:blipFill>
          <a:blip r:embed="rId5" cstate="print"/>
          <a:stretch>
            <a:fillRect/>
          </a:stretch>
        </p:blipFill>
        <p:spPr>
          <a:xfrm>
            <a:off x="6225021" y="6038146"/>
            <a:ext cx="2597104" cy="636974"/>
          </a:xfrm>
          <a:prstGeom prst="rect">
            <a:avLst/>
          </a:prstGeom>
        </p:spPr>
      </p:pic>
      <p:sp>
        <p:nvSpPr>
          <p:cNvPr id="9" name="Rectangle 8"/>
          <p:cNvSpPr/>
          <p:nvPr userDrawn="1"/>
        </p:nvSpPr>
        <p:spPr>
          <a:xfrm>
            <a:off x="5568696" y="1271016"/>
            <a:ext cx="3127248" cy="307777"/>
          </a:xfrm>
          <a:prstGeom prst="rect">
            <a:avLst/>
          </a:prstGeom>
        </p:spPr>
        <p:txBody>
          <a:bodyPr wrap="square">
            <a:spAutoFit/>
          </a:bodyPr>
          <a:lstStyle/>
          <a:p>
            <a:pPr algn="r"/>
            <a:r>
              <a:rPr lang="en-US" sz="1400" b="0" i="0" u="none" kern="1200" dirty="0" smtClean="0">
                <a:solidFill>
                  <a:schemeClr val="tx2">
                    <a:lumMod val="60000"/>
                    <a:lumOff val="40000"/>
                  </a:schemeClr>
                </a:solidFill>
                <a:latin typeface="Arial" charset="0"/>
                <a:ea typeface="+mn-ea"/>
                <a:cs typeface="Arial" charset="0"/>
              </a:rPr>
              <a:t>Open </a:t>
            </a:r>
            <a:r>
              <a:rPr lang="en-US" sz="1400" b="0" i="1" u="none" kern="1200" dirty="0" smtClean="0">
                <a:solidFill>
                  <a:schemeClr val="tx2">
                    <a:lumMod val="60000"/>
                    <a:lumOff val="40000"/>
                  </a:schemeClr>
                </a:solidFill>
                <a:latin typeface="Arial" charset="0"/>
                <a:ea typeface="+mn-ea"/>
                <a:cs typeface="Arial" charset="0"/>
              </a:rPr>
              <a:t>Source |</a:t>
            </a:r>
            <a:r>
              <a:rPr lang="en-US" sz="1400" b="0" i="0" u="none" kern="1200" baseline="0" dirty="0" smtClean="0">
                <a:solidFill>
                  <a:schemeClr val="tx2">
                    <a:lumMod val="60000"/>
                    <a:lumOff val="40000"/>
                  </a:schemeClr>
                </a:solidFill>
                <a:latin typeface="Arial" charset="0"/>
                <a:ea typeface="+mn-ea"/>
                <a:cs typeface="Arial" charset="0"/>
              </a:rPr>
              <a:t> </a:t>
            </a:r>
            <a:r>
              <a:rPr lang="en-US" sz="1400" b="0" i="0" u="none" kern="1200" dirty="0" smtClean="0">
                <a:solidFill>
                  <a:schemeClr val="tx2">
                    <a:lumMod val="60000"/>
                    <a:lumOff val="40000"/>
                  </a:schemeClr>
                </a:solidFill>
                <a:latin typeface="Arial" charset="0"/>
                <a:ea typeface="+mn-ea"/>
                <a:cs typeface="Arial" charset="0"/>
              </a:rPr>
              <a:t>Open </a:t>
            </a:r>
            <a:r>
              <a:rPr lang="en-US" sz="1400" b="0" i="1" u="none" kern="1200" dirty="0" smtClean="0">
                <a:solidFill>
                  <a:schemeClr val="tx2">
                    <a:lumMod val="60000"/>
                    <a:lumOff val="40000"/>
                  </a:schemeClr>
                </a:solidFill>
                <a:latin typeface="Arial" charset="0"/>
                <a:ea typeface="+mn-ea"/>
                <a:cs typeface="Arial" charset="0"/>
              </a:rPr>
              <a:t>Possibilities</a:t>
            </a:r>
            <a:endParaRPr lang="en-US" sz="1400" b="0" i="0" u="none" dirty="0">
              <a:solidFill>
                <a:schemeClr val="tx2">
                  <a:lumMod val="60000"/>
                  <a:lumOff val="40000"/>
                </a:schemeClr>
              </a:solidFill>
            </a:endParaRPr>
          </a:p>
        </p:txBody>
      </p:sp>
      <p:sp>
        <p:nvSpPr>
          <p:cNvPr id="20" name="Content Placeholder 19"/>
          <p:cNvSpPr>
            <a:spLocks noGrp="1"/>
          </p:cNvSpPr>
          <p:nvPr>
            <p:ph sz="quarter" idx="10" hasCustomPrompt="1"/>
          </p:nvPr>
        </p:nvSpPr>
        <p:spPr>
          <a:xfrm>
            <a:off x="695325" y="2971800"/>
            <a:ext cx="3959225" cy="1765300"/>
          </a:xfrm>
        </p:spPr>
        <p:txBody>
          <a:bodyPr/>
          <a:lstStyle>
            <a:lvl1pPr>
              <a:buNone/>
              <a:defRPr sz="2400">
                <a:solidFill>
                  <a:schemeClr val="tx2"/>
                </a:solidFill>
              </a:defRPr>
            </a:lvl1pPr>
          </a:lstStyle>
          <a:p>
            <a:pPr lvl="0"/>
            <a:r>
              <a:rPr lang="en-US" dirty="0" smtClean="0"/>
              <a:t>Section Title</a:t>
            </a:r>
            <a:endParaRPr lang="en-US" dirty="0"/>
          </a:p>
        </p:txBody>
      </p:sp>
      <p:sp>
        <p:nvSpPr>
          <p:cNvPr id="12" name="TextBox 11"/>
          <p:cNvSpPr txBox="1"/>
          <p:nvPr userDrawn="1"/>
        </p:nvSpPr>
        <p:spPr>
          <a:xfrm>
            <a:off x="1351886" y="6454771"/>
            <a:ext cx="3710989" cy="184666"/>
          </a:xfrm>
          <a:prstGeom prst="rect">
            <a:avLst/>
          </a:prstGeom>
          <a:noFill/>
        </p:spPr>
        <p:txBody>
          <a:bodyPr wrap="square" anchor="ctr">
            <a:spAutoFit/>
          </a:bodyPr>
          <a:lstStyle/>
          <a:p>
            <a:pPr algn="r" fontAlgn="auto">
              <a:spcBef>
                <a:spcPts val="0"/>
              </a:spcBef>
              <a:spcAft>
                <a:spcPts val="0"/>
              </a:spcAft>
              <a:defRPr/>
            </a:pPr>
            <a:r>
              <a:rPr lang="en-US" sz="600" baseline="0" dirty="0" smtClean="0">
                <a:solidFill>
                  <a:schemeClr val="bg2"/>
                </a:solidFill>
                <a:latin typeface="Arial"/>
                <a:cs typeface="Arial"/>
              </a:rPr>
              <a:t>MAY CONTAIN U.S. AND INTERNATIONAL EXPORT CONTROLLED INFORMATION </a:t>
            </a:r>
            <a:endParaRPr lang="en-US" sz="600" baseline="0" dirty="0">
              <a:solidFill>
                <a:schemeClr val="bg2"/>
              </a:solidFill>
              <a:latin typeface="Arial"/>
              <a:cs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6779" y="273050"/>
            <a:ext cx="8729663" cy="561975"/>
          </a:xfrm>
        </p:spPr>
        <p:txBody>
          <a:bodyPr/>
          <a:lstStyle>
            <a:lvl1pPr>
              <a:defRPr>
                <a:solidFill>
                  <a:schemeClr val="accent1"/>
                </a:solidFill>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lvl1pPr>
              <a:buClr>
                <a:schemeClr val="accent2"/>
              </a:buClr>
              <a:defRPr>
                <a:solidFill>
                  <a:srgbClr val="333333"/>
                </a:solidFill>
              </a:defRPr>
            </a:lvl1pPr>
            <a:lvl2pPr>
              <a:buClr>
                <a:schemeClr val="accent1"/>
              </a:buClr>
              <a:defRPr>
                <a:solidFill>
                  <a:srgbClr val="333333"/>
                </a:solidFill>
              </a:defRPr>
            </a:lvl2pPr>
            <a:lvl3pPr>
              <a:buClr>
                <a:schemeClr val="tx2"/>
              </a:buClr>
              <a:defRPr>
                <a:solidFill>
                  <a:srgbClr val="333333"/>
                </a:solidFill>
              </a:defRPr>
            </a:lvl3pPr>
            <a:lvl4pPr>
              <a:buClr>
                <a:schemeClr val="accent1"/>
              </a:buClr>
              <a:buFont typeface="Lucida Grande"/>
              <a:buChar char="»"/>
              <a:defRPr>
                <a:solidFill>
                  <a:srgbClr val="333333"/>
                </a:solidFill>
              </a:defRPr>
            </a:lvl4pPr>
            <a:lvl5pPr>
              <a:buClr>
                <a:schemeClr val="tx2"/>
              </a:buClr>
              <a:defRPr>
                <a:solidFill>
                  <a:srgbClr val="333333"/>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none">
                <a:solidFill>
                  <a:srgbClr val="636568"/>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rgbClr val="333333"/>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6779" y="273049"/>
            <a:ext cx="8729663" cy="561975"/>
          </a:xfrm>
        </p:spPr>
        <p:txBody>
          <a:bodyPr/>
          <a:lstStyle>
            <a:lvl1pPr>
              <a:defRPr>
                <a:solidFill>
                  <a:schemeClr val="accent1"/>
                </a:solidFill>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lvl1pPr>
              <a:defRPr>
                <a:solidFill>
                  <a:srgbClr val="333333"/>
                </a:solidFill>
              </a:defRPr>
            </a:lvl1pPr>
            <a:lvl2pPr>
              <a:defRPr>
                <a:solidFill>
                  <a:srgbClr val="333333"/>
                </a:solidFill>
              </a:defRPr>
            </a:lvl2pPr>
            <a:lvl3pPr>
              <a:defRPr>
                <a:solidFill>
                  <a:srgbClr val="333333"/>
                </a:solidFill>
              </a:defRPr>
            </a:lvl3pPr>
            <a:lvl4pPr>
              <a:defRPr>
                <a:solidFill>
                  <a:srgbClr val="333333"/>
                </a:solidFill>
              </a:defRPr>
            </a:lvl4pPr>
            <a:lvl5pPr>
              <a:defRPr>
                <a:solidFill>
                  <a:srgbClr val="333333"/>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76779" y="273050"/>
            <a:ext cx="8729663" cy="561975"/>
          </a:xfrm>
        </p:spPr>
        <p:txBody>
          <a:bodyPr/>
          <a:lstStyle>
            <a:lvl1pPr>
              <a:defRPr>
                <a:solidFill>
                  <a:schemeClr val="accent1"/>
                </a:solidFill>
              </a:defRPr>
            </a:lvl1pPr>
          </a:lstStyle>
          <a:p>
            <a:r>
              <a:rPr lang="en-US" smtClean="0"/>
              <a:t>Click to edit Master title style</a:t>
            </a:r>
            <a:endParaRPr lang="en-US" dirty="0"/>
          </a:p>
        </p:txBody>
      </p:sp>
      <p:sp>
        <p:nvSpPr>
          <p:cNvPr id="3" name="Content Placeholder 2"/>
          <p:cNvSpPr>
            <a:spLocks noGrp="1"/>
          </p:cNvSpPr>
          <p:nvPr>
            <p:ph sz="half" idx="1"/>
          </p:nvPr>
        </p:nvSpPr>
        <p:spPr>
          <a:xfrm>
            <a:off x="163513" y="904108"/>
            <a:ext cx="4279900" cy="5314950"/>
          </a:xfrm>
        </p:spPr>
        <p:txBody>
          <a:bodyPr/>
          <a:lstStyle>
            <a:lvl1pPr>
              <a:defRPr sz="2000">
                <a:solidFill>
                  <a:srgbClr val="333333"/>
                </a:solidFill>
              </a:defRPr>
            </a:lvl1pPr>
            <a:lvl2pPr>
              <a:defRPr sz="1800">
                <a:solidFill>
                  <a:srgbClr val="333333"/>
                </a:solidFill>
              </a:defRPr>
            </a:lvl2pPr>
            <a:lvl3pPr>
              <a:defRPr sz="1600">
                <a:solidFill>
                  <a:srgbClr val="333333"/>
                </a:solidFill>
              </a:defRPr>
            </a:lvl3pPr>
            <a:lvl4pPr>
              <a:defRPr sz="1400">
                <a:solidFill>
                  <a:srgbClr val="333333"/>
                </a:solidFill>
              </a:defRPr>
            </a:lvl4pPr>
            <a:lvl5pPr>
              <a:defRPr sz="1400">
                <a:solidFill>
                  <a:srgbClr val="333333"/>
                </a:solidFill>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595813" y="904108"/>
            <a:ext cx="4279900" cy="5314950"/>
          </a:xfrm>
        </p:spPr>
        <p:txBody>
          <a:bodyPr/>
          <a:lstStyle>
            <a:lvl1pPr>
              <a:defRPr sz="2000">
                <a:solidFill>
                  <a:srgbClr val="333333"/>
                </a:solidFill>
              </a:defRPr>
            </a:lvl1pPr>
            <a:lvl2pPr>
              <a:defRPr sz="1800">
                <a:solidFill>
                  <a:srgbClr val="333333"/>
                </a:solidFill>
              </a:defRPr>
            </a:lvl2pPr>
            <a:lvl3pPr>
              <a:defRPr sz="1600">
                <a:solidFill>
                  <a:srgbClr val="333333"/>
                </a:solidFill>
              </a:defRPr>
            </a:lvl3pPr>
            <a:lvl4pPr>
              <a:defRPr sz="1400">
                <a:solidFill>
                  <a:srgbClr val="333333"/>
                </a:solidFill>
              </a:defRPr>
            </a:lvl4pPr>
            <a:lvl5pPr>
              <a:defRPr sz="1400">
                <a:solidFill>
                  <a:srgbClr val="333333"/>
                </a:solidFill>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70396" y="274638"/>
            <a:ext cx="8802042" cy="1143000"/>
          </a:xfrm>
        </p:spPr>
        <p:txBody>
          <a:bodyPr/>
          <a:lstStyle>
            <a:lvl1pPr>
              <a:defRPr>
                <a:solidFill>
                  <a:schemeClr val="accent1"/>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70396" y="1535113"/>
            <a:ext cx="4040188" cy="639762"/>
          </a:xfrm>
        </p:spPr>
        <p:txBody>
          <a:bodyPr anchor="b"/>
          <a:lstStyle>
            <a:lvl1pPr marL="0" indent="0">
              <a:buNone/>
              <a:defRPr sz="21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60153" y="2174875"/>
            <a:ext cx="4040188" cy="3951288"/>
          </a:xfrm>
        </p:spPr>
        <p:txBody>
          <a:bodyPr/>
          <a:lstStyle>
            <a:lvl1pPr>
              <a:defRPr sz="2000">
                <a:solidFill>
                  <a:srgbClr val="333333"/>
                </a:solidFill>
              </a:defRPr>
            </a:lvl1pPr>
            <a:lvl2pPr>
              <a:defRPr sz="1800">
                <a:solidFill>
                  <a:srgbClr val="333333"/>
                </a:solidFill>
              </a:defRPr>
            </a:lvl2pPr>
            <a:lvl3pPr>
              <a:defRPr sz="1600">
                <a:solidFill>
                  <a:srgbClr val="333333"/>
                </a:solidFill>
              </a:defRPr>
            </a:lvl3pPr>
            <a:lvl4pPr>
              <a:defRPr sz="1400">
                <a:solidFill>
                  <a:srgbClr val="333333"/>
                </a:solidFill>
              </a:defRPr>
            </a:lvl4pPr>
            <a:lvl5pPr>
              <a:defRPr sz="1400">
                <a:solidFill>
                  <a:srgbClr val="333333"/>
                </a:solidFill>
              </a:defRPr>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34782" y="1535113"/>
            <a:ext cx="4041775" cy="639762"/>
          </a:xfrm>
        </p:spPr>
        <p:txBody>
          <a:bodyPr anchor="b"/>
          <a:lstStyle>
            <a:lvl1pPr marL="0" indent="0">
              <a:buNone/>
              <a:defRPr sz="21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000">
                <a:solidFill>
                  <a:srgbClr val="333333"/>
                </a:solidFill>
              </a:defRPr>
            </a:lvl1pPr>
            <a:lvl2pPr>
              <a:defRPr sz="1800">
                <a:solidFill>
                  <a:srgbClr val="333333"/>
                </a:solidFill>
              </a:defRPr>
            </a:lvl2pPr>
            <a:lvl3pPr>
              <a:defRPr sz="1600">
                <a:solidFill>
                  <a:srgbClr val="333333"/>
                </a:solidFill>
              </a:defRPr>
            </a:lvl3pPr>
            <a:lvl4pPr>
              <a:defRPr sz="1400">
                <a:solidFill>
                  <a:srgbClr val="333333"/>
                </a:solidFill>
              </a:defRPr>
            </a:lvl4pPr>
            <a:lvl5pPr>
              <a:defRPr sz="1400">
                <a:solidFill>
                  <a:srgbClr val="333333"/>
                </a:solidFill>
              </a:defRPr>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76779" y="273050"/>
            <a:ext cx="8729663" cy="561975"/>
          </a:xfrm>
        </p:spPr>
        <p:txBody>
          <a:bodyPr/>
          <a:lstStyle>
            <a:lvl1pPr>
              <a:defRPr>
                <a:solidFill>
                  <a:schemeClr val="accent1"/>
                </a:solidFill>
              </a:defRPr>
            </a:lvl1pPr>
          </a:lstStyle>
          <a:p>
            <a:r>
              <a:rPr lang="en-US" smtClean="0"/>
              <a:t>Click to edit Master title style</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16" name="Rectangle 15"/>
          <p:cNvSpPr/>
          <p:nvPr userDrawn="1"/>
        </p:nvSpPr>
        <p:spPr bwMode="auto">
          <a:xfrm>
            <a:off x="0" y="5888736"/>
            <a:ext cx="9144000" cy="969264"/>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charset="0"/>
              <a:cs typeface="Arial" charset="0"/>
            </a:endParaRPr>
          </a:p>
        </p:txBody>
      </p:sp>
      <p:sp>
        <p:nvSpPr>
          <p:cNvPr id="23" name="Rounded Rectangle 22"/>
          <p:cNvSpPr/>
          <p:nvPr userDrawn="1"/>
        </p:nvSpPr>
        <p:spPr bwMode="auto">
          <a:xfrm>
            <a:off x="4498848" y="1042416"/>
            <a:ext cx="4425696" cy="3593592"/>
          </a:xfrm>
          <a:prstGeom prst="roundRect">
            <a:avLst>
              <a:gd name="adj" fmla="val 3455"/>
            </a:avLst>
          </a:prstGeom>
          <a:gradFill>
            <a:gsLst>
              <a:gs pos="0">
                <a:schemeClr val="accent2">
                  <a:lumMod val="20000"/>
                  <a:lumOff val="80000"/>
                </a:schemeClr>
              </a:gs>
              <a:gs pos="100000">
                <a:schemeClr val="accent2">
                  <a:lumMod val="60000"/>
                  <a:lumOff val="40000"/>
                </a:schemeClr>
              </a:gs>
            </a:gsLst>
            <a:lin ang="5400000" scaled="0"/>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charset="0"/>
              <a:cs typeface="Arial" charset="0"/>
            </a:endParaRPr>
          </a:p>
        </p:txBody>
      </p:sp>
      <p:sp>
        <p:nvSpPr>
          <p:cNvPr id="2" name="Title 1"/>
          <p:cNvSpPr>
            <a:spLocks noGrp="1"/>
          </p:cNvSpPr>
          <p:nvPr>
            <p:ph type="ctrTitle"/>
          </p:nvPr>
        </p:nvSpPr>
        <p:spPr>
          <a:xfrm>
            <a:off x="4562857" y="1535277"/>
            <a:ext cx="4361687" cy="1470025"/>
          </a:xfrm>
        </p:spPr>
        <p:txBody>
          <a:bodyPr anchor="b"/>
          <a:lstStyle>
            <a:lvl1pPr algn="l">
              <a:defRPr sz="2400">
                <a:solidFill>
                  <a:schemeClr val="bg2">
                    <a:lumMod val="50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4562856" y="3018537"/>
            <a:ext cx="4361688" cy="364390"/>
          </a:xfrm>
        </p:spPr>
        <p:txBody>
          <a:bodyPr/>
          <a:lstStyle>
            <a:lvl1pPr marL="0" indent="0" algn="l">
              <a:lnSpc>
                <a:spcPct val="100000"/>
              </a:lnSpc>
              <a:spcBef>
                <a:spcPts val="0"/>
              </a:spcBef>
              <a:buNone/>
              <a:defRPr sz="1600">
                <a:solidFill>
                  <a:schemeClr val="bg2">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pic>
        <p:nvPicPr>
          <p:cNvPr id="17" name="Picture 16" descr="QuIC.png"/>
          <p:cNvPicPr>
            <a:picLocks noChangeAspect="1"/>
          </p:cNvPicPr>
          <p:nvPr userDrawn="1"/>
        </p:nvPicPr>
        <p:blipFill>
          <a:blip r:embed="rId2" cstate="print"/>
          <a:stretch>
            <a:fillRect/>
          </a:stretch>
        </p:blipFill>
        <p:spPr>
          <a:xfrm>
            <a:off x="484632" y="5689298"/>
            <a:ext cx="3300984" cy="809610"/>
          </a:xfrm>
          <a:prstGeom prst="rect">
            <a:avLst/>
          </a:prstGeom>
        </p:spPr>
      </p:pic>
      <p:pic>
        <p:nvPicPr>
          <p:cNvPr id="18" name="Picture 17" descr="environment_cell.jpg"/>
          <p:cNvPicPr>
            <a:picLocks noChangeAspect="1"/>
          </p:cNvPicPr>
          <p:nvPr userDrawn="1"/>
        </p:nvPicPr>
        <p:blipFill>
          <a:blip r:embed="rId3" cstate="print"/>
          <a:stretch>
            <a:fillRect/>
          </a:stretch>
        </p:blipFill>
        <p:spPr>
          <a:xfrm>
            <a:off x="452627" y="1033272"/>
            <a:ext cx="3998539" cy="1882141"/>
          </a:xfrm>
          <a:prstGeom prst="roundRect">
            <a:avLst>
              <a:gd name="adj" fmla="val 6465"/>
            </a:avLst>
          </a:prstGeom>
        </p:spPr>
      </p:pic>
      <p:pic>
        <p:nvPicPr>
          <p:cNvPr id="19" name="Picture 18" descr="qualcomm_11718 copy.jpg"/>
          <p:cNvPicPr>
            <a:picLocks noChangeAspect="1"/>
          </p:cNvPicPr>
          <p:nvPr userDrawn="1"/>
        </p:nvPicPr>
        <p:blipFill>
          <a:blip r:embed="rId4" cstate="print"/>
          <a:srcRect l="10503" t="32269" r="44444"/>
          <a:stretch>
            <a:fillRect/>
          </a:stretch>
        </p:blipFill>
        <p:spPr>
          <a:xfrm>
            <a:off x="466344" y="2962656"/>
            <a:ext cx="1380744" cy="1655064"/>
          </a:xfrm>
          <a:prstGeom prst="roundRect">
            <a:avLst>
              <a:gd name="adj" fmla="val 7509"/>
            </a:avLst>
          </a:prstGeom>
        </p:spPr>
      </p:pic>
      <p:pic>
        <p:nvPicPr>
          <p:cNvPr id="22" name="Picture 21" descr="qualcomm_16485 copy.jpg"/>
          <p:cNvPicPr>
            <a:picLocks noChangeAspect="1"/>
          </p:cNvPicPr>
          <p:nvPr userDrawn="1"/>
        </p:nvPicPr>
        <p:blipFill>
          <a:blip r:embed="rId5" cstate="print"/>
          <a:srcRect l="2607" t="15721" r="28474" b="27812"/>
          <a:stretch>
            <a:fillRect/>
          </a:stretch>
        </p:blipFill>
        <p:spPr>
          <a:xfrm>
            <a:off x="1920240" y="2980944"/>
            <a:ext cx="2505456" cy="1636776"/>
          </a:xfrm>
          <a:prstGeom prst="roundRect">
            <a:avLst>
              <a:gd name="adj" fmla="val 6266"/>
            </a:avLst>
          </a:prstGeom>
        </p:spPr>
      </p:pic>
      <p:sp>
        <p:nvSpPr>
          <p:cNvPr id="12" name="Rectangle 11"/>
          <p:cNvSpPr/>
          <p:nvPr userDrawn="1"/>
        </p:nvSpPr>
        <p:spPr>
          <a:xfrm>
            <a:off x="374904" y="704088"/>
            <a:ext cx="2843784" cy="307777"/>
          </a:xfrm>
          <a:prstGeom prst="rect">
            <a:avLst/>
          </a:prstGeom>
        </p:spPr>
        <p:txBody>
          <a:bodyPr wrap="square">
            <a:spAutoFit/>
          </a:bodyPr>
          <a:lstStyle/>
          <a:p>
            <a:pPr algn="r"/>
            <a:r>
              <a:rPr lang="en-US" sz="1400" b="0" i="0" kern="1200" dirty="0" smtClean="0">
                <a:solidFill>
                  <a:schemeClr val="tx2">
                    <a:lumMod val="60000"/>
                    <a:lumOff val="40000"/>
                  </a:schemeClr>
                </a:solidFill>
                <a:latin typeface="Arial" charset="0"/>
                <a:ea typeface="+mn-ea"/>
                <a:cs typeface="Arial" charset="0"/>
              </a:rPr>
              <a:t>Open </a:t>
            </a:r>
            <a:r>
              <a:rPr lang="en-US" sz="1400" b="0" i="1" kern="1200" dirty="0" smtClean="0">
                <a:solidFill>
                  <a:schemeClr val="tx2">
                    <a:lumMod val="60000"/>
                    <a:lumOff val="40000"/>
                  </a:schemeClr>
                </a:solidFill>
                <a:latin typeface="Arial" charset="0"/>
                <a:ea typeface="+mn-ea"/>
                <a:cs typeface="Arial" charset="0"/>
              </a:rPr>
              <a:t>Source |</a:t>
            </a:r>
            <a:r>
              <a:rPr lang="en-US" sz="1400" b="0" i="0" kern="1200" baseline="0" dirty="0" smtClean="0">
                <a:solidFill>
                  <a:schemeClr val="tx2">
                    <a:lumMod val="60000"/>
                    <a:lumOff val="40000"/>
                  </a:schemeClr>
                </a:solidFill>
                <a:latin typeface="Arial" charset="0"/>
                <a:ea typeface="+mn-ea"/>
                <a:cs typeface="Arial" charset="0"/>
              </a:rPr>
              <a:t> </a:t>
            </a:r>
            <a:r>
              <a:rPr lang="en-US" sz="1400" b="0" i="0" kern="1200" dirty="0" smtClean="0">
                <a:solidFill>
                  <a:schemeClr val="tx2">
                    <a:lumMod val="60000"/>
                    <a:lumOff val="40000"/>
                  </a:schemeClr>
                </a:solidFill>
                <a:latin typeface="Arial" charset="0"/>
                <a:ea typeface="+mn-ea"/>
                <a:cs typeface="Arial" charset="0"/>
              </a:rPr>
              <a:t>Open </a:t>
            </a:r>
            <a:r>
              <a:rPr lang="en-US" sz="1400" b="0" i="1" kern="1200" dirty="0" smtClean="0">
                <a:solidFill>
                  <a:schemeClr val="tx2">
                    <a:lumMod val="60000"/>
                    <a:lumOff val="40000"/>
                  </a:schemeClr>
                </a:solidFill>
                <a:latin typeface="Arial" charset="0"/>
                <a:ea typeface="+mn-ea"/>
                <a:cs typeface="Arial" charset="0"/>
              </a:rPr>
              <a:t>Possibilities</a:t>
            </a:r>
            <a:endParaRPr lang="en-US" sz="1400" b="0" i="0" dirty="0">
              <a:solidFill>
                <a:schemeClr val="tx2">
                  <a:lumMod val="60000"/>
                  <a:lumOff val="40000"/>
                </a:scheme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ounded Rectangle 7"/>
          <p:cNvSpPr>
            <a:spLocks noChangeArrowheads="1"/>
          </p:cNvSpPr>
          <p:nvPr/>
        </p:nvSpPr>
        <p:spPr bwMode="auto">
          <a:xfrm>
            <a:off x="128016" y="6300216"/>
            <a:ext cx="6858000" cy="457200"/>
          </a:xfrm>
          <a:prstGeom prst="roundRect">
            <a:avLst>
              <a:gd name="adj" fmla="val 14667"/>
            </a:avLst>
          </a:prstGeom>
          <a:gradFill>
            <a:gsLst>
              <a:gs pos="0">
                <a:schemeClr val="accent2"/>
              </a:gs>
              <a:gs pos="50000">
                <a:schemeClr val="accent1"/>
              </a:gs>
            </a:gsLst>
            <a:lin ang="10800000" scaled="0"/>
          </a:gradFill>
          <a:ln w="9525" algn="ctr">
            <a:noFill/>
            <a:miter lim="800000"/>
            <a:headEnd/>
            <a:tailEnd/>
          </a:ln>
          <a:effectLst/>
        </p:spPr>
        <p:txBody>
          <a:bodyPr anchor="ctr"/>
          <a:lstStyle/>
          <a:p>
            <a:pPr algn="ctr" fontAlgn="auto">
              <a:spcBef>
                <a:spcPts val="0"/>
              </a:spcBef>
              <a:spcAft>
                <a:spcPts val="0"/>
              </a:spcAft>
              <a:defRPr/>
            </a:pPr>
            <a:endParaRPr lang="en-US" baseline="0" dirty="0">
              <a:solidFill>
                <a:schemeClr val="lt1"/>
              </a:solidFill>
              <a:latin typeface="+mn-lt"/>
            </a:endParaRPr>
          </a:p>
        </p:txBody>
      </p:sp>
      <p:sp>
        <p:nvSpPr>
          <p:cNvPr id="1071" name="Rectangle 47"/>
          <p:cNvSpPr>
            <a:spLocks noGrp="1" noChangeArrowheads="1"/>
          </p:cNvSpPr>
          <p:nvPr>
            <p:ph type="title"/>
          </p:nvPr>
        </p:nvSpPr>
        <p:spPr bwMode="auto">
          <a:xfrm>
            <a:off x="176779" y="273050"/>
            <a:ext cx="8729663" cy="5619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en-US" dirty="0" smtClean="0"/>
          </a:p>
        </p:txBody>
      </p:sp>
      <p:sp>
        <p:nvSpPr>
          <p:cNvPr id="1076" name="Rectangle 52"/>
          <p:cNvSpPr>
            <a:spLocks noGrp="1" noChangeArrowheads="1"/>
          </p:cNvSpPr>
          <p:nvPr>
            <p:ph type="body" idx="1"/>
          </p:nvPr>
        </p:nvSpPr>
        <p:spPr bwMode="auto">
          <a:xfrm>
            <a:off x="163513" y="904108"/>
            <a:ext cx="8712200" cy="53149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Text Box 49"/>
          <p:cNvSpPr txBox="1">
            <a:spLocks noChangeArrowheads="1"/>
          </p:cNvSpPr>
          <p:nvPr/>
        </p:nvSpPr>
        <p:spPr bwMode="auto">
          <a:xfrm>
            <a:off x="237744" y="6476178"/>
            <a:ext cx="1152144" cy="215444"/>
          </a:xfrm>
          <a:prstGeom prst="rect">
            <a:avLst/>
          </a:prstGeom>
          <a:noFill/>
          <a:ln w="9525">
            <a:noFill/>
            <a:miter lim="800000"/>
            <a:headEnd/>
            <a:tailEnd/>
          </a:ln>
        </p:spPr>
        <p:txBody>
          <a:bodyPr wrap="square" anchor="ctr">
            <a:spAutoFit/>
          </a:bodyPr>
          <a:lstStyle/>
          <a:p>
            <a:r>
              <a:rPr lang="en-US" sz="800" b="1" dirty="0">
                <a:solidFill>
                  <a:schemeClr val="bg1"/>
                </a:solidFill>
              </a:rPr>
              <a:t>PAGE</a:t>
            </a:r>
            <a:r>
              <a:rPr lang="en-US" sz="800" b="1" dirty="0" smtClean="0">
                <a:solidFill>
                  <a:schemeClr val="bg1"/>
                </a:solidFill>
              </a:rPr>
              <a:t>  </a:t>
            </a:r>
            <a:fld id="{DF573F04-0965-4020-B5B5-991C2993D9D9}" type="slidenum">
              <a:rPr lang="en-US" sz="800" b="1" smtClean="0">
                <a:solidFill>
                  <a:schemeClr val="bg1"/>
                </a:solidFill>
              </a:rPr>
              <a:pPr/>
              <a:t>‹#›</a:t>
            </a:fld>
            <a:endParaRPr lang="en-US" sz="800" b="1" dirty="0" smtClean="0">
              <a:solidFill>
                <a:schemeClr val="bg1"/>
              </a:solidFill>
            </a:endParaRPr>
          </a:p>
        </p:txBody>
      </p:sp>
      <p:pic>
        <p:nvPicPr>
          <p:cNvPr id="11" name="Picture 10" descr="QuIC.png"/>
          <p:cNvPicPr>
            <a:picLocks noChangeAspect="1"/>
          </p:cNvPicPr>
          <p:nvPr/>
        </p:nvPicPr>
        <p:blipFill>
          <a:blip r:embed="rId11" cstate="print"/>
          <a:stretch>
            <a:fillRect/>
          </a:stretch>
        </p:blipFill>
        <p:spPr>
          <a:xfrm>
            <a:off x="7067681" y="6300216"/>
            <a:ext cx="1963303" cy="481526"/>
          </a:xfrm>
          <a:prstGeom prst="rect">
            <a:avLst/>
          </a:prstGeom>
        </p:spPr>
      </p:pic>
      <p:sp>
        <p:nvSpPr>
          <p:cNvPr id="9" name="Rectangle 8"/>
          <p:cNvSpPr/>
          <p:nvPr/>
        </p:nvSpPr>
        <p:spPr>
          <a:xfrm>
            <a:off x="1244632" y="6425485"/>
            <a:ext cx="2660904" cy="276999"/>
          </a:xfrm>
          <a:prstGeom prst="rect">
            <a:avLst/>
          </a:prstGeom>
        </p:spPr>
        <p:txBody>
          <a:bodyPr wrap="square" anchor="ctr">
            <a:spAutoFit/>
          </a:bodyPr>
          <a:lstStyle/>
          <a:p>
            <a:pPr algn="l"/>
            <a:r>
              <a:rPr lang="en-US" sz="1200" b="0" i="0" kern="1200" dirty="0" smtClean="0">
                <a:solidFill>
                  <a:schemeClr val="bg1"/>
                </a:solidFill>
                <a:latin typeface="Arial" charset="0"/>
                <a:ea typeface="+mn-ea"/>
                <a:cs typeface="Arial" charset="0"/>
              </a:rPr>
              <a:t>Open </a:t>
            </a:r>
            <a:r>
              <a:rPr lang="en-US" sz="1200" b="0" i="1" kern="1200" dirty="0" smtClean="0">
                <a:solidFill>
                  <a:schemeClr val="bg1"/>
                </a:solidFill>
                <a:latin typeface="Arial" charset="0"/>
                <a:ea typeface="+mn-ea"/>
                <a:cs typeface="Arial" charset="0"/>
              </a:rPr>
              <a:t>Source |</a:t>
            </a:r>
            <a:r>
              <a:rPr lang="en-US" sz="1200" b="0" i="0" kern="1200" baseline="0" dirty="0" smtClean="0">
                <a:solidFill>
                  <a:schemeClr val="bg1"/>
                </a:solidFill>
                <a:latin typeface="Arial" charset="0"/>
                <a:ea typeface="+mn-ea"/>
                <a:cs typeface="Arial" charset="0"/>
              </a:rPr>
              <a:t> </a:t>
            </a:r>
            <a:r>
              <a:rPr lang="en-US" sz="1200" b="0" i="0" kern="1200" dirty="0" smtClean="0">
                <a:solidFill>
                  <a:schemeClr val="bg1"/>
                </a:solidFill>
                <a:latin typeface="Arial" charset="0"/>
                <a:ea typeface="+mn-ea"/>
                <a:cs typeface="Arial" charset="0"/>
              </a:rPr>
              <a:t>Open </a:t>
            </a:r>
            <a:r>
              <a:rPr lang="en-US" sz="1200" b="0" i="1" kern="1200" dirty="0" smtClean="0">
                <a:solidFill>
                  <a:schemeClr val="bg1"/>
                </a:solidFill>
                <a:latin typeface="Arial" charset="0"/>
                <a:ea typeface="+mn-ea"/>
                <a:cs typeface="Arial" charset="0"/>
              </a:rPr>
              <a:t>Possibilities</a:t>
            </a:r>
            <a:endParaRPr lang="en-US" sz="1200" b="0" i="0" dirty="0">
              <a:solidFill>
                <a:schemeClr val="bg1"/>
              </a:solidFill>
            </a:endParaRPr>
          </a:p>
        </p:txBody>
      </p:sp>
      <p:sp>
        <p:nvSpPr>
          <p:cNvPr id="12" name="TextBox 11"/>
          <p:cNvSpPr txBox="1"/>
          <p:nvPr/>
        </p:nvSpPr>
        <p:spPr>
          <a:xfrm>
            <a:off x="3703320" y="6412351"/>
            <a:ext cx="3164459" cy="276999"/>
          </a:xfrm>
          <a:prstGeom prst="rect">
            <a:avLst/>
          </a:prstGeom>
          <a:noFill/>
        </p:spPr>
        <p:txBody>
          <a:bodyPr wrap="square" anchor="ctr">
            <a:spAutoFit/>
          </a:bodyPr>
          <a:lstStyle/>
          <a:p>
            <a:pPr algn="r" fontAlgn="auto">
              <a:spcBef>
                <a:spcPts val="0"/>
              </a:spcBef>
              <a:spcAft>
                <a:spcPts val="0"/>
              </a:spcAft>
              <a:defRPr/>
            </a:pPr>
            <a:r>
              <a:rPr lang="en-US" sz="600" baseline="0" dirty="0" smtClean="0">
                <a:solidFill>
                  <a:schemeClr val="bg1"/>
                </a:solidFill>
                <a:latin typeface="Arial"/>
                <a:cs typeface="Arial"/>
              </a:rPr>
              <a:t/>
            </a:r>
            <a:br>
              <a:rPr lang="en-US" sz="600" baseline="0" dirty="0" smtClean="0">
                <a:solidFill>
                  <a:schemeClr val="bg1"/>
                </a:solidFill>
                <a:latin typeface="Arial"/>
                <a:cs typeface="Arial"/>
              </a:rPr>
            </a:br>
            <a:r>
              <a:rPr lang="en-US" sz="600" baseline="0" dirty="0" smtClean="0">
                <a:solidFill>
                  <a:schemeClr val="bg1"/>
                </a:solidFill>
                <a:latin typeface="Arial"/>
                <a:cs typeface="Arial"/>
              </a:rPr>
              <a:t>MAY CONTAIN U.S. AND INTERNATIONAL EXPORT CONTROLLED INFORMATION</a:t>
            </a:r>
            <a:endParaRPr lang="en-US" sz="600" baseline="0" dirty="0">
              <a:solidFill>
                <a:schemeClr val="bg1"/>
              </a:solidFill>
              <a:latin typeface="Arial"/>
              <a:cs typeface="Aria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9" r:id="rId9"/>
  </p:sldLayoutIdLst>
  <p:txStyles>
    <p:titleStyle>
      <a:lvl1pPr algn="l" rtl="0" eaLnBrk="1" fontAlgn="base" hangingPunct="1">
        <a:lnSpc>
          <a:spcPct val="80000"/>
        </a:lnSpc>
        <a:spcBef>
          <a:spcPct val="0"/>
        </a:spcBef>
        <a:spcAft>
          <a:spcPct val="0"/>
        </a:spcAft>
        <a:defRPr sz="2400">
          <a:solidFill>
            <a:schemeClr val="accent1"/>
          </a:solidFill>
          <a:latin typeface="+mj-lt"/>
          <a:ea typeface="+mj-ea"/>
          <a:cs typeface="+mj-cs"/>
        </a:defRPr>
      </a:lvl1pPr>
      <a:lvl2pPr algn="l" rtl="0" eaLnBrk="1" fontAlgn="base" hangingPunct="1">
        <a:lnSpc>
          <a:spcPct val="80000"/>
        </a:lnSpc>
        <a:spcBef>
          <a:spcPct val="0"/>
        </a:spcBef>
        <a:spcAft>
          <a:spcPct val="0"/>
        </a:spcAft>
        <a:defRPr sz="2400">
          <a:solidFill>
            <a:schemeClr val="accent1"/>
          </a:solidFill>
          <a:latin typeface="Arial" charset="0"/>
          <a:cs typeface="Arial" charset="0"/>
        </a:defRPr>
      </a:lvl2pPr>
      <a:lvl3pPr algn="l" rtl="0" eaLnBrk="1" fontAlgn="base" hangingPunct="1">
        <a:lnSpc>
          <a:spcPct val="80000"/>
        </a:lnSpc>
        <a:spcBef>
          <a:spcPct val="0"/>
        </a:spcBef>
        <a:spcAft>
          <a:spcPct val="0"/>
        </a:spcAft>
        <a:defRPr sz="2400">
          <a:solidFill>
            <a:schemeClr val="accent1"/>
          </a:solidFill>
          <a:latin typeface="Arial" charset="0"/>
          <a:cs typeface="Arial" charset="0"/>
        </a:defRPr>
      </a:lvl3pPr>
      <a:lvl4pPr algn="l" rtl="0" eaLnBrk="1" fontAlgn="base" hangingPunct="1">
        <a:lnSpc>
          <a:spcPct val="80000"/>
        </a:lnSpc>
        <a:spcBef>
          <a:spcPct val="0"/>
        </a:spcBef>
        <a:spcAft>
          <a:spcPct val="0"/>
        </a:spcAft>
        <a:defRPr sz="2400">
          <a:solidFill>
            <a:schemeClr val="accent1"/>
          </a:solidFill>
          <a:latin typeface="Arial" charset="0"/>
          <a:cs typeface="Arial" charset="0"/>
        </a:defRPr>
      </a:lvl4pPr>
      <a:lvl5pPr algn="l" rtl="0" eaLnBrk="1" fontAlgn="base" hangingPunct="1">
        <a:lnSpc>
          <a:spcPct val="80000"/>
        </a:lnSpc>
        <a:spcBef>
          <a:spcPct val="0"/>
        </a:spcBef>
        <a:spcAft>
          <a:spcPct val="0"/>
        </a:spcAft>
        <a:defRPr sz="2400">
          <a:solidFill>
            <a:schemeClr val="accent1"/>
          </a:solidFill>
          <a:latin typeface="Arial" charset="0"/>
          <a:cs typeface="Arial" charset="0"/>
        </a:defRPr>
      </a:lvl5pPr>
      <a:lvl6pPr marL="457200" algn="l" rtl="0" eaLnBrk="1" fontAlgn="base" hangingPunct="1">
        <a:lnSpc>
          <a:spcPct val="80000"/>
        </a:lnSpc>
        <a:spcBef>
          <a:spcPct val="0"/>
        </a:spcBef>
        <a:spcAft>
          <a:spcPct val="0"/>
        </a:spcAft>
        <a:defRPr sz="2400">
          <a:solidFill>
            <a:schemeClr val="accent1"/>
          </a:solidFill>
          <a:latin typeface="Arial" charset="0"/>
          <a:cs typeface="Arial" charset="0"/>
        </a:defRPr>
      </a:lvl6pPr>
      <a:lvl7pPr marL="914400" algn="l" rtl="0" eaLnBrk="1" fontAlgn="base" hangingPunct="1">
        <a:lnSpc>
          <a:spcPct val="80000"/>
        </a:lnSpc>
        <a:spcBef>
          <a:spcPct val="0"/>
        </a:spcBef>
        <a:spcAft>
          <a:spcPct val="0"/>
        </a:spcAft>
        <a:defRPr sz="2400">
          <a:solidFill>
            <a:schemeClr val="accent1"/>
          </a:solidFill>
          <a:latin typeface="Arial" charset="0"/>
          <a:cs typeface="Arial" charset="0"/>
        </a:defRPr>
      </a:lvl7pPr>
      <a:lvl8pPr marL="1371600" algn="l" rtl="0" eaLnBrk="1" fontAlgn="base" hangingPunct="1">
        <a:lnSpc>
          <a:spcPct val="80000"/>
        </a:lnSpc>
        <a:spcBef>
          <a:spcPct val="0"/>
        </a:spcBef>
        <a:spcAft>
          <a:spcPct val="0"/>
        </a:spcAft>
        <a:defRPr sz="2400">
          <a:solidFill>
            <a:schemeClr val="accent1"/>
          </a:solidFill>
          <a:latin typeface="Arial" charset="0"/>
          <a:cs typeface="Arial" charset="0"/>
        </a:defRPr>
      </a:lvl8pPr>
      <a:lvl9pPr marL="1828800" algn="l" rtl="0" eaLnBrk="1" fontAlgn="base" hangingPunct="1">
        <a:lnSpc>
          <a:spcPct val="80000"/>
        </a:lnSpc>
        <a:spcBef>
          <a:spcPct val="0"/>
        </a:spcBef>
        <a:spcAft>
          <a:spcPct val="0"/>
        </a:spcAft>
        <a:defRPr sz="2400">
          <a:solidFill>
            <a:schemeClr val="accent1"/>
          </a:solidFill>
          <a:latin typeface="Arial" charset="0"/>
          <a:cs typeface="Arial" charset="0"/>
        </a:defRPr>
      </a:lvl9pPr>
    </p:titleStyle>
    <p:bodyStyle>
      <a:lvl1pPr marL="173038" indent="-173038" algn="l" rtl="0" eaLnBrk="1" fontAlgn="base" hangingPunct="1">
        <a:lnSpc>
          <a:spcPct val="95000"/>
        </a:lnSpc>
        <a:spcBef>
          <a:spcPct val="35000"/>
        </a:spcBef>
        <a:spcAft>
          <a:spcPct val="0"/>
        </a:spcAft>
        <a:buClr>
          <a:schemeClr val="accent2"/>
        </a:buClr>
        <a:buFont typeface="Wingdings" pitchFamily="2" charset="2"/>
        <a:buChar char="§"/>
        <a:defRPr sz="2000">
          <a:solidFill>
            <a:srgbClr val="333333"/>
          </a:solidFill>
          <a:latin typeface="+mn-lt"/>
          <a:ea typeface="+mn-ea"/>
          <a:cs typeface="+mn-cs"/>
        </a:defRPr>
      </a:lvl1pPr>
      <a:lvl2pPr marL="460375" indent="-173038" algn="l" rtl="0" eaLnBrk="1" fontAlgn="base" hangingPunct="1">
        <a:lnSpc>
          <a:spcPct val="95000"/>
        </a:lnSpc>
        <a:spcBef>
          <a:spcPct val="35000"/>
        </a:spcBef>
        <a:spcAft>
          <a:spcPct val="0"/>
        </a:spcAft>
        <a:buClr>
          <a:schemeClr val="accent1"/>
        </a:buClr>
        <a:buFont typeface="Wingdings" pitchFamily="2" charset="2"/>
        <a:buChar char="§"/>
        <a:defRPr>
          <a:solidFill>
            <a:srgbClr val="333333"/>
          </a:solidFill>
          <a:latin typeface="+mn-lt"/>
          <a:cs typeface="+mn-cs"/>
        </a:defRPr>
      </a:lvl2pPr>
      <a:lvl3pPr marL="798513" indent="-223838" algn="l" rtl="0" eaLnBrk="1" fontAlgn="base" hangingPunct="1">
        <a:lnSpc>
          <a:spcPct val="95000"/>
        </a:lnSpc>
        <a:spcBef>
          <a:spcPct val="35000"/>
        </a:spcBef>
        <a:spcAft>
          <a:spcPct val="0"/>
        </a:spcAft>
        <a:buClr>
          <a:schemeClr val="tx2"/>
        </a:buClr>
        <a:buSzPct val="125000"/>
        <a:buFont typeface="Arial" charset="0"/>
        <a:buChar char="–"/>
        <a:defRPr sz="1600">
          <a:solidFill>
            <a:srgbClr val="333333"/>
          </a:solidFill>
          <a:latin typeface="+mn-lt"/>
          <a:cs typeface="+mn-cs"/>
        </a:defRPr>
      </a:lvl3pPr>
      <a:lvl4pPr marL="1087438" indent="-174625" algn="l" rtl="0" eaLnBrk="1" fontAlgn="base" hangingPunct="1">
        <a:lnSpc>
          <a:spcPct val="95000"/>
        </a:lnSpc>
        <a:spcBef>
          <a:spcPct val="35000"/>
        </a:spcBef>
        <a:spcAft>
          <a:spcPct val="0"/>
        </a:spcAft>
        <a:buClr>
          <a:schemeClr val="accent1"/>
        </a:buClr>
        <a:buSzPct val="125000"/>
        <a:buFont typeface="Lucida Grande"/>
        <a:buChar char="»"/>
        <a:defRPr sz="1400">
          <a:solidFill>
            <a:srgbClr val="333333"/>
          </a:solidFill>
          <a:latin typeface="+mn-lt"/>
          <a:cs typeface="+mn-cs"/>
        </a:defRPr>
      </a:lvl4pPr>
      <a:lvl5pPr marL="1316038" indent="-114300" algn="l" rtl="0" eaLnBrk="1" fontAlgn="base" hangingPunct="1">
        <a:lnSpc>
          <a:spcPct val="95000"/>
        </a:lnSpc>
        <a:spcBef>
          <a:spcPct val="35000"/>
        </a:spcBef>
        <a:spcAft>
          <a:spcPct val="0"/>
        </a:spcAft>
        <a:buClr>
          <a:schemeClr val="tx2"/>
        </a:buClr>
        <a:buChar char="•"/>
        <a:defRPr sz="1200">
          <a:solidFill>
            <a:srgbClr val="333333"/>
          </a:solidFill>
          <a:latin typeface="+mn-lt"/>
          <a:cs typeface="+mn-cs"/>
        </a:defRPr>
      </a:lvl5pPr>
      <a:lvl6pPr marL="1773238" indent="-114300" algn="l" rtl="0" eaLnBrk="1" fontAlgn="base" hangingPunct="1">
        <a:lnSpc>
          <a:spcPct val="95000"/>
        </a:lnSpc>
        <a:spcBef>
          <a:spcPct val="35000"/>
        </a:spcBef>
        <a:spcAft>
          <a:spcPct val="0"/>
        </a:spcAft>
        <a:buClr>
          <a:srgbClr val="727375"/>
        </a:buClr>
        <a:buChar char="•"/>
        <a:defRPr sz="1200">
          <a:solidFill>
            <a:schemeClr val="tx1"/>
          </a:solidFill>
          <a:latin typeface="+mn-lt"/>
          <a:cs typeface="+mn-cs"/>
        </a:defRPr>
      </a:lvl6pPr>
      <a:lvl7pPr marL="2230438" indent="-114300" algn="l" rtl="0" eaLnBrk="1" fontAlgn="base" hangingPunct="1">
        <a:lnSpc>
          <a:spcPct val="95000"/>
        </a:lnSpc>
        <a:spcBef>
          <a:spcPct val="35000"/>
        </a:spcBef>
        <a:spcAft>
          <a:spcPct val="0"/>
        </a:spcAft>
        <a:buClr>
          <a:srgbClr val="727375"/>
        </a:buClr>
        <a:buChar char="•"/>
        <a:defRPr sz="1200">
          <a:solidFill>
            <a:schemeClr val="tx1"/>
          </a:solidFill>
          <a:latin typeface="+mn-lt"/>
          <a:cs typeface="+mn-cs"/>
        </a:defRPr>
      </a:lvl7pPr>
      <a:lvl8pPr marL="2687638" indent="-114300" algn="l" rtl="0" eaLnBrk="1" fontAlgn="base" hangingPunct="1">
        <a:lnSpc>
          <a:spcPct val="95000"/>
        </a:lnSpc>
        <a:spcBef>
          <a:spcPct val="35000"/>
        </a:spcBef>
        <a:spcAft>
          <a:spcPct val="0"/>
        </a:spcAft>
        <a:buClr>
          <a:srgbClr val="727375"/>
        </a:buClr>
        <a:buChar char="•"/>
        <a:defRPr sz="1200">
          <a:solidFill>
            <a:schemeClr val="tx1"/>
          </a:solidFill>
          <a:latin typeface="+mn-lt"/>
          <a:cs typeface="+mn-cs"/>
        </a:defRPr>
      </a:lvl8pPr>
      <a:lvl9pPr marL="3144838" indent="-114300" algn="l" rtl="0" eaLnBrk="1" fontAlgn="base" hangingPunct="1">
        <a:lnSpc>
          <a:spcPct val="95000"/>
        </a:lnSpc>
        <a:spcBef>
          <a:spcPct val="35000"/>
        </a:spcBef>
        <a:spcAft>
          <a:spcPct val="0"/>
        </a:spcAft>
        <a:buClr>
          <a:srgbClr val="727375"/>
        </a:buClr>
        <a:buChar char="•"/>
        <a:defRPr sz="12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clang.llvm.org/docs/UsersManual.html#gcc-extensions-not-implemented-yet"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p:cNvSpPr>
            <a:spLocks noGrp="1"/>
          </p:cNvSpPr>
          <p:nvPr>
            <p:ph type="ctrTitle"/>
          </p:nvPr>
        </p:nvSpPr>
        <p:spPr/>
        <p:txBody>
          <a:bodyPr/>
          <a:lstStyle/>
          <a:p>
            <a:r>
              <a:rPr lang="en-US" sz="2800" b="1" dirty="0"/>
              <a:t>Building the Linux </a:t>
            </a:r>
            <a:r>
              <a:rPr lang="en-US" sz="2800" b="1" dirty="0" smtClean="0"/>
              <a:t>Kernel </a:t>
            </a:r>
            <a:r>
              <a:rPr lang="en-US" sz="2800" b="1" dirty="0"/>
              <a:t>and </a:t>
            </a:r>
            <a:r>
              <a:rPr lang="en-US" sz="2800" b="1" dirty="0" smtClean="0"/>
              <a:t>User </a:t>
            </a:r>
            <a:r>
              <a:rPr lang="en-US" sz="2800" b="1" dirty="0"/>
              <a:t>S</a:t>
            </a:r>
            <a:r>
              <a:rPr lang="en-US" sz="2800" b="1" dirty="0" smtClean="0"/>
              <a:t>pace </a:t>
            </a:r>
            <a:r>
              <a:rPr lang="en-US" sz="2800" b="1" dirty="0"/>
              <a:t>for the </a:t>
            </a:r>
            <a:r>
              <a:rPr lang="en-US" sz="2800" b="1" dirty="0" smtClean="0"/>
              <a:t>Hexagon™ </a:t>
            </a:r>
            <a:r>
              <a:rPr lang="en-US" sz="2800" b="1" dirty="0"/>
              <a:t>DSP with LLVM</a:t>
            </a:r>
            <a:br>
              <a:rPr lang="en-US" sz="2800" b="1" dirty="0"/>
            </a:br>
            <a:endParaRPr lang="en-US" sz="2800" dirty="0"/>
          </a:p>
        </p:txBody>
      </p:sp>
      <p:sp>
        <p:nvSpPr>
          <p:cNvPr id="20" name="Subtitle 19"/>
          <p:cNvSpPr>
            <a:spLocks noGrp="1"/>
          </p:cNvSpPr>
          <p:nvPr>
            <p:ph type="subTitle" idx="1"/>
          </p:nvPr>
        </p:nvSpPr>
        <p:spPr>
          <a:xfrm>
            <a:off x="4562856" y="3018536"/>
            <a:ext cx="4361688" cy="823701"/>
          </a:xfrm>
        </p:spPr>
        <p:txBody>
          <a:bodyPr/>
          <a:lstStyle/>
          <a:p>
            <a:r>
              <a:rPr lang="en-US" sz="1800" dirty="0" smtClean="0"/>
              <a:t>Anshu Dasgupta and Pavel Potoplyak</a:t>
            </a:r>
          </a:p>
          <a:p>
            <a:r>
              <a:rPr lang="en-US" sz="1800" dirty="0" smtClean="0"/>
              <a:t>Linux Plumbers Conference</a:t>
            </a:r>
          </a:p>
          <a:p>
            <a:r>
              <a:rPr lang="en-US" sz="1800" dirty="0" smtClean="0"/>
              <a:t>September 19, </a:t>
            </a:r>
            <a:r>
              <a:rPr lang="en-US" sz="1800" dirty="0" smtClean="0"/>
              <a:t>2013</a:t>
            </a:r>
          </a:p>
          <a:p>
            <a:r>
              <a:rPr lang="en-US" sz="1800" dirty="0" smtClean="0"/>
              <a:t>Credits: Thomas Brezinski and Anand Kodnani</a:t>
            </a:r>
            <a:endParaRPr lang="en-US" sz="1800" dirty="0"/>
          </a:p>
          <a:p>
            <a:endParaRPr lang="en-US" sz="1800" dirty="0" smtClean="0"/>
          </a:p>
        </p:txBody>
      </p:sp>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26880" y="2802543"/>
            <a:ext cx="7851530" cy="3016210"/>
          </a:xfrm>
          <a:prstGeom prst="rect">
            <a:avLst/>
          </a:prstGeom>
        </p:spPr>
        <p:txBody>
          <a:bodyPr wrap="square">
            <a:spAutoFit/>
          </a:bodyPr>
          <a:lstStyle/>
          <a:p>
            <a:pPr lvl="0" algn="ctr">
              <a:tabLst>
                <a:tab pos="1371600" algn="l"/>
              </a:tabLst>
            </a:pPr>
            <a:r>
              <a:rPr lang="en-US" altLang="ja-JP" sz="1000" b="1" dirty="0">
                <a:solidFill>
                  <a:schemeClr val="bg1">
                    <a:lumMod val="50000"/>
                  </a:schemeClr>
                </a:solidFill>
                <a:ea typeface="MS Mincho" pitchFamily="49" charset="-128"/>
                <a:cs typeface="Times New Roman" pitchFamily="18" charset="0"/>
              </a:rPr>
              <a:t>Qualcomm Innovation Center, Inc.</a:t>
            </a:r>
          </a:p>
          <a:p>
            <a:pPr lvl="0" algn="ctr">
              <a:tabLst>
                <a:tab pos="1371600" algn="l"/>
              </a:tabLst>
            </a:pPr>
            <a:r>
              <a:rPr lang="en-US" altLang="ja-JP" sz="1000" b="1" dirty="0">
                <a:solidFill>
                  <a:schemeClr val="bg1">
                    <a:lumMod val="50000"/>
                  </a:schemeClr>
                </a:solidFill>
                <a:ea typeface="MS Mincho" pitchFamily="49" charset="-128"/>
                <a:cs typeface="Times New Roman" pitchFamily="18" charset="0"/>
              </a:rPr>
              <a:t>5775 Morehouse Drive</a:t>
            </a:r>
          </a:p>
          <a:p>
            <a:pPr lvl="0" algn="ctr">
              <a:tabLst>
                <a:tab pos="1371600" algn="l"/>
              </a:tabLst>
            </a:pPr>
            <a:r>
              <a:rPr lang="en-US" altLang="ja-JP" sz="1000" b="1" dirty="0">
                <a:solidFill>
                  <a:schemeClr val="bg1">
                    <a:lumMod val="50000"/>
                  </a:schemeClr>
                </a:solidFill>
                <a:ea typeface="MS Mincho" pitchFamily="49" charset="-128"/>
                <a:cs typeface="Times New Roman" pitchFamily="18" charset="0"/>
              </a:rPr>
              <a:t>San Diego, CA 92121</a:t>
            </a:r>
          </a:p>
          <a:p>
            <a:pPr lvl="0" algn="ctr">
              <a:tabLst>
                <a:tab pos="1371600" algn="l"/>
              </a:tabLst>
            </a:pPr>
            <a:r>
              <a:rPr lang="en-US" altLang="ja-JP" sz="1000" b="1" dirty="0" smtClean="0">
                <a:solidFill>
                  <a:schemeClr val="bg1">
                    <a:lumMod val="50000"/>
                  </a:schemeClr>
                </a:solidFill>
                <a:ea typeface="MS Mincho" pitchFamily="49" charset="-128"/>
                <a:cs typeface="Times New Roman" pitchFamily="18" charset="0"/>
              </a:rPr>
              <a:t>U.S.A.</a:t>
            </a:r>
            <a:endParaRPr lang="en-US" altLang="ja-JP" sz="1000" b="1" dirty="0">
              <a:solidFill>
                <a:schemeClr val="bg1">
                  <a:lumMod val="50000"/>
                </a:schemeClr>
              </a:solidFill>
              <a:ea typeface="MS Mincho" pitchFamily="49" charset="-128"/>
              <a:cs typeface="Times New Roman" pitchFamily="18" charset="0"/>
            </a:endParaRPr>
          </a:p>
          <a:p>
            <a:pPr lvl="0" algn="ctr">
              <a:tabLst>
                <a:tab pos="1371600" algn="l"/>
              </a:tabLst>
            </a:pPr>
            <a:endParaRPr lang="en-US" altLang="ja-JP" sz="1000" b="1" dirty="0">
              <a:solidFill>
                <a:schemeClr val="bg1">
                  <a:lumMod val="50000"/>
                </a:schemeClr>
              </a:solidFill>
              <a:ea typeface="MS Mincho" pitchFamily="49" charset="-128"/>
              <a:cs typeface="Times New Roman" pitchFamily="18" charset="0"/>
            </a:endParaRPr>
          </a:p>
          <a:p>
            <a:pPr lvl="0" algn="ctr">
              <a:tabLst>
                <a:tab pos="1371600" algn="l"/>
              </a:tabLst>
            </a:pPr>
            <a:r>
              <a:rPr lang="en-US" altLang="ja-JP" sz="1000" b="1" dirty="0">
                <a:solidFill>
                  <a:schemeClr val="bg1">
                    <a:lumMod val="50000"/>
                  </a:schemeClr>
                </a:solidFill>
                <a:ea typeface="MS Mincho" pitchFamily="49" charset="-128"/>
                <a:cs typeface="Times New Roman" pitchFamily="18" charset="0"/>
              </a:rPr>
              <a:t>© </a:t>
            </a:r>
            <a:r>
              <a:rPr lang="en-US" altLang="ja-JP" sz="1000" b="1" dirty="0" smtClean="0">
                <a:solidFill>
                  <a:schemeClr val="bg1">
                    <a:lumMod val="50000"/>
                  </a:schemeClr>
                </a:solidFill>
                <a:ea typeface="MS Mincho" pitchFamily="49" charset="-128"/>
                <a:cs typeface="Times New Roman" pitchFamily="18" charset="0"/>
              </a:rPr>
              <a:t>2013 </a:t>
            </a:r>
            <a:r>
              <a:rPr lang="en-US" altLang="ja-JP" sz="1000" b="1" dirty="0">
                <a:solidFill>
                  <a:schemeClr val="bg1">
                    <a:lumMod val="50000"/>
                  </a:schemeClr>
                </a:solidFill>
                <a:ea typeface="MS Mincho" pitchFamily="49" charset="-128"/>
                <a:cs typeface="Times New Roman" pitchFamily="18" charset="0"/>
              </a:rPr>
              <a:t>Qualcomm Innovation Center, Inc</a:t>
            </a:r>
            <a:r>
              <a:rPr lang="en-US" altLang="ja-JP" sz="1000" b="1" dirty="0" smtClean="0">
                <a:solidFill>
                  <a:schemeClr val="bg1">
                    <a:lumMod val="50000"/>
                  </a:schemeClr>
                </a:solidFill>
                <a:ea typeface="MS Mincho" pitchFamily="49" charset="-128"/>
                <a:cs typeface="Times New Roman" pitchFamily="18" charset="0"/>
              </a:rPr>
              <a:t>.</a:t>
            </a:r>
          </a:p>
          <a:p>
            <a:pPr lvl="0" algn="ctr">
              <a:tabLst>
                <a:tab pos="1371600" algn="l"/>
              </a:tabLst>
            </a:pPr>
            <a:endParaRPr lang="en-US" altLang="ja-JP" sz="1000" b="1" dirty="0">
              <a:solidFill>
                <a:schemeClr val="bg1">
                  <a:lumMod val="50000"/>
                </a:schemeClr>
              </a:solidFill>
              <a:ea typeface="MS Mincho" pitchFamily="49" charset="-128"/>
              <a:cs typeface="Times New Roman" pitchFamily="18" charset="0"/>
            </a:endParaRPr>
          </a:p>
          <a:p>
            <a:pPr lvl="0">
              <a:tabLst>
                <a:tab pos="1371600" algn="l"/>
              </a:tabLst>
            </a:pPr>
            <a:r>
              <a:rPr lang="en-US" altLang="ja-JP" sz="1000" dirty="0" smtClean="0">
                <a:solidFill>
                  <a:schemeClr val="bg1">
                    <a:lumMod val="50000"/>
                  </a:schemeClr>
                </a:solidFill>
                <a:ea typeface="MS Mincho" pitchFamily="49" charset="-128"/>
                <a:cs typeface="Times New Roman" pitchFamily="18" charset="0"/>
              </a:rPr>
              <a:t>Not </a:t>
            </a:r>
            <a:r>
              <a:rPr lang="en-US" altLang="ja-JP" sz="1000" dirty="0">
                <a:solidFill>
                  <a:schemeClr val="bg1">
                    <a:lumMod val="50000"/>
                  </a:schemeClr>
                </a:solidFill>
                <a:ea typeface="MS Mincho" pitchFamily="49" charset="-128"/>
                <a:cs typeface="Times New Roman" pitchFamily="18" charset="0"/>
              </a:rPr>
              <a:t>to be used, copied, reproduced, or modified in whole or in part, nor its contents revealed in any manner to others without the express written permission of Qualcomm Innovation Center, Inc.</a:t>
            </a:r>
          </a:p>
          <a:p>
            <a:pPr lvl="0">
              <a:tabLst>
                <a:tab pos="1371600" algn="l"/>
              </a:tabLst>
            </a:pPr>
            <a:endParaRPr lang="en-US" altLang="ja-JP" sz="1000" dirty="0">
              <a:solidFill>
                <a:schemeClr val="bg1">
                  <a:lumMod val="50000"/>
                </a:schemeClr>
              </a:solidFill>
              <a:cs typeface="Arial" pitchFamily="34" charset="0"/>
            </a:endParaRPr>
          </a:p>
          <a:p>
            <a:pPr lvl="0">
              <a:tabLst>
                <a:tab pos="1371600" algn="l"/>
              </a:tabLst>
            </a:pPr>
            <a:r>
              <a:rPr lang="en-US" altLang="ja-JP" sz="1000" dirty="0">
                <a:solidFill>
                  <a:schemeClr val="bg1">
                    <a:lumMod val="50000"/>
                  </a:schemeClr>
                </a:solidFill>
                <a:ea typeface="MS Mincho" pitchFamily="49" charset="-128"/>
                <a:cs typeface="Times New Roman" pitchFamily="18" charset="0"/>
              </a:rPr>
              <a:t>Qualcomm is a trademark of QUALCOMM Incorporated, registered in the United States and other countries. All QUALCOMM Incorporated trademarks are used with permission. Other product and brand names may be trademarks or registered trademarks of their respective owners.</a:t>
            </a:r>
          </a:p>
          <a:p>
            <a:pPr lvl="0">
              <a:tabLst>
                <a:tab pos="1371600" algn="l"/>
              </a:tabLst>
            </a:pPr>
            <a:endParaRPr lang="en-US" altLang="ja-JP" sz="1000" dirty="0">
              <a:solidFill>
                <a:schemeClr val="bg1">
                  <a:lumMod val="50000"/>
                </a:schemeClr>
              </a:solidFill>
              <a:cs typeface="Arial" pitchFamily="34" charset="0"/>
            </a:endParaRPr>
          </a:p>
          <a:p>
            <a:pPr lvl="0">
              <a:tabLst>
                <a:tab pos="1371600" algn="l"/>
              </a:tabLst>
            </a:pPr>
            <a:r>
              <a:rPr lang="en-US" altLang="ja-JP" sz="1000" dirty="0">
                <a:solidFill>
                  <a:schemeClr val="bg1">
                    <a:lumMod val="50000"/>
                  </a:schemeClr>
                </a:solidFill>
                <a:ea typeface="MS Mincho" pitchFamily="49" charset="-128"/>
                <a:cs typeface="Times New Roman" pitchFamily="18" charset="0"/>
              </a:rPr>
              <a:t>This technical data may be subject to U.S. and international export, re-export or transfer (“export”) laws. Diversion contrary to U.S. and international law is strictly prohibited.</a:t>
            </a:r>
          </a:p>
          <a:p>
            <a:pPr lvl="0" algn="ctr">
              <a:tabLst>
                <a:tab pos="1371600" algn="l"/>
              </a:tabLst>
            </a:pPr>
            <a:endParaRPr lang="en-US" altLang="ja-JP" sz="1000" b="1" dirty="0">
              <a:solidFill>
                <a:schemeClr val="bg1">
                  <a:lumMod val="50000"/>
                </a:schemeClr>
              </a:solidFill>
              <a:ea typeface="MS Mincho" pitchFamily="49" charset="-128"/>
              <a:cs typeface="Times New Roman" pitchFamily="18" charset="0"/>
            </a:endParaRPr>
          </a:p>
          <a:p>
            <a:pPr lvl="0">
              <a:tabLst>
                <a:tab pos="1371600" algn="l"/>
              </a:tabLst>
            </a:pPr>
            <a:r>
              <a:rPr lang="en-US" altLang="ja-JP" sz="1000" b="1" dirty="0" smtClean="0">
                <a:solidFill>
                  <a:schemeClr val="bg1">
                    <a:lumMod val="50000"/>
                  </a:schemeClr>
                </a:solidFill>
                <a:ea typeface="MS Mincho" pitchFamily="49" charset="-128"/>
                <a:cs typeface="Times New Roman" pitchFamily="18" charset="0"/>
              </a:rPr>
              <a:t>Presentation Title</a:t>
            </a:r>
          </a:p>
          <a:p>
            <a:pPr lvl="0">
              <a:tabLst>
                <a:tab pos="1371600" algn="l"/>
              </a:tabLst>
            </a:pPr>
            <a:r>
              <a:rPr lang="en-US" altLang="ja-JP" sz="1000" b="1" dirty="0" smtClean="0">
                <a:solidFill>
                  <a:schemeClr val="bg1">
                    <a:lumMod val="50000"/>
                  </a:schemeClr>
                </a:solidFill>
                <a:ea typeface="MS Mincho" pitchFamily="49" charset="-128"/>
                <a:cs typeface="Times New Roman" pitchFamily="18" charset="0"/>
              </a:rPr>
              <a:t>80-BAxxx-x Rev. </a:t>
            </a:r>
            <a:r>
              <a:rPr lang="en-US" altLang="ja-JP" sz="1000" b="1" dirty="0">
                <a:solidFill>
                  <a:schemeClr val="bg1">
                    <a:lumMod val="50000"/>
                  </a:schemeClr>
                </a:solidFill>
                <a:ea typeface="MS Mincho" pitchFamily="49" charset="-128"/>
                <a:cs typeface="Times New Roman" pitchFamily="18" charset="0"/>
              </a:rPr>
              <a:t>x</a:t>
            </a:r>
            <a:endParaRPr lang="en-US" altLang="ja-JP"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21795941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5" name="Rectangle 3"/>
          <p:cNvSpPr>
            <a:spLocks noGrp="1" noChangeArrowheads="1"/>
          </p:cNvSpPr>
          <p:nvPr>
            <p:ph type="title"/>
          </p:nvPr>
        </p:nvSpPr>
        <p:spPr/>
        <p:txBody>
          <a:bodyPr/>
          <a:lstStyle/>
          <a:p>
            <a:r>
              <a:rPr lang="en-US" dirty="0" smtClean="0"/>
              <a:t>Introduction</a:t>
            </a:r>
            <a:endParaRPr lang="en-US" dirty="0"/>
          </a:p>
        </p:txBody>
      </p:sp>
      <p:sp>
        <p:nvSpPr>
          <p:cNvPr id="243714" name="Rectangle 2"/>
          <p:cNvSpPr>
            <a:spLocks noGrp="1" noChangeArrowheads="1"/>
          </p:cNvSpPr>
          <p:nvPr>
            <p:ph idx="1"/>
          </p:nvPr>
        </p:nvSpPr>
        <p:spPr>
          <a:xfrm>
            <a:off x="217941" y="827314"/>
            <a:ext cx="8712200" cy="5489715"/>
          </a:xfrm>
        </p:spPr>
        <p:txBody>
          <a:bodyPr/>
          <a:lstStyle/>
          <a:p>
            <a:pPr marL="0" indent="0">
              <a:buNone/>
            </a:pPr>
            <a:r>
              <a:rPr lang="en-US" altLang="en-US" sz="1800" b="1" dirty="0" smtClean="0">
                <a:solidFill>
                  <a:srgbClr val="000000"/>
                </a:solidFill>
              </a:rPr>
              <a:t>Who are we?</a:t>
            </a:r>
          </a:p>
          <a:p>
            <a:r>
              <a:rPr lang="en-US" altLang="en-US" sz="1800" dirty="0" smtClean="0">
                <a:solidFill>
                  <a:srgbClr val="000000"/>
                </a:solidFill>
              </a:rPr>
              <a:t>Anshu Dasgupta – manage Qualcomm’s Hexagon™ DSP compiler team</a:t>
            </a:r>
          </a:p>
          <a:p>
            <a:r>
              <a:rPr lang="en-US" altLang="en-US" sz="1800" dirty="0" smtClean="0">
                <a:solidFill>
                  <a:srgbClr val="000000"/>
                </a:solidFill>
              </a:rPr>
              <a:t>Pavel Potoplyak – engineer working with the Hexagon tools team</a:t>
            </a:r>
            <a:endParaRPr lang="en-US" altLang="en-US" sz="1800" dirty="0">
              <a:solidFill>
                <a:srgbClr val="000000"/>
              </a:solidFill>
            </a:endParaRPr>
          </a:p>
          <a:p>
            <a:pPr marL="0" indent="0">
              <a:buNone/>
            </a:pPr>
            <a:endParaRPr lang="en-US" altLang="en-US" sz="1800" dirty="0" smtClean="0">
              <a:solidFill>
                <a:srgbClr val="000000"/>
              </a:solidFill>
            </a:endParaRPr>
          </a:p>
          <a:p>
            <a:endParaRPr lang="en-US" altLang="en-US" sz="1800" dirty="0" smtClean="0">
              <a:solidFill>
                <a:srgbClr val="000000"/>
              </a:solidFill>
            </a:endParaRPr>
          </a:p>
        </p:txBody>
      </p:sp>
    </p:spTree>
    <p:extLst>
      <p:ext uri="{BB962C8B-B14F-4D97-AF65-F5344CB8AC3E}">
        <p14:creationId xmlns:p14="http://schemas.microsoft.com/office/powerpoint/2010/main" val="2349941418"/>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5" name="Rectangle 3"/>
          <p:cNvSpPr>
            <a:spLocks noGrp="1" noChangeArrowheads="1"/>
          </p:cNvSpPr>
          <p:nvPr>
            <p:ph type="title"/>
          </p:nvPr>
        </p:nvSpPr>
        <p:spPr/>
        <p:txBody>
          <a:bodyPr/>
          <a:lstStyle/>
          <a:p>
            <a:r>
              <a:rPr lang="en-US" dirty="0" smtClean="0"/>
              <a:t>Introduction</a:t>
            </a:r>
            <a:endParaRPr lang="en-US" dirty="0"/>
          </a:p>
        </p:txBody>
      </p:sp>
      <p:sp>
        <p:nvSpPr>
          <p:cNvPr id="243714" name="Rectangle 2"/>
          <p:cNvSpPr>
            <a:spLocks noGrp="1" noChangeArrowheads="1"/>
          </p:cNvSpPr>
          <p:nvPr>
            <p:ph idx="1"/>
          </p:nvPr>
        </p:nvSpPr>
        <p:spPr>
          <a:xfrm>
            <a:off x="217941" y="827314"/>
            <a:ext cx="8712200" cy="5489715"/>
          </a:xfrm>
        </p:spPr>
        <p:txBody>
          <a:bodyPr/>
          <a:lstStyle/>
          <a:p>
            <a:pPr marL="0" indent="0">
              <a:buNone/>
            </a:pPr>
            <a:r>
              <a:rPr lang="en-US" altLang="en-US" sz="1800" b="1" dirty="0" smtClean="0">
                <a:solidFill>
                  <a:srgbClr val="000000"/>
                </a:solidFill>
              </a:rPr>
              <a:t>What are we doing?</a:t>
            </a:r>
          </a:p>
          <a:p>
            <a:pPr marL="0" indent="0">
              <a:buNone/>
            </a:pPr>
            <a:r>
              <a:rPr lang="en-US" altLang="en-US" sz="1800" dirty="0" smtClean="0">
                <a:solidFill>
                  <a:srgbClr val="000000"/>
                </a:solidFill>
              </a:rPr>
              <a:t>Bringing up a LLVM compiler for the Hexagon™ DSP</a:t>
            </a:r>
          </a:p>
          <a:p>
            <a:r>
              <a:rPr lang="en-US" altLang="en-US" sz="1800" dirty="0" smtClean="0">
                <a:solidFill>
                  <a:srgbClr val="000000"/>
                </a:solidFill>
              </a:rPr>
              <a:t>GCC is a mature toolset with thousands of hours of testing behind it</a:t>
            </a:r>
          </a:p>
          <a:p>
            <a:r>
              <a:rPr lang="en-US" altLang="en-US" sz="1800" dirty="0" smtClean="0">
                <a:solidFill>
                  <a:srgbClr val="000000"/>
                </a:solidFill>
              </a:rPr>
              <a:t>How </a:t>
            </a:r>
            <a:r>
              <a:rPr lang="en-US" altLang="en-US" sz="1800" dirty="0">
                <a:solidFill>
                  <a:srgbClr val="000000"/>
                </a:solidFill>
              </a:rPr>
              <a:t>do we </a:t>
            </a:r>
            <a:r>
              <a:rPr lang="en-US" altLang="en-US" sz="1800" dirty="0" smtClean="0">
                <a:solidFill>
                  <a:srgbClr val="000000"/>
                </a:solidFill>
              </a:rPr>
              <a:t>achieve </a:t>
            </a:r>
            <a:r>
              <a:rPr lang="en-US" altLang="en-US" sz="1800" dirty="0">
                <a:solidFill>
                  <a:srgbClr val="000000"/>
                </a:solidFill>
              </a:rPr>
              <a:t>that level of robustness and maturity</a:t>
            </a:r>
            <a:r>
              <a:rPr lang="en-US" altLang="en-US" sz="1800" dirty="0" smtClean="0">
                <a:solidFill>
                  <a:srgbClr val="000000"/>
                </a:solidFill>
              </a:rPr>
              <a:t>?</a:t>
            </a:r>
          </a:p>
          <a:p>
            <a:pPr marL="0" indent="0">
              <a:buNone/>
            </a:pPr>
            <a:endParaRPr lang="en-US" altLang="en-US" sz="1800" dirty="0">
              <a:solidFill>
                <a:srgbClr val="000000"/>
              </a:solidFill>
            </a:endParaRPr>
          </a:p>
          <a:p>
            <a:pPr marL="0" indent="0">
              <a:buNone/>
            </a:pPr>
            <a:r>
              <a:rPr lang="en-US" altLang="en-US" sz="1800" dirty="0" smtClean="0">
                <a:solidFill>
                  <a:srgbClr val="000000"/>
                </a:solidFill>
              </a:rPr>
              <a:t>One solution: Build Linux kernel and user space with LLVM for the Hexagon™ DSP</a:t>
            </a:r>
            <a:endParaRPr lang="en-US" altLang="en-US" sz="1800" dirty="0">
              <a:solidFill>
                <a:srgbClr val="000000"/>
              </a:solidFill>
            </a:endParaRPr>
          </a:p>
        </p:txBody>
      </p:sp>
    </p:spTree>
    <p:extLst>
      <p:ext uri="{BB962C8B-B14F-4D97-AF65-F5344CB8AC3E}">
        <p14:creationId xmlns:p14="http://schemas.microsoft.com/office/powerpoint/2010/main" val="3557921297"/>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5" name="Rectangle 3"/>
          <p:cNvSpPr>
            <a:spLocks noGrp="1" noChangeArrowheads="1"/>
          </p:cNvSpPr>
          <p:nvPr>
            <p:ph type="title"/>
          </p:nvPr>
        </p:nvSpPr>
        <p:spPr/>
        <p:txBody>
          <a:bodyPr/>
          <a:lstStyle/>
          <a:p>
            <a:r>
              <a:rPr lang="en-US" dirty="0" smtClean="0"/>
              <a:t>Introduction</a:t>
            </a:r>
            <a:endParaRPr lang="en-US" dirty="0"/>
          </a:p>
        </p:txBody>
      </p:sp>
      <p:sp>
        <p:nvSpPr>
          <p:cNvPr id="243714" name="Rectangle 2"/>
          <p:cNvSpPr>
            <a:spLocks noGrp="1" noChangeArrowheads="1"/>
          </p:cNvSpPr>
          <p:nvPr>
            <p:ph idx="1"/>
          </p:nvPr>
        </p:nvSpPr>
        <p:spPr>
          <a:xfrm>
            <a:off x="217941" y="827314"/>
            <a:ext cx="8712200" cy="5489715"/>
          </a:xfrm>
        </p:spPr>
        <p:txBody>
          <a:bodyPr/>
          <a:lstStyle/>
          <a:p>
            <a:pPr marL="0" indent="0">
              <a:buNone/>
            </a:pPr>
            <a:r>
              <a:rPr lang="fi-FI" altLang="en-US" sz="1800" b="1" dirty="0" smtClean="0">
                <a:solidFill>
                  <a:srgbClr val="000000"/>
                </a:solidFill>
              </a:rPr>
              <a:t>Why are we </a:t>
            </a:r>
            <a:r>
              <a:rPr lang="en-US" altLang="en-US" sz="1800" b="1" dirty="0" smtClean="0">
                <a:solidFill>
                  <a:srgbClr val="000000"/>
                </a:solidFill>
              </a:rPr>
              <a:t>building the Linux </a:t>
            </a:r>
            <a:r>
              <a:rPr lang="en-US" altLang="en-US" sz="1800" b="1" dirty="0">
                <a:solidFill>
                  <a:srgbClr val="000000"/>
                </a:solidFill>
              </a:rPr>
              <a:t>kernel and user space with </a:t>
            </a:r>
            <a:r>
              <a:rPr lang="en-US" altLang="en-US" sz="1800" b="1" dirty="0" smtClean="0">
                <a:solidFill>
                  <a:srgbClr val="000000"/>
                </a:solidFill>
              </a:rPr>
              <a:t>LLVM?</a:t>
            </a:r>
            <a:endParaRPr lang="fi-FI" altLang="en-US" sz="1800" b="1" dirty="0" smtClean="0">
              <a:solidFill>
                <a:srgbClr val="000000"/>
              </a:solidFill>
            </a:endParaRPr>
          </a:p>
          <a:p>
            <a:pPr marL="0" indent="0">
              <a:buNone/>
            </a:pPr>
            <a:r>
              <a:rPr lang="fi-FI" altLang="en-US" sz="1800" dirty="0" smtClean="0">
                <a:solidFill>
                  <a:srgbClr val="000000"/>
                </a:solidFill>
              </a:rPr>
              <a:t>Compiler testing</a:t>
            </a:r>
          </a:p>
          <a:p>
            <a:pPr marL="457200" indent="-457200">
              <a:buFont typeface="Arial" panose="020B0604020202020204" pitchFamily="34" charset="0"/>
              <a:buChar char="•"/>
            </a:pPr>
            <a:r>
              <a:rPr lang="fi-FI" altLang="en-US" sz="1800" dirty="0" smtClean="0">
                <a:solidFill>
                  <a:srgbClr val="000000"/>
                </a:solidFill>
              </a:rPr>
              <a:t>Need extensive testing to deploy commercially</a:t>
            </a:r>
          </a:p>
          <a:p>
            <a:pPr marL="457200" indent="-457200">
              <a:buFont typeface="Arial" panose="020B0604020202020204" pitchFamily="34" charset="0"/>
              <a:buChar char="•"/>
            </a:pPr>
            <a:r>
              <a:rPr lang="fi-FI" altLang="en-US" sz="1800" dirty="0" smtClean="0">
                <a:solidFill>
                  <a:srgbClr val="000000"/>
                </a:solidFill>
              </a:rPr>
              <a:t>VLIW code paths and optimizations a challenge for correctness, performance</a:t>
            </a:r>
          </a:p>
          <a:p>
            <a:pPr marL="457200" indent="-457200">
              <a:buFont typeface="Arial" panose="020B0604020202020204" pitchFamily="34" charset="0"/>
              <a:buChar char="•"/>
            </a:pPr>
            <a:r>
              <a:rPr lang="en-US" altLang="en-US" sz="1800" dirty="0" smtClean="0">
                <a:solidFill>
                  <a:srgbClr val="000000"/>
                </a:solidFill>
              </a:rPr>
              <a:t>Compiler bugs are </a:t>
            </a:r>
            <a:r>
              <a:rPr lang="en-US" altLang="en-US" sz="1800" b="1" dirty="0" smtClean="0">
                <a:solidFill>
                  <a:srgbClr val="000000"/>
                </a:solidFill>
              </a:rPr>
              <a:t>very</a:t>
            </a:r>
            <a:r>
              <a:rPr lang="en-US" altLang="en-US" sz="1800" dirty="0" smtClean="0">
                <a:solidFill>
                  <a:srgbClr val="000000"/>
                </a:solidFill>
              </a:rPr>
              <a:t> difficult to track down </a:t>
            </a:r>
            <a:r>
              <a:rPr lang="en-US" altLang="en-US" sz="1800" dirty="0" smtClean="0">
                <a:solidFill>
                  <a:srgbClr val="000000"/>
                </a:solidFill>
              </a:rPr>
              <a:t>in </a:t>
            </a:r>
            <a:r>
              <a:rPr lang="en-US" altLang="en-US" sz="1800" dirty="0" smtClean="0">
                <a:solidFill>
                  <a:srgbClr val="000000"/>
                </a:solidFill>
              </a:rPr>
              <a:t>embedded applications</a:t>
            </a:r>
          </a:p>
          <a:p>
            <a:pPr marL="0" indent="0">
              <a:buNone/>
            </a:pPr>
            <a:endParaRPr lang="fi-FI" altLang="en-US" sz="1800" dirty="0" smtClean="0">
              <a:solidFill>
                <a:srgbClr val="000000"/>
              </a:solidFill>
            </a:endParaRPr>
          </a:p>
          <a:p>
            <a:pPr marL="0" indent="0">
              <a:buNone/>
            </a:pPr>
            <a:r>
              <a:rPr lang="fi-FI" altLang="en-US" sz="1800" dirty="0" smtClean="0">
                <a:solidFill>
                  <a:srgbClr val="000000"/>
                </a:solidFill>
              </a:rPr>
              <a:t>Hexagon codebases transitioning from GCC to LLVM</a:t>
            </a:r>
          </a:p>
          <a:p>
            <a:pPr marL="457200" indent="-457200">
              <a:buFont typeface="Arial" panose="020B0604020202020204" pitchFamily="34" charset="0"/>
              <a:buChar char="•"/>
            </a:pPr>
            <a:r>
              <a:rPr lang="en-US" altLang="en-US" sz="1800" dirty="0" smtClean="0">
                <a:solidFill>
                  <a:srgbClr val="000000"/>
                </a:solidFill>
              </a:rPr>
              <a:t>Programmers code to compiler behavior not to C standard</a:t>
            </a:r>
            <a:endParaRPr lang="en-US" altLang="en-US" sz="1800" dirty="0">
              <a:solidFill>
                <a:srgbClr val="000000"/>
              </a:solidFill>
            </a:endParaRPr>
          </a:p>
        </p:txBody>
      </p:sp>
    </p:spTree>
    <p:extLst>
      <p:ext uri="{BB962C8B-B14F-4D97-AF65-F5344CB8AC3E}">
        <p14:creationId xmlns:p14="http://schemas.microsoft.com/office/powerpoint/2010/main" val="3025301960"/>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5" name="Rectangle 3"/>
          <p:cNvSpPr>
            <a:spLocks noGrp="1" noChangeArrowheads="1"/>
          </p:cNvSpPr>
          <p:nvPr>
            <p:ph type="title"/>
          </p:nvPr>
        </p:nvSpPr>
        <p:spPr/>
        <p:txBody>
          <a:bodyPr/>
          <a:lstStyle/>
          <a:p>
            <a:r>
              <a:rPr lang="en-US" dirty="0" smtClean="0"/>
              <a:t>Hexagon™ DSP</a:t>
            </a:r>
            <a:endParaRPr lang="en-US" dirty="0"/>
          </a:p>
        </p:txBody>
      </p:sp>
      <p:sp>
        <p:nvSpPr>
          <p:cNvPr id="243714" name="Rectangle 2"/>
          <p:cNvSpPr>
            <a:spLocks noGrp="1" noChangeArrowheads="1"/>
          </p:cNvSpPr>
          <p:nvPr>
            <p:ph idx="1"/>
          </p:nvPr>
        </p:nvSpPr>
        <p:spPr>
          <a:xfrm>
            <a:off x="217941" y="827314"/>
            <a:ext cx="8712200" cy="5489715"/>
          </a:xfrm>
        </p:spPr>
        <p:txBody>
          <a:bodyPr/>
          <a:lstStyle/>
          <a:p>
            <a:pPr marL="0" indent="0">
              <a:buNone/>
            </a:pPr>
            <a:r>
              <a:rPr lang="fi-FI" altLang="en-US" sz="1800" dirty="0" smtClean="0">
                <a:solidFill>
                  <a:srgbClr val="000000"/>
                </a:solidFill>
              </a:rPr>
              <a:t>Hexagon</a:t>
            </a:r>
            <a:r>
              <a:rPr lang="en-US" sz="1800" b="1" dirty="0" smtClean="0"/>
              <a:t>™ </a:t>
            </a:r>
            <a:r>
              <a:rPr lang="en-US" sz="1800" dirty="0" smtClean="0"/>
              <a:t>DSP</a:t>
            </a:r>
            <a:r>
              <a:rPr lang="fi-FI" altLang="en-US" sz="1800" dirty="0" smtClean="0">
                <a:solidFill>
                  <a:srgbClr val="000000"/>
                </a:solidFill>
              </a:rPr>
              <a:t>: </a:t>
            </a:r>
            <a:r>
              <a:rPr lang="fi-FI" altLang="en-US" sz="1800" dirty="0">
                <a:solidFill>
                  <a:srgbClr val="000000"/>
                </a:solidFill>
              </a:rPr>
              <a:t>Qualcomm’s multithreaded VLIW DSP</a:t>
            </a:r>
          </a:p>
          <a:p>
            <a:pPr marL="457200" indent="-457200">
              <a:buFont typeface="Arial" panose="020B0604020202020204" pitchFamily="34" charset="0"/>
              <a:buChar char="•"/>
            </a:pPr>
            <a:r>
              <a:rPr lang="fi-FI" altLang="en-US" sz="1800" dirty="0">
                <a:solidFill>
                  <a:srgbClr val="000000"/>
                </a:solidFill>
              </a:rPr>
              <a:t>Part of the Snapdragon </a:t>
            </a:r>
            <a:r>
              <a:rPr lang="fi-FI" altLang="en-US" sz="1800" dirty="0" smtClean="0">
                <a:solidFill>
                  <a:srgbClr val="000000"/>
                </a:solidFill>
              </a:rPr>
              <a:t>platform</a:t>
            </a:r>
            <a:endParaRPr lang="fi-FI" altLang="en-US" sz="1800" dirty="0">
              <a:solidFill>
                <a:srgbClr val="000000"/>
              </a:solidFill>
            </a:endParaRPr>
          </a:p>
          <a:p>
            <a:pPr marL="0" indent="0">
              <a:buNone/>
            </a:pPr>
            <a:endParaRPr lang="fi-FI" altLang="en-US" sz="1800" dirty="0" smtClean="0">
              <a:solidFill>
                <a:srgbClr val="000000"/>
              </a:solidFill>
            </a:endParaRPr>
          </a:p>
          <a:p>
            <a:pPr marL="0" indent="0">
              <a:buNone/>
            </a:pPr>
            <a:r>
              <a:rPr lang="fi-FI" altLang="en-US" sz="1800" dirty="0" smtClean="0">
                <a:solidFill>
                  <a:srgbClr val="000000"/>
                </a:solidFill>
              </a:rPr>
              <a:t>C, C++ compiler</a:t>
            </a:r>
            <a:endParaRPr lang="fi-FI" altLang="en-US" sz="1800" dirty="0">
              <a:solidFill>
                <a:srgbClr val="000000"/>
              </a:solidFill>
            </a:endParaRPr>
          </a:p>
          <a:p>
            <a:pPr marL="457200" indent="-457200">
              <a:buFont typeface="Arial" panose="020B0604020202020204" pitchFamily="34" charset="0"/>
              <a:buChar char="•"/>
            </a:pPr>
            <a:r>
              <a:rPr lang="fi-FI" altLang="en-US" sz="1800" dirty="0" smtClean="0">
                <a:solidFill>
                  <a:srgbClr val="000000"/>
                </a:solidFill>
              </a:rPr>
              <a:t>Processor designed to be programmed in C and C++</a:t>
            </a:r>
          </a:p>
          <a:p>
            <a:pPr marL="457200" indent="-457200">
              <a:buFont typeface="Arial" panose="020B0604020202020204" pitchFamily="34" charset="0"/>
              <a:buChar char="•"/>
            </a:pPr>
            <a:r>
              <a:rPr lang="fi-FI" altLang="en-US" sz="1800" dirty="0" smtClean="0">
                <a:solidFill>
                  <a:srgbClr val="000000"/>
                </a:solidFill>
              </a:rPr>
              <a:t>LLVM-based </a:t>
            </a:r>
            <a:r>
              <a:rPr lang="fi-FI" altLang="en-US" sz="1800" dirty="0">
                <a:solidFill>
                  <a:srgbClr val="000000"/>
                </a:solidFill>
              </a:rPr>
              <a:t>compiler (transitioned from GCC compiler</a:t>
            </a:r>
            <a:r>
              <a:rPr lang="fi-FI" altLang="en-US" sz="1800" dirty="0" smtClean="0">
                <a:solidFill>
                  <a:srgbClr val="000000"/>
                </a:solidFill>
              </a:rPr>
              <a:t>)</a:t>
            </a:r>
          </a:p>
          <a:p>
            <a:pPr marL="0" indent="0">
              <a:buNone/>
            </a:pPr>
            <a:endParaRPr lang="fi-FI" altLang="en-US" sz="1800" dirty="0" smtClean="0">
              <a:solidFill>
                <a:srgbClr val="000000"/>
              </a:solidFill>
            </a:endParaRPr>
          </a:p>
          <a:p>
            <a:pPr marL="0" indent="0">
              <a:buNone/>
            </a:pPr>
            <a:r>
              <a:rPr lang="fi-FI" altLang="en-US" sz="1800" dirty="0" smtClean="0">
                <a:solidFill>
                  <a:srgbClr val="000000"/>
                </a:solidFill>
              </a:rPr>
              <a:t>VLIW architecture provides several opportunities and challenges for the compiler</a:t>
            </a:r>
          </a:p>
          <a:p>
            <a:pPr marL="0" indent="0">
              <a:buNone/>
            </a:pPr>
            <a:endParaRPr lang="fi-FI" altLang="en-US" sz="1800" dirty="0" smtClean="0">
              <a:solidFill>
                <a:srgbClr val="000000"/>
              </a:solidFill>
            </a:endParaRPr>
          </a:p>
        </p:txBody>
      </p:sp>
    </p:spTree>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5" name="Rectangle 3"/>
          <p:cNvSpPr>
            <a:spLocks noGrp="1" noChangeArrowheads="1"/>
          </p:cNvSpPr>
          <p:nvPr>
            <p:ph type="title"/>
          </p:nvPr>
        </p:nvSpPr>
        <p:spPr>
          <a:xfrm>
            <a:off x="155007" y="164193"/>
            <a:ext cx="8729663" cy="561975"/>
          </a:xfrm>
        </p:spPr>
        <p:txBody>
          <a:bodyPr/>
          <a:lstStyle/>
          <a:p>
            <a:r>
              <a:rPr lang="fi-FI" altLang="en-US" dirty="0"/>
              <a:t>Compiler Correctness</a:t>
            </a:r>
            <a:endParaRPr lang="en-US" dirty="0"/>
          </a:p>
        </p:txBody>
      </p:sp>
      <p:sp>
        <p:nvSpPr>
          <p:cNvPr id="243714" name="Rectangle 2"/>
          <p:cNvSpPr>
            <a:spLocks noGrp="1" noChangeArrowheads="1"/>
          </p:cNvSpPr>
          <p:nvPr>
            <p:ph idx="1"/>
          </p:nvPr>
        </p:nvSpPr>
        <p:spPr>
          <a:xfrm>
            <a:off x="152627" y="675508"/>
            <a:ext cx="8712200" cy="5314950"/>
          </a:xfrm>
        </p:spPr>
        <p:txBody>
          <a:bodyPr/>
          <a:lstStyle/>
          <a:p>
            <a:pPr marL="0" indent="0">
              <a:buNone/>
            </a:pPr>
            <a:r>
              <a:rPr lang="fi-FI" altLang="en-US" dirty="0">
                <a:solidFill>
                  <a:srgbClr val="000000"/>
                </a:solidFill>
              </a:rPr>
              <a:t>Primary goal of compiler: </a:t>
            </a:r>
            <a:r>
              <a:rPr lang="fi-FI" altLang="en-US" dirty="0" smtClean="0">
                <a:solidFill>
                  <a:srgbClr val="000000"/>
                </a:solidFill>
              </a:rPr>
              <a:t>Generate correct </a:t>
            </a:r>
            <a:r>
              <a:rPr lang="fi-FI" altLang="en-US" dirty="0">
                <a:solidFill>
                  <a:srgbClr val="000000"/>
                </a:solidFill>
              </a:rPr>
              <a:t>code</a:t>
            </a:r>
          </a:p>
          <a:p>
            <a:pPr marL="457200" indent="-457200">
              <a:buFont typeface="Arial" panose="020B0604020202020204" pitchFamily="34" charset="0"/>
              <a:buChar char="•"/>
            </a:pPr>
            <a:r>
              <a:rPr lang="fi-FI" altLang="en-US" dirty="0">
                <a:solidFill>
                  <a:srgbClr val="000000"/>
                </a:solidFill>
              </a:rPr>
              <a:t>Relax correctness and any performance goal can be </a:t>
            </a:r>
            <a:r>
              <a:rPr lang="fi-FI" altLang="en-US" dirty="0" smtClean="0">
                <a:solidFill>
                  <a:srgbClr val="000000"/>
                </a:solidFill>
              </a:rPr>
              <a:t>met :-)</a:t>
            </a:r>
            <a:endParaRPr lang="fi-FI" altLang="en-US" dirty="0">
              <a:solidFill>
                <a:srgbClr val="000000"/>
              </a:solidFill>
            </a:endParaRPr>
          </a:p>
          <a:p>
            <a:pPr marL="457200" indent="-457200">
              <a:buFont typeface="Arial" panose="020B0604020202020204" pitchFamily="34" charset="0"/>
              <a:buChar char="•"/>
            </a:pPr>
            <a:r>
              <a:rPr lang="fi-FI" altLang="en-US" dirty="0">
                <a:solidFill>
                  <a:srgbClr val="000000"/>
                </a:solidFill>
              </a:rPr>
              <a:t>We have an elaborate set of internal tests for correctness that runs every </a:t>
            </a:r>
            <a:r>
              <a:rPr lang="fi-FI" altLang="en-US" dirty="0" smtClean="0">
                <a:solidFill>
                  <a:srgbClr val="000000"/>
                </a:solidFill>
              </a:rPr>
              <a:t>night</a:t>
            </a:r>
          </a:p>
          <a:p>
            <a:pPr marL="457200" indent="-457200">
              <a:buFont typeface="Arial" panose="020B0604020202020204" pitchFamily="34" charset="0"/>
              <a:buChar char="•"/>
            </a:pPr>
            <a:endParaRPr lang="fi-FI" altLang="en-US" dirty="0" smtClean="0">
              <a:solidFill>
                <a:srgbClr val="000000"/>
              </a:solidFill>
            </a:endParaRPr>
          </a:p>
          <a:p>
            <a:pPr marL="0" indent="0">
              <a:buNone/>
            </a:pPr>
            <a:r>
              <a:rPr lang="fi-FI" altLang="en-US" dirty="0" smtClean="0">
                <a:solidFill>
                  <a:srgbClr val="000000"/>
                </a:solidFill>
              </a:rPr>
              <a:t>Compiling Hexagon DSP Linux </a:t>
            </a:r>
            <a:r>
              <a:rPr lang="fi-FI" altLang="en-US" dirty="0">
                <a:solidFill>
                  <a:srgbClr val="000000"/>
                </a:solidFill>
              </a:rPr>
              <a:t>kernel and </a:t>
            </a:r>
            <a:r>
              <a:rPr lang="fi-FI" altLang="en-US" dirty="0" smtClean="0">
                <a:solidFill>
                  <a:srgbClr val="000000"/>
                </a:solidFill>
              </a:rPr>
              <a:t>user space </a:t>
            </a:r>
            <a:r>
              <a:rPr lang="fi-FI" altLang="en-US" dirty="0">
                <a:solidFill>
                  <a:srgbClr val="000000"/>
                </a:solidFill>
              </a:rPr>
              <a:t>with </a:t>
            </a:r>
            <a:r>
              <a:rPr lang="fi-FI" altLang="en-US" dirty="0" smtClean="0">
                <a:solidFill>
                  <a:srgbClr val="000000"/>
                </a:solidFill>
              </a:rPr>
              <a:t>LLVM</a:t>
            </a:r>
          </a:p>
          <a:p>
            <a:r>
              <a:rPr lang="fi-FI" altLang="en-US" dirty="0" smtClean="0">
                <a:solidFill>
                  <a:srgbClr val="000000"/>
                </a:solidFill>
              </a:rPr>
              <a:t>    Stress </a:t>
            </a:r>
            <a:r>
              <a:rPr lang="fi-FI" altLang="en-US" dirty="0">
                <a:solidFill>
                  <a:srgbClr val="000000"/>
                </a:solidFill>
              </a:rPr>
              <a:t>test for compiler correctness</a:t>
            </a:r>
          </a:p>
          <a:p>
            <a:pPr marL="457200" indent="-457200">
              <a:buFont typeface="Arial" panose="020B0604020202020204" pitchFamily="34" charset="0"/>
              <a:buChar char="•"/>
            </a:pPr>
            <a:r>
              <a:rPr lang="fi-FI" altLang="en-US" dirty="0">
                <a:solidFill>
                  <a:srgbClr val="000000"/>
                </a:solidFill>
              </a:rPr>
              <a:t>Several bugs uncovered </a:t>
            </a:r>
            <a:r>
              <a:rPr lang="fi-FI" altLang="en-US" dirty="0" smtClean="0">
                <a:solidFill>
                  <a:srgbClr val="000000"/>
                </a:solidFill>
              </a:rPr>
              <a:t>during Hexagon Linux bringup</a:t>
            </a:r>
          </a:p>
          <a:p>
            <a:pPr marL="0" indent="0">
              <a:buNone/>
            </a:pPr>
            <a:endParaRPr lang="fi-FI" altLang="en-US" dirty="0" smtClean="0">
              <a:solidFill>
                <a:srgbClr val="000000"/>
              </a:solidFill>
            </a:endParaRPr>
          </a:p>
          <a:p>
            <a:pPr marL="0" indent="0">
              <a:buNone/>
            </a:pPr>
            <a:r>
              <a:rPr lang="fi-FI" altLang="en-US" dirty="0" smtClean="0">
                <a:solidFill>
                  <a:srgbClr val="000000"/>
                </a:solidFill>
              </a:rPr>
              <a:t>Example packet:</a:t>
            </a:r>
            <a:endParaRPr lang="fi-FI" altLang="en-US" dirty="0">
              <a:solidFill>
                <a:srgbClr val="000000"/>
              </a:solidFill>
            </a:endParaRPr>
          </a:p>
          <a:p>
            <a:pPr marL="0" indent="0">
              <a:buNone/>
            </a:pPr>
            <a:r>
              <a:rPr lang="pt-BR" altLang="en-US" sz="1800" dirty="0" smtClean="0">
                <a:solidFill>
                  <a:srgbClr val="000000"/>
                </a:solidFill>
                <a:latin typeface="Courier New" panose="02070309020205020404" pitchFamily="49" charset="0"/>
                <a:cs typeface="Courier New" panose="02070309020205020404" pitchFamily="49" charset="0"/>
              </a:rPr>
              <a:t>{  r7 </a:t>
            </a:r>
            <a:r>
              <a:rPr lang="pt-BR" altLang="en-US" sz="1800" dirty="0">
                <a:solidFill>
                  <a:srgbClr val="000000"/>
                </a:solidFill>
                <a:latin typeface="Courier New" panose="02070309020205020404" pitchFamily="49" charset="0"/>
                <a:cs typeface="Courier New" panose="02070309020205020404" pitchFamily="49" charset="0"/>
              </a:rPr>
              <a:t>+= mpyi(r21, r20)</a:t>
            </a:r>
          </a:p>
          <a:p>
            <a:pPr marL="0" indent="0">
              <a:buNone/>
            </a:pPr>
            <a:r>
              <a:rPr lang="pt-BR" altLang="en-US" sz="1800" dirty="0" smtClean="0">
                <a:solidFill>
                  <a:srgbClr val="000000"/>
                </a:solidFill>
                <a:latin typeface="Courier New" panose="02070309020205020404" pitchFamily="49" charset="0"/>
                <a:cs typeface="Courier New" panose="02070309020205020404" pitchFamily="49" charset="0"/>
              </a:rPr>
              <a:t>   r8 </a:t>
            </a:r>
            <a:r>
              <a:rPr lang="pt-BR" altLang="en-US" sz="1800" dirty="0">
                <a:solidFill>
                  <a:srgbClr val="000000"/>
                </a:solidFill>
                <a:latin typeface="Courier New" panose="02070309020205020404" pitchFamily="49" charset="0"/>
                <a:cs typeface="Courier New" panose="02070309020205020404" pitchFamily="49" charset="0"/>
              </a:rPr>
              <a:t>= add(r8, #16)</a:t>
            </a:r>
          </a:p>
          <a:p>
            <a:pPr marL="0" indent="0">
              <a:buNone/>
            </a:pPr>
            <a:r>
              <a:rPr lang="pt-BR" altLang="en-US" sz="1800" dirty="0" smtClean="0">
                <a:solidFill>
                  <a:srgbClr val="000000"/>
                </a:solidFill>
                <a:latin typeface="Courier New" panose="02070309020205020404" pitchFamily="49" charset="0"/>
                <a:cs typeface="Courier New" panose="02070309020205020404" pitchFamily="49" charset="0"/>
              </a:rPr>
              <a:t>   r12 </a:t>
            </a:r>
            <a:r>
              <a:rPr lang="pt-BR" altLang="en-US" sz="1800" dirty="0">
                <a:solidFill>
                  <a:srgbClr val="000000"/>
                </a:solidFill>
                <a:latin typeface="Courier New" panose="02070309020205020404" pitchFamily="49" charset="0"/>
                <a:cs typeface="Courier New" panose="02070309020205020404" pitchFamily="49" charset="0"/>
              </a:rPr>
              <a:t>= add(r12, #8)</a:t>
            </a:r>
          </a:p>
          <a:p>
            <a:pPr marL="0" indent="0">
              <a:buNone/>
            </a:pPr>
            <a:r>
              <a:rPr lang="pt-BR" altLang="en-US" sz="1800" dirty="0" smtClean="0">
                <a:solidFill>
                  <a:srgbClr val="000000"/>
                </a:solidFill>
                <a:latin typeface="Courier New" panose="02070309020205020404" pitchFamily="49" charset="0"/>
                <a:cs typeface="Courier New" panose="02070309020205020404" pitchFamily="49" charset="0"/>
              </a:rPr>
              <a:t>   if </a:t>
            </a:r>
            <a:r>
              <a:rPr lang="pt-BR" altLang="en-US" sz="1800" dirty="0">
                <a:solidFill>
                  <a:srgbClr val="000000"/>
                </a:solidFill>
                <a:latin typeface="Courier New" panose="02070309020205020404" pitchFamily="49" charset="0"/>
                <a:cs typeface="Courier New" panose="02070309020205020404" pitchFamily="49" charset="0"/>
              </a:rPr>
              <a:t>(cmp.gt(r2, r12.new)) jump:t .LBB0_4</a:t>
            </a:r>
          </a:p>
          <a:p>
            <a:pPr marL="0" indent="0">
              <a:buNone/>
            </a:pPr>
            <a:r>
              <a:rPr lang="pt-BR" altLang="en-US" sz="1800" dirty="0" smtClean="0">
                <a:solidFill>
                  <a:srgbClr val="000000"/>
                </a:solidFill>
                <a:latin typeface="Courier New" panose="02070309020205020404" pitchFamily="49" charset="0"/>
                <a:cs typeface="Courier New" panose="02070309020205020404" pitchFamily="49" charset="0"/>
              </a:rPr>
              <a:t>}</a:t>
            </a:r>
            <a:endParaRPr lang="fi-FI" altLang="en-US" dirty="0">
              <a:solidFill>
                <a:srgbClr val="000000"/>
              </a:solidFill>
            </a:endParaRPr>
          </a:p>
        </p:txBody>
      </p:sp>
    </p:spTree>
    <p:extLst>
      <p:ext uri="{BB962C8B-B14F-4D97-AF65-F5344CB8AC3E}">
        <p14:creationId xmlns:p14="http://schemas.microsoft.com/office/powerpoint/2010/main" val="2227542585"/>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5" name="Rectangle 3"/>
          <p:cNvSpPr>
            <a:spLocks noGrp="1" noChangeArrowheads="1"/>
          </p:cNvSpPr>
          <p:nvPr>
            <p:ph type="title"/>
          </p:nvPr>
        </p:nvSpPr>
        <p:spPr/>
        <p:txBody>
          <a:bodyPr/>
          <a:lstStyle/>
          <a:p>
            <a:r>
              <a:rPr lang="fi-FI" altLang="en-US" dirty="0" smtClean="0"/>
              <a:t>Example of Unsupported Feature: Global Register Variables </a:t>
            </a:r>
            <a:endParaRPr lang="en-US" dirty="0"/>
          </a:p>
        </p:txBody>
      </p:sp>
      <p:sp>
        <p:nvSpPr>
          <p:cNvPr id="243714" name="Rectangle 2"/>
          <p:cNvSpPr>
            <a:spLocks noGrp="1" noChangeArrowheads="1"/>
          </p:cNvSpPr>
          <p:nvPr>
            <p:ph idx="1"/>
          </p:nvPr>
        </p:nvSpPr>
        <p:spPr>
          <a:xfrm>
            <a:off x="163513" y="904108"/>
            <a:ext cx="8849858" cy="5314950"/>
          </a:xfrm>
        </p:spPr>
        <p:txBody>
          <a:bodyPr/>
          <a:lstStyle/>
          <a:p>
            <a:pPr marL="0" indent="0">
              <a:buNone/>
            </a:pPr>
            <a:endParaRPr lang="fi-FI" altLang="en-US" sz="1400" dirty="0">
              <a:solidFill>
                <a:srgbClr val="000000"/>
              </a:solidFill>
              <a:latin typeface="Courier New" panose="02070309020205020404" pitchFamily="49" charset="0"/>
              <a:cs typeface="Courier New" panose="02070309020205020404" pitchFamily="49" charset="0"/>
            </a:endParaRP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#ifndef __llvm__</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register struct thread_info *__</a:t>
            </a:r>
            <a:r>
              <a:rPr lang="fi-FI" altLang="en-US" sz="1400" dirty="0" smtClean="0">
                <a:solidFill>
                  <a:srgbClr val="000000"/>
                </a:solidFill>
                <a:latin typeface="Courier New" panose="02070309020205020404" pitchFamily="49" charset="0"/>
                <a:cs typeface="Courier New" panose="02070309020205020404" pitchFamily="49" charset="0"/>
              </a:rPr>
              <a:t>current_thread_info asm(QUOTED_THREADINFO_REG</a:t>
            </a:r>
            <a:r>
              <a:rPr lang="fi-FI" altLang="en-US" sz="1400" dirty="0">
                <a:solidFill>
                  <a:srgbClr val="000000"/>
                </a:solidFill>
                <a:latin typeface="Courier New" panose="02070309020205020404" pitchFamily="49" charset="0"/>
                <a:cs typeface="Courier New" panose="02070309020205020404" pitchFamily="49" charset="0"/>
              </a:rPr>
              <a:t>);</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#define current_thread_info()  __current_thread_info</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#else</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inline struct thread_info *current_thread_info()</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    struct thread_info *x;</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    asm ("%0 = " QUOTED_THREADINFO_REG : "=r"(x));</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    return x;</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#endif</a:t>
            </a:r>
          </a:p>
          <a:p>
            <a:pPr marL="0" indent="0">
              <a:buNone/>
            </a:pPr>
            <a:endParaRPr lang="fi-FI" altLang="en-US" sz="1400" dirty="0">
              <a:solidFill>
                <a:srgbClr val="000000"/>
              </a:solidFill>
              <a:latin typeface="Courier New" panose="02070309020205020404" pitchFamily="49" charset="0"/>
              <a:cs typeface="Courier New" panose="02070309020205020404" pitchFamily="49" charset="0"/>
            </a:endParaRPr>
          </a:p>
          <a:p>
            <a:pPr marL="0" lvl="0" indent="0">
              <a:buClr>
                <a:srgbClr val="70CDE3"/>
              </a:buClr>
              <a:buNone/>
            </a:pPr>
            <a:endParaRPr lang="fi-FI" altLang="en-US" dirty="0" smtClean="0">
              <a:solidFill>
                <a:srgbClr val="000000"/>
              </a:solidFill>
            </a:endParaRPr>
          </a:p>
          <a:p>
            <a:pPr marL="0" lvl="0" indent="0">
              <a:buClr>
                <a:srgbClr val="70CDE3"/>
              </a:buClr>
              <a:buNone/>
            </a:pPr>
            <a:r>
              <a:rPr lang="fi-FI" altLang="en-US" dirty="0" smtClean="0">
                <a:solidFill>
                  <a:srgbClr val="000000"/>
                </a:solidFill>
              </a:rPr>
              <a:t>Several other GCC extensions not implemented in LLVM</a:t>
            </a:r>
            <a:endParaRPr lang="fi-FI" altLang="en-US" dirty="0">
              <a:solidFill>
                <a:srgbClr val="000000"/>
              </a:solidFill>
            </a:endParaRPr>
          </a:p>
          <a:p>
            <a:pPr lvl="0">
              <a:buClr>
                <a:srgbClr val="70CDE3"/>
              </a:buClr>
            </a:pPr>
            <a:r>
              <a:rPr lang="fi-FI" altLang="en-US" dirty="0">
                <a:solidFill>
                  <a:srgbClr val="000000"/>
                </a:solidFill>
              </a:rPr>
              <a:t>   </a:t>
            </a:r>
            <a:r>
              <a:rPr lang="en-US" dirty="0">
                <a:hlinkClick r:id="rId2"/>
              </a:rPr>
              <a:t>http://clang.llvm.org/docs/UsersManual.html#gcc-extensions-not-implemented-yet</a:t>
            </a:r>
            <a:endParaRPr lang="fi-FI" altLang="en-US" sz="14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798889468"/>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5" name="Rectangle 3"/>
          <p:cNvSpPr>
            <a:spLocks noGrp="1" noChangeArrowheads="1"/>
          </p:cNvSpPr>
          <p:nvPr>
            <p:ph type="title"/>
          </p:nvPr>
        </p:nvSpPr>
        <p:spPr/>
        <p:txBody>
          <a:bodyPr/>
          <a:lstStyle/>
          <a:p>
            <a:r>
              <a:rPr lang="fi-FI" altLang="en-US" dirty="0" smtClean="0"/>
              <a:t>Example of Compiler Exploiting C99 Undefined Behavior</a:t>
            </a:r>
            <a:endParaRPr lang="en-US" dirty="0"/>
          </a:p>
        </p:txBody>
      </p:sp>
      <p:sp>
        <p:nvSpPr>
          <p:cNvPr id="243714" name="Rectangle 2"/>
          <p:cNvSpPr>
            <a:spLocks noGrp="1" noChangeArrowheads="1"/>
          </p:cNvSpPr>
          <p:nvPr>
            <p:ph idx="1"/>
          </p:nvPr>
        </p:nvSpPr>
        <p:spPr>
          <a:xfrm>
            <a:off x="163513" y="904108"/>
            <a:ext cx="8849858" cy="5314950"/>
          </a:xfrm>
        </p:spPr>
        <p:txBody>
          <a:bodyPr/>
          <a:lstStyle/>
          <a:p>
            <a:pPr marL="0" indent="0">
              <a:buNone/>
            </a:pPr>
            <a:r>
              <a:rPr lang="pt-BR" altLang="en-US" sz="1400" dirty="0">
                <a:solidFill>
                  <a:srgbClr val="000000"/>
                </a:solidFill>
                <a:latin typeface="Courier New" panose="02070309020205020404" pitchFamily="49" charset="0"/>
                <a:cs typeface="Courier New" panose="02070309020205020404" pitchFamily="49" charset="0"/>
              </a:rPr>
              <a:t>c</a:t>
            </a:r>
            <a:r>
              <a:rPr lang="pt-BR" altLang="en-US" sz="1400" dirty="0" smtClean="0">
                <a:solidFill>
                  <a:srgbClr val="000000"/>
                </a:solidFill>
                <a:latin typeface="Courier New" panose="02070309020205020404" pitchFamily="49" charset="0"/>
                <a:cs typeface="Courier New" panose="02070309020205020404" pitchFamily="49" charset="0"/>
              </a:rPr>
              <a:t>har *killer = NULL;</a:t>
            </a:r>
          </a:p>
          <a:p>
            <a:pPr marL="0" indent="0">
              <a:buNone/>
            </a:pPr>
            <a:r>
              <a:rPr lang="pt-BR" altLang="en-US" sz="1400" dirty="0" smtClean="0">
                <a:solidFill>
                  <a:srgbClr val="000000"/>
                </a:solidFill>
                <a:latin typeface="Courier New" panose="02070309020205020404" pitchFamily="49" charset="0"/>
                <a:cs typeface="Courier New" panose="02070309020205020404" pitchFamily="49" charset="0"/>
              </a:rPr>
              <a:t>#</a:t>
            </a:r>
            <a:r>
              <a:rPr lang="pt-BR" altLang="en-US" sz="1400" dirty="0">
                <a:solidFill>
                  <a:srgbClr val="000000"/>
                </a:solidFill>
                <a:latin typeface="Courier New" panose="02070309020205020404" pitchFamily="49" charset="0"/>
                <a:cs typeface="Courier New" panose="02070309020205020404" pitchFamily="49" charset="0"/>
              </a:rPr>
              <a:t>ifndef __llvm__</a:t>
            </a:r>
          </a:p>
          <a:p>
            <a:pPr marL="0" indent="0">
              <a:buNone/>
            </a:pPr>
            <a:r>
              <a:rPr lang="pt-BR" altLang="en-US" sz="1400" dirty="0">
                <a:solidFill>
                  <a:srgbClr val="000000"/>
                </a:solidFill>
                <a:latin typeface="Courier New" panose="02070309020205020404" pitchFamily="49" charset="0"/>
                <a:cs typeface="Courier New" panose="02070309020205020404" pitchFamily="49" charset="0"/>
              </a:rPr>
              <a:t>        *killer = 1</a:t>
            </a:r>
            <a:r>
              <a:rPr lang="pt-BR" altLang="en-US" sz="1400" dirty="0" smtClean="0">
                <a:solidFill>
                  <a:srgbClr val="000000"/>
                </a:solidFill>
                <a:latin typeface="Courier New" panose="02070309020205020404" pitchFamily="49" charset="0"/>
                <a:cs typeface="Courier New" panose="02070309020205020404" pitchFamily="49" charset="0"/>
              </a:rPr>
              <a:t>;</a:t>
            </a:r>
            <a:endParaRPr lang="pt-BR" altLang="en-US" sz="1400" dirty="0">
              <a:solidFill>
                <a:srgbClr val="000000"/>
              </a:solidFill>
              <a:latin typeface="Courier New" panose="02070309020205020404" pitchFamily="49" charset="0"/>
              <a:cs typeface="Courier New" panose="02070309020205020404" pitchFamily="49" charset="0"/>
            </a:endParaRPr>
          </a:p>
          <a:p>
            <a:pPr marL="0" indent="0">
              <a:buNone/>
            </a:pPr>
            <a:r>
              <a:rPr lang="pt-BR" altLang="en-US" sz="1400" dirty="0">
                <a:solidFill>
                  <a:srgbClr val="000000"/>
                </a:solidFill>
                <a:latin typeface="Courier New" panose="02070309020205020404" pitchFamily="49" charset="0"/>
                <a:cs typeface="Courier New" panose="02070309020205020404" pitchFamily="49" charset="0"/>
              </a:rPr>
              <a:t>#else</a:t>
            </a:r>
          </a:p>
          <a:p>
            <a:pPr marL="0" indent="0">
              <a:buNone/>
            </a:pPr>
            <a:r>
              <a:rPr lang="pt-BR" altLang="en-US" sz="1400" dirty="0">
                <a:solidFill>
                  <a:srgbClr val="000000"/>
                </a:solidFill>
                <a:latin typeface="Courier New" panose="02070309020205020404" pitchFamily="49" charset="0"/>
                <a:cs typeface="Courier New" panose="02070309020205020404" pitchFamily="49" charset="0"/>
              </a:rPr>
              <a:t>	__asm__ __volatile__(</a:t>
            </a:r>
          </a:p>
          <a:p>
            <a:pPr marL="0" indent="0">
              <a:buNone/>
            </a:pPr>
            <a:r>
              <a:rPr lang="pt-BR" altLang="en-US" sz="1400" dirty="0">
                <a:solidFill>
                  <a:srgbClr val="000000"/>
                </a:solidFill>
                <a:latin typeface="Courier New" panose="02070309020205020404" pitchFamily="49" charset="0"/>
                <a:cs typeface="Courier New" panose="02070309020205020404" pitchFamily="49" charset="0"/>
              </a:rPr>
              <a:t>          "r0 = #0\n\t"</a:t>
            </a:r>
          </a:p>
          <a:p>
            <a:pPr marL="0" indent="0">
              <a:buNone/>
            </a:pPr>
            <a:r>
              <a:rPr lang="pt-BR" altLang="en-US" sz="1400" dirty="0">
                <a:solidFill>
                  <a:srgbClr val="000000"/>
                </a:solidFill>
                <a:latin typeface="Courier New" panose="02070309020205020404" pitchFamily="49" charset="0"/>
                <a:cs typeface="Courier New" panose="02070309020205020404" pitchFamily="49" charset="0"/>
              </a:rPr>
              <a:t>          "r1 = #1\n\t"</a:t>
            </a:r>
          </a:p>
          <a:p>
            <a:pPr marL="0" indent="0">
              <a:buNone/>
            </a:pPr>
            <a:r>
              <a:rPr lang="pt-BR" altLang="en-US" sz="1400" dirty="0">
                <a:solidFill>
                  <a:srgbClr val="000000"/>
                </a:solidFill>
                <a:latin typeface="Courier New" panose="02070309020205020404" pitchFamily="49" charset="0"/>
                <a:cs typeface="Courier New" panose="02070309020205020404" pitchFamily="49" charset="0"/>
              </a:rPr>
              <a:t>          "memb(r0+#0) = r1\n\t"</a:t>
            </a:r>
          </a:p>
          <a:p>
            <a:pPr marL="0" indent="0">
              <a:buNone/>
            </a:pPr>
            <a:r>
              <a:rPr lang="pt-BR" altLang="en-US" sz="1400" dirty="0">
                <a:solidFill>
                  <a:srgbClr val="000000"/>
                </a:solidFill>
                <a:latin typeface="Courier New" panose="02070309020205020404" pitchFamily="49" charset="0"/>
                <a:cs typeface="Courier New" panose="02070309020205020404" pitchFamily="49" charset="0"/>
              </a:rPr>
              <a:t>        ::: "r0", "r1", "memory");</a:t>
            </a:r>
          </a:p>
          <a:p>
            <a:pPr marL="0" indent="0">
              <a:buNone/>
            </a:pPr>
            <a:r>
              <a:rPr lang="pt-BR" altLang="en-US" sz="1400" dirty="0">
                <a:solidFill>
                  <a:srgbClr val="000000"/>
                </a:solidFill>
                <a:latin typeface="Courier New" panose="02070309020205020404" pitchFamily="49" charset="0"/>
                <a:cs typeface="Courier New" panose="02070309020205020404" pitchFamily="49" charset="0"/>
              </a:rPr>
              <a:t>#endif</a:t>
            </a:r>
          </a:p>
          <a:p>
            <a:pPr marL="0" indent="0">
              <a:buNone/>
            </a:pPr>
            <a:endParaRPr lang="pt-BR" altLang="en-US" sz="1400" dirty="0">
              <a:solidFill>
                <a:srgbClr val="000000"/>
              </a:solidFill>
              <a:latin typeface="Courier New" panose="02070309020205020404" pitchFamily="49" charset="0"/>
              <a:cs typeface="Courier New" panose="02070309020205020404" pitchFamily="49" charset="0"/>
            </a:endParaRPr>
          </a:p>
          <a:p>
            <a:pPr marL="0" indent="0">
              <a:buNone/>
            </a:pPr>
            <a:endParaRPr lang="fi-FI" altLang="en-US" sz="14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096946081"/>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5" name="Rectangle 3"/>
          <p:cNvSpPr>
            <a:spLocks noGrp="1" noChangeArrowheads="1"/>
          </p:cNvSpPr>
          <p:nvPr>
            <p:ph type="title"/>
          </p:nvPr>
        </p:nvSpPr>
        <p:spPr/>
        <p:txBody>
          <a:bodyPr/>
          <a:lstStyle/>
          <a:p>
            <a:r>
              <a:rPr lang="fi-FI" altLang="en-US" dirty="0"/>
              <a:t>Esoteric Difference #</a:t>
            </a:r>
            <a:r>
              <a:rPr lang="fi-FI" altLang="en-US" dirty="0" smtClean="0"/>
              <a:t>1: </a:t>
            </a:r>
            <a:r>
              <a:rPr lang="fi-FI" altLang="en-US" dirty="0"/>
              <a:t>File Scope Inline </a:t>
            </a:r>
            <a:r>
              <a:rPr lang="fi-FI" altLang="en-US" dirty="0" smtClean="0"/>
              <a:t>ASM</a:t>
            </a:r>
            <a:endParaRPr lang="en-US" dirty="0"/>
          </a:p>
        </p:txBody>
      </p:sp>
      <p:sp>
        <p:nvSpPr>
          <p:cNvPr id="243714" name="Rectangle 2"/>
          <p:cNvSpPr>
            <a:spLocks noGrp="1" noChangeArrowheads="1"/>
          </p:cNvSpPr>
          <p:nvPr>
            <p:ph idx="1"/>
          </p:nvPr>
        </p:nvSpPr>
        <p:spPr/>
        <p:txBody>
          <a:bodyPr/>
          <a:lstStyle/>
          <a:p>
            <a:pPr marL="0" indent="0">
              <a:buNone/>
            </a:pPr>
            <a:r>
              <a:rPr lang="fi-FI" altLang="en-US" dirty="0">
                <a:solidFill>
                  <a:srgbClr val="000000"/>
                </a:solidFill>
                <a:latin typeface="Courier New" panose="02070309020205020404" pitchFamily="49" charset="0"/>
                <a:cs typeface="Courier New" panose="02070309020205020404" pitchFamily="49" charset="0"/>
              </a:rPr>
              <a:t>void sleep1()</a:t>
            </a:r>
          </a:p>
          <a:p>
            <a:pPr marL="0" indent="0">
              <a:buNone/>
            </a:pPr>
            <a:r>
              <a:rPr lang="fi-FI" altLang="en-US" dirty="0">
                <a:solidFill>
                  <a:srgbClr val="000000"/>
                </a:solidFill>
                <a:latin typeface="Courier New" panose="02070309020205020404" pitchFamily="49" charset="0"/>
                <a:cs typeface="Courier New" panose="02070309020205020404" pitchFamily="49" charset="0"/>
              </a:rPr>
              <a:t>{</a:t>
            </a:r>
          </a:p>
          <a:p>
            <a:pPr marL="0" indent="0">
              <a:buNone/>
            </a:pPr>
            <a:r>
              <a:rPr lang="fi-FI" altLang="en-US" dirty="0">
                <a:solidFill>
                  <a:srgbClr val="000000"/>
                </a:solidFill>
                <a:latin typeface="Courier New" panose="02070309020205020404" pitchFamily="49" charset="0"/>
                <a:cs typeface="Courier New" panose="02070309020205020404" pitchFamily="49" charset="0"/>
              </a:rPr>
              <a:t>    sleep(1);</a:t>
            </a:r>
          </a:p>
          <a:p>
            <a:pPr marL="0" indent="0">
              <a:buNone/>
            </a:pPr>
            <a:r>
              <a:rPr lang="fi-FI" altLang="en-US" dirty="0">
                <a:solidFill>
                  <a:srgbClr val="000000"/>
                </a:solidFill>
                <a:latin typeface="Courier New" panose="02070309020205020404" pitchFamily="49" charset="0"/>
                <a:cs typeface="Courier New" panose="02070309020205020404" pitchFamily="49" charset="0"/>
              </a:rPr>
              <a:t>}</a:t>
            </a:r>
          </a:p>
          <a:p>
            <a:pPr marL="0" indent="0">
              <a:buNone/>
            </a:pPr>
            <a:endParaRPr lang="fi-FI" altLang="en-US" dirty="0">
              <a:solidFill>
                <a:srgbClr val="000000"/>
              </a:solidFill>
              <a:latin typeface="Courier New" panose="02070309020205020404" pitchFamily="49" charset="0"/>
              <a:cs typeface="Courier New" panose="02070309020205020404" pitchFamily="49" charset="0"/>
            </a:endParaRPr>
          </a:p>
          <a:p>
            <a:pPr marL="0" indent="0">
              <a:buNone/>
            </a:pPr>
            <a:r>
              <a:rPr lang="fi-FI" altLang="en-US" dirty="0">
                <a:solidFill>
                  <a:srgbClr val="000000"/>
                </a:solidFill>
                <a:latin typeface="Courier New" panose="02070309020205020404" pitchFamily="49" charset="0"/>
                <a:cs typeface="Courier New" panose="02070309020205020404" pitchFamily="49" charset="0"/>
              </a:rPr>
              <a:t>/* notice nop placed between two functions */</a:t>
            </a:r>
          </a:p>
          <a:p>
            <a:pPr marL="0" indent="0">
              <a:buNone/>
            </a:pPr>
            <a:r>
              <a:rPr lang="fi-FI" altLang="en-US" dirty="0">
                <a:solidFill>
                  <a:srgbClr val="000000"/>
                </a:solidFill>
                <a:latin typeface="Courier New" panose="02070309020205020404" pitchFamily="49" charset="0"/>
                <a:cs typeface="Courier New" panose="02070309020205020404" pitchFamily="49" charset="0"/>
              </a:rPr>
              <a:t>asm("nop</a:t>
            </a:r>
            <a:r>
              <a:rPr lang="fi-FI" altLang="en-US" dirty="0" smtClean="0">
                <a:solidFill>
                  <a:srgbClr val="000000"/>
                </a:solidFill>
                <a:latin typeface="Courier New" panose="02070309020205020404" pitchFamily="49" charset="0"/>
                <a:cs typeface="Courier New" panose="02070309020205020404" pitchFamily="49" charset="0"/>
              </a:rPr>
              <a:t>");  </a:t>
            </a:r>
            <a:endParaRPr lang="fi-FI" altLang="en-US" dirty="0">
              <a:solidFill>
                <a:srgbClr val="000000"/>
              </a:solidFill>
              <a:latin typeface="Courier New" panose="02070309020205020404" pitchFamily="49" charset="0"/>
              <a:cs typeface="Courier New" panose="02070309020205020404" pitchFamily="49" charset="0"/>
            </a:endParaRPr>
          </a:p>
          <a:p>
            <a:pPr marL="0" indent="0">
              <a:buNone/>
            </a:pPr>
            <a:endParaRPr lang="fi-FI" altLang="en-US" dirty="0">
              <a:solidFill>
                <a:srgbClr val="000000"/>
              </a:solidFill>
              <a:latin typeface="Courier New" panose="02070309020205020404" pitchFamily="49" charset="0"/>
              <a:cs typeface="Courier New" panose="02070309020205020404" pitchFamily="49" charset="0"/>
            </a:endParaRPr>
          </a:p>
          <a:p>
            <a:pPr marL="0" indent="0">
              <a:buNone/>
            </a:pPr>
            <a:r>
              <a:rPr lang="fi-FI" altLang="en-US" dirty="0">
                <a:solidFill>
                  <a:srgbClr val="000000"/>
                </a:solidFill>
                <a:latin typeface="Courier New" panose="02070309020205020404" pitchFamily="49" charset="0"/>
                <a:cs typeface="Courier New" panose="02070309020205020404" pitchFamily="49" charset="0"/>
              </a:rPr>
              <a:t>void sleep2()</a:t>
            </a:r>
          </a:p>
          <a:p>
            <a:pPr marL="0" indent="0">
              <a:buNone/>
            </a:pPr>
            <a:r>
              <a:rPr lang="fi-FI" altLang="en-US" dirty="0">
                <a:solidFill>
                  <a:srgbClr val="000000"/>
                </a:solidFill>
                <a:latin typeface="Courier New" panose="02070309020205020404" pitchFamily="49" charset="0"/>
                <a:cs typeface="Courier New" panose="02070309020205020404" pitchFamily="49" charset="0"/>
              </a:rPr>
              <a:t>{</a:t>
            </a:r>
          </a:p>
          <a:p>
            <a:pPr marL="0" indent="0">
              <a:buNone/>
            </a:pPr>
            <a:r>
              <a:rPr lang="fi-FI" altLang="en-US" dirty="0">
                <a:solidFill>
                  <a:srgbClr val="000000"/>
                </a:solidFill>
                <a:latin typeface="Courier New" panose="02070309020205020404" pitchFamily="49" charset="0"/>
                <a:cs typeface="Courier New" panose="02070309020205020404" pitchFamily="49" charset="0"/>
              </a:rPr>
              <a:t>    sleep(2);</a:t>
            </a:r>
          </a:p>
          <a:p>
            <a:pPr marL="0" indent="0">
              <a:buNone/>
            </a:pPr>
            <a:r>
              <a:rPr lang="fi-FI" altLang="en-US" dirty="0">
                <a:solidFill>
                  <a:srgbClr val="000000"/>
                </a:solidFill>
                <a:latin typeface="Courier New" panose="02070309020205020404" pitchFamily="49" charset="0"/>
                <a:cs typeface="Courier New" panose="02070309020205020404" pitchFamily="49" charset="0"/>
              </a:rPr>
              <a:t>}</a:t>
            </a:r>
          </a:p>
          <a:p>
            <a:pPr marL="0" indent="0">
              <a:buNone/>
            </a:pPr>
            <a:endParaRPr lang="fi-FI" altLang="en-US"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072839704"/>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5" name="Rectangle 3"/>
          <p:cNvSpPr>
            <a:spLocks noGrp="1" noChangeArrowheads="1"/>
          </p:cNvSpPr>
          <p:nvPr>
            <p:ph type="title"/>
          </p:nvPr>
        </p:nvSpPr>
        <p:spPr/>
        <p:txBody>
          <a:bodyPr/>
          <a:lstStyle/>
          <a:p>
            <a:r>
              <a:rPr lang="fi-FI" altLang="en-US" dirty="0"/>
              <a:t>Esoteric Difference #</a:t>
            </a:r>
            <a:r>
              <a:rPr lang="fi-FI" altLang="en-US" dirty="0" smtClean="0"/>
              <a:t>1:</a:t>
            </a:r>
            <a:br>
              <a:rPr lang="fi-FI" altLang="en-US" dirty="0" smtClean="0"/>
            </a:br>
            <a:r>
              <a:rPr lang="fi-FI" altLang="en-US" dirty="0" smtClean="0"/>
              <a:t>GCC code generation with –fno-toplevel-reorder</a:t>
            </a:r>
            <a:endParaRPr lang="en-US" dirty="0"/>
          </a:p>
        </p:txBody>
      </p:sp>
      <p:sp>
        <p:nvSpPr>
          <p:cNvPr id="243714" name="Rectangle 2"/>
          <p:cNvSpPr>
            <a:spLocks noGrp="1" noChangeArrowheads="1"/>
          </p:cNvSpPr>
          <p:nvPr>
            <p:ph idx="1"/>
          </p:nvPr>
        </p:nvSpPr>
        <p:spPr>
          <a:xfrm>
            <a:off x="163513" y="904108"/>
            <a:ext cx="4179887" cy="5314950"/>
          </a:xfrm>
        </p:spPr>
        <p:txBody>
          <a:bodyPr/>
          <a:lstStyle/>
          <a:p>
            <a:pPr marL="0" indent="0">
              <a:buNone/>
            </a:pPr>
            <a:r>
              <a:rPr lang="fi-FI" altLang="en-US" sz="1400" dirty="0">
                <a:solidFill>
                  <a:srgbClr val="000000"/>
                </a:solidFill>
                <a:latin typeface="Courier New" panose="02070309020205020404" pitchFamily="49" charset="0"/>
                <a:cs typeface="Courier New" panose="02070309020205020404" pitchFamily="49" charset="0"/>
              </a:rPr>
              <a:t>.file   "example1.c"</a:t>
            </a:r>
          </a:p>
          <a:p>
            <a:pPr marL="0" indent="0">
              <a:buNone/>
            </a:pPr>
            <a:r>
              <a:rPr lang="fi-FI" altLang="en-US" sz="1400" dirty="0" smtClean="0">
                <a:solidFill>
                  <a:srgbClr val="000000"/>
                </a:solidFill>
                <a:latin typeface="Courier New" panose="02070309020205020404" pitchFamily="49" charset="0"/>
                <a:cs typeface="Courier New" panose="02070309020205020404" pitchFamily="49" charset="0"/>
              </a:rPr>
              <a:t>.</a:t>
            </a:r>
            <a:r>
              <a:rPr lang="fi-FI" altLang="en-US" sz="1400" dirty="0">
                <a:solidFill>
                  <a:srgbClr val="000000"/>
                </a:solidFill>
                <a:latin typeface="Courier New" panose="02070309020205020404" pitchFamily="49" charset="0"/>
                <a:cs typeface="Courier New" panose="02070309020205020404" pitchFamily="49" charset="0"/>
              </a:rPr>
              <a:t>text</a:t>
            </a:r>
          </a:p>
          <a:p>
            <a:pPr marL="0" indent="0">
              <a:buNone/>
            </a:pPr>
            <a:r>
              <a:rPr lang="fi-FI" altLang="en-US" sz="1400" dirty="0" smtClean="0">
                <a:solidFill>
                  <a:srgbClr val="000000"/>
                </a:solidFill>
                <a:latin typeface="Courier New" panose="02070309020205020404" pitchFamily="49" charset="0"/>
                <a:cs typeface="Courier New" panose="02070309020205020404" pitchFamily="49" charset="0"/>
              </a:rPr>
              <a:t>.</a:t>
            </a:r>
            <a:r>
              <a:rPr lang="fi-FI" altLang="en-US" sz="1400" dirty="0">
                <a:solidFill>
                  <a:srgbClr val="000000"/>
                </a:solidFill>
                <a:latin typeface="Courier New" panose="02070309020205020404" pitchFamily="49" charset="0"/>
                <a:cs typeface="Courier New" panose="02070309020205020404" pitchFamily="49" charset="0"/>
              </a:rPr>
              <a:t>type   sleep1, @function</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sleep1:</a:t>
            </a:r>
          </a:p>
          <a:p>
            <a:pPr marL="0" indent="0">
              <a:buNone/>
            </a:pPr>
            <a:r>
              <a:rPr lang="fi-FI" altLang="en-US" sz="1400" dirty="0" smtClean="0">
                <a:solidFill>
                  <a:srgbClr val="000000"/>
                </a:solidFill>
                <a:latin typeface="Courier New" panose="02070309020205020404" pitchFamily="49" charset="0"/>
                <a:cs typeface="Courier New" panose="02070309020205020404" pitchFamily="49" charset="0"/>
              </a:rPr>
              <a:t>allocframe</a:t>
            </a:r>
            <a:r>
              <a:rPr lang="fi-FI" altLang="en-US" sz="1400" dirty="0">
                <a:solidFill>
                  <a:srgbClr val="000000"/>
                </a:solidFill>
                <a:latin typeface="Courier New" panose="02070309020205020404" pitchFamily="49" charset="0"/>
                <a:cs typeface="Courier New" panose="02070309020205020404" pitchFamily="49" charset="0"/>
              </a:rPr>
              <a:t>(#0)</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        r0 = #1</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        call sleep</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        deallocframe</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        jumpr r31</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        .</a:t>
            </a:r>
            <a:r>
              <a:rPr lang="fi-FI" altLang="en-US" sz="1400" dirty="0" smtClean="0">
                <a:solidFill>
                  <a:srgbClr val="000000"/>
                </a:solidFill>
                <a:latin typeface="Courier New" panose="02070309020205020404" pitchFamily="49" charset="0"/>
                <a:cs typeface="Courier New" panose="02070309020205020404" pitchFamily="49" charset="0"/>
              </a:rPr>
              <a:t>size   sleep1, .-sleep1</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//APP</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        nop    </a:t>
            </a:r>
            <a:r>
              <a:rPr lang="fi-FI" altLang="en-US" sz="1400" b="1" dirty="0">
                <a:solidFill>
                  <a:srgbClr val="FF0000"/>
                </a:solidFill>
                <a:latin typeface="Courier New" panose="02070309020205020404" pitchFamily="49" charset="0"/>
                <a:cs typeface="Courier New" panose="02070309020205020404" pitchFamily="49" charset="0"/>
              </a:rPr>
              <a:t># NOTICE NOP PLACEMENT</a:t>
            </a:r>
            <a:endParaRPr lang="fi-FI" altLang="en-US" sz="1400" dirty="0">
              <a:solidFill>
                <a:srgbClr val="000000"/>
              </a:solidFill>
              <a:latin typeface="Courier New" panose="02070309020205020404" pitchFamily="49" charset="0"/>
              <a:cs typeface="Courier New" panose="02070309020205020404" pitchFamily="49" charset="0"/>
            </a:endParaRP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//NO_APP</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        .p2align 2</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        .globl sleep2</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        .type   sleep2, @function</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sleep2:</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allocframe(#0)</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     ...</a:t>
            </a:r>
          </a:p>
          <a:p>
            <a:pPr marL="0" indent="0">
              <a:buNone/>
            </a:pPr>
            <a:endParaRPr lang="fi-FI" altLang="en-US" sz="14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219020774"/>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5" name="Rectangle 3"/>
          <p:cNvSpPr>
            <a:spLocks noGrp="1" noChangeArrowheads="1"/>
          </p:cNvSpPr>
          <p:nvPr>
            <p:ph type="title"/>
          </p:nvPr>
        </p:nvSpPr>
        <p:spPr/>
        <p:txBody>
          <a:bodyPr/>
          <a:lstStyle/>
          <a:p>
            <a:r>
              <a:rPr lang="fi-FI" altLang="en-US" dirty="0"/>
              <a:t>Esoteric Difference #</a:t>
            </a:r>
            <a:r>
              <a:rPr lang="fi-FI" altLang="en-US" dirty="0" smtClean="0"/>
              <a:t>1: LLVM code generation</a:t>
            </a:r>
            <a:endParaRPr lang="en-US" dirty="0"/>
          </a:p>
        </p:txBody>
      </p:sp>
      <p:sp>
        <p:nvSpPr>
          <p:cNvPr id="243714" name="Rectangle 2"/>
          <p:cNvSpPr>
            <a:spLocks noGrp="1" noChangeArrowheads="1"/>
          </p:cNvSpPr>
          <p:nvPr>
            <p:ph idx="1"/>
          </p:nvPr>
        </p:nvSpPr>
        <p:spPr>
          <a:xfrm>
            <a:off x="163513" y="904108"/>
            <a:ext cx="4669744" cy="5314950"/>
          </a:xfrm>
        </p:spPr>
        <p:txBody>
          <a:bodyPr/>
          <a:lstStyle/>
          <a:p>
            <a:pPr marL="0" indent="0">
              <a:buNone/>
            </a:pPr>
            <a:r>
              <a:rPr lang="fi-FI" altLang="en-US" sz="1400" dirty="0">
                <a:solidFill>
                  <a:srgbClr val="000000"/>
                </a:solidFill>
                <a:latin typeface="Courier New" panose="02070309020205020404" pitchFamily="49" charset="0"/>
                <a:cs typeface="Courier New" panose="02070309020205020404" pitchFamily="49" charset="0"/>
              </a:rPr>
              <a:t> .file   "example1.c</a:t>
            </a:r>
            <a:r>
              <a:rPr lang="fi-FI" altLang="en-US" sz="1400" dirty="0" smtClean="0">
                <a:solidFill>
                  <a:srgbClr val="000000"/>
                </a:solidFill>
                <a:latin typeface="Courier New" panose="02070309020205020404" pitchFamily="49" charset="0"/>
                <a:cs typeface="Courier New" panose="02070309020205020404" pitchFamily="49" charset="0"/>
              </a:rPr>
              <a:t>"</a:t>
            </a:r>
            <a:endParaRPr lang="fi-FI" altLang="en-US" sz="1400" dirty="0">
              <a:solidFill>
                <a:srgbClr val="000000"/>
              </a:solidFill>
              <a:latin typeface="Courier New" panose="02070309020205020404" pitchFamily="49" charset="0"/>
              <a:cs typeface="Courier New" panose="02070309020205020404" pitchFamily="49" charset="0"/>
            </a:endParaRPr>
          </a:p>
          <a:p>
            <a:pPr marL="0" indent="0">
              <a:buNone/>
            </a:pPr>
            <a:r>
              <a:rPr lang="fi-FI" altLang="en-US" sz="1400" dirty="0" smtClean="0">
                <a:solidFill>
                  <a:srgbClr val="000000"/>
                </a:solidFill>
                <a:latin typeface="Courier New" panose="02070309020205020404" pitchFamily="49" charset="0"/>
                <a:cs typeface="Courier New" panose="02070309020205020404" pitchFamily="49" charset="0"/>
              </a:rPr>
              <a:t>          nop     </a:t>
            </a:r>
            <a:r>
              <a:rPr lang="fi-FI" altLang="en-US" sz="1400" b="1" dirty="0" smtClean="0">
                <a:solidFill>
                  <a:srgbClr val="FF0000"/>
                </a:solidFill>
                <a:latin typeface="Courier New" panose="02070309020205020404" pitchFamily="49" charset="0"/>
                <a:cs typeface="Courier New" panose="02070309020205020404" pitchFamily="49" charset="0"/>
              </a:rPr>
              <a:t># </a:t>
            </a:r>
            <a:r>
              <a:rPr lang="fi-FI" altLang="en-US" sz="1400" b="1" dirty="0">
                <a:solidFill>
                  <a:srgbClr val="FF0000"/>
                </a:solidFill>
                <a:latin typeface="Courier New" panose="02070309020205020404" pitchFamily="49" charset="0"/>
                <a:cs typeface="Courier New" panose="02070309020205020404" pitchFamily="49" charset="0"/>
              </a:rPr>
              <a:t>NOTICE NOP PLACEMENT</a:t>
            </a:r>
          </a:p>
          <a:p>
            <a:pPr marL="0" indent="0">
              <a:buNone/>
            </a:pPr>
            <a:r>
              <a:rPr lang="fi-FI" altLang="en-US" sz="1400" dirty="0" smtClean="0">
                <a:solidFill>
                  <a:srgbClr val="000000"/>
                </a:solidFill>
                <a:latin typeface="Courier New" panose="02070309020205020404" pitchFamily="49" charset="0"/>
                <a:cs typeface="Courier New" panose="02070309020205020404" pitchFamily="49" charset="0"/>
              </a:rPr>
              <a:t>.</a:t>
            </a:r>
            <a:r>
              <a:rPr lang="fi-FI" altLang="en-US" sz="1400" dirty="0">
                <a:solidFill>
                  <a:srgbClr val="000000"/>
                </a:solidFill>
                <a:latin typeface="Courier New" panose="02070309020205020404" pitchFamily="49" charset="0"/>
                <a:cs typeface="Courier New" panose="02070309020205020404" pitchFamily="49" charset="0"/>
              </a:rPr>
              <a:t>text</a:t>
            </a:r>
          </a:p>
          <a:p>
            <a:pPr marL="0" indent="0">
              <a:buNone/>
            </a:pPr>
            <a:r>
              <a:rPr lang="fi-FI" altLang="en-US" sz="1400" dirty="0" smtClean="0">
                <a:solidFill>
                  <a:srgbClr val="000000"/>
                </a:solidFill>
                <a:latin typeface="Courier New" panose="02070309020205020404" pitchFamily="49" charset="0"/>
                <a:cs typeface="Courier New" panose="02070309020205020404" pitchFamily="49" charset="0"/>
              </a:rPr>
              <a:t>.</a:t>
            </a:r>
            <a:r>
              <a:rPr lang="fi-FI" altLang="en-US" sz="1400" dirty="0">
                <a:solidFill>
                  <a:srgbClr val="000000"/>
                </a:solidFill>
                <a:latin typeface="Courier New" panose="02070309020205020404" pitchFamily="49" charset="0"/>
                <a:cs typeface="Courier New" panose="02070309020205020404" pitchFamily="49" charset="0"/>
              </a:rPr>
              <a:t>type   sleep1,@function</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sleep1:</a:t>
            </a:r>
          </a:p>
          <a:p>
            <a:pPr marL="0" indent="0">
              <a:buNone/>
            </a:pPr>
            <a:r>
              <a:rPr lang="fi-FI" altLang="en-US" sz="1400" dirty="0" smtClean="0">
                <a:solidFill>
                  <a:srgbClr val="000000"/>
                </a:solidFill>
                <a:latin typeface="Courier New" panose="02070309020205020404" pitchFamily="49" charset="0"/>
                <a:cs typeface="Courier New" panose="02070309020205020404" pitchFamily="49" charset="0"/>
              </a:rPr>
              <a:t>	allocframe</a:t>
            </a:r>
            <a:r>
              <a:rPr lang="fi-FI" altLang="en-US" sz="1400" dirty="0">
                <a:solidFill>
                  <a:srgbClr val="000000"/>
                </a:solidFill>
                <a:latin typeface="Courier New" panose="02070309020205020404" pitchFamily="49" charset="0"/>
                <a:cs typeface="Courier New" panose="02070309020205020404" pitchFamily="49" charset="0"/>
              </a:rPr>
              <a:t>(#8)</a:t>
            </a:r>
          </a:p>
          <a:p>
            <a:pPr marL="0" indent="0">
              <a:buNone/>
            </a:pPr>
            <a:r>
              <a:rPr lang="fi-FI" altLang="en-US" sz="1400" dirty="0" smtClean="0">
                <a:solidFill>
                  <a:srgbClr val="000000"/>
                </a:solidFill>
                <a:latin typeface="Courier New" panose="02070309020205020404" pitchFamily="49" charset="0"/>
                <a:cs typeface="Courier New" panose="02070309020205020404" pitchFamily="49" charset="0"/>
              </a:rPr>
              <a:t>	r0 </a:t>
            </a:r>
            <a:r>
              <a:rPr lang="fi-FI" altLang="en-US" sz="1400" dirty="0">
                <a:solidFill>
                  <a:srgbClr val="000000"/>
                </a:solidFill>
                <a:latin typeface="Courier New" panose="02070309020205020404" pitchFamily="49" charset="0"/>
                <a:cs typeface="Courier New" panose="02070309020205020404" pitchFamily="49" charset="0"/>
              </a:rPr>
              <a:t>= #1</a:t>
            </a:r>
          </a:p>
          <a:p>
            <a:pPr marL="0" indent="0">
              <a:buNone/>
            </a:pPr>
            <a:r>
              <a:rPr lang="fi-FI" altLang="en-US" sz="1400" dirty="0" smtClean="0">
                <a:solidFill>
                  <a:srgbClr val="000000"/>
                </a:solidFill>
                <a:latin typeface="Courier New" panose="02070309020205020404" pitchFamily="49" charset="0"/>
                <a:cs typeface="Courier New" panose="02070309020205020404" pitchFamily="49" charset="0"/>
              </a:rPr>
              <a:t>	call sleep</a:t>
            </a:r>
          </a:p>
          <a:p>
            <a:pPr marL="0" indent="0">
              <a:buNone/>
            </a:pPr>
            <a:r>
              <a:rPr lang="fi-FI" altLang="en-US" sz="1400" dirty="0" smtClean="0">
                <a:solidFill>
                  <a:srgbClr val="000000"/>
                </a:solidFill>
                <a:latin typeface="Courier New" panose="02070309020205020404" pitchFamily="49" charset="0"/>
                <a:cs typeface="Courier New" panose="02070309020205020404" pitchFamily="49" charset="0"/>
              </a:rPr>
              <a:t>	memw(r29</a:t>
            </a:r>
            <a:r>
              <a:rPr lang="fi-FI" altLang="en-US" sz="1400" dirty="0">
                <a:solidFill>
                  <a:srgbClr val="000000"/>
                </a:solidFill>
                <a:latin typeface="Courier New" panose="02070309020205020404" pitchFamily="49" charset="0"/>
                <a:cs typeface="Courier New" panose="02070309020205020404" pitchFamily="49" charset="0"/>
              </a:rPr>
              <a:t>+#4) = r0</a:t>
            </a:r>
          </a:p>
          <a:p>
            <a:pPr marL="0" indent="0">
              <a:buNone/>
            </a:pPr>
            <a:r>
              <a:rPr lang="fi-FI" altLang="en-US" sz="1400" dirty="0" smtClean="0">
                <a:solidFill>
                  <a:srgbClr val="000000"/>
                </a:solidFill>
                <a:latin typeface="Courier New" panose="02070309020205020404" pitchFamily="49" charset="0"/>
                <a:cs typeface="Courier New" panose="02070309020205020404" pitchFamily="49" charset="0"/>
              </a:rPr>
              <a:t>	dealloc_return</a:t>
            </a:r>
            <a:endParaRPr lang="fi-FI" altLang="en-US" sz="1400" dirty="0">
              <a:solidFill>
                <a:srgbClr val="000000"/>
              </a:solidFill>
              <a:latin typeface="Courier New" panose="02070309020205020404" pitchFamily="49" charset="0"/>
              <a:cs typeface="Courier New" panose="02070309020205020404" pitchFamily="49" charset="0"/>
            </a:endParaRPr>
          </a:p>
          <a:p>
            <a:pPr marL="0" indent="0">
              <a:buNone/>
            </a:pPr>
            <a:r>
              <a:rPr lang="fi-FI" altLang="en-US" sz="1400" dirty="0" smtClean="0">
                <a:solidFill>
                  <a:srgbClr val="000000"/>
                </a:solidFill>
                <a:latin typeface="Courier New" panose="02070309020205020404" pitchFamily="49" charset="0"/>
                <a:cs typeface="Courier New" panose="02070309020205020404" pitchFamily="49" charset="0"/>
              </a:rPr>
              <a:t>.</a:t>
            </a:r>
            <a:r>
              <a:rPr lang="fi-FI" altLang="en-US" sz="1400" dirty="0">
                <a:solidFill>
                  <a:srgbClr val="000000"/>
                </a:solidFill>
                <a:latin typeface="Courier New" panose="02070309020205020404" pitchFamily="49" charset="0"/>
                <a:cs typeface="Courier New" panose="02070309020205020404" pitchFamily="49" charset="0"/>
              </a:rPr>
              <a:t>Ltmp0:</a:t>
            </a:r>
          </a:p>
          <a:p>
            <a:pPr marL="0" indent="0">
              <a:buNone/>
            </a:pPr>
            <a:r>
              <a:rPr lang="fi-FI" altLang="en-US" sz="1400" dirty="0" smtClean="0">
                <a:solidFill>
                  <a:srgbClr val="000000"/>
                </a:solidFill>
                <a:latin typeface="Courier New" panose="02070309020205020404" pitchFamily="49" charset="0"/>
                <a:cs typeface="Courier New" panose="02070309020205020404" pitchFamily="49" charset="0"/>
              </a:rPr>
              <a:t>	.</a:t>
            </a:r>
            <a:r>
              <a:rPr lang="fi-FI" altLang="en-US" sz="1400" dirty="0">
                <a:solidFill>
                  <a:srgbClr val="000000"/>
                </a:solidFill>
                <a:latin typeface="Courier New" panose="02070309020205020404" pitchFamily="49" charset="0"/>
                <a:cs typeface="Courier New" panose="02070309020205020404" pitchFamily="49" charset="0"/>
              </a:rPr>
              <a:t>type   sleep1,@</a:t>
            </a:r>
            <a:r>
              <a:rPr lang="fi-FI" altLang="en-US" sz="1400" dirty="0" smtClean="0">
                <a:solidFill>
                  <a:srgbClr val="000000"/>
                </a:solidFill>
                <a:latin typeface="Courier New" panose="02070309020205020404" pitchFamily="49" charset="0"/>
                <a:cs typeface="Courier New" panose="02070309020205020404" pitchFamily="49" charset="0"/>
              </a:rPr>
              <a:t>function</a:t>
            </a:r>
            <a:endParaRPr lang="fi-FI" altLang="en-US" sz="1400" dirty="0">
              <a:solidFill>
                <a:srgbClr val="000000"/>
              </a:solidFill>
              <a:latin typeface="Courier New" panose="02070309020205020404" pitchFamily="49" charset="0"/>
              <a:cs typeface="Courier New" panose="02070309020205020404" pitchFamily="49" charset="0"/>
            </a:endParaRPr>
          </a:p>
          <a:p>
            <a:pPr marL="0" indent="0">
              <a:buNone/>
            </a:pPr>
            <a:r>
              <a:rPr lang="fi-FI" altLang="en-US" sz="1400" dirty="0" smtClean="0">
                <a:solidFill>
                  <a:srgbClr val="000000"/>
                </a:solidFill>
                <a:latin typeface="Courier New" panose="02070309020205020404" pitchFamily="49" charset="0"/>
                <a:cs typeface="Courier New" panose="02070309020205020404" pitchFamily="49" charset="0"/>
              </a:rPr>
              <a:t>	allocframe</a:t>
            </a:r>
            <a:r>
              <a:rPr lang="fi-FI" altLang="en-US" sz="1400" dirty="0">
                <a:solidFill>
                  <a:srgbClr val="000000"/>
                </a:solidFill>
                <a:latin typeface="Courier New" panose="02070309020205020404" pitchFamily="49" charset="0"/>
                <a:cs typeface="Courier New" panose="02070309020205020404" pitchFamily="49" charset="0"/>
              </a:rPr>
              <a:t>(#8)</a:t>
            </a:r>
          </a:p>
          <a:p>
            <a:pPr marL="0" indent="0">
              <a:buNone/>
            </a:pPr>
            <a:r>
              <a:rPr lang="fi-FI" altLang="en-US" sz="1400" dirty="0" smtClean="0">
                <a:solidFill>
                  <a:srgbClr val="000000"/>
                </a:solidFill>
                <a:latin typeface="Courier New" panose="02070309020205020404" pitchFamily="49" charset="0"/>
                <a:cs typeface="Courier New" panose="02070309020205020404" pitchFamily="49" charset="0"/>
              </a:rPr>
              <a:t>	...</a:t>
            </a:r>
            <a:endParaRPr lang="fi-FI" altLang="en-US" sz="1400" dirty="0">
              <a:solidFill>
                <a:srgbClr val="000000"/>
              </a:solidFill>
              <a:latin typeface="Courier New" panose="02070309020205020404" pitchFamily="49" charset="0"/>
              <a:cs typeface="Courier New" panose="02070309020205020404" pitchFamily="49" charset="0"/>
            </a:endParaRPr>
          </a:p>
          <a:p>
            <a:pPr marL="0" indent="0">
              <a:buNone/>
            </a:pPr>
            <a:r>
              <a:rPr lang="fi-FI" altLang="en-US" sz="1400" dirty="0" smtClean="0">
                <a:solidFill>
                  <a:srgbClr val="000000"/>
                </a:solidFill>
                <a:latin typeface="Courier New" panose="02070309020205020404" pitchFamily="49" charset="0"/>
                <a:cs typeface="Courier New" panose="02070309020205020404" pitchFamily="49" charset="0"/>
              </a:rPr>
              <a:t>        </a:t>
            </a:r>
            <a:endParaRPr lang="fi-FI" altLang="en-US" sz="1400" dirty="0">
              <a:solidFill>
                <a:srgbClr val="000000"/>
              </a:solidFill>
              <a:latin typeface="Courier New" panose="02070309020205020404" pitchFamily="49" charset="0"/>
              <a:cs typeface="Courier New" panose="02070309020205020404" pitchFamily="49" charset="0"/>
            </a:endParaRP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        </a:t>
            </a:r>
          </a:p>
        </p:txBody>
      </p:sp>
      <p:sp>
        <p:nvSpPr>
          <p:cNvPr id="5" name="Rectangle 2"/>
          <p:cNvSpPr txBox="1">
            <a:spLocks noChangeArrowheads="1"/>
          </p:cNvSpPr>
          <p:nvPr/>
        </p:nvSpPr>
        <p:spPr bwMode="auto">
          <a:xfrm>
            <a:off x="4746398" y="860565"/>
            <a:ext cx="4179887" cy="53149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173038" indent="-173038" algn="l" rtl="0" eaLnBrk="1" fontAlgn="base" hangingPunct="1">
              <a:lnSpc>
                <a:spcPct val="95000"/>
              </a:lnSpc>
              <a:spcBef>
                <a:spcPct val="35000"/>
              </a:spcBef>
              <a:spcAft>
                <a:spcPct val="0"/>
              </a:spcAft>
              <a:buClr>
                <a:schemeClr val="accent2"/>
              </a:buClr>
              <a:buFont typeface="Wingdings" pitchFamily="2" charset="2"/>
              <a:buChar char="§"/>
              <a:defRPr sz="2000">
                <a:solidFill>
                  <a:srgbClr val="333333"/>
                </a:solidFill>
                <a:latin typeface="+mn-lt"/>
                <a:ea typeface="+mn-ea"/>
                <a:cs typeface="+mn-cs"/>
              </a:defRPr>
            </a:lvl1pPr>
            <a:lvl2pPr marL="460375" indent="-173038" algn="l" rtl="0" eaLnBrk="1" fontAlgn="base" hangingPunct="1">
              <a:lnSpc>
                <a:spcPct val="95000"/>
              </a:lnSpc>
              <a:spcBef>
                <a:spcPct val="35000"/>
              </a:spcBef>
              <a:spcAft>
                <a:spcPct val="0"/>
              </a:spcAft>
              <a:buClr>
                <a:schemeClr val="accent1"/>
              </a:buClr>
              <a:buFont typeface="Wingdings" pitchFamily="2" charset="2"/>
              <a:buChar char="§"/>
              <a:defRPr>
                <a:solidFill>
                  <a:srgbClr val="333333"/>
                </a:solidFill>
                <a:latin typeface="+mn-lt"/>
                <a:cs typeface="+mn-cs"/>
              </a:defRPr>
            </a:lvl2pPr>
            <a:lvl3pPr marL="798513" indent="-223838" algn="l" rtl="0" eaLnBrk="1" fontAlgn="base" hangingPunct="1">
              <a:lnSpc>
                <a:spcPct val="95000"/>
              </a:lnSpc>
              <a:spcBef>
                <a:spcPct val="35000"/>
              </a:spcBef>
              <a:spcAft>
                <a:spcPct val="0"/>
              </a:spcAft>
              <a:buClr>
                <a:schemeClr val="tx2"/>
              </a:buClr>
              <a:buSzPct val="125000"/>
              <a:buFont typeface="Arial" charset="0"/>
              <a:buChar char="–"/>
              <a:defRPr sz="1600">
                <a:solidFill>
                  <a:srgbClr val="333333"/>
                </a:solidFill>
                <a:latin typeface="+mn-lt"/>
                <a:cs typeface="+mn-cs"/>
              </a:defRPr>
            </a:lvl3pPr>
            <a:lvl4pPr marL="1087438" indent="-174625" algn="l" rtl="0" eaLnBrk="1" fontAlgn="base" hangingPunct="1">
              <a:lnSpc>
                <a:spcPct val="95000"/>
              </a:lnSpc>
              <a:spcBef>
                <a:spcPct val="35000"/>
              </a:spcBef>
              <a:spcAft>
                <a:spcPct val="0"/>
              </a:spcAft>
              <a:buClr>
                <a:schemeClr val="accent1"/>
              </a:buClr>
              <a:buSzPct val="125000"/>
              <a:buFont typeface="Lucida Grande"/>
              <a:buChar char="»"/>
              <a:defRPr sz="1400">
                <a:solidFill>
                  <a:srgbClr val="333333"/>
                </a:solidFill>
                <a:latin typeface="+mn-lt"/>
                <a:cs typeface="+mn-cs"/>
              </a:defRPr>
            </a:lvl4pPr>
            <a:lvl5pPr marL="1316038" indent="-114300" algn="l" rtl="0" eaLnBrk="1" fontAlgn="base" hangingPunct="1">
              <a:lnSpc>
                <a:spcPct val="95000"/>
              </a:lnSpc>
              <a:spcBef>
                <a:spcPct val="35000"/>
              </a:spcBef>
              <a:spcAft>
                <a:spcPct val="0"/>
              </a:spcAft>
              <a:buClr>
                <a:schemeClr val="tx2"/>
              </a:buClr>
              <a:buChar char="•"/>
              <a:defRPr sz="1200">
                <a:solidFill>
                  <a:srgbClr val="333333"/>
                </a:solidFill>
                <a:latin typeface="+mn-lt"/>
                <a:cs typeface="+mn-cs"/>
              </a:defRPr>
            </a:lvl5pPr>
            <a:lvl6pPr marL="1773238" indent="-114300" algn="l" rtl="0" eaLnBrk="1" fontAlgn="base" hangingPunct="1">
              <a:lnSpc>
                <a:spcPct val="95000"/>
              </a:lnSpc>
              <a:spcBef>
                <a:spcPct val="35000"/>
              </a:spcBef>
              <a:spcAft>
                <a:spcPct val="0"/>
              </a:spcAft>
              <a:buClr>
                <a:srgbClr val="727375"/>
              </a:buClr>
              <a:buChar char="•"/>
              <a:defRPr sz="1200">
                <a:solidFill>
                  <a:schemeClr val="tx1"/>
                </a:solidFill>
                <a:latin typeface="+mn-lt"/>
                <a:cs typeface="+mn-cs"/>
              </a:defRPr>
            </a:lvl6pPr>
            <a:lvl7pPr marL="2230438" indent="-114300" algn="l" rtl="0" eaLnBrk="1" fontAlgn="base" hangingPunct="1">
              <a:lnSpc>
                <a:spcPct val="95000"/>
              </a:lnSpc>
              <a:spcBef>
                <a:spcPct val="35000"/>
              </a:spcBef>
              <a:spcAft>
                <a:spcPct val="0"/>
              </a:spcAft>
              <a:buClr>
                <a:srgbClr val="727375"/>
              </a:buClr>
              <a:buChar char="•"/>
              <a:defRPr sz="1200">
                <a:solidFill>
                  <a:schemeClr val="tx1"/>
                </a:solidFill>
                <a:latin typeface="+mn-lt"/>
                <a:cs typeface="+mn-cs"/>
              </a:defRPr>
            </a:lvl7pPr>
            <a:lvl8pPr marL="2687638" indent="-114300" algn="l" rtl="0" eaLnBrk="1" fontAlgn="base" hangingPunct="1">
              <a:lnSpc>
                <a:spcPct val="95000"/>
              </a:lnSpc>
              <a:spcBef>
                <a:spcPct val="35000"/>
              </a:spcBef>
              <a:spcAft>
                <a:spcPct val="0"/>
              </a:spcAft>
              <a:buClr>
                <a:srgbClr val="727375"/>
              </a:buClr>
              <a:buChar char="•"/>
              <a:defRPr sz="1200">
                <a:solidFill>
                  <a:schemeClr val="tx1"/>
                </a:solidFill>
                <a:latin typeface="+mn-lt"/>
                <a:cs typeface="+mn-cs"/>
              </a:defRPr>
            </a:lvl8pPr>
            <a:lvl9pPr marL="3144838" indent="-114300" algn="l" rtl="0" eaLnBrk="1" fontAlgn="base" hangingPunct="1">
              <a:lnSpc>
                <a:spcPct val="95000"/>
              </a:lnSpc>
              <a:spcBef>
                <a:spcPct val="35000"/>
              </a:spcBef>
              <a:spcAft>
                <a:spcPct val="0"/>
              </a:spcAft>
              <a:buClr>
                <a:srgbClr val="727375"/>
              </a:buClr>
              <a:buChar char="•"/>
              <a:defRPr sz="1200">
                <a:solidFill>
                  <a:schemeClr val="tx1"/>
                </a:solidFill>
                <a:latin typeface="+mn-lt"/>
                <a:cs typeface="+mn-cs"/>
              </a:defRPr>
            </a:lvl9pPr>
          </a:lstStyle>
          <a:p>
            <a:pPr marL="0" indent="0">
              <a:buNone/>
            </a:pPr>
            <a:r>
              <a:rPr lang="fi-FI" altLang="en-US" sz="1400" dirty="0" smtClean="0">
                <a:solidFill>
                  <a:srgbClr val="000000"/>
                </a:solidFill>
                <a:latin typeface="Courier New" panose="02070309020205020404" pitchFamily="49" charset="0"/>
                <a:cs typeface="Courier New" panose="02070309020205020404" pitchFamily="49" charset="0"/>
              </a:rPr>
              <a:t>        </a:t>
            </a:r>
            <a:endParaRPr lang="fi-FI" altLang="en-US" sz="14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410705048"/>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5" name="Rectangle 3"/>
          <p:cNvSpPr>
            <a:spLocks noGrp="1" noChangeArrowheads="1"/>
          </p:cNvSpPr>
          <p:nvPr>
            <p:ph type="title"/>
          </p:nvPr>
        </p:nvSpPr>
        <p:spPr/>
        <p:txBody>
          <a:bodyPr/>
          <a:lstStyle/>
          <a:p>
            <a:r>
              <a:rPr lang="fi-FI" altLang="en-US" dirty="0"/>
              <a:t>Esoteric Difference </a:t>
            </a:r>
            <a:r>
              <a:rPr lang="fi-FI" altLang="en-US" dirty="0" smtClean="0"/>
              <a:t>#2: </a:t>
            </a:r>
            <a:r>
              <a:rPr lang="fi-FI" altLang="en-US" dirty="0"/>
              <a:t>Controlling </a:t>
            </a:r>
            <a:r>
              <a:rPr lang="fi-FI" altLang="en-US" dirty="0" smtClean="0"/>
              <a:t>Names </a:t>
            </a:r>
            <a:r>
              <a:rPr lang="fi-FI" altLang="en-US" dirty="0"/>
              <a:t>in Assembler </a:t>
            </a:r>
            <a:r>
              <a:rPr lang="fi-FI" altLang="en-US" dirty="0" smtClean="0"/>
              <a:t>Code</a:t>
            </a:r>
            <a:endParaRPr lang="en-US" dirty="0"/>
          </a:p>
        </p:txBody>
      </p:sp>
      <p:sp>
        <p:nvSpPr>
          <p:cNvPr id="243714" name="Rectangle 2"/>
          <p:cNvSpPr>
            <a:spLocks noGrp="1" noChangeArrowheads="1"/>
          </p:cNvSpPr>
          <p:nvPr>
            <p:ph idx="1"/>
          </p:nvPr>
        </p:nvSpPr>
        <p:spPr/>
        <p:txBody>
          <a:bodyPr/>
          <a:lstStyle/>
          <a:p>
            <a:pPr marL="0" indent="0">
              <a:buNone/>
            </a:pPr>
            <a:r>
              <a:rPr lang="fi-FI" altLang="en-US" dirty="0" smtClean="0">
                <a:solidFill>
                  <a:srgbClr val="000000"/>
                </a:solidFill>
                <a:latin typeface="Courier New" panose="02070309020205020404" pitchFamily="49" charset="0"/>
                <a:cs typeface="Courier New" panose="02070309020205020404" pitchFamily="49" charset="0"/>
              </a:rPr>
              <a:t>void </a:t>
            </a:r>
            <a:r>
              <a:rPr lang="fi-FI" altLang="en-US" dirty="0">
                <a:solidFill>
                  <a:srgbClr val="000000"/>
                </a:solidFill>
                <a:latin typeface="Courier New" panose="02070309020205020404" pitchFamily="49" charset="0"/>
                <a:cs typeface="Courier New" panose="02070309020205020404" pitchFamily="49" charset="0"/>
              </a:rPr>
              <a:t>f1()</a:t>
            </a:r>
          </a:p>
          <a:p>
            <a:pPr marL="0" indent="0">
              <a:buNone/>
            </a:pPr>
            <a:r>
              <a:rPr lang="fi-FI" altLang="en-US" dirty="0">
                <a:solidFill>
                  <a:srgbClr val="000000"/>
                </a:solidFill>
                <a:latin typeface="Courier New" panose="02070309020205020404" pitchFamily="49" charset="0"/>
                <a:cs typeface="Courier New" panose="02070309020205020404" pitchFamily="49" charset="0"/>
              </a:rPr>
              <a:t>{</a:t>
            </a:r>
          </a:p>
          <a:p>
            <a:pPr marL="0" indent="0">
              <a:buNone/>
            </a:pPr>
            <a:r>
              <a:rPr lang="fi-FI" altLang="en-US" dirty="0">
                <a:solidFill>
                  <a:srgbClr val="000000"/>
                </a:solidFill>
                <a:latin typeface="Courier New" panose="02070309020205020404" pitchFamily="49" charset="0"/>
                <a:cs typeface="Courier New" panose="02070309020205020404" pitchFamily="49" charset="0"/>
              </a:rPr>
              <a:t>    f2();</a:t>
            </a:r>
          </a:p>
          <a:p>
            <a:pPr marL="0" indent="0">
              <a:buNone/>
            </a:pPr>
            <a:r>
              <a:rPr lang="fi-FI" altLang="en-US" dirty="0">
                <a:solidFill>
                  <a:srgbClr val="000000"/>
                </a:solidFill>
                <a:latin typeface="Courier New" panose="02070309020205020404" pitchFamily="49" charset="0"/>
                <a:cs typeface="Courier New" panose="02070309020205020404" pitchFamily="49" charset="0"/>
              </a:rPr>
              <a:t>}</a:t>
            </a:r>
          </a:p>
          <a:p>
            <a:pPr marL="0" indent="0">
              <a:buNone/>
            </a:pPr>
            <a:endParaRPr lang="fi-FI" altLang="en-US" dirty="0">
              <a:solidFill>
                <a:srgbClr val="000000"/>
              </a:solidFill>
              <a:latin typeface="Courier New" panose="02070309020205020404" pitchFamily="49" charset="0"/>
              <a:cs typeface="Courier New" panose="02070309020205020404" pitchFamily="49" charset="0"/>
            </a:endParaRPr>
          </a:p>
          <a:p>
            <a:pPr marL="0" indent="0">
              <a:buNone/>
            </a:pPr>
            <a:r>
              <a:rPr lang="fi-FI" altLang="en-US" dirty="0">
                <a:solidFill>
                  <a:srgbClr val="000000"/>
                </a:solidFill>
                <a:latin typeface="Courier New" panose="02070309020205020404" pitchFamily="49" charset="0"/>
                <a:cs typeface="Courier New" panose="02070309020205020404" pitchFamily="49" charset="0"/>
              </a:rPr>
              <a:t>extern int f2() asm ("f3");</a:t>
            </a:r>
          </a:p>
          <a:p>
            <a:pPr marL="0" indent="0">
              <a:buNone/>
            </a:pPr>
            <a:endParaRPr lang="fi-FI" altLang="en-US" sz="1200" dirty="0">
              <a:solidFill>
                <a:srgbClr val="000000"/>
              </a:solidFill>
            </a:endParaRPr>
          </a:p>
          <a:p>
            <a:pPr marL="0" indent="0">
              <a:buNone/>
            </a:pPr>
            <a:endParaRPr lang="fi-FI" altLang="en-US" sz="1200" dirty="0">
              <a:solidFill>
                <a:srgbClr val="000000"/>
              </a:solidFill>
            </a:endParaRPr>
          </a:p>
          <a:p>
            <a:pPr marL="0" indent="0">
              <a:buNone/>
            </a:pPr>
            <a:endParaRPr lang="fi-FI" altLang="en-US" sz="1200" dirty="0">
              <a:solidFill>
                <a:srgbClr val="000000"/>
              </a:solidFill>
            </a:endParaRPr>
          </a:p>
          <a:p>
            <a:pPr marL="0" indent="0">
              <a:buNone/>
            </a:pPr>
            <a:endParaRPr lang="fi-FI" altLang="en-US"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154150030"/>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5" name="Rectangle 3"/>
          <p:cNvSpPr>
            <a:spLocks noGrp="1" noChangeArrowheads="1"/>
          </p:cNvSpPr>
          <p:nvPr>
            <p:ph type="title"/>
          </p:nvPr>
        </p:nvSpPr>
        <p:spPr/>
        <p:txBody>
          <a:bodyPr/>
          <a:lstStyle/>
          <a:p>
            <a:r>
              <a:rPr lang="fi-FI" altLang="en-US" dirty="0"/>
              <a:t>Esoteric Difference #</a:t>
            </a:r>
            <a:r>
              <a:rPr lang="fi-FI" altLang="en-US" dirty="0" smtClean="0"/>
              <a:t>2: GCC code generation</a:t>
            </a:r>
            <a:endParaRPr lang="en-US" dirty="0"/>
          </a:p>
        </p:txBody>
      </p:sp>
      <p:sp>
        <p:nvSpPr>
          <p:cNvPr id="243714" name="Rectangle 2"/>
          <p:cNvSpPr>
            <a:spLocks noGrp="1" noChangeArrowheads="1"/>
          </p:cNvSpPr>
          <p:nvPr>
            <p:ph idx="1"/>
          </p:nvPr>
        </p:nvSpPr>
        <p:spPr>
          <a:xfrm>
            <a:off x="163512" y="904108"/>
            <a:ext cx="5290231" cy="5314950"/>
          </a:xfrm>
        </p:spPr>
        <p:txBody>
          <a:bodyPr/>
          <a:lstStyle/>
          <a:p>
            <a:pPr marL="0" indent="0">
              <a:buNone/>
            </a:pPr>
            <a:r>
              <a:rPr lang="fi-FI" altLang="en-US" sz="1400" dirty="0">
                <a:solidFill>
                  <a:srgbClr val="000000"/>
                </a:solidFill>
                <a:latin typeface="Courier New" panose="02070309020205020404" pitchFamily="49" charset="0"/>
                <a:cs typeface="Courier New" panose="02070309020205020404" pitchFamily="49" charset="0"/>
              </a:rPr>
              <a:t> .file   "example2.c"</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        .text</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        .p2align 2</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        .globl f1</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        .type   f1, @function</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f1:</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        // saved LR + FP regs size (bytes) = 8</a:t>
            </a:r>
          </a:p>
          <a:p>
            <a:pPr marL="0" indent="0">
              <a:buNone/>
            </a:pPr>
            <a:r>
              <a:rPr lang="fi-FI" altLang="en-US" sz="1400" dirty="0" smtClean="0">
                <a:solidFill>
                  <a:srgbClr val="000000"/>
                </a:solidFill>
                <a:latin typeface="Courier New" panose="02070309020205020404" pitchFamily="49" charset="0"/>
                <a:cs typeface="Courier New" panose="02070309020205020404" pitchFamily="49" charset="0"/>
              </a:rPr>
              <a:t>	allocframe</a:t>
            </a:r>
            <a:r>
              <a:rPr lang="fi-FI" altLang="en-US" sz="1400" dirty="0">
                <a:solidFill>
                  <a:srgbClr val="000000"/>
                </a:solidFill>
                <a:latin typeface="Courier New" panose="02070309020205020404" pitchFamily="49" charset="0"/>
                <a:cs typeface="Courier New" panose="02070309020205020404" pitchFamily="49" charset="0"/>
              </a:rPr>
              <a:t>(#0)</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        call </a:t>
            </a:r>
            <a:r>
              <a:rPr lang="fi-FI" altLang="en-US" sz="1400" dirty="0" smtClean="0">
                <a:solidFill>
                  <a:srgbClr val="000000"/>
                </a:solidFill>
                <a:latin typeface="Courier New" panose="02070309020205020404" pitchFamily="49" charset="0"/>
                <a:cs typeface="Courier New" panose="02070309020205020404" pitchFamily="49" charset="0"/>
              </a:rPr>
              <a:t>f3         </a:t>
            </a:r>
            <a:r>
              <a:rPr lang="fi-FI" altLang="en-US" sz="1400" b="1" dirty="0" smtClean="0">
                <a:solidFill>
                  <a:srgbClr val="FF0000"/>
                </a:solidFill>
                <a:latin typeface="Courier New" panose="02070309020205020404" pitchFamily="49" charset="0"/>
                <a:cs typeface="Courier New" panose="02070309020205020404" pitchFamily="49" charset="0"/>
              </a:rPr>
              <a:t># </a:t>
            </a:r>
            <a:r>
              <a:rPr lang="fi-FI" altLang="en-US" sz="1400" b="1" dirty="0">
                <a:solidFill>
                  <a:srgbClr val="FF0000"/>
                </a:solidFill>
                <a:latin typeface="Courier New" panose="02070309020205020404" pitchFamily="49" charset="0"/>
                <a:cs typeface="Courier New" panose="02070309020205020404" pitchFamily="49" charset="0"/>
              </a:rPr>
              <a:t>NOTICE CALL TO </a:t>
            </a:r>
            <a:r>
              <a:rPr lang="fi-FI" altLang="en-US" sz="1400" b="1" dirty="0" smtClean="0">
                <a:solidFill>
                  <a:srgbClr val="FF0000"/>
                </a:solidFill>
                <a:latin typeface="Courier New" panose="02070309020205020404" pitchFamily="49" charset="0"/>
                <a:cs typeface="Courier New" panose="02070309020205020404" pitchFamily="49" charset="0"/>
              </a:rPr>
              <a:t>f3</a:t>
            </a:r>
            <a:endParaRPr lang="fi-FI" altLang="en-US" sz="1400" dirty="0">
              <a:solidFill>
                <a:srgbClr val="000000"/>
              </a:solidFill>
              <a:latin typeface="Courier New" panose="02070309020205020404" pitchFamily="49" charset="0"/>
              <a:cs typeface="Courier New" panose="02070309020205020404" pitchFamily="49" charset="0"/>
            </a:endParaRP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        deallocframe</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        jumpr r31</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        .size   f1, .-</a:t>
            </a:r>
            <a:r>
              <a:rPr lang="fi-FI" altLang="en-US" sz="1400" dirty="0" smtClean="0">
                <a:solidFill>
                  <a:srgbClr val="000000"/>
                </a:solidFill>
                <a:latin typeface="Courier New" panose="02070309020205020404" pitchFamily="49" charset="0"/>
                <a:cs typeface="Courier New" panose="02070309020205020404" pitchFamily="49" charset="0"/>
              </a:rPr>
              <a:t>f1</a:t>
            </a:r>
            <a:endParaRPr lang="fi-FI" altLang="en-US" sz="14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449741425"/>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5" name="Rectangle 3"/>
          <p:cNvSpPr>
            <a:spLocks noGrp="1" noChangeArrowheads="1"/>
          </p:cNvSpPr>
          <p:nvPr>
            <p:ph type="title"/>
          </p:nvPr>
        </p:nvSpPr>
        <p:spPr/>
        <p:txBody>
          <a:bodyPr/>
          <a:lstStyle/>
          <a:p>
            <a:r>
              <a:rPr lang="fi-FI" altLang="en-US" dirty="0"/>
              <a:t>Esoteric Difference #</a:t>
            </a:r>
            <a:r>
              <a:rPr lang="fi-FI" altLang="en-US" dirty="0" smtClean="0"/>
              <a:t>2: LLVM code generation</a:t>
            </a:r>
            <a:endParaRPr lang="en-US" dirty="0"/>
          </a:p>
        </p:txBody>
      </p:sp>
      <p:sp>
        <p:nvSpPr>
          <p:cNvPr id="243714" name="Rectangle 2"/>
          <p:cNvSpPr>
            <a:spLocks noGrp="1" noChangeArrowheads="1"/>
          </p:cNvSpPr>
          <p:nvPr>
            <p:ph idx="1"/>
          </p:nvPr>
        </p:nvSpPr>
        <p:spPr>
          <a:xfrm>
            <a:off x="163512" y="904108"/>
            <a:ext cx="5605917" cy="5314950"/>
          </a:xfrm>
        </p:spPr>
        <p:txBody>
          <a:bodyPr/>
          <a:lstStyle/>
          <a:p>
            <a:pPr marL="0" indent="0">
              <a:buNone/>
            </a:pPr>
            <a:r>
              <a:rPr lang="fi-FI" altLang="en-US" sz="1400" dirty="0">
                <a:solidFill>
                  <a:srgbClr val="000000"/>
                </a:solidFill>
                <a:latin typeface="Courier New" panose="02070309020205020404" pitchFamily="49" charset="0"/>
                <a:cs typeface="Courier New" panose="02070309020205020404" pitchFamily="49" charset="0"/>
              </a:rPr>
              <a:t>	 .file   "example2.c"</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        .text</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        .globl  f1</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        .falign</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        .type   f1,@function</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f1:</a:t>
            </a:r>
          </a:p>
          <a:p>
            <a:pPr marL="0" indent="0">
              <a:buNone/>
            </a:pPr>
            <a:r>
              <a:rPr lang="fi-FI" altLang="en-US" sz="1400" dirty="0" smtClean="0">
                <a:solidFill>
                  <a:srgbClr val="000000"/>
                </a:solidFill>
                <a:latin typeface="Courier New" panose="02070309020205020404" pitchFamily="49" charset="0"/>
                <a:cs typeface="Courier New" panose="02070309020205020404" pitchFamily="49" charset="0"/>
              </a:rPr>
              <a:t>	allocframe</a:t>
            </a:r>
            <a:r>
              <a:rPr lang="fi-FI" altLang="en-US" sz="1400" dirty="0">
                <a:solidFill>
                  <a:srgbClr val="000000"/>
                </a:solidFill>
                <a:latin typeface="Courier New" panose="02070309020205020404" pitchFamily="49" charset="0"/>
                <a:cs typeface="Courier New" panose="02070309020205020404" pitchFamily="49" charset="0"/>
              </a:rPr>
              <a:t>(#8)</a:t>
            </a:r>
          </a:p>
          <a:p>
            <a:pPr marL="0" indent="0">
              <a:buNone/>
            </a:pPr>
            <a:r>
              <a:rPr lang="fi-FI" altLang="en-US" sz="1400" dirty="0" smtClean="0">
                <a:solidFill>
                  <a:srgbClr val="000000"/>
                </a:solidFill>
                <a:latin typeface="Courier New" panose="02070309020205020404" pitchFamily="49" charset="0"/>
                <a:cs typeface="Courier New" panose="02070309020205020404" pitchFamily="49" charset="0"/>
              </a:rPr>
              <a:t>	call f2          </a:t>
            </a:r>
            <a:r>
              <a:rPr lang="fi-FI" altLang="en-US" sz="1400" b="1" dirty="0" smtClean="0">
                <a:solidFill>
                  <a:srgbClr val="FF0000"/>
                </a:solidFill>
                <a:latin typeface="Courier New" panose="02070309020205020404" pitchFamily="49" charset="0"/>
                <a:cs typeface="Courier New" panose="02070309020205020404" pitchFamily="49" charset="0"/>
              </a:rPr>
              <a:t># NOTICE CALL TO f2</a:t>
            </a:r>
            <a:endParaRPr lang="fi-FI" altLang="en-US" sz="1400" b="1" dirty="0">
              <a:solidFill>
                <a:srgbClr val="FF0000"/>
              </a:solidFill>
              <a:latin typeface="Courier New" panose="02070309020205020404" pitchFamily="49" charset="0"/>
              <a:cs typeface="Courier New" panose="02070309020205020404" pitchFamily="49" charset="0"/>
            </a:endParaRPr>
          </a:p>
          <a:p>
            <a:pPr marL="0" indent="0">
              <a:buNone/>
            </a:pPr>
            <a:r>
              <a:rPr lang="fi-FI" altLang="en-US" sz="1400" dirty="0" smtClean="0">
                <a:solidFill>
                  <a:srgbClr val="000000"/>
                </a:solidFill>
                <a:latin typeface="Courier New" panose="02070309020205020404" pitchFamily="49" charset="0"/>
                <a:cs typeface="Courier New" panose="02070309020205020404" pitchFamily="49" charset="0"/>
              </a:rPr>
              <a:t>	memw(r29</a:t>
            </a:r>
            <a:r>
              <a:rPr lang="fi-FI" altLang="en-US" sz="1400" dirty="0">
                <a:solidFill>
                  <a:srgbClr val="000000"/>
                </a:solidFill>
                <a:latin typeface="Courier New" panose="02070309020205020404" pitchFamily="49" charset="0"/>
                <a:cs typeface="Courier New" panose="02070309020205020404" pitchFamily="49" charset="0"/>
              </a:rPr>
              <a:t>+#4) = r0</a:t>
            </a:r>
          </a:p>
          <a:p>
            <a:pPr marL="0" indent="0">
              <a:buNone/>
            </a:pPr>
            <a:r>
              <a:rPr lang="fi-FI" altLang="en-US" sz="1400" dirty="0" smtClean="0">
                <a:solidFill>
                  <a:srgbClr val="000000"/>
                </a:solidFill>
                <a:latin typeface="Courier New" panose="02070309020205020404" pitchFamily="49" charset="0"/>
                <a:cs typeface="Courier New" panose="02070309020205020404" pitchFamily="49" charset="0"/>
              </a:rPr>
              <a:t>	dealloc_return</a:t>
            </a:r>
            <a:endParaRPr lang="fi-FI" altLang="en-US" sz="1400" dirty="0">
              <a:solidFill>
                <a:srgbClr val="000000"/>
              </a:solidFill>
              <a:latin typeface="Courier New" panose="02070309020205020404" pitchFamily="49" charset="0"/>
              <a:cs typeface="Courier New" panose="02070309020205020404" pitchFamily="49" charset="0"/>
            </a:endParaRPr>
          </a:p>
          <a:p>
            <a:pPr marL="0" indent="0">
              <a:buNone/>
            </a:pPr>
            <a:r>
              <a:rPr lang="fi-FI" altLang="en-US" sz="1400" dirty="0" smtClean="0">
                <a:solidFill>
                  <a:srgbClr val="000000"/>
                </a:solidFill>
                <a:latin typeface="Courier New" panose="02070309020205020404" pitchFamily="49" charset="0"/>
                <a:cs typeface="Courier New" panose="02070309020205020404" pitchFamily="49" charset="0"/>
              </a:rPr>
              <a:t>.</a:t>
            </a:r>
            <a:r>
              <a:rPr lang="fi-FI" altLang="en-US" sz="1400" dirty="0">
                <a:solidFill>
                  <a:srgbClr val="000000"/>
                </a:solidFill>
                <a:latin typeface="Courier New" panose="02070309020205020404" pitchFamily="49" charset="0"/>
                <a:cs typeface="Courier New" panose="02070309020205020404" pitchFamily="49" charset="0"/>
              </a:rPr>
              <a:t>Ltmp0:</a:t>
            </a:r>
          </a:p>
          <a:p>
            <a:pPr marL="0" indent="0">
              <a:buNone/>
            </a:pPr>
            <a:r>
              <a:rPr lang="fi-FI" altLang="en-US" sz="1400" dirty="0">
                <a:solidFill>
                  <a:srgbClr val="000000"/>
                </a:solidFill>
                <a:latin typeface="Courier New" panose="02070309020205020404" pitchFamily="49" charset="0"/>
                <a:cs typeface="Courier New" panose="02070309020205020404" pitchFamily="49" charset="0"/>
              </a:rPr>
              <a:t>        .size   f1, .Ltmp0-f1</a:t>
            </a:r>
          </a:p>
        </p:txBody>
      </p:sp>
      <p:sp>
        <p:nvSpPr>
          <p:cNvPr id="5" name="Rectangle 2"/>
          <p:cNvSpPr txBox="1">
            <a:spLocks noChangeArrowheads="1"/>
          </p:cNvSpPr>
          <p:nvPr/>
        </p:nvSpPr>
        <p:spPr bwMode="auto">
          <a:xfrm>
            <a:off x="4746398" y="860565"/>
            <a:ext cx="4179887" cy="53149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173038" indent="-173038" algn="l" rtl="0" eaLnBrk="1" fontAlgn="base" hangingPunct="1">
              <a:lnSpc>
                <a:spcPct val="95000"/>
              </a:lnSpc>
              <a:spcBef>
                <a:spcPct val="35000"/>
              </a:spcBef>
              <a:spcAft>
                <a:spcPct val="0"/>
              </a:spcAft>
              <a:buClr>
                <a:schemeClr val="accent2"/>
              </a:buClr>
              <a:buFont typeface="Wingdings" pitchFamily="2" charset="2"/>
              <a:buChar char="§"/>
              <a:defRPr sz="2000">
                <a:solidFill>
                  <a:srgbClr val="333333"/>
                </a:solidFill>
                <a:latin typeface="+mn-lt"/>
                <a:ea typeface="+mn-ea"/>
                <a:cs typeface="+mn-cs"/>
              </a:defRPr>
            </a:lvl1pPr>
            <a:lvl2pPr marL="460375" indent="-173038" algn="l" rtl="0" eaLnBrk="1" fontAlgn="base" hangingPunct="1">
              <a:lnSpc>
                <a:spcPct val="95000"/>
              </a:lnSpc>
              <a:spcBef>
                <a:spcPct val="35000"/>
              </a:spcBef>
              <a:spcAft>
                <a:spcPct val="0"/>
              </a:spcAft>
              <a:buClr>
                <a:schemeClr val="accent1"/>
              </a:buClr>
              <a:buFont typeface="Wingdings" pitchFamily="2" charset="2"/>
              <a:buChar char="§"/>
              <a:defRPr>
                <a:solidFill>
                  <a:srgbClr val="333333"/>
                </a:solidFill>
                <a:latin typeface="+mn-lt"/>
                <a:cs typeface="+mn-cs"/>
              </a:defRPr>
            </a:lvl2pPr>
            <a:lvl3pPr marL="798513" indent="-223838" algn="l" rtl="0" eaLnBrk="1" fontAlgn="base" hangingPunct="1">
              <a:lnSpc>
                <a:spcPct val="95000"/>
              </a:lnSpc>
              <a:spcBef>
                <a:spcPct val="35000"/>
              </a:spcBef>
              <a:spcAft>
                <a:spcPct val="0"/>
              </a:spcAft>
              <a:buClr>
                <a:schemeClr val="tx2"/>
              </a:buClr>
              <a:buSzPct val="125000"/>
              <a:buFont typeface="Arial" charset="0"/>
              <a:buChar char="–"/>
              <a:defRPr sz="1600">
                <a:solidFill>
                  <a:srgbClr val="333333"/>
                </a:solidFill>
                <a:latin typeface="+mn-lt"/>
                <a:cs typeface="+mn-cs"/>
              </a:defRPr>
            </a:lvl3pPr>
            <a:lvl4pPr marL="1087438" indent="-174625" algn="l" rtl="0" eaLnBrk="1" fontAlgn="base" hangingPunct="1">
              <a:lnSpc>
                <a:spcPct val="95000"/>
              </a:lnSpc>
              <a:spcBef>
                <a:spcPct val="35000"/>
              </a:spcBef>
              <a:spcAft>
                <a:spcPct val="0"/>
              </a:spcAft>
              <a:buClr>
                <a:schemeClr val="accent1"/>
              </a:buClr>
              <a:buSzPct val="125000"/>
              <a:buFont typeface="Lucida Grande"/>
              <a:buChar char="»"/>
              <a:defRPr sz="1400">
                <a:solidFill>
                  <a:srgbClr val="333333"/>
                </a:solidFill>
                <a:latin typeface="+mn-lt"/>
                <a:cs typeface="+mn-cs"/>
              </a:defRPr>
            </a:lvl4pPr>
            <a:lvl5pPr marL="1316038" indent="-114300" algn="l" rtl="0" eaLnBrk="1" fontAlgn="base" hangingPunct="1">
              <a:lnSpc>
                <a:spcPct val="95000"/>
              </a:lnSpc>
              <a:spcBef>
                <a:spcPct val="35000"/>
              </a:spcBef>
              <a:spcAft>
                <a:spcPct val="0"/>
              </a:spcAft>
              <a:buClr>
                <a:schemeClr val="tx2"/>
              </a:buClr>
              <a:buChar char="•"/>
              <a:defRPr sz="1200">
                <a:solidFill>
                  <a:srgbClr val="333333"/>
                </a:solidFill>
                <a:latin typeface="+mn-lt"/>
                <a:cs typeface="+mn-cs"/>
              </a:defRPr>
            </a:lvl5pPr>
            <a:lvl6pPr marL="1773238" indent="-114300" algn="l" rtl="0" eaLnBrk="1" fontAlgn="base" hangingPunct="1">
              <a:lnSpc>
                <a:spcPct val="95000"/>
              </a:lnSpc>
              <a:spcBef>
                <a:spcPct val="35000"/>
              </a:spcBef>
              <a:spcAft>
                <a:spcPct val="0"/>
              </a:spcAft>
              <a:buClr>
                <a:srgbClr val="727375"/>
              </a:buClr>
              <a:buChar char="•"/>
              <a:defRPr sz="1200">
                <a:solidFill>
                  <a:schemeClr val="tx1"/>
                </a:solidFill>
                <a:latin typeface="+mn-lt"/>
                <a:cs typeface="+mn-cs"/>
              </a:defRPr>
            </a:lvl6pPr>
            <a:lvl7pPr marL="2230438" indent="-114300" algn="l" rtl="0" eaLnBrk="1" fontAlgn="base" hangingPunct="1">
              <a:lnSpc>
                <a:spcPct val="95000"/>
              </a:lnSpc>
              <a:spcBef>
                <a:spcPct val="35000"/>
              </a:spcBef>
              <a:spcAft>
                <a:spcPct val="0"/>
              </a:spcAft>
              <a:buClr>
                <a:srgbClr val="727375"/>
              </a:buClr>
              <a:buChar char="•"/>
              <a:defRPr sz="1200">
                <a:solidFill>
                  <a:schemeClr val="tx1"/>
                </a:solidFill>
                <a:latin typeface="+mn-lt"/>
                <a:cs typeface="+mn-cs"/>
              </a:defRPr>
            </a:lvl7pPr>
            <a:lvl8pPr marL="2687638" indent="-114300" algn="l" rtl="0" eaLnBrk="1" fontAlgn="base" hangingPunct="1">
              <a:lnSpc>
                <a:spcPct val="95000"/>
              </a:lnSpc>
              <a:spcBef>
                <a:spcPct val="35000"/>
              </a:spcBef>
              <a:spcAft>
                <a:spcPct val="0"/>
              </a:spcAft>
              <a:buClr>
                <a:srgbClr val="727375"/>
              </a:buClr>
              <a:buChar char="•"/>
              <a:defRPr sz="1200">
                <a:solidFill>
                  <a:schemeClr val="tx1"/>
                </a:solidFill>
                <a:latin typeface="+mn-lt"/>
                <a:cs typeface="+mn-cs"/>
              </a:defRPr>
            </a:lvl8pPr>
            <a:lvl9pPr marL="3144838" indent="-114300" algn="l" rtl="0" eaLnBrk="1" fontAlgn="base" hangingPunct="1">
              <a:lnSpc>
                <a:spcPct val="95000"/>
              </a:lnSpc>
              <a:spcBef>
                <a:spcPct val="35000"/>
              </a:spcBef>
              <a:spcAft>
                <a:spcPct val="0"/>
              </a:spcAft>
              <a:buClr>
                <a:srgbClr val="727375"/>
              </a:buClr>
              <a:buChar char="•"/>
              <a:defRPr sz="1200">
                <a:solidFill>
                  <a:schemeClr val="tx1"/>
                </a:solidFill>
                <a:latin typeface="+mn-lt"/>
                <a:cs typeface="+mn-cs"/>
              </a:defRPr>
            </a:lvl9pPr>
          </a:lstStyle>
          <a:p>
            <a:pPr marL="0" indent="0">
              <a:buNone/>
            </a:pPr>
            <a:r>
              <a:rPr lang="fi-FI" altLang="en-US" sz="1400" dirty="0">
                <a:solidFill>
                  <a:srgbClr val="000000"/>
                </a:solidFill>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781137772"/>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5" name="Rectangle 3"/>
          <p:cNvSpPr>
            <a:spLocks noGrp="1" noChangeArrowheads="1"/>
          </p:cNvSpPr>
          <p:nvPr>
            <p:ph type="title"/>
          </p:nvPr>
        </p:nvSpPr>
        <p:spPr/>
        <p:txBody>
          <a:bodyPr/>
          <a:lstStyle/>
          <a:p>
            <a:r>
              <a:rPr lang="fi-FI" altLang="en-US" dirty="0"/>
              <a:t>Esoteric Difference #</a:t>
            </a:r>
            <a:r>
              <a:rPr lang="fi-FI" altLang="en-US" dirty="0" smtClean="0"/>
              <a:t>3: Preprocessing</a:t>
            </a:r>
            <a:endParaRPr lang="en-US" dirty="0"/>
          </a:p>
        </p:txBody>
      </p:sp>
      <p:sp>
        <p:nvSpPr>
          <p:cNvPr id="243714" name="Rectangle 2"/>
          <p:cNvSpPr>
            <a:spLocks noGrp="1" noChangeArrowheads="1"/>
          </p:cNvSpPr>
          <p:nvPr>
            <p:ph idx="1"/>
          </p:nvPr>
        </p:nvSpPr>
        <p:spPr/>
        <p:txBody>
          <a:bodyPr/>
          <a:lstStyle/>
          <a:p>
            <a:pPr marL="0" indent="0">
              <a:buNone/>
            </a:pPr>
            <a:r>
              <a:rPr lang="fi-FI" altLang="en-US" dirty="0">
                <a:solidFill>
                  <a:srgbClr val="000000"/>
                </a:solidFill>
                <a:latin typeface="Courier New" panose="02070309020205020404" pitchFamily="49" charset="0"/>
                <a:cs typeface="Courier New" panose="02070309020205020404" pitchFamily="49" charset="0"/>
              </a:rPr>
              <a:t>$</a:t>
            </a:r>
            <a:r>
              <a:rPr lang="fi-FI" altLang="en-US" dirty="0" smtClean="0">
                <a:solidFill>
                  <a:srgbClr val="000000"/>
                </a:solidFill>
                <a:latin typeface="Courier New" panose="02070309020205020404" pitchFamily="49" charset="0"/>
                <a:cs typeface="Courier New" panose="02070309020205020404" pitchFamily="49" charset="0"/>
              </a:rPr>
              <a:t> </a:t>
            </a:r>
            <a:r>
              <a:rPr lang="fi-FI" altLang="en-US" dirty="0">
                <a:solidFill>
                  <a:srgbClr val="000000"/>
                </a:solidFill>
                <a:latin typeface="Courier New" panose="02070309020205020404" pitchFamily="49" charset="0"/>
                <a:cs typeface="Courier New" panose="02070309020205020404" pitchFamily="49" charset="0"/>
              </a:rPr>
              <a:t>echo '#include "foo.h"' | \</a:t>
            </a:r>
          </a:p>
          <a:p>
            <a:pPr marL="0" indent="0">
              <a:buNone/>
            </a:pPr>
            <a:r>
              <a:rPr lang="fi-FI" altLang="en-US" dirty="0">
                <a:solidFill>
                  <a:srgbClr val="000000"/>
                </a:solidFill>
                <a:latin typeface="Courier New" panose="02070309020205020404" pitchFamily="49" charset="0"/>
                <a:cs typeface="Courier New" panose="02070309020205020404" pitchFamily="49" charset="0"/>
              </a:rPr>
              <a:t>    </a:t>
            </a:r>
            <a:r>
              <a:rPr lang="fi-FI" altLang="en-US" dirty="0" smtClean="0">
                <a:solidFill>
                  <a:srgbClr val="000000"/>
                </a:solidFill>
                <a:latin typeface="Courier New" panose="02070309020205020404" pitchFamily="49" charset="0"/>
                <a:cs typeface="Courier New" panose="02070309020205020404" pitchFamily="49" charset="0"/>
              </a:rPr>
              <a:t>hexagon-clang </a:t>
            </a:r>
            <a:r>
              <a:rPr lang="fi-FI" altLang="en-US" dirty="0">
                <a:solidFill>
                  <a:srgbClr val="000000"/>
                </a:solidFill>
                <a:latin typeface="Courier New" panose="02070309020205020404" pitchFamily="49" charset="0"/>
                <a:cs typeface="Courier New" panose="02070309020205020404" pitchFamily="49" charset="0"/>
              </a:rPr>
              <a:t>-E -dM -MD -MP -MF foo.out -xc - -o out.out -MT 'a b'</a:t>
            </a:r>
          </a:p>
          <a:p>
            <a:pPr marL="0" indent="0">
              <a:buNone/>
            </a:pPr>
            <a:r>
              <a:rPr lang="fi-FI" altLang="en-US" dirty="0">
                <a:solidFill>
                  <a:srgbClr val="000000"/>
                </a:solidFill>
                <a:latin typeface="Courier New" panose="02070309020205020404" pitchFamily="49" charset="0"/>
                <a:cs typeface="Courier New" panose="02070309020205020404" pitchFamily="49" charset="0"/>
              </a:rPr>
              <a:t>$</a:t>
            </a:r>
            <a:r>
              <a:rPr lang="fi-FI" altLang="en-US" dirty="0" smtClean="0">
                <a:solidFill>
                  <a:srgbClr val="000000"/>
                </a:solidFill>
                <a:latin typeface="Courier New" panose="02070309020205020404" pitchFamily="49" charset="0"/>
                <a:cs typeface="Courier New" panose="02070309020205020404" pitchFamily="49" charset="0"/>
              </a:rPr>
              <a:t> </a:t>
            </a:r>
            <a:r>
              <a:rPr lang="fi-FI" altLang="en-US" dirty="0">
                <a:solidFill>
                  <a:srgbClr val="000000"/>
                </a:solidFill>
                <a:latin typeface="Courier New" panose="02070309020205020404" pitchFamily="49" charset="0"/>
                <a:cs typeface="Courier New" panose="02070309020205020404" pitchFamily="49" charset="0"/>
              </a:rPr>
              <a:t>cat foo.out</a:t>
            </a:r>
          </a:p>
          <a:p>
            <a:pPr marL="0" indent="0">
              <a:buNone/>
            </a:pPr>
            <a:r>
              <a:rPr lang="fi-FI" altLang="en-US" dirty="0" smtClean="0">
                <a:solidFill>
                  <a:srgbClr val="000000"/>
                </a:solidFill>
                <a:latin typeface="Courier New" panose="02070309020205020404" pitchFamily="49" charset="0"/>
                <a:cs typeface="Courier New" panose="02070309020205020404" pitchFamily="49" charset="0"/>
              </a:rPr>
              <a:t>a </a:t>
            </a:r>
            <a:r>
              <a:rPr lang="fi-FI" altLang="en-US" dirty="0">
                <a:solidFill>
                  <a:srgbClr val="000000"/>
                </a:solidFill>
                <a:latin typeface="Courier New" panose="02070309020205020404" pitchFamily="49" charset="0"/>
                <a:cs typeface="Courier New" panose="02070309020205020404" pitchFamily="49" charset="0"/>
              </a:rPr>
              <a:t>b: </a:t>
            </a:r>
            <a:r>
              <a:rPr lang="fi-FI" altLang="en-US" b="1" dirty="0">
                <a:solidFill>
                  <a:srgbClr val="FF0000"/>
                </a:solidFill>
                <a:latin typeface="Courier New" panose="02070309020205020404" pitchFamily="49" charset="0"/>
                <a:cs typeface="Courier New" panose="02070309020205020404" pitchFamily="49" charset="0"/>
              </a:rPr>
              <a:t>&lt;stdin&gt;</a:t>
            </a:r>
            <a:r>
              <a:rPr lang="fi-FI" altLang="en-US" dirty="0">
                <a:solidFill>
                  <a:srgbClr val="000000"/>
                </a:solidFill>
                <a:latin typeface="Courier New" panose="02070309020205020404" pitchFamily="49" charset="0"/>
                <a:cs typeface="Courier New" panose="02070309020205020404" pitchFamily="49" charset="0"/>
              </a:rPr>
              <a:t> foo.h</a:t>
            </a:r>
          </a:p>
          <a:p>
            <a:pPr marL="0" indent="0">
              <a:buNone/>
            </a:pPr>
            <a:r>
              <a:rPr lang="fi-FI" altLang="en-US" dirty="0" smtClean="0">
                <a:solidFill>
                  <a:srgbClr val="000000"/>
                </a:solidFill>
                <a:latin typeface="Courier New" panose="02070309020205020404" pitchFamily="49" charset="0"/>
                <a:cs typeface="Courier New" panose="02070309020205020404" pitchFamily="49" charset="0"/>
              </a:rPr>
              <a:t>foo.h</a:t>
            </a:r>
            <a:r>
              <a:rPr lang="fi-FI" altLang="en-US" dirty="0">
                <a:solidFill>
                  <a:srgbClr val="000000"/>
                </a:solidFill>
                <a:latin typeface="Courier New" panose="02070309020205020404" pitchFamily="49" charset="0"/>
                <a:cs typeface="Courier New" panose="02070309020205020404" pitchFamily="49" charset="0"/>
              </a:rPr>
              <a:t>:</a:t>
            </a:r>
          </a:p>
          <a:p>
            <a:pPr marL="0" indent="0">
              <a:buNone/>
            </a:pPr>
            <a:endParaRPr lang="fi-FI" altLang="en-US" dirty="0" smtClean="0">
              <a:solidFill>
                <a:srgbClr val="000000"/>
              </a:solidFill>
              <a:latin typeface="Courier New" panose="02070309020205020404" pitchFamily="49" charset="0"/>
              <a:cs typeface="Courier New" panose="02070309020205020404" pitchFamily="49" charset="0"/>
            </a:endParaRPr>
          </a:p>
          <a:p>
            <a:pPr marL="0" indent="0">
              <a:buNone/>
            </a:pPr>
            <a:r>
              <a:rPr lang="fi-FI" altLang="en-US" dirty="0" smtClean="0">
                <a:solidFill>
                  <a:srgbClr val="000000"/>
                </a:solidFill>
                <a:latin typeface="Courier New" panose="02070309020205020404" pitchFamily="49" charset="0"/>
                <a:cs typeface="Courier New" panose="02070309020205020404" pitchFamily="49" charset="0"/>
              </a:rPr>
              <a:t>$ </a:t>
            </a:r>
            <a:r>
              <a:rPr lang="fi-FI" altLang="en-US" dirty="0">
                <a:solidFill>
                  <a:srgbClr val="000000"/>
                </a:solidFill>
                <a:latin typeface="Courier New" panose="02070309020205020404" pitchFamily="49" charset="0"/>
                <a:cs typeface="Courier New" panose="02070309020205020404" pitchFamily="49" charset="0"/>
              </a:rPr>
              <a:t>echo '#include "foo.h"' | \</a:t>
            </a:r>
          </a:p>
          <a:p>
            <a:pPr marL="0" indent="0">
              <a:buNone/>
            </a:pPr>
            <a:r>
              <a:rPr lang="fi-FI" altLang="en-US" dirty="0">
                <a:solidFill>
                  <a:srgbClr val="000000"/>
                </a:solidFill>
                <a:latin typeface="Courier New" panose="02070309020205020404" pitchFamily="49" charset="0"/>
                <a:cs typeface="Courier New" panose="02070309020205020404" pitchFamily="49" charset="0"/>
              </a:rPr>
              <a:t>    </a:t>
            </a:r>
            <a:r>
              <a:rPr lang="fi-FI" altLang="en-US" dirty="0" smtClean="0">
                <a:solidFill>
                  <a:srgbClr val="000000"/>
                </a:solidFill>
                <a:latin typeface="Courier New" panose="02070309020205020404" pitchFamily="49" charset="0"/>
                <a:cs typeface="Courier New" panose="02070309020205020404" pitchFamily="49" charset="0"/>
              </a:rPr>
              <a:t>hexagon-gcc </a:t>
            </a:r>
            <a:r>
              <a:rPr lang="fi-FI" altLang="en-US" dirty="0">
                <a:solidFill>
                  <a:srgbClr val="000000"/>
                </a:solidFill>
                <a:latin typeface="Courier New" panose="02070309020205020404" pitchFamily="49" charset="0"/>
                <a:cs typeface="Courier New" panose="02070309020205020404" pitchFamily="49" charset="0"/>
              </a:rPr>
              <a:t>-E -dM -MD -MP -MF foo.out -xc - -o out.out -MT </a:t>
            </a:r>
            <a:r>
              <a:rPr lang="fi-FI" altLang="en-US" dirty="0" smtClean="0">
                <a:solidFill>
                  <a:srgbClr val="000000"/>
                </a:solidFill>
                <a:latin typeface="Courier New" panose="02070309020205020404" pitchFamily="49" charset="0"/>
                <a:cs typeface="Courier New" panose="02070309020205020404" pitchFamily="49" charset="0"/>
              </a:rPr>
              <a:t>a </a:t>
            </a:r>
            <a:r>
              <a:rPr lang="fi-FI" altLang="en-US" dirty="0">
                <a:solidFill>
                  <a:srgbClr val="000000"/>
                </a:solidFill>
                <a:latin typeface="Courier New" panose="02070309020205020404" pitchFamily="49" charset="0"/>
                <a:cs typeface="Courier New" panose="02070309020205020404" pitchFamily="49" charset="0"/>
              </a:rPr>
              <a:t>b'</a:t>
            </a:r>
          </a:p>
          <a:p>
            <a:pPr marL="0" indent="0">
              <a:buNone/>
            </a:pPr>
            <a:r>
              <a:rPr lang="fi-FI" altLang="en-US" dirty="0">
                <a:solidFill>
                  <a:srgbClr val="000000"/>
                </a:solidFill>
                <a:latin typeface="Courier New" panose="02070309020205020404" pitchFamily="49" charset="0"/>
                <a:cs typeface="Courier New" panose="02070309020205020404" pitchFamily="49" charset="0"/>
              </a:rPr>
              <a:t>$</a:t>
            </a:r>
            <a:r>
              <a:rPr lang="fi-FI" altLang="en-US" dirty="0" smtClean="0">
                <a:solidFill>
                  <a:srgbClr val="000000"/>
                </a:solidFill>
                <a:latin typeface="Courier New" panose="02070309020205020404" pitchFamily="49" charset="0"/>
                <a:cs typeface="Courier New" panose="02070309020205020404" pitchFamily="49" charset="0"/>
              </a:rPr>
              <a:t> </a:t>
            </a:r>
            <a:r>
              <a:rPr lang="fi-FI" altLang="en-US" dirty="0">
                <a:solidFill>
                  <a:srgbClr val="000000"/>
                </a:solidFill>
                <a:latin typeface="Courier New" panose="02070309020205020404" pitchFamily="49" charset="0"/>
                <a:cs typeface="Courier New" panose="02070309020205020404" pitchFamily="49" charset="0"/>
              </a:rPr>
              <a:t>cat foo.out</a:t>
            </a:r>
          </a:p>
          <a:p>
            <a:pPr marL="0" indent="0">
              <a:buNone/>
            </a:pPr>
            <a:r>
              <a:rPr lang="fi-FI" altLang="en-US" dirty="0">
                <a:solidFill>
                  <a:srgbClr val="000000"/>
                </a:solidFill>
                <a:latin typeface="Courier New" panose="02070309020205020404" pitchFamily="49" charset="0"/>
                <a:cs typeface="Courier New" panose="02070309020205020404" pitchFamily="49" charset="0"/>
              </a:rPr>
              <a:t>a b:  </a:t>
            </a:r>
            <a:r>
              <a:rPr lang="fi-FI" altLang="en-US" dirty="0" smtClean="0">
                <a:solidFill>
                  <a:srgbClr val="000000"/>
                </a:solidFill>
                <a:latin typeface="Courier New" panose="02070309020205020404" pitchFamily="49" charset="0"/>
                <a:cs typeface="Courier New" panose="02070309020205020404" pitchFamily="49" charset="0"/>
              </a:rPr>
              <a:t>foo.h</a:t>
            </a:r>
            <a:endParaRPr lang="fi-FI" altLang="en-US" dirty="0">
              <a:solidFill>
                <a:srgbClr val="000000"/>
              </a:solidFill>
              <a:latin typeface="Courier New" panose="02070309020205020404" pitchFamily="49" charset="0"/>
              <a:cs typeface="Courier New" panose="02070309020205020404" pitchFamily="49" charset="0"/>
            </a:endParaRPr>
          </a:p>
          <a:p>
            <a:pPr marL="0" indent="0">
              <a:buNone/>
            </a:pPr>
            <a:r>
              <a:rPr lang="fi-FI" altLang="en-US" dirty="0">
                <a:solidFill>
                  <a:srgbClr val="000000"/>
                </a:solidFill>
                <a:latin typeface="Courier New" panose="02070309020205020404" pitchFamily="49" charset="0"/>
                <a:cs typeface="Courier New" panose="02070309020205020404" pitchFamily="49" charset="0"/>
              </a:rPr>
              <a:t>foo.h:</a:t>
            </a:r>
          </a:p>
        </p:txBody>
      </p:sp>
    </p:spTree>
    <p:extLst>
      <p:ext uri="{BB962C8B-B14F-4D97-AF65-F5344CB8AC3E}">
        <p14:creationId xmlns:p14="http://schemas.microsoft.com/office/powerpoint/2010/main" val="2572550237"/>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5" name="Rectangle 3"/>
          <p:cNvSpPr>
            <a:spLocks noGrp="1" noChangeArrowheads="1"/>
          </p:cNvSpPr>
          <p:nvPr>
            <p:ph type="title"/>
          </p:nvPr>
        </p:nvSpPr>
        <p:spPr/>
        <p:txBody>
          <a:bodyPr/>
          <a:lstStyle/>
          <a:p>
            <a:r>
              <a:rPr lang="fi-FI" altLang="en-US" dirty="0" smtClean="0"/>
              <a:t>Conclusion</a:t>
            </a:r>
            <a:endParaRPr lang="en-US" dirty="0"/>
          </a:p>
        </p:txBody>
      </p:sp>
      <p:sp>
        <p:nvSpPr>
          <p:cNvPr id="243714" name="Rectangle 2"/>
          <p:cNvSpPr>
            <a:spLocks noGrp="1" noChangeArrowheads="1"/>
          </p:cNvSpPr>
          <p:nvPr>
            <p:ph idx="1"/>
          </p:nvPr>
        </p:nvSpPr>
        <p:spPr/>
        <p:txBody>
          <a:bodyPr/>
          <a:lstStyle/>
          <a:p>
            <a:pPr marL="0" indent="0">
              <a:buNone/>
            </a:pPr>
            <a:r>
              <a:rPr lang="fi-FI" altLang="en-US" dirty="0" smtClean="0">
                <a:solidFill>
                  <a:srgbClr val="000000"/>
                </a:solidFill>
              </a:rPr>
              <a:t>Our conclusion</a:t>
            </a:r>
          </a:p>
          <a:p>
            <a:r>
              <a:rPr lang="fi-FI" altLang="en-US" dirty="0" smtClean="0">
                <a:solidFill>
                  <a:srgbClr val="000000"/>
                </a:solidFill>
              </a:rPr>
              <a:t>Built more than 55 user space packages with LLVM for Hexagon DSP</a:t>
            </a:r>
          </a:p>
          <a:p>
            <a:r>
              <a:rPr lang="fi-FI" altLang="en-US" dirty="0" smtClean="0">
                <a:solidFill>
                  <a:srgbClr val="000000"/>
                </a:solidFill>
              </a:rPr>
              <a:t>Uncovered several latent compiler bugs</a:t>
            </a:r>
          </a:p>
          <a:p>
            <a:r>
              <a:rPr lang="fi-FI" altLang="en-US" dirty="0">
                <a:solidFill>
                  <a:srgbClr val="000000"/>
                </a:solidFill>
              </a:rPr>
              <a:t>Buiding and running large </a:t>
            </a:r>
            <a:r>
              <a:rPr lang="fi-FI" altLang="en-US" dirty="0" smtClean="0">
                <a:solidFill>
                  <a:srgbClr val="000000"/>
                </a:solidFill>
              </a:rPr>
              <a:t>codebases </a:t>
            </a:r>
            <a:r>
              <a:rPr lang="fi-FI" altLang="en-US" dirty="0">
                <a:solidFill>
                  <a:srgbClr val="000000"/>
                </a:solidFill>
              </a:rPr>
              <a:t>through toolset is </a:t>
            </a:r>
            <a:r>
              <a:rPr lang="fi-FI" altLang="en-US" b="1" dirty="0">
                <a:solidFill>
                  <a:srgbClr val="000000"/>
                </a:solidFill>
              </a:rPr>
              <a:t>extremely </a:t>
            </a:r>
            <a:r>
              <a:rPr lang="fi-FI" altLang="en-US" dirty="0" smtClean="0">
                <a:solidFill>
                  <a:srgbClr val="000000"/>
                </a:solidFill>
              </a:rPr>
              <a:t>beneficial</a:t>
            </a:r>
          </a:p>
          <a:p>
            <a:r>
              <a:rPr lang="fi-FI" altLang="en-US" b="1" dirty="0" smtClean="0">
                <a:solidFill>
                  <a:srgbClr val="000000"/>
                </a:solidFill>
              </a:rPr>
              <a:t>Significantly improves the quality of the compiler shipped to our customers</a:t>
            </a:r>
          </a:p>
          <a:p>
            <a:r>
              <a:rPr lang="fi-FI" altLang="en-US" dirty="0" smtClean="0">
                <a:solidFill>
                  <a:srgbClr val="000000"/>
                </a:solidFill>
              </a:rPr>
              <a:t>Would like to automate the build without any source code changes</a:t>
            </a:r>
            <a:endParaRPr lang="fi-FI" altLang="en-US" dirty="0">
              <a:solidFill>
                <a:srgbClr val="000000"/>
              </a:solidFill>
            </a:endParaRPr>
          </a:p>
        </p:txBody>
      </p:sp>
    </p:spTree>
    <p:extLst>
      <p:ext uri="{BB962C8B-B14F-4D97-AF65-F5344CB8AC3E}">
        <p14:creationId xmlns:p14="http://schemas.microsoft.com/office/powerpoint/2010/main" val="2973922402"/>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5" name="Rectangle 3"/>
          <p:cNvSpPr>
            <a:spLocks noGrp="1" noChangeArrowheads="1"/>
          </p:cNvSpPr>
          <p:nvPr>
            <p:ph type="title"/>
          </p:nvPr>
        </p:nvSpPr>
        <p:spPr/>
        <p:txBody>
          <a:bodyPr/>
          <a:lstStyle/>
          <a:p>
            <a:r>
              <a:rPr lang="en-US" dirty="0" smtClean="0"/>
              <a:t>Open Questions</a:t>
            </a:r>
            <a:endParaRPr lang="en-US" dirty="0"/>
          </a:p>
        </p:txBody>
      </p:sp>
      <p:sp>
        <p:nvSpPr>
          <p:cNvPr id="243714" name="Rectangle 2"/>
          <p:cNvSpPr>
            <a:spLocks noGrp="1" noChangeArrowheads="1"/>
          </p:cNvSpPr>
          <p:nvPr>
            <p:ph idx="1"/>
          </p:nvPr>
        </p:nvSpPr>
        <p:spPr>
          <a:xfrm>
            <a:off x="217941" y="827314"/>
            <a:ext cx="8712200" cy="5489715"/>
          </a:xfrm>
        </p:spPr>
        <p:txBody>
          <a:bodyPr/>
          <a:lstStyle/>
          <a:p>
            <a:pPr marL="0" indent="0">
              <a:buNone/>
            </a:pPr>
            <a:r>
              <a:rPr lang="en-US" altLang="en-US" b="1" dirty="0">
                <a:solidFill>
                  <a:srgbClr val="000000"/>
                </a:solidFill>
              </a:rPr>
              <a:t>How do you quantify the quality of the toolset, </a:t>
            </a:r>
            <a:r>
              <a:rPr lang="en-US" altLang="en-US" b="1" dirty="0" smtClean="0">
                <a:solidFill>
                  <a:srgbClr val="000000"/>
                </a:solidFill>
              </a:rPr>
              <a:t>kernel and user space?</a:t>
            </a:r>
            <a:endParaRPr lang="en-US" altLang="en-US" b="1" dirty="0">
              <a:solidFill>
                <a:srgbClr val="000000"/>
              </a:solidFill>
            </a:endParaRPr>
          </a:p>
          <a:p>
            <a:pPr marL="457200" indent="-457200">
              <a:buFont typeface="Arial" panose="020B0604020202020204" pitchFamily="34" charset="0"/>
              <a:buChar char="•"/>
            </a:pPr>
            <a:r>
              <a:rPr lang="en-US" altLang="en-US" sz="1800" dirty="0">
                <a:solidFill>
                  <a:srgbClr val="000000"/>
                </a:solidFill>
              </a:rPr>
              <a:t>Components change. For instance: new compiler, new </a:t>
            </a:r>
            <a:r>
              <a:rPr lang="en-US" altLang="en-US" sz="1800" dirty="0" smtClean="0">
                <a:solidFill>
                  <a:srgbClr val="000000"/>
                </a:solidFill>
              </a:rPr>
              <a:t>optimizations</a:t>
            </a:r>
          </a:p>
          <a:p>
            <a:pPr marL="457200" indent="-457200">
              <a:buFont typeface="Arial" panose="020B0604020202020204" pitchFamily="34" charset="0"/>
              <a:buChar char="•"/>
            </a:pPr>
            <a:r>
              <a:rPr lang="en-US" altLang="en-US" sz="1800" dirty="0" smtClean="0">
                <a:solidFill>
                  <a:srgbClr val="000000"/>
                </a:solidFill>
              </a:rPr>
              <a:t>What are the different dimensions of measurable quality</a:t>
            </a:r>
            <a:endParaRPr lang="en-US" altLang="en-US" sz="1800" dirty="0">
              <a:solidFill>
                <a:srgbClr val="000000"/>
              </a:solidFill>
            </a:endParaRPr>
          </a:p>
          <a:p>
            <a:pPr marL="744537" lvl="1" indent="-457200">
              <a:buFont typeface="Arial" panose="020B0604020202020204" pitchFamily="34" charset="0"/>
              <a:buChar char="•"/>
            </a:pPr>
            <a:r>
              <a:rPr lang="en-US" altLang="en-US" sz="1600" dirty="0" smtClean="0">
                <a:solidFill>
                  <a:srgbClr val="000000"/>
                </a:solidFill>
              </a:rPr>
              <a:t>Correctness</a:t>
            </a:r>
          </a:p>
          <a:p>
            <a:pPr marL="744537" lvl="1" indent="-457200">
              <a:buFont typeface="Arial" panose="020B0604020202020204" pitchFamily="34" charset="0"/>
              <a:buChar char="•"/>
            </a:pPr>
            <a:r>
              <a:rPr lang="en-US" altLang="en-US" sz="1600" dirty="0" smtClean="0">
                <a:solidFill>
                  <a:srgbClr val="000000"/>
                </a:solidFill>
              </a:rPr>
              <a:t>Build time</a:t>
            </a:r>
          </a:p>
          <a:p>
            <a:pPr marL="744537" lvl="1" indent="-457200">
              <a:buFont typeface="Arial" panose="020B0604020202020204" pitchFamily="34" charset="0"/>
              <a:buChar char="•"/>
            </a:pPr>
            <a:r>
              <a:rPr lang="en-US" altLang="en-US" sz="1600" dirty="0" smtClean="0">
                <a:solidFill>
                  <a:srgbClr val="000000"/>
                </a:solidFill>
              </a:rPr>
              <a:t>Code size</a:t>
            </a:r>
          </a:p>
          <a:p>
            <a:pPr marL="744537" lvl="1" indent="-457200">
              <a:buFont typeface="Arial" panose="020B0604020202020204" pitchFamily="34" charset="0"/>
              <a:buChar char="•"/>
            </a:pPr>
            <a:r>
              <a:rPr lang="en-US" altLang="en-US" sz="1600" dirty="0" smtClean="0">
                <a:solidFill>
                  <a:srgbClr val="000000"/>
                </a:solidFill>
              </a:rPr>
              <a:t>Execution time</a:t>
            </a:r>
          </a:p>
          <a:p>
            <a:pPr marL="457200" indent="-457200">
              <a:buFont typeface="Arial" panose="020B0604020202020204" pitchFamily="34" charset="0"/>
              <a:buChar char="•"/>
            </a:pPr>
            <a:r>
              <a:rPr lang="en-US" altLang="en-US" sz="1800" dirty="0" smtClean="0">
                <a:solidFill>
                  <a:srgbClr val="000000"/>
                </a:solidFill>
              </a:rPr>
              <a:t>How do we capture, archive, and analyze these metrics on a macro scale?</a:t>
            </a:r>
          </a:p>
          <a:p>
            <a:pPr marL="457200" indent="-457200">
              <a:buFont typeface="Arial" panose="020B0604020202020204" pitchFamily="34" charset="0"/>
              <a:buChar char="•"/>
            </a:pPr>
            <a:endParaRPr lang="en-US" altLang="en-US" sz="1800" dirty="0">
              <a:solidFill>
                <a:srgbClr val="000000"/>
              </a:solidFill>
            </a:endParaRPr>
          </a:p>
          <a:p>
            <a:pPr marL="0" indent="0">
              <a:buNone/>
            </a:pPr>
            <a:r>
              <a:rPr lang="en-US" altLang="en-US" b="1" dirty="0" smtClean="0">
                <a:solidFill>
                  <a:srgbClr val="000000"/>
                </a:solidFill>
              </a:rPr>
              <a:t>Which GCC-isms should LLVM support? Which GCC-isms should be eliminated from Linux user space?</a:t>
            </a:r>
            <a:endParaRPr lang="en-US" altLang="en-US" b="1" dirty="0">
              <a:solidFill>
                <a:srgbClr val="000000"/>
              </a:solidFill>
            </a:endParaRPr>
          </a:p>
          <a:p>
            <a:pPr marL="457200" indent="-457200">
              <a:buFont typeface="Arial" panose="020B0604020202020204" pitchFamily="34" charset="0"/>
              <a:buChar char="•"/>
            </a:pPr>
            <a:endParaRPr lang="en-US" altLang="en-US" sz="1800" dirty="0">
              <a:solidFill>
                <a:srgbClr val="000000"/>
              </a:solidFill>
            </a:endParaRPr>
          </a:p>
          <a:p>
            <a:pPr marL="0" indent="0">
              <a:buNone/>
            </a:pPr>
            <a:endParaRPr lang="en-US" altLang="en-US" sz="1800" dirty="0">
              <a:solidFill>
                <a:srgbClr val="000000"/>
              </a:solidFill>
            </a:endParaRPr>
          </a:p>
        </p:txBody>
      </p:sp>
    </p:spTree>
    <p:extLst>
      <p:ext uri="{BB962C8B-B14F-4D97-AF65-F5344CB8AC3E}">
        <p14:creationId xmlns:p14="http://schemas.microsoft.com/office/powerpoint/2010/main" val="1106424248"/>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QuIC_Presentation_template_2010">
  <a:themeElements>
    <a:clrScheme name="QuIC_2009">
      <a:dk1>
        <a:srgbClr val="000000"/>
      </a:dk1>
      <a:lt1>
        <a:srgbClr val="FFFFFF"/>
      </a:lt1>
      <a:dk2>
        <a:srgbClr val="636568"/>
      </a:dk2>
      <a:lt2>
        <a:srgbClr val="A8A9AC"/>
      </a:lt2>
      <a:accent1>
        <a:srgbClr val="0078AE"/>
      </a:accent1>
      <a:accent2>
        <a:srgbClr val="70CDE3"/>
      </a:accent2>
      <a:accent3>
        <a:srgbClr val="666666"/>
      </a:accent3>
      <a:accent4>
        <a:srgbClr val="96C850"/>
      </a:accent4>
      <a:accent5>
        <a:srgbClr val="5A2882"/>
      </a:accent5>
      <a:accent6>
        <a:srgbClr val="A8A9AC"/>
      </a:accent6>
      <a:hlink>
        <a:srgbClr val="666666"/>
      </a:hlink>
      <a:folHlink>
        <a:srgbClr val="70CDE3"/>
      </a:folHlink>
    </a:clrScheme>
    <a:fontScheme name="QCT_PPT_Master2006_ConfProprietaryRev5.06">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QCT_PPT_Master2006_ConfProprietaryRev5.06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QCT_PPT_Master2006_ConfProprietaryRev5.06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QCT_PPT_Master2006_ConfProprietaryRev5.06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QCT_PPT_Master2006_ConfProprietaryRev5.06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QCT_PPT_Master2006_ConfProprietaryRev5.06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QCT_PPT_Master2006_ConfProprietaryRev5.06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QCT_PPT_Master2006_ConfProprietaryRev5.06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QCT_PPT_Master2006_ConfProprietaryRev5.06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QCT_PPT_Master2006_ConfProprietaryRev5.06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QCT_PPT_Master2006_ConfProprietaryRev5.06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QCT_PPT_Master2006_ConfProprietaryRev5.06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QCT_PPT_Master2006_ConfProprietaryRev5.06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QCT_PPT_Master2006_ConfProprietaryRev5.06 13">
        <a:dk1>
          <a:srgbClr val="000000"/>
        </a:dk1>
        <a:lt1>
          <a:srgbClr val="FFFFFF"/>
        </a:lt1>
        <a:dk2>
          <a:srgbClr val="333333"/>
        </a:dk2>
        <a:lt2>
          <a:srgbClr val="4E677E"/>
        </a:lt2>
        <a:accent1>
          <a:srgbClr val="6685A2"/>
        </a:accent1>
        <a:accent2>
          <a:srgbClr val="7EA446"/>
        </a:accent2>
        <a:accent3>
          <a:srgbClr val="FFFFFF"/>
        </a:accent3>
        <a:accent4>
          <a:srgbClr val="000000"/>
        </a:accent4>
        <a:accent5>
          <a:srgbClr val="B8C2CE"/>
        </a:accent5>
        <a:accent6>
          <a:srgbClr val="72943F"/>
        </a:accent6>
        <a:hlink>
          <a:srgbClr val="B97C3F"/>
        </a:hlink>
        <a:folHlink>
          <a:srgbClr val="51692D"/>
        </a:folHlink>
      </a:clrScheme>
      <a:clrMap bg1="lt1" tx1="dk1" bg2="lt2" tx2="dk2" accent1="accent1" accent2="accent2" accent3="accent3" accent4="accent4" accent5="accent5" accent6="accent6" hlink="hlink" folHlink="folHlink"/>
    </a:extraClrScheme>
    <a:extraClrScheme>
      <a:clrScheme name="QCT_PPT_Master2006_ConfProprietaryRev5.06 14">
        <a:dk1>
          <a:srgbClr val="000000"/>
        </a:dk1>
        <a:lt1>
          <a:srgbClr val="FFFFFF"/>
        </a:lt1>
        <a:dk2>
          <a:srgbClr val="333333"/>
        </a:dk2>
        <a:lt2>
          <a:srgbClr val="B2B2B2"/>
        </a:lt2>
        <a:accent1>
          <a:srgbClr val="6685A2"/>
        </a:accent1>
        <a:accent2>
          <a:srgbClr val="7EA446"/>
        </a:accent2>
        <a:accent3>
          <a:srgbClr val="FFFFFF"/>
        </a:accent3>
        <a:accent4>
          <a:srgbClr val="000000"/>
        </a:accent4>
        <a:accent5>
          <a:srgbClr val="B8C2CE"/>
        </a:accent5>
        <a:accent6>
          <a:srgbClr val="72943F"/>
        </a:accent6>
        <a:hlink>
          <a:srgbClr val="B97C3F"/>
        </a:hlink>
        <a:folHlink>
          <a:srgbClr val="5169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_dlc_DocId xmlns="5fc263c6-4ebc-4d15-8b0f-85f889e5b65e">TN4CFHYNZR6D-2-16</_dlc_DocId>
    <_dlc_DocIdUrl xmlns="5fc263c6-4ebc-4d15-8b0f-85f889e5b65e">
      <Url>http://sharepoint/corp/QuIC/_layouts/DocIdRedir.aspx?ID=TN4CFHYNZR6D-2-16</Url>
      <Description>TN4CFHYNZR6D-2-16</Description>
    </_dlc_DocIdUrl>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C597329ACE5BB41AF36497721F14A91" ma:contentTypeVersion="1" ma:contentTypeDescription="Create a new document." ma:contentTypeScope="" ma:versionID="48c0ce95f5d2697797d6ba43b0ac5d37">
  <xsd:schema xmlns:xsd="http://www.w3.org/2001/XMLSchema" xmlns:xs="http://www.w3.org/2001/XMLSchema" xmlns:p="http://schemas.microsoft.com/office/2006/metadata/properties" xmlns:ns2="5fc263c6-4ebc-4d15-8b0f-85f889e5b65e" targetNamespace="http://schemas.microsoft.com/office/2006/metadata/properties" ma:root="true" ma:fieldsID="be0efd67a08f2237fab75e642440c970" ns2:_="">
    <xsd:import namespace="5fc263c6-4ebc-4d15-8b0f-85f889e5b65e"/>
    <xsd:element name="properties">
      <xsd:complexType>
        <xsd:sequence>
          <xsd:element name="documentManagement">
            <xsd:complexType>
              <xsd:all>
                <xsd:element ref="ns2:_dlc_DocId" minOccurs="0"/>
                <xsd:element ref="ns2:_dlc_DocIdUrl" minOccurs="0"/>
                <xsd:element ref="ns2: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c263c6-4ebc-4d15-8b0f-85f889e5b65e"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63DE2F53-D181-4D62-A508-84A76133B1D7}">
  <ds:schemaRefs>
    <ds:schemaRef ds:uri="http://schemas.microsoft.com/office/2006/metadata/properties"/>
    <ds:schemaRef ds:uri="http://www.w3.org/XML/1998/namespace"/>
    <ds:schemaRef ds:uri="http://purl.org/dc/dcmitype/"/>
    <ds:schemaRef ds:uri="http://purl.org/dc/terms/"/>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5fc263c6-4ebc-4d15-8b0f-85f889e5b65e"/>
  </ds:schemaRefs>
</ds:datastoreItem>
</file>

<file path=customXml/itemProps2.xml><?xml version="1.0" encoding="utf-8"?>
<ds:datastoreItem xmlns:ds="http://schemas.openxmlformats.org/officeDocument/2006/customXml" ds:itemID="{2E06647A-DBAD-40AE-992B-8D245ED58A61}">
  <ds:schemaRefs>
    <ds:schemaRef ds:uri="http://schemas.microsoft.com/sharepoint/v3/contenttype/forms"/>
  </ds:schemaRefs>
</ds:datastoreItem>
</file>

<file path=customXml/itemProps3.xml><?xml version="1.0" encoding="utf-8"?>
<ds:datastoreItem xmlns:ds="http://schemas.openxmlformats.org/officeDocument/2006/customXml" ds:itemID="{F5248E8A-5AE8-457E-A377-4424517AD77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fc263c6-4ebc-4d15-8b0f-85f889e5b65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34F86BDA-3462-4C2D-89F7-90EFB21DAA6B}">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QuIC_Presentation_template_2010</Template>
  <TotalTime>1078</TotalTime>
  <Words>1004</Words>
  <Application>Microsoft Office PowerPoint</Application>
  <PresentationFormat>On-screen Show (4:3)</PresentationFormat>
  <Paragraphs>209</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QuIC_Presentation_template_2010</vt:lpstr>
      <vt:lpstr>Building the Linux Kernel and User Space for the Hexagon™ DSP with LLVM </vt:lpstr>
      <vt:lpstr>PowerPoint Presentation</vt:lpstr>
      <vt:lpstr>Introduction</vt:lpstr>
      <vt:lpstr>Introduction</vt:lpstr>
      <vt:lpstr>Introduction</vt:lpstr>
      <vt:lpstr>Hexagon™ DSP</vt:lpstr>
      <vt:lpstr>Compiler Correctness</vt:lpstr>
      <vt:lpstr>Example of Unsupported Feature: Global Register Variables </vt:lpstr>
      <vt:lpstr>Example of Compiler Exploiting C99 Undefined Behavior</vt:lpstr>
      <vt:lpstr>Esoteric Difference #1: File Scope Inline ASM</vt:lpstr>
      <vt:lpstr>Esoteric Difference #1: GCC code generation with –fno-toplevel-reorder</vt:lpstr>
      <vt:lpstr>Esoteric Difference #1: LLVM code generation</vt:lpstr>
      <vt:lpstr>Esoteric Difference #2: Controlling Names in Assembler Code</vt:lpstr>
      <vt:lpstr>Esoteric Difference #2: GCC code generation</vt:lpstr>
      <vt:lpstr>Esoteric Difference #2: LLVM code generation</vt:lpstr>
      <vt:lpstr>Esoteric Difference #3: Preprocessing</vt:lpstr>
      <vt:lpstr>Conclusion</vt:lpstr>
      <vt:lpstr>Open Questions</vt:lpstr>
    </vt:vector>
  </TitlesOfParts>
  <Company>Qualcomm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kmedrano</dc:creator>
  <cp:lastModifiedBy>Qualcomm User</cp:lastModifiedBy>
  <cp:revision>218</cp:revision>
  <cp:lastPrinted>2005-08-27T17:58:21Z</cp:lastPrinted>
  <dcterms:created xsi:type="dcterms:W3CDTF">2011-03-29T00:25:02Z</dcterms:created>
  <dcterms:modified xsi:type="dcterms:W3CDTF">2013-09-19T13:19:56Z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586945299</vt:i4>
  </property>
  <property fmtid="{D5CDD505-2E9C-101B-9397-08002B2CF9AE}" pid="3" name="_NewReviewCycle">
    <vt:lpwstr/>
  </property>
  <property fmtid="{D5CDD505-2E9C-101B-9397-08002B2CF9AE}" pid="4" name="_EmailSubject">
    <vt:lpwstr>QuIC ppt template</vt:lpwstr>
  </property>
  <property fmtid="{D5CDD505-2E9C-101B-9397-08002B2CF9AE}" pid="5" name="_AuthorEmail">
    <vt:lpwstr>mfite@qti.qualcomm.com</vt:lpwstr>
  </property>
  <property fmtid="{D5CDD505-2E9C-101B-9397-08002B2CF9AE}" pid="6" name="_AuthorEmailDisplayName">
    <vt:lpwstr>Fite, Marian</vt:lpwstr>
  </property>
  <property fmtid="{D5CDD505-2E9C-101B-9397-08002B2CF9AE}" pid="7" name="_PreviousAdHocReviewCycleID">
    <vt:i4>-2088861234</vt:i4>
  </property>
  <property fmtid="{D5CDD505-2E9C-101B-9397-08002B2CF9AE}" pid="8" name="ContentTypeId">
    <vt:lpwstr>0x010100EC597329ACE5BB41AF36497721F14A91</vt:lpwstr>
  </property>
  <property fmtid="{D5CDD505-2E9C-101B-9397-08002B2CF9AE}" pid="9" name="_dlc_DocIdItemGuid">
    <vt:lpwstr>30e44719-f813-4d7e-8ee9-11004f177386</vt:lpwstr>
  </property>
</Properties>
</file>