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257" r:id="rId3"/>
    <p:sldId id="260" r:id="rId4"/>
    <p:sldId id="261" r:id="rId5"/>
    <p:sldId id="262" r:id="rId6"/>
    <p:sldId id="263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0339" autoAdjust="0"/>
  </p:normalViewPr>
  <p:slideViewPr>
    <p:cSldViewPr>
      <p:cViewPr varScale="1">
        <p:scale>
          <a:sx n="75" d="100"/>
          <a:sy n="75" d="100"/>
        </p:scale>
        <p:origin x="-142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CB6E5-5250-47D0-95C4-D03EEFD70501}" type="datetimeFigureOut">
              <a:rPr lang="en-US" smtClean="0"/>
              <a:t>9/19/2013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51ECA-10B6-4295-9CBE-3E45CACE46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76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2746F-1A61-49F2-8DF9-9E65B86027E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27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51ECA-10B6-4295-9CBE-3E45CACE46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26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Both clang and GAS accept the first instruction: because the first instruction uses the 8-bit %al register as an operand, it is clear that it is an 8-bit add.</a:t>
            </a:r>
          </a:p>
          <a:p>
            <a:r>
              <a:rPr lang="en-US" dirty="0" smtClean="0"/>
              <a:t>The second instruction is accepted by both because the "w" suffix indicates that it is a 16-bit add.</a:t>
            </a:r>
          </a:p>
          <a:p>
            <a:r>
              <a:rPr lang="en-US" dirty="0" smtClean="0"/>
              <a:t>The last instruction is accepted by GAS even though there is nothing that specifies the size of the instruction (and GAS randomly picks a 32-bit add).</a:t>
            </a:r>
          </a:p>
          <a:p>
            <a:endParaRPr lang="en-US" dirty="0" smtClean="0"/>
          </a:p>
          <a:p>
            <a:r>
              <a:rPr lang="en-US" dirty="0" smtClean="0"/>
              <a:t>This</a:t>
            </a:r>
            <a:r>
              <a:rPr lang="en-US" baseline="0" dirty="0" smtClean="0"/>
              <a:t> example is taken from the Clang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651ECA-10B6-4295-9CBE-3E45CACE46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581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1AE72-A963-4D7D-8E5A-FB68A72C5C0E}" type="datetime1">
              <a:rPr lang="en-US" smtClean="0"/>
              <a:t>9/19/2013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54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110FC-E3F1-40A0-8C0F-C9087CFFF41C}" type="datetime1">
              <a:rPr lang="en-US" smtClean="0"/>
              <a:t>9/19/2013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9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E0459-C8EC-4A85-BF35-3D5DF6E9912F}" type="datetime1">
              <a:rPr lang="en-US" smtClean="0"/>
              <a:t>9/19/2013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823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C7D16-50FA-4D28-81F8-9599A1E8EDB6}" type="datetime1">
              <a:rPr lang="en-US" smtClean="0"/>
              <a:t>9/19/2013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D446C-D182-4F41-8808-5C0C8F1BD711}" type="datetime1">
              <a:rPr lang="en-US" smtClean="0"/>
              <a:t>9/19/2013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04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30BD2-440D-44E3-B8E2-DBB9055AC093}" type="datetime1">
              <a:rPr lang="en-US" smtClean="0"/>
              <a:t>9/19/2013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1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596E-3793-47ED-B604-3508057C0EE1}" type="datetime1">
              <a:rPr lang="en-US" smtClean="0"/>
              <a:t>9/19/2013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00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EA760-ED1E-4C71-9112-DA6947150D5E}" type="datetime1">
              <a:rPr lang="en-US" smtClean="0"/>
              <a:t>9/19/2013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125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411B7-6C4A-44BD-9B35-0E76763AAF67}" type="datetime1">
              <a:rPr lang="en-US" smtClean="0"/>
              <a:t>9/19/2013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7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2DE4F-3B20-4367-968F-3A94AD11F2E4}" type="datetime1">
              <a:rPr lang="en-US" smtClean="0"/>
              <a:t>9/19/2013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13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D6E20-E38A-4653-ACBB-3A73F4E57C6C}" type="datetime1">
              <a:rPr lang="en-US" smtClean="0"/>
              <a:t>9/19/2013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68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1D071-7BFD-4711-B79A-F4D399DC72E5}" type="datetime1">
              <a:rPr lang="en-US" smtClean="0"/>
              <a:t>9/19/2013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stellar.cct.lsu.edu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5A8EB-0A98-460C-AA7F-D961DE639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00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43000"/>
            <a:ext cx="7315200" cy="1470025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Using the Clang Integrated Assembler to Compile the Linux Kernel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743200"/>
            <a:ext cx="6553200" cy="304800"/>
          </a:xfrm>
        </p:spPr>
        <p:txBody>
          <a:bodyPr anchor="b">
            <a:noAutofit/>
          </a:bodyPr>
          <a:lstStyle/>
          <a:p>
            <a:pPr algn="l"/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Bryce </a:t>
            </a:r>
            <a:r>
              <a:rPr lang="en-US" sz="1600" dirty="0" err="1" smtClean="0">
                <a:solidFill>
                  <a:schemeClr val="bg1">
                    <a:lumMod val="50000"/>
                  </a:schemeClr>
                </a:solidFill>
              </a:rPr>
              <a:t>Adelstein-Lelbach</a:t>
            </a:r>
            <a:r>
              <a:rPr lang="en-US" sz="1600" dirty="0" smtClean="0">
                <a:solidFill>
                  <a:schemeClr val="bg1">
                    <a:lumMod val="50000"/>
                  </a:schemeClr>
                </a:solidFill>
              </a:rPr>
              <a:t>, Louisiana State University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00" b="20000"/>
          <a:stretch/>
        </p:blipFill>
        <p:spPr>
          <a:xfrm>
            <a:off x="3509553" y="4343400"/>
            <a:ext cx="2124895" cy="1274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57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Integrated Assembler?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en-US" dirty="0" smtClean="0"/>
              <a:t>The Integrated Assembler (IA) is an assembler built in to the Clang compiler driver</a:t>
            </a:r>
          </a:p>
          <a:p>
            <a:pPr lvl="1" hangingPunct="0"/>
            <a:r>
              <a:rPr lang="en-US" dirty="0"/>
              <a:t>N</a:t>
            </a:r>
            <a:r>
              <a:rPr lang="en-US" dirty="0" smtClean="0"/>
              <a:t>ot a separate binary like the GNU Assembler (GAS)</a:t>
            </a:r>
          </a:p>
          <a:p>
            <a:pPr lvl="0"/>
            <a:r>
              <a:rPr lang="en-US" dirty="0" smtClean="0"/>
              <a:t>Supports all platforms that Clang supports</a:t>
            </a:r>
          </a:p>
          <a:p>
            <a:pPr lvl="0"/>
            <a:r>
              <a:rPr lang="en-US" dirty="0" smtClean="0"/>
              <a:t>Largely compatible with </a:t>
            </a:r>
            <a:r>
              <a:rPr lang="en-US" dirty="0" smtClean="0"/>
              <a:t>GAS</a:t>
            </a:r>
            <a:endParaRPr lang="en-US" dirty="0" smtClean="0"/>
          </a:p>
          <a:p>
            <a:pPr lvl="0"/>
            <a:r>
              <a:rPr lang="en-US" dirty="0" smtClean="0"/>
              <a:t>Benefits</a:t>
            </a:r>
          </a:p>
          <a:p>
            <a:pPr lvl="1" hangingPunct="0"/>
            <a:r>
              <a:rPr lang="en-US" dirty="0" smtClean="0"/>
              <a:t>Clang-style diagnostics for assembly</a:t>
            </a:r>
          </a:p>
          <a:p>
            <a:pPr lvl="1" hangingPunct="0"/>
            <a:r>
              <a:rPr lang="en-US" dirty="0" smtClean="0"/>
              <a:t>Faster compile times</a:t>
            </a:r>
          </a:p>
          <a:p>
            <a:pPr lvl="1" hangingPunct="0"/>
            <a:r>
              <a:rPr lang="en-US" dirty="0" smtClean="0"/>
              <a:t>No temporary assembly files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686" y="5779520"/>
            <a:ext cx="572914" cy="92608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stellar.cct.lsu.edu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469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IA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 smtClean="0"/>
              <a:t>IA rejects ambiguous inline x86 assembly that GAS accepts</a:t>
            </a:r>
          </a:p>
          <a:p>
            <a:pPr lvl="0"/>
            <a:r>
              <a:rPr lang="en-US" dirty="0" smtClean="0"/>
              <a:t>IA has no support for 16-bit mode on x86</a:t>
            </a:r>
          </a:p>
          <a:p>
            <a:pPr lvl="0"/>
            <a:r>
              <a:rPr lang="en-US" dirty="0" smtClean="0"/>
              <a:t>IA has no support for switching assembly modes on x86 (e.g.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.code16</a:t>
            </a:r>
            <a:r>
              <a:rPr lang="en-US" dirty="0" smtClean="0"/>
              <a:t>,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.code32</a:t>
            </a:r>
            <a:r>
              <a:rPr lang="en-US" dirty="0" smtClean="0"/>
              <a:t>,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.code64</a:t>
            </a:r>
            <a:r>
              <a:rPr lang="en-US" dirty="0" smtClean="0"/>
              <a:t>)</a:t>
            </a:r>
          </a:p>
          <a:p>
            <a:pPr lvl="0"/>
            <a:r>
              <a:rPr lang="en-US" dirty="0" smtClean="0"/>
              <a:t>IA does not support GCC-style explicit register variables (ERVs)</a:t>
            </a:r>
            <a:endParaRPr lang="en-US" i="1" dirty="0" smtClean="0"/>
          </a:p>
          <a:p>
            <a:pPr lvl="0"/>
            <a:r>
              <a:rPr lang="en-US" dirty="0" smtClean="0"/>
              <a:t>IA uses ARM Unified Assembly Language (UAL), and does not support GAS's ARM assembly extensions</a:t>
            </a:r>
            <a:endParaRPr lang="en-US" i="1" dirty="0" smtClean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686" y="5779520"/>
            <a:ext cx="572914" cy="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74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Ambiguous x86 Inline Assembly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GAS is more lenient about accepting inline x86 assembly that is ambiguous. For example:</a:t>
            </a:r>
          </a:p>
          <a:p>
            <a:pPr marL="0" indent="0">
              <a:buNone/>
            </a:pPr>
            <a:endParaRPr lang="en-US" sz="1800" dirty="0" smtClean="0">
              <a:latin typeface="Consolas"/>
            </a:endParaRPr>
          </a:p>
          <a:p>
            <a:pPr marL="0" indent="0">
              <a:buNone/>
            </a:pPr>
            <a:r>
              <a:rPr lang="en-US" sz="1800" dirty="0" smtClean="0">
                <a:latin typeface="Consolas"/>
              </a:rPr>
              <a:t>	__</a:t>
            </a:r>
            <a:r>
              <a:rPr lang="en-US" sz="1800" dirty="0" err="1" smtClean="0">
                <a:latin typeface="Consolas"/>
              </a:rPr>
              <a:t>asm</a:t>
            </a:r>
            <a:r>
              <a:rPr lang="en-US" sz="1800" dirty="0" smtClean="0">
                <a:latin typeface="Consolas"/>
              </a:rPr>
              <a:t>__(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"add %al, (%</a:t>
            </a:r>
            <a:r>
              <a:rPr lang="en-US" sz="1800" dirty="0" err="1" smtClean="0">
                <a:solidFill>
                  <a:srgbClr val="A31515"/>
                </a:solidFill>
                <a:latin typeface="Consolas"/>
              </a:rPr>
              <a:t>rax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)"</a:t>
            </a:r>
            <a:r>
              <a:rPr lang="en-US" sz="1800" dirty="0">
                <a:solidFill>
                  <a:prstClr val="black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nsolas"/>
              </a:rPr>
              <a:t>	__</a:t>
            </a:r>
            <a:r>
              <a:rPr lang="en-US" sz="1800" dirty="0" err="1" smtClean="0">
                <a:solidFill>
                  <a:prstClr val="black"/>
                </a:solidFill>
                <a:latin typeface="Consolas"/>
              </a:rPr>
              <a:t>asm</a:t>
            </a:r>
            <a:r>
              <a:rPr lang="en-US" sz="1800" dirty="0" smtClean="0">
                <a:solidFill>
                  <a:prstClr val="black"/>
                </a:solidFill>
                <a:latin typeface="Consolas"/>
              </a:rPr>
              <a:t>__(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A31515"/>
                </a:solidFill>
                <a:latin typeface="Consolas"/>
              </a:rPr>
              <a:t>addw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 $4, (%</a:t>
            </a:r>
            <a:r>
              <a:rPr lang="en-US" sz="1800" dirty="0" err="1" smtClean="0">
                <a:solidFill>
                  <a:srgbClr val="A31515"/>
                </a:solidFill>
                <a:latin typeface="Consolas"/>
              </a:rPr>
              <a:t>rax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)"</a:t>
            </a:r>
            <a:r>
              <a:rPr lang="en-US" sz="1800" dirty="0">
                <a:solidFill>
                  <a:prstClr val="black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r>
              <a:rPr lang="en-US" sz="1800" dirty="0" smtClean="0">
                <a:solidFill>
                  <a:prstClr val="black"/>
                </a:solidFill>
                <a:latin typeface="Consolas"/>
              </a:rPr>
              <a:t>	__</a:t>
            </a:r>
            <a:r>
              <a:rPr lang="en-US" sz="1800" dirty="0" err="1" smtClean="0">
                <a:solidFill>
                  <a:prstClr val="black"/>
                </a:solidFill>
                <a:latin typeface="Consolas"/>
              </a:rPr>
              <a:t>asm</a:t>
            </a:r>
            <a:r>
              <a:rPr lang="en-US" sz="1800" dirty="0" smtClean="0">
                <a:solidFill>
                  <a:prstClr val="black"/>
                </a:solidFill>
                <a:latin typeface="Consolas"/>
              </a:rPr>
              <a:t>__(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"add $4, (%</a:t>
            </a:r>
            <a:r>
              <a:rPr lang="en-US" sz="1800" dirty="0" err="1" smtClean="0">
                <a:solidFill>
                  <a:srgbClr val="A31515"/>
                </a:solidFill>
                <a:latin typeface="Consolas"/>
              </a:rPr>
              <a:t>rax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)"</a:t>
            </a:r>
            <a:r>
              <a:rPr lang="en-US" sz="1800" dirty="0" smtClean="0">
                <a:solidFill>
                  <a:prstClr val="black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endParaRPr lang="en-US" sz="1800" dirty="0" smtClean="0">
              <a:solidFill>
                <a:prstClr val="black"/>
              </a:solidFill>
              <a:latin typeface="Consolas"/>
            </a:endParaRPr>
          </a:p>
          <a:p>
            <a:r>
              <a:rPr lang="en-US" dirty="0" smtClean="0"/>
              <a:t>Discussion: </a:t>
            </a:r>
            <a:r>
              <a:rPr lang="en-US" dirty="0" smtClean="0"/>
              <a:t>how should we fix this?</a:t>
            </a:r>
            <a:endParaRPr lang="en-US" dirty="0" smtClean="0"/>
          </a:p>
          <a:p>
            <a:pPr lvl="1"/>
            <a:r>
              <a:rPr lang="en-US" dirty="0" smtClean="0"/>
              <a:t>Can someone give me an example of when the more explicit form would be bad?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686" y="5779520"/>
            <a:ext cx="572914" cy="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80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16-bit Mode/Mode Switching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LLVM has no x86-16 backend</a:t>
            </a:r>
          </a:p>
          <a:p>
            <a:pPr lvl="1"/>
            <a:r>
              <a:rPr lang="en-US" dirty="0" smtClean="0"/>
              <a:t>Essential for compiling kernel boot code, </a:t>
            </a:r>
            <a:r>
              <a:rPr lang="en-US" dirty="0" err="1" smtClean="0"/>
              <a:t>bootloaders</a:t>
            </a:r>
            <a:r>
              <a:rPr lang="en-US" dirty="0" smtClean="0"/>
              <a:t>, </a:t>
            </a:r>
            <a:r>
              <a:rPr lang="en-US" dirty="0" err="1" smtClean="0"/>
              <a:t>etc</a:t>
            </a:r>
            <a:endParaRPr lang="en-US" dirty="0" smtClean="0"/>
          </a:p>
          <a:p>
            <a:r>
              <a:rPr lang="en-US" dirty="0" smtClean="0"/>
              <a:t>GAS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.code16</a:t>
            </a:r>
            <a:r>
              <a:rPr lang="en-US" dirty="0" smtClean="0"/>
              <a:t>,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.code32</a:t>
            </a:r>
            <a:r>
              <a:rPr lang="en-US" dirty="0" smtClean="0"/>
              <a:t>, </a:t>
            </a:r>
            <a:r>
              <a:rPr lang="en-US" dirty="0" smtClean="0">
                <a:latin typeface="Consolas" panose="020B0609020204030204" pitchFamily="49" charset="0"/>
                <a:cs typeface="Consolas" panose="020B0609020204030204" pitchFamily="49" charset="0"/>
              </a:rPr>
              <a:t>.code64</a:t>
            </a:r>
            <a:r>
              <a:rPr lang="en-US" dirty="0" smtClean="0"/>
              <a:t> directives</a:t>
            </a:r>
          </a:p>
          <a:p>
            <a:pPr lvl="1"/>
            <a:r>
              <a:rPr lang="en-US" dirty="0" smtClean="0"/>
              <a:t>These directives tell GAS what type of assembly to output</a:t>
            </a:r>
          </a:p>
          <a:p>
            <a:r>
              <a:rPr lang="en-US" dirty="0" smtClean="0"/>
              <a:t>Longer term project</a:t>
            </a:r>
          </a:p>
          <a:p>
            <a:pPr lvl="1"/>
            <a:r>
              <a:rPr lang="en-US" dirty="0" smtClean="0"/>
              <a:t>Discussion: Could this be accomplished in a </a:t>
            </a:r>
            <a:r>
              <a:rPr lang="en-US" dirty="0" err="1" smtClean="0"/>
              <a:t>GSoC</a:t>
            </a:r>
            <a:r>
              <a:rPr lang="en-US" dirty="0" smtClean="0"/>
              <a:t>?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686" y="5779520"/>
            <a:ext cx="572914" cy="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27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Explicit Register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Places a variable into a specific hardware register. Example:</a:t>
            </a:r>
          </a:p>
          <a:p>
            <a:pPr marL="0" indent="0">
              <a:buNone/>
            </a:pPr>
            <a:endParaRPr lang="de-DE" sz="1900" dirty="0" smtClean="0">
              <a:solidFill>
                <a:srgbClr val="0000FF"/>
              </a:solidFill>
              <a:latin typeface="Consolas"/>
            </a:endParaRPr>
          </a:p>
          <a:p>
            <a:pPr marL="0" indent="0">
              <a:buNone/>
            </a:pPr>
            <a:r>
              <a:rPr lang="de-DE" sz="1900" dirty="0" smtClean="0">
                <a:solidFill>
                  <a:srgbClr val="0000FF"/>
                </a:solidFill>
                <a:latin typeface="Consolas"/>
              </a:rPr>
              <a:t>	register</a:t>
            </a:r>
            <a:r>
              <a:rPr lang="de-DE" sz="1900" dirty="0" smtClean="0">
                <a:solidFill>
                  <a:prstClr val="black"/>
                </a:solidFill>
                <a:latin typeface="Consolas"/>
              </a:rPr>
              <a:t> </a:t>
            </a:r>
            <a:r>
              <a:rPr lang="de-DE" sz="1900" dirty="0">
                <a:solidFill>
                  <a:prstClr val="black"/>
                </a:solidFill>
                <a:latin typeface="Consolas"/>
              </a:rPr>
              <a:t>uint64_t sp </a:t>
            </a:r>
            <a:r>
              <a:rPr lang="de-DE" sz="1900" dirty="0" smtClean="0">
                <a:solidFill>
                  <a:prstClr val="black"/>
                </a:solidFill>
                <a:latin typeface="Consolas"/>
              </a:rPr>
              <a:t>__asm</a:t>
            </a:r>
            <a:r>
              <a:rPr lang="de-DE" sz="1900" dirty="0" smtClean="0">
                <a:solidFill>
                  <a:prstClr val="black"/>
                </a:solidFill>
                <a:latin typeface="Consolas"/>
              </a:rPr>
              <a:t>__(</a:t>
            </a:r>
            <a:r>
              <a:rPr lang="de-DE" sz="1900" dirty="0" smtClean="0">
                <a:solidFill>
                  <a:srgbClr val="A31515"/>
                </a:solidFill>
                <a:latin typeface="Consolas"/>
              </a:rPr>
              <a:t>"%rsp</a:t>
            </a:r>
            <a:r>
              <a:rPr lang="de-DE" sz="19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de-DE" sz="1900" dirty="0" smtClean="0">
                <a:solidFill>
                  <a:prstClr val="black"/>
                </a:solidFill>
                <a:latin typeface="Consolas"/>
              </a:rPr>
              <a:t>);</a:t>
            </a:r>
          </a:p>
          <a:p>
            <a:pPr marL="0" indent="0">
              <a:buNone/>
            </a:pPr>
            <a:endParaRPr lang="en-US" sz="1900" dirty="0" smtClean="0"/>
          </a:p>
          <a:p>
            <a:r>
              <a:rPr lang="en-US" dirty="0" smtClean="0"/>
              <a:t>Compiler must exclude these registers from register allocation while the variable is in scope</a:t>
            </a:r>
          </a:p>
          <a:p>
            <a:r>
              <a:rPr lang="en-US" dirty="0" smtClean="0"/>
              <a:t>Used to access the stack pointer in the kernel</a:t>
            </a:r>
          </a:p>
          <a:p>
            <a:pPr lvl="1"/>
            <a:r>
              <a:rPr lang="en-US" dirty="0" smtClean="0"/>
              <a:t>A possible solution for this use case would be to add</a:t>
            </a:r>
            <a:r>
              <a:rPr lang="en-US" sz="2700" dirty="0" smtClean="0"/>
              <a:t> </a:t>
            </a:r>
            <a:r>
              <a:rPr lang="en-US" sz="2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__</a:t>
            </a:r>
            <a:r>
              <a:rPr lang="en-US" sz="2700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builtin_stack_pointer</a:t>
            </a:r>
            <a:r>
              <a:rPr lang="en-US" sz="2700" dirty="0" smtClean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dirty="0"/>
              <a:t> </a:t>
            </a:r>
            <a:r>
              <a:rPr lang="en-US" dirty="0" smtClean="0"/>
              <a:t>to Clang and GCC.</a:t>
            </a:r>
          </a:p>
          <a:p>
            <a:r>
              <a:rPr lang="en-US" dirty="0" smtClean="0"/>
              <a:t>Also used in </a:t>
            </a:r>
            <a:r>
              <a:rPr lang="en-US" dirty="0" err="1" smtClean="0"/>
              <a:t>Xen</a:t>
            </a:r>
            <a:r>
              <a:rPr lang="en-US" dirty="0" smtClean="0"/>
              <a:t>, </a:t>
            </a:r>
            <a:r>
              <a:rPr lang="en-US" dirty="0" err="1" smtClean="0"/>
              <a:t>glibc</a:t>
            </a:r>
            <a:r>
              <a:rPr lang="en-US" dirty="0"/>
              <a:t> </a:t>
            </a:r>
            <a:r>
              <a:rPr lang="en-US" dirty="0" smtClean="0"/>
              <a:t>and most dynamic linkers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stellar.cct.lsu.edu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686" y="5779520"/>
            <a:ext cx="572914" cy="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4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325</Words>
  <Application>Microsoft Office PowerPoint</Application>
  <PresentationFormat>On-screen Show (4:3)</PresentationFormat>
  <Paragraphs>55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Using the Clang Integrated Assembler to Compile the Linux Kernel</vt:lpstr>
      <vt:lpstr>What is the Integrated Assembler?</vt:lpstr>
      <vt:lpstr>IA Issues</vt:lpstr>
      <vt:lpstr>Ambiguous x86 Inline Assembly</vt:lpstr>
      <vt:lpstr>16-bit Mode/Mode Switching</vt:lpstr>
      <vt:lpstr>Explicit Register Variables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Clang Integrated Assembler to Compile the Linux Kernel</dc:title>
  <dc:creator>wash</dc:creator>
  <cp:lastModifiedBy>wash</cp:lastModifiedBy>
  <cp:revision>10</cp:revision>
  <dcterms:created xsi:type="dcterms:W3CDTF">2013-09-19T02:59:22Z</dcterms:created>
  <dcterms:modified xsi:type="dcterms:W3CDTF">2013-09-19T15:05:34Z</dcterms:modified>
</cp:coreProperties>
</file>