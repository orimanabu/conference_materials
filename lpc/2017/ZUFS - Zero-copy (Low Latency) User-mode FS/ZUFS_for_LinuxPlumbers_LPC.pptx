
<file path=[Content_Types].xml><?xml version="1.0" encoding="utf-8"?>
<Types xmlns="http://schemas.openxmlformats.org/package/2006/content-types">
  <Override PartName="/_rels/.rels" ContentType="application/vnd.openxmlformats-package.relationship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charts/chart2.xml" ContentType="application/vnd.openxmlformats-officedocument.drawingml.chart+xml"/>
  <Override PartName="/ppt/media/image9.png" ContentType="image/png"/>
  <Override PartName="/ppt/media/image7.png" ContentType="image/png"/>
  <Override PartName="/ppt/media/image2.png" ContentType="image/png"/>
  <Override PartName="/ppt/media/image6.jpeg" ContentType="image/jpeg"/>
  <Override PartName="/ppt/media/image8.png" ContentType="image/png"/>
  <Override PartName="/ppt/media/image1.jpeg" ContentType="image/jpeg"/>
  <Override PartName="/ppt/media/image3.png" ContentType="image/png"/>
  <Override PartName="/ppt/media/image4.png" ContentType="image/png"/>
  <Override PartName="/ppt/media/image5.png" ContentType="image/png"/>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4.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slideLayouts/slideLayout15.xml" ContentType="application/vnd.openxmlformats-officedocument.presentationml.slideLayout+xml"/>
  <Override PartName="/ppt/slideLayouts/slideLayout39.xml" ContentType="application/vnd.openxmlformats-officedocument.presentationml.slideLayout+xml"/>
  <Override PartName="/ppt/slideLayouts/slideLayout14.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37.xml" ContentType="application/vnd.openxmlformats-officedocument.presentationml.slideLayout+xml"/>
  <Override PartName="/ppt/slideLayouts/slideLayout12.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_rels/slideLayout45.xml.rels" ContentType="application/vnd.openxmlformats-package.relationships+xml"/>
  <Override PartName="/ppt/slideLayouts/_rels/slideLayout44.xml.rels" ContentType="application/vnd.openxmlformats-package.relationships+xml"/>
  <Override PartName="/ppt/slideLayouts/_rels/slideLayout43.xml.rels" ContentType="application/vnd.openxmlformats-package.relationships+xml"/>
  <Override PartName="/ppt/slideLayouts/_rels/slideLayout42.xml.rels" ContentType="application/vnd.openxmlformats-package.relationships+xml"/>
  <Override PartName="/ppt/slideLayouts/_rels/slideLayout41.xml.rels" ContentType="application/vnd.openxmlformats-package.relationships+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19.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30.xml.rels" ContentType="application/vnd.openxmlformats-package.relationships+xml"/>
  <Override PartName="/ppt/slideLayouts/_rels/slideLayout25.xml.rels" ContentType="application/vnd.openxmlformats-package.relationships+xml"/>
  <Override PartName="/ppt/slideLayouts/_rels/slideLayout31.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32.xml.rels" ContentType="application/vnd.openxmlformats-package.relationships+xml"/>
  <Override PartName="/ppt/slideLayouts/_rels/slideLayout28.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8.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10.xml" ContentType="application/vnd.openxmlformats-officedocument.presentationml.slideLayout+xml"/>
  <Override PartName="/ppt/slideLayouts/slideLayout35.xml" ContentType="application/vnd.openxmlformats-officedocument.presentationml.slideLayout+xml"/>
  <Override PartName="/ppt/slideLayouts/slideLayout11.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44.xml" ContentType="application/vnd.openxmlformats-officedocument.presentationml.slideLayout+xml"/>
  <Override PartName="/ppt/slideLayouts/slideLayout8.xml" ContentType="application/vnd.openxmlformats-officedocument.presentationml.slideLayout+xml"/>
  <Override PartName="/ppt/slideLayouts/slideLayout4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6.xml" ContentType="application/vnd.openxmlformats-officedocument.presentationml.slideLayout+xml"/>
  <Override PartName="/ppt/slides/slide13.xml" ContentType="application/vnd.openxmlformats-officedocument.presentationml.slide+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2188825"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
</Relationships>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title>
      <c:tx>
        <c:rich>
          <a:bodyPr rot="0"/>
          <a:lstStyle/>
          <a:p>
            <a:pPr>
              <a:defRPr b="0" sz="1600" spc="-1" strike="noStrike">
                <a:solidFill>
                  <a:srgbClr val="595959"/>
                </a:solidFill>
                <a:uFill>
                  <a:solidFill>
                    <a:srgbClr val="ffffff"/>
                  </a:solidFill>
                </a:uFill>
                <a:latin typeface="Arial"/>
                <a:ea typeface="DejaVu Sans"/>
              </a:defRPr>
            </a:pPr>
            <a:r>
              <a:rPr b="0" sz="1600" spc="-1" strike="noStrike">
                <a:solidFill>
                  <a:srgbClr val="595959"/>
                </a:solidFill>
                <a:uFill>
                  <a:solidFill>
                    <a:srgbClr val="ffffff"/>
                  </a:solidFill>
                </a:uFill>
                <a:latin typeface="Arial"/>
                <a:ea typeface="DejaVu Sans"/>
              </a:rPr>
              <a:t>ZUFS w/wo mm patch</a:t>
            </a:r>
          </a:p>
        </c:rich>
      </c:tx>
      <c:layout>
        <c:manualLayout>
          <c:xMode val="edge"/>
          <c:yMode val="edge"/>
          <c:x val="0.287802419354839"/>
          <c:y val="0.0370337477797513"/>
        </c:manualLayout>
      </c:layout>
      <c:overlay val="0"/>
    </c:title>
    <c:autoTitleDeleted val="0"/>
    <c:plotArea>
      <c:scatterChart>
        <c:scatterStyle val="lineMarker"/>
        <c:varyColors val="0"/>
        <c:ser>
          <c:idx val="0"/>
          <c:order val="0"/>
          <c:tx>
            <c:strRef>
              <c:f>label 0</c:f>
              <c:strCache>
                <c:ptCount val="1"/>
                <c:pt idx="0">
                  <c:v>ZUFS_unpatched_mm</c:v>
                </c:pt>
              </c:strCache>
            </c:strRef>
          </c:tx>
          <c:spPr>
            <a:solidFill>
              <a:srgbClr val="82c3ff"/>
            </a:solidFill>
            <a:ln w="28440">
              <a:solidFill>
                <a:srgbClr val="82c3ff"/>
              </a:solidFill>
              <a:round/>
            </a:ln>
          </c:spPr>
          <c:marker>
            <c:symbol val="circle"/>
            <c:size val="5"/>
            <c:spPr>
              <a:solidFill>
                <a:srgbClr val="82c3ff"/>
              </a:solidFill>
            </c:spPr>
          </c:marker>
          <c:dLbls>
            <c:dLblPos val="r"/>
            <c:showLegendKey val="0"/>
            <c:showVal val="0"/>
            <c:showCatName val="0"/>
            <c:showSerName val="0"/>
            <c:showPercent val="0"/>
            <c:showLeaderLines val="0"/>
          </c:dLbls>
          <c:xVal>
            <c:numRef>
              <c:f>1</c:f>
              <c:numCache>
                <c:formatCode>General</c:formatCode>
                <c:ptCount val="9"/>
                <c:pt idx="0">
                  <c:v>185391</c:v>
                </c:pt>
                <c:pt idx="1">
                  <c:v>197993</c:v>
                </c:pt>
                <c:pt idx="2">
                  <c:v>310597</c:v>
                </c:pt>
                <c:pt idx="3">
                  <c:v>546702</c:v>
                </c:pt>
                <c:pt idx="4">
                  <c:v>641728</c:v>
                </c:pt>
                <c:pt idx="5">
                  <c:v>744750</c:v>
                </c:pt>
                <c:pt idx="6">
                  <c:v>790805</c:v>
                </c:pt>
                <c:pt idx="7">
                  <c:v>849763</c:v>
                </c:pt>
                <c:pt idx="8">
                  <c:v>792000</c:v>
                </c:pt>
              </c:numCache>
            </c:numRef>
          </c:xVal>
          <c:yVal>
            <c:numRef>
              <c:f>0</c:f>
              <c:numCache>
                <c:formatCode>General</c:formatCode>
                <c:ptCount val="9"/>
                <c:pt idx="0">
                  <c:v>4.945616</c:v>
                </c:pt>
                <c:pt idx="1">
                  <c:v>9.5775</c:v>
                </c:pt>
                <c:pt idx="2">
                  <c:v>12.132313</c:v>
                </c:pt>
                <c:pt idx="3">
                  <c:v>13.799271</c:v>
                </c:pt>
                <c:pt idx="4">
                  <c:v>17.1948</c:v>
                </c:pt>
                <c:pt idx="5">
                  <c:v>22.2075</c:v>
                </c:pt>
                <c:pt idx="6">
                  <c:v>28.33964</c:v>
                </c:pt>
                <c:pt idx="7">
                  <c:v>38.935476</c:v>
                </c:pt>
                <c:pt idx="8">
                  <c:v>44.55429</c:v>
                </c:pt>
              </c:numCache>
            </c:numRef>
          </c:yVal>
          <c:smooth val="1"/>
        </c:ser>
        <c:ser>
          <c:idx val="1"/>
          <c:order val="1"/>
          <c:tx>
            <c:strRef>
              <c:f>label 2</c:f>
              <c:strCache>
                <c:ptCount val="1"/>
                <c:pt idx="0">
                  <c:v>ZUFS_patched_mm</c:v>
                </c:pt>
              </c:strCache>
            </c:strRef>
          </c:tx>
          <c:spPr>
            <a:solidFill>
              <a:srgbClr val="0070c0"/>
            </a:solidFill>
            <a:ln w="28440">
              <a:solidFill>
                <a:srgbClr val="0070c0"/>
              </a:solidFill>
              <a:round/>
            </a:ln>
          </c:spPr>
          <c:marker>
            <c:symbol val="circle"/>
            <c:size val="5"/>
            <c:spPr>
              <a:solidFill>
                <a:srgbClr val="0070c0"/>
              </a:solidFill>
            </c:spPr>
          </c:marker>
          <c:dLbls>
            <c:dLblPos val="r"/>
            <c:showLegendKey val="0"/>
            <c:showVal val="0"/>
            <c:showCatName val="0"/>
            <c:showSerName val="0"/>
            <c:showPercent val="0"/>
            <c:showLeaderLines val="0"/>
          </c:dLbls>
          <c:xVal>
            <c:numRef>
              <c:f>3</c:f>
              <c:numCache>
                <c:formatCode>General</c:formatCode>
                <c:ptCount val="9"/>
                <c:pt idx="0">
                  <c:v>200799</c:v>
                </c:pt>
                <c:pt idx="1">
                  <c:v>314321</c:v>
                </c:pt>
                <c:pt idx="2">
                  <c:v>565574</c:v>
                </c:pt>
                <c:pt idx="3">
                  <c:v>1113138</c:v>
                </c:pt>
                <c:pt idx="4">
                  <c:v>1598451</c:v>
                </c:pt>
                <c:pt idx="5">
                  <c:v>1648689</c:v>
                </c:pt>
                <c:pt idx="6">
                  <c:v>1702285</c:v>
                </c:pt>
                <c:pt idx="7">
                  <c:v>1783346</c:v>
                </c:pt>
                <c:pt idx="8">
                  <c:v>1741873</c:v>
                </c:pt>
              </c:numCache>
            </c:numRef>
          </c:xVal>
          <c:yVal>
            <c:numRef>
              <c:f>2</c:f>
              <c:numCache>
                <c:formatCode>General</c:formatCode>
                <c:ptCount val="9"/>
                <c:pt idx="0">
                  <c:v>4.5748</c:v>
                </c:pt>
                <c:pt idx="1">
                  <c:v>5.890862</c:v>
                </c:pt>
                <c:pt idx="2">
                  <c:v>6.614431</c:v>
                </c:pt>
                <c:pt idx="3">
                  <c:v>6.627392</c:v>
                </c:pt>
                <c:pt idx="4">
                  <c:v>6.760923</c:v>
                </c:pt>
                <c:pt idx="5">
                  <c:v>7.780897</c:v>
                </c:pt>
                <c:pt idx="6">
                  <c:v>7.995241</c:v>
                </c:pt>
                <c:pt idx="7">
                  <c:v>13.409564</c:v>
                </c:pt>
                <c:pt idx="8">
                  <c:v>17.37431</c:v>
                </c:pt>
              </c:numCache>
            </c:numRef>
          </c:yVal>
          <c:smooth val="1"/>
        </c:ser>
        <c:axId val="53676020"/>
        <c:axId val="46195539"/>
      </c:scatterChart>
      <c:valAx>
        <c:axId val="53676020"/>
        <c:scaling>
          <c:orientation val="minMax"/>
        </c:scaling>
        <c:delete val="0"/>
        <c:axPos val="b"/>
        <c:majorGridlines>
          <c:spPr>
            <a:ln w="9360">
              <a:solidFill>
                <a:srgbClr val="d9d9d9"/>
              </a:solidFill>
              <a:round/>
            </a:ln>
          </c:spPr>
        </c:majorGridlines>
        <c:title>
          <c:tx>
            <c:rich>
              <a:bodyPr rot="0"/>
              <a:lstStyle/>
              <a:p>
                <a:pPr>
                  <a:defRPr b="0" sz="1000" spc="-1" strike="noStrike">
                    <a:solidFill>
                      <a:srgbClr val="595959"/>
                    </a:solidFill>
                    <a:uFill>
                      <a:solidFill>
                        <a:srgbClr val="ffffff"/>
                      </a:solidFill>
                    </a:uFill>
                    <a:latin typeface="Arial"/>
                    <a:ea typeface="DejaVu Sans"/>
                  </a:defRPr>
                </a:pPr>
                <a:r>
                  <a:rPr b="0" sz="1000" spc="-1" strike="noStrike">
                    <a:solidFill>
                      <a:srgbClr val="595959"/>
                    </a:solidFill>
                    <a:uFill>
                      <a:solidFill>
                        <a:srgbClr val="ffffff"/>
                      </a:solidFill>
                    </a:uFill>
                    <a:latin typeface="Arial"/>
                    <a:ea typeface="DejaVu Sans"/>
                  </a:rPr>
                  <a:t>IOPS</a:t>
                </a:r>
              </a:p>
            </c:rich>
          </c:tx>
          <c:overlay val="0"/>
        </c:title>
        <c:numFmt formatCode="_(* #,##0_);_(* \(#,##0\);_(* \-??_);_(@_)" sourceLinked="0"/>
        <c:majorTickMark val="none"/>
        <c:minorTickMark val="none"/>
        <c:tickLblPos val="nextTo"/>
        <c:spPr>
          <a:ln w="9360">
            <a:solidFill>
              <a:srgbClr val="bfbfbf"/>
            </a:solidFill>
            <a:round/>
          </a:ln>
        </c:spPr>
        <c:txPr>
          <a:bodyPr/>
          <a:p>
            <a:pPr>
              <a:defRPr b="0" sz="900" spc="-1" strike="noStrike">
                <a:solidFill>
                  <a:srgbClr val="595959"/>
                </a:solidFill>
                <a:uFill>
                  <a:solidFill>
                    <a:srgbClr val="ffffff"/>
                  </a:solidFill>
                </a:uFill>
                <a:latin typeface="Arial"/>
                <a:ea typeface="DejaVu Sans"/>
              </a:defRPr>
            </a:pPr>
          </a:p>
        </c:txPr>
        <c:crossAx val="46195539"/>
        <c:crosses val="autoZero"/>
        <c:crossBetween val="midCat"/>
      </c:valAx>
      <c:valAx>
        <c:axId val="46195539"/>
        <c:scaling>
          <c:orientation val="minMax"/>
          <c:max val="30"/>
        </c:scaling>
        <c:delete val="0"/>
        <c:axPos val="l"/>
        <c:majorGridlines>
          <c:spPr>
            <a:ln w="9360">
              <a:solidFill>
                <a:srgbClr val="d9d9d9"/>
              </a:solidFill>
              <a:round/>
            </a:ln>
          </c:spPr>
        </c:majorGridlines>
        <c:title>
          <c:tx>
            <c:rich>
              <a:bodyPr rot="-5400000"/>
              <a:lstStyle/>
              <a:p>
                <a:pPr>
                  <a:defRPr b="0" sz="1000" spc="-1" strike="noStrike">
                    <a:solidFill>
                      <a:srgbClr val="595959"/>
                    </a:solidFill>
                    <a:uFill>
                      <a:solidFill>
                        <a:srgbClr val="ffffff"/>
                      </a:solidFill>
                    </a:uFill>
                    <a:latin typeface="Arial"/>
                    <a:ea typeface="DejaVu Sans"/>
                  </a:defRPr>
                </a:pPr>
                <a:r>
                  <a:rPr b="0" sz="1000" spc="-1" strike="noStrike">
                    <a:solidFill>
                      <a:srgbClr val="595959"/>
                    </a:solidFill>
                    <a:uFill>
                      <a:solidFill>
                        <a:srgbClr val="ffffff"/>
                      </a:solidFill>
                    </a:uFill>
                    <a:latin typeface="Arial"/>
                    <a:ea typeface="DejaVu Sans"/>
                  </a:rPr>
                  <a:t>Latency [us]</a:t>
                </a:r>
              </a:p>
            </c:rich>
          </c:tx>
          <c:overlay val="0"/>
        </c:title>
        <c:numFmt formatCode="0" sourceLinked="0"/>
        <c:majorTickMark val="none"/>
        <c:minorTickMark val="none"/>
        <c:tickLblPos val="nextTo"/>
        <c:spPr>
          <a:ln w="9360">
            <a:solidFill>
              <a:srgbClr val="bfbfbf"/>
            </a:solidFill>
            <a:round/>
          </a:ln>
        </c:spPr>
        <c:txPr>
          <a:bodyPr/>
          <a:p>
            <a:pPr>
              <a:defRPr b="0" sz="900" spc="-1" strike="noStrike">
                <a:solidFill>
                  <a:srgbClr val="595959"/>
                </a:solidFill>
                <a:uFill>
                  <a:solidFill>
                    <a:srgbClr val="ffffff"/>
                  </a:solidFill>
                </a:uFill>
                <a:latin typeface="Arial"/>
                <a:ea typeface="DejaVu Sans"/>
              </a:defRPr>
            </a:pPr>
          </a:p>
        </c:txPr>
        <c:crossAx val="53676020"/>
        <c:crosses val="autoZero"/>
        <c:crossBetween val="midCat"/>
      </c:valAx>
      <c:spPr>
        <a:noFill/>
        <a:ln>
          <a:noFill/>
        </a:ln>
      </c:spPr>
    </c:plotArea>
    <c:legend>
      <c:legendPos val="r"/>
      <c:layout>
        <c:manualLayout>
          <c:xMode val="edge"/>
          <c:yMode val="edge"/>
          <c:x val="0.373777340332458"/>
          <c:y val="0.491527048702246"/>
        </c:manualLayout>
      </c:layout>
      <c:overlay val="0"/>
      <c:spPr>
        <a:noFill/>
        <a:ln>
          <a:noFill/>
        </a:ln>
      </c:spPr>
    </c:legend>
    <c:plotVisOnly val="1"/>
    <c:dispBlanksAs val="gap"/>
  </c:chart>
  <c:spPr>
    <a:noFill/>
    <a:ln>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6" name="PlaceHolder 2"/>
          <p:cNvSpPr>
            <a:spLocks noGrp="1"/>
          </p:cNvSpPr>
          <p:nvPr>
            <p:ph type="subTitle"/>
          </p:nvPr>
        </p:nvSpPr>
        <p:spPr>
          <a:xfrm>
            <a:off x="609120" y="1604520"/>
            <a:ext cx="10969560" cy="397728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8" name="PlaceHolder 2"/>
          <p:cNvSpPr>
            <a:spLocks noGrp="1"/>
          </p:cNvSpPr>
          <p:nvPr>
            <p:ph type="body"/>
          </p:nvPr>
        </p:nvSpPr>
        <p:spPr>
          <a:xfrm>
            <a:off x="609120" y="1604520"/>
            <a:ext cx="1096956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0"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 name="PlaceHolder 3"/>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120" y="273600"/>
            <a:ext cx="10969560" cy="530784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5"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6" name="PlaceHolder 3"/>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7" name="PlaceHolder 4"/>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9"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20"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21"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23"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24"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25" name="PlaceHolder 4"/>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27" name="PlaceHolder 2"/>
          <p:cNvSpPr>
            <a:spLocks noGrp="1"/>
          </p:cNvSpPr>
          <p:nvPr>
            <p:ph type="body"/>
          </p:nvPr>
        </p:nvSpPr>
        <p:spPr>
          <a:xfrm>
            <a:off x="609120" y="160452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28" name="PlaceHolder 3"/>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30"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1"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2"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3" name="PlaceHolder 5"/>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35" name="PlaceHolder 2"/>
          <p:cNvSpPr>
            <a:spLocks noGrp="1"/>
          </p:cNvSpPr>
          <p:nvPr>
            <p:ph type="body"/>
          </p:nvPr>
        </p:nvSpPr>
        <p:spPr>
          <a:xfrm>
            <a:off x="6091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6" name="PlaceHolder 3"/>
          <p:cNvSpPr>
            <a:spLocks noGrp="1"/>
          </p:cNvSpPr>
          <p:nvPr>
            <p:ph type="body"/>
          </p:nvPr>
        </p:nvSpPr>
        <p:spPr>
          <a:xfrm>
            <a:off x="431820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7" name="PlaceHolder 4"/>
          <p:cNvSpPr>
            <a:spLocks noGrp="1"/>
          </p:cNvSpPr>
          <p:nvPr>
            <p:ph type="body"/>
          </p:nvPr>
        </p:nvSpPr>
        <p:spPr>
          <a:xfrm>
            <a:off x="80269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8" name="PlaceHolder 5"/>
          <p:cNvSpPr>
            <a:spLocks noGrp="1"/>
          </p:cNvSpPr>
          <p:nvPr>
            <p:ph type="body"/>
          </p:nvPr>
        </p:nvSpPr>
        <p:spPr>
          <a:xfrm>
            <a:off x="80269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39" name="PlaceHolder 6"/>
          <p:cNvSpPr>
            <a:spLocks noGrp="1"/>
          </p:cNvSpPr>
          <p:nvPr>
            <p:ph type="body"/>
          </p:nvPr>
        </p:nvSpPr>
        <p:spPr>
          <a:xfrm>
            <a:off x="431820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40" name="PlaceHolder 7"/>
          <p:cNvSpPr>
            <a:spLocks noGrp="1"/>
          </p:cNvSpPr>
          <p:nvPr>
            <p:ph type="body"/>
          </p:nvPr>
        </p:nvSpPr>
        <p:spPr>
          <a:xfrm>
            <a:off x="6091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45" name="PlaceHolder 2"/>
          <p:cNvSpPr>
            <a:spLocks noGrp="1"/>
          </p:cNvSpPr>
          <p:nvPr>
            <p:ph type="subTitle"/>
          </p:nvPr>
        </p:nvSpPr>
        <p:spPr>
          <a:xfrm>
            <a:off x="609120" y="1604520"/>
            <a:ext cx="10969560" cy="397728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47" name="PlaceHolder 2"/>
          <p:cNvSpPr>
            <a:spLocks noGrp="1"/>
          </p:cNvSpPr>
          <p:nvPr>
            <p:ph type="body"/>
          </p:nvPr>
        </p:nvSpPr>
        <p:spPr>
          <a:xfrm>
            <a:off x="609120" y="1604520"/>
            <a:ext cx="1096956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49"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50" name="PlaceHolder 3"/>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120" y="273600"/>
            <a:ext cx="10969560" cy="530784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54"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55" name="PlaceHolder 3"/>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56" name="PlaceHolder 4"/>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58"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59"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60"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62"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63"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64" name="PlaceHolder 4"/>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66" name="PlaceHolder 2"/>
          <p:cNvSpPr>
            <a:spLocks noGrp="1"/>
          </p:cNvSpPr>
          <p:nvPr>
            <p:ph type="body"/>
          </p:nvPr>
        </p:nvSpPr>
        <p:spPr>
          <a:xfrm>
            <a:off x="609120" y="160452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67" name="PlaceHolder 3"/>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69"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0"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1"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2" name="PlaceHolder 5"/>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74" name="PlaceHolder 2"/>
          <p:cNvSpPr>
            <a:spLocks noGrp="1"/>
          </p:cNvSpPr>
          <p:nvPr>
            <p:ph type="body"/>
          </p:nvPr>
        </p:nvSpPr>
        <p:spPr>
          <a:xfrm>
            <a:off x="6091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5" name="PlaceHolder 3"/>
          <p:cNvSpPr>
            <a:spLocks noGrp="1"/>
          </p:cNvSpPr>
          <p:nvPr>
            <p:ph type="body"/>
          </p:nvPr>
        </p:nvSpPr>
        <p:spPr>
          <a:xfrm>
            <a:off x="431820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6" name="PlaceHolder 4"/>
          <p:cNvSpPr>
            <a:spLocks noGrp="1"/>
          </p:cNvSpPr>
          <p:nvPr>
            <p:ph type="body"/>
          </p:nvPr>
        </p:nvSpPr>
        <p:spPr>
          <a:xfrm>
            <a:off x="80269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7" name="PlaceHolder 5"/>
          <p:cNvSpPr>
            <a:spLocks noGrp="1"/>
          </p:cNvSpPr>
          <p:nvPr>
            <p:ph type="body"/>
          </p:nvPr>
        </p:nvSpPr>
        <p:spPr>
          <a:xfrm>
            <a:off x="80269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8" name="PlaceHolder 6"/>
          <p:cNvSpPr>
            <a:spLocks noGrp="1"/>
          </p:cNvSpPr>
          <p:nvPr>
            <p:ph type="body"/>
          </p:nvPr>
        </p:nvSpPr>
        <p:spPr>
          <a:xfrm>
            <a:off x="431820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79" name="PlaceHolder 7"/>
          <p:cNvSpPr>
            <a:spLocks noGrp="1"/>
          </p:cNvSpPr>
          <p:nvPr>
            <p:ph type="body"/>
          </p:nvPr>
        </p:nvSpPr>
        <p:spPr>
          <a:xfrm>
            <a:off x="6091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84" name="PlaceHolder 2"/>
          <p:cNvSpPr>
            <a:spLocks noGrp="1"/>
          </p:cNvSpPr>
          <p:nvPr>
            <p:ph type="subTitle"/>
          </p:nvPr>
        </p:nvSpPr>
        <p:spPr>
          <a:xfrm>
            <a:off x="609120" y="1604520"/>
            <a:ext cx="10969560" cy="397728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86" name="PlaceHolder 2"/>
          <p:cNvSpPr>
            <a:spLocks noGrp="1"/>
          </p:cNvSpPr>
          <p:nvPr>
            <p:ph type="body"/>
          </p:nvPr>
        </p:nvSpPr>
        <p:spPr>
          <a:xfrm>
            <a:off x="609120" y="1604520"/>
            <a:ext cx="1096956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88"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89" name="PlaceHolder 3"/>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609120" y="273600"/>
            <a:ext cx="10969560" cy="530784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93"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94" name="PlaceHolder 3"/>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95" name="PlaceHolder 4"/>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97"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98"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99"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01"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02"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03" name="PlaceHolder 4"/>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05" name="PlaceHolder 2"/>
          <p:cNvSpPr>
            <a:spLocks noGrp="1"/>
          </p:cNvSpPr>
          <p:nvPr>
            <p:ph type="body"/>
          </p:nvPr>
        </p:nvSpPr>
        <p:spPr>
          <a:xfrm>
            <a:off x="609120" y="160452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06" name="PlaceHolder 3"/>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08"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09"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0"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1" name="PlaceHolder 5"/>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13" name="PlaceHolder 2"/>
          <p:cNvSpPr>
            <a:spLocks noGrp="1"/>
          </p:cNvSpPr>
          <p:nvPr>
            <p:ph type="body"/>
          </p:nvPr>
        </p:nvSpPr>
        <p:spPr>
          <a:xfrm>
            <a:off x="6091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4" name="PlaceHolder 3"/>
          <p:cNvSpPr>
            <a:spLocks noGrp="1"/>
          </p:cNvSpPr>
          <p:nvPr>
            <p:ph type="body"/>
          </p:nvPr>
        </p:nvSpPr>
        <p:spPr>
          <a:xfrm>
            <a:off x="431820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5" name="PlaceHolder 4"/>
          <p:cNvSpPr>
            <a:spLocks noGrp="1"/>
          </p:cNvSpPr>
          <p:nvPr>
            <p:ph type="body"/>
          </p:nvPr>
        </p:nvSpPr>
        <p:spPr>
          <a:xfrm>
            <a:off x="80269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6" name="PlaceHolder 5"/>
          <p:cNvSpPr>
            <a:spLocks noGrp="1"/>
          </p:cNvSpPr>
          <p:nvPr>
            <p:ph type="body"/>
          </p:nvPr>
        </p:nvSpPr>
        <p:spPr>
          <a:xfrm>
            <a:off x="80269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7" name="PlaceHolder 6"/>
          <p:cNvSpPr>
            <a:spLocks noGrp="1"/>
          </p:cNvSpPr>
          <p:nvPr>
            <p:ph type="body"/>
          </p:nvPr>
        </p:nvSpPr>
        <p:spPr>
          <a:xfrm>
            <a:off x="431820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18" name="PlaceHolder 7"/>
          <p:cNvSpPr>
            <a:spLocks noGrp="1"/>
          </p:cNvSpPr>
          <p:nvPr>
            <p:ph type="body"/>
          </p:nvPr>
        </p:nvSpPr>
        <p:spPr>
          <a:xfrm>
            <a:off x="6091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25" name="PlaceHolder 2"/>
          <p:cNvSpPr>
            <a:spLocks noGrp="1"/>
          </p:cNvSpPr>
          <p:nvPr>
            <p:ph type="subTitle"/>
          </p:nvPr>
        </p:nvSpPr>
        <p:spPr>
          <a:xfrm>
            <a:off x="609120" y="1604520"/>
            <a:ext cx="10969560" cy="397728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27" name="PlaceHolder 2"/>
          <p:cNvSpPr>
            <a:spLocks noGrp="1"/>
          </p:cNvSpPr>
          <p:nvPr>
            <p:ph type="body"/>
          </p:nvPr>
        </p:nvSpPr>
        <p:spPr>
          <a:xfrm>
            <a:off x="609120" y="1604520"/>
            <a:ext cx="1096956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29"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30" name="PlaceHolder 3"/>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1"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2" name="PlaceHolder 1"/>
          <p:cNvSpPr>
            <a:spLocks noGrp="1"/>
          </p:cNvSpPr>
          <p:nvPr>
            <p:ph type="subTitle"/>
          </p:nvPr>
        </p:nvSpPr>
        <p:spPr>
          <a:xfrm>
            <a:off x="609120" y="273600"/>
            <a:ext cx="10969560" cy="5307840"/>
          </a:xfrm>
          <a:prstGeom prst="rect">
            <a:avLst/>
          </a:prstGeom>
        </p:spPr>
        <p:txBody>
          <a:bodyPr lIns="0" rIns="0" tIns="0" bIns="0" anchor="ctr"/>
          <a:p>
            <a:pPr algn="ctr"/>
            <a:endParaRPr b="0" lang="en-US" sz="3200" spc="-1" strike="noStrike">
              <a:solidFill>
                <a:srgbClr val="000000"/>
              </a:solidFill>
              <a:uFill>
                <a:solidFill>
                  <a:srgbClr val="ffffff"/>
                </a:solidFill>
              </a:u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34"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35" name="PlaceHolder 3"/>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36" name="PlaceHolder 4"/>
          <p:cNvSpPr>
            <a:spLocks noGrp="1"/>
          </p:cNvSpPr>
          <p:nvPr>
            <p:ph type="body"/>
          </p:nvPr>
        </p:nvSpPr>
        <p:spPr>
          <a:xfrm>
            <a:off x="623016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38" name="PlaceHolder 2"/>
          <p:cNvSpPr>
            <a:spLocks noGrp="1"/>
          </p:cNvSpPr>
          <p:nvPr>
            <p:ph type="body"/>
          </p:nvPr>
        </p:nvSpPr>
        <p:spPr>
          <a:xfrm>
            <a:off x="609120" y="1604520"/>
            <a:ext cx="5352840" cy="397728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39"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40"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42"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43"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44" name="PlaceHolder 4"/>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46" name="PlaceHolder 2"/>
          <p:cNvSpPr>
            <a:spLocks noGrp="1"/>
          </p:cNvSpPr>
          <p:nvPr>
            <p:ph type="body"/>
          </p:nvPr>
        </p:nvSpPr>
        <p:spPr>
          <a:xfrm>
            <a:off x="609120" y="160452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47" name="PlaceHolder 3"/>
          <p:cNvSpPr>
            <a:spLocks noGrp="1"/>
          </p:cNvSpPr>
          <p:nvPr>
            <p:ph type="body"/>
          </p:nvPr>
        </p:nvSpPr>
        <p:spPr>
          <a:xfrm>
            <a:off x="609120" y="3682080"/>
            <a:ext cx="109695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49" name="PlaceHolder 2"/>
          <p:cNvSpPr>
            <a:spLocks noGrp="1"/>
          </p:cNvSpPr>
          <p:nvPr>
            <p:ph type="body"/>
          </p:nvPr>
        </p:nvSpPr>
        <p:spPr>
          <a:xfrm>
            <a:off x="60912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0" name="PlaceHolder 3"/>
          <p:cNvSpPr>
            <a:spLocks noGrp="1"/>
          </p:cNvSpPr>
          <p:nvPr>
            <p:ph type="body"/>
          </p:nvPr>
        </p:nvSpPr>
        <p:spPr>
          <a:xfrm>
            <a:off x="6230160" y="160452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1" name="PlaceHolder 4"/>
          <p:cNvSpPr>
            <a:spLocks noGrp="1"/>
          </p:cNvSpPr>
          <p:nvPr>
            <p:ph type="body"/>
          </p:nvPr>
        </p:nvSpPr>
        <p:spPr>
          <a:xfrm>
            <a:off x="623016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2" name="PlaceHolder 5"/>
          <p:cNvSpPr>
            <a:spLocks noGrp="1"/>
          </p:cNvSpPr>
          <p:nvPr>
            <p:ph type="body"/>
          </p:nvPr>
        </p:nvSpPr>
        <p:spPr>
          <a:xfrm>
            <a:off x="609120" y="3682080"/>
            <a:ext cx="535284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609120" y="273600"/>
            <a:ext cx="10969560" cy="1144800"/>
          </a:xfrm>
          <a:prstGeom prst="rect">
            <a:avLst/>
          </a:prstGeom>
        </p:spPr>
        <p:txBody>
          <a:bodyPr lIns="0" rIns="0" tIns="0" bIns="0" anchor="ctr"/>
          <a:p>
            <a:pPr algn="ctr"/>
            <a:endParaRPr b="0" lang="en-US" sz="4400" spc="-1" strike="noStrike">
              <a:solidFill>
                <a:srgbClr val="000000"/>
              </a:solidFill>
              <a:uFill>
                <a:solidFill>
                  <a:srgbClr val="ffffff"/>
                </a:solidFill>
              </a:uFill>
              <a:latin typeface="Arial"/>
            </a:endParaRPr>
          </a:p>
        </p:txBody>
      </p:sp>
      <p:sp>
        <p:nvSpPr>
          <p:cNvPr id="154" name="PlaceHolder 2"/>
          <p:cNvSpPr>
            <a:spLocks noGrp="1"/>
          </p:cNvSpPr>
          <p:nvPr>
            <p:ph type="body"/>
          </p:nvPr>
        </p:nvSpPr>
        <p:spPr>
          <a:xfrm>
            <a:off x="6091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5" name="PlaceHolder 3"/>
          <p:cNvSpPr>
            <a:spLocks noGrp="1"/>
          </p:cNvSpPr>
          <p:nvPr>
            <p:ph type="body"/>
          </p:nvPr>
        </p:nvSpPr>
        <p:spPr>
          <a:xfrm>
            <a:off x="431820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6" name="PlaceHolder 4"/>
          <p:cNvSpPr>
            <a:spLocks noGrp="1"/>
          </p:cNvSpPr>
          <p:nvPr>
            <p:ph type="body"/>
          </p:nvPr>
        </p:nvSpPr>
        <p:spPr>
          <a:xfrm>
            <a:off x="8026920" y="160452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7" name="PlaceHolder 5"/>
          <p:cNvSpPr>
            <a:spLocks noGrp="1"/>
          </p:cNvSpPr>
          <p:nvPr>
            <p:ph type="body"/>
          </p:nvPr>
        </p:nvSpPr>
        <p:spPr>
          <a:xfrm>
            <a:off x="80269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8" name="PlaceHolder 6"/>
          <p:cNvSpPr>
            <a:spLocks noGrp="1"/>
          </p:cNvSpPr>
          <p:nvPr>
            <p:ph type="body"/>
          </p:nvPr>
        </p:nvSpPr>
        <p:spPr>
          <a:xfrm>
            <a:off x="431820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
        <p:nvSpPr>
          <p:cNvPr id="159" name="PlaceHolder 7"/>
          <p:cNvSpPr>
            <a:spLocks noGrp="1"/>
          </p:cNvSpPr>
          <p:nvPr>
            <p:ph type="body"/>
          </p:nvPr>
        </p:nvSpPr>
        <p:spPr>
          <a:xfrm>
            <a:off x="609120" y="3682080"/>
            <a:ext cx="3531960" cy="1896840"/>
          </a:xfrm>
          <a:prstGeom prst="rect">
            <a:avLst/>
          </a:prstGeom>
        </p:spPr>
        <p:txBody>
          <a:bodyPr lIns="0" rIns="0" tIns="0" bIns="0">
            <a:normAutofit/>
          </a:bodyPr>
          <a:p>
            <a:endParaRPr b="0" lang="en-US" sz="3200" spc="-1" strike="noStrike">
              <a:solidFill>
                <a:srgbClr val="000000"/>
              </a:solidFill>
              <a:uFill>
                <a:solidFill>
                  <a:srgbClr val="ffffff"/>
                </a:solidFill>
              </a:u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2" descr=""/>
          <p:cNvPicPr/>
          <p:nvPr/>
        </p:nvPicPr>
        <p:blipFill>
          <a:blip r:embed="rId2"/>
          <a:stretch/>
        </p:blipFill>
        <p:spPr>
          <a:xfrm>
            <a:off x="0" y="1440"/>
            <a:ext cx="12188160" cy="6854760"/>
          </a:xfrm>
          <a:prstGeom prst="rect">
            <a:avLst/>
          </a:prstGeom>
          <a:ln>
            <a:noFill/>
          </a:ln>
        </p:spPr>
      </p:pic>
      <p:pic>
        <p:nvPicPr>
          <p:cNvPr id="1" name="Picture 13" descr=""/>
          <p:cNvPicPr/>
          <p:nvPr/>
        </p:nvPicPr>
        <p:blipFill>
          <a:blip r:embed="rId3"/>
          <a:stretch/>
        </p:blipFill>
        <p:spPr>
          <a:xfrm>
            <a:off x="0" y="0"/>
            <a:ext cx="2742480" cy="2285280"/>
          </a:xfrm>
          <a:prstGeom prst="rect">
            <a:avLst/>
          </a:prstGeom>
          <a:ln>
            <a:noFill/>
          </a:ln>
        </p:spPr>
      </p:pic>
      <p:pic>
        <p:nvPicPr>
          <p:cNvPr id="2" name="Picture 5" descr=""/>
          <p:cNvPicPr/>
          <p:nvPr/>
        </p:nvPicPr>
        <p:blipFill>
          <a:blip r:embed="rId4"/>
          <a:stretch/>
        </p:blipFill>
        <p:spPr>
          <a:xfrm>
            <a:off x="10773000" y="6494400"/>
            <a:ext cx="1041840" cy="190440"/>
          </a:xfrm>
          <a:prstGeom prst="rect">
            <a:avLst/>
          </a:prstGeom>
          <a:ln>
            <a:noFill/>
          </a:ln>
        </p:spPr>
      </p:pic>
      <p:sp>
        <p:nvSpPr>
          <p:cNvPr id="3" name="PlaceHolder 1"/>
          <p:cNvSpPr>
            <a:spLocks noGrp="1"/>
          </p:cNvSpPr>
          <p:nvPr>
            <p:ph type="title"/>
          </p:nvPr>
        </p:nvSpPr>
        <p:spPr>
          <a:xfrm>
            <a:off x="609120" y="273600"/>
            <a:ext cx="10969560" cy="1144800"/>
          </a:xfrm>
          <a:prstGeom prst="rect">
            <a:avLst/>
          </a:prstGeom>
        </p:spPr>
        <p:txBody>
          <a:bodyPr lIns="0" rIns="0" tIns="0" bIns="0" anchor="ctr"/>
          <a:p>
            <a:pPr algn="ctr"/>
            <a:r>
              <a:rPr b="0" lang="en-US" sz="4400" spc="-1" strike="noStrike">
                <a:solidFill>
                  <a:srgbClr val="000000"/>
                </a:solidFill>
                <a:uFill>
                  <a:solidFill>
                    <a:srgbClr val="ffffff"/>
                  </a:solidFill>
                </a:uFill>
                <a:latin typeface="Arial"/>
              </a:rPr>
              <a:t>Click to edit </a:t>
            </a:r>
            <a:r>
              <a:rPr b="0" lang="en-US" sz="4400" spc="-1" strike="noStrike">
                <a:solidFill>
                  <a:srgbClr val="000000"/>
                </a:solidFill>
                <a:uFill>
                  <a:solidFill>
                    <a:srgbClr val="ffffff"/>
                  </a:solidFill>
                </a:uFill>
                <a:latin typeface="Arial"/>
              </a:rPr>
              <a:t>the title text </a:t>
            </a:r>
            <a:r>
              <a:rPr b="0" lang="en-US" sz="4400" spc="-1" strike="noStrike">
                <a:solidFill>
                  <a:srgbClr val="000000"/>
                </a:solidFill>
                <a:uFill>
                  <a:solidFill>
                    <a:srgbClr val="ffffff"/>
                  </a:solidFill>
                </a:uFill>
                <a:latin typeface="Arial"/>
              </a:rPr>
              <a:t>format</a:t>
            </a:r>
            <a:endParaRPr b="0" lang="en-US" sz="4400" spc="-1" strike="noStrike">
              <a:solidFill>
                <a:srgbClr val="000000"/>
              </a:solidFill>
              <a:uFill>
                <a:solidFill>
                  <a:srgbClr val="ffffff"/>
                </a:solidFill>
              </a:uFill>
              <a:latin typeface="Arial"/>
            </a:endParaRPr>
          </a:p>
        </p:txBody>
      </p:sp>
      <p:sp>
        <p:nvSpPr>
          <p:cNvPr id="4" name="PlaceHolder 2"/>
          <p:cNvSpPr>
            <a:spLocks noGrp="1"/>
          </p:cNvSpPr>
          <p:nvPr>
            <p:ph type="body"/>
          </p:nvPr>
        </p:nvSpPr>
        <p:spPr>
          <a:xfrm>
            <a:off x="609120" y="1604520"/>
            <a:ext cx="1096956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uFill>
                  <a:solidFill>
                    <a:srgbClr val="ffffff"/>
                  </a:solidFill>
                </a:uFill>
                <a:latin typeface="Arial"/>
              </a:rPr>
              <a:t>Click to edit the outline text format</a:t>
            </a:r>
            <a:endParaRPr b="0" lang="en-US" sz="3200" spc="-1" strike="noStrike">
              <a:solidFill>
                <a:srgbClr val="000000"/>
              </a:solidFill>
              <a:uFill>
                <a:solidFill>
                  <a:srgbClr val="ffffff"/>
                </a:solidFill>
              </a:u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uFill>
                  <a:solidFill>
                    <a:srgbClr val="ffffff"/>
                  </a:solidFill>
                </a:uFill>
                <a:latin typeface="Arial"/>
              </a:rPr>
              <a:t>Second Outline Level</a:t>
            </a:r>
            <a:endParaRPr b="0" lang="en-US" sz="2800" spc="-1" strike="noStrike">
              <a:solidFill>
                <a:srgbClr val="000000"/>
              </a:solidFill>
              <a:uFill>
                <a:solidFill>
                  <a:srgbClr val="ffffff"/>
                </a:solidFill>
              </a:u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uFill>
                  <a:solidFill>
                    <a:srgbClr val="ffffff"/>
                  </a:solidFill>
                </a:uFill>
                <a:latin typeface="Arial"/>
              </a:rPr>
              <a:t>Third Outline Level</a:t>
            </a:r>
            <a:endParaRPr b="0" lang="en-US" sz="2400" spc="-1" strike="noStrike">
              <a:solidFill>
                <a:srgbClr val="000000"/>
              </a:solidFill>
              <a:uFill>
                <a:solidFill>
                  <a:srgbClr val="ffffff"/>
                </a:solidFill>
              </a:u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uFill>
                  <a:solidFill>
                    <a:srgbClr val="ffffff"/>
                  </a:solidFill>
                </a:uFill>
                <a:latin typeface="Arial"/>
              </a:rPr>
              <a:t>Fourth Outline Level</a:t>
            </a:r>
            <a:endParaRPr b="0" lang="en-US" sz="2000" spc="-1" strike="noStrike">
              <a:solidFill>
                <a:srgbClr val="000000"/>
              </a:solidFill>
              <a:uFill>
                <a:solidFill>
                  <a:srgbClr val="ffffff"/>
                </a:solidFill>
              </a:u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Fifth Outline Level</a:t>
            </a:r>
            <a:endParaRPr b="0" lang="en-US" sz="2000" spc="-1" strike="noStrike">
              <a:solidFill>
                <a:srgbClr val="000000"/>
              </a:solidFill>
              <a:uFill>
                <a:solidFill>
                  <a:srgbClr val="ffffff"/>
                </a:solidFill>
              </a:u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Sixth Outline Level</a:t>
            </a:r>
            <a:endParaRPr b="0" lang="en-US" sz="2000" spc="-1" strike="noStrike">
              <a:solidFill>
                <a:srgbClr val="000000"/>
              </a:solidFill>
              <a:uFill>
                <a:solidFill>
                  <a:srgbClr val="ffffff"/>
                </a:solidFill>
              </a:u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Seventh Outline Level</a:t>
            </a:r>
            <a:endParaRPr b="0"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 name="Picture 8" descr=""/>
          <p:cNvPicPr/>
          <p:nvPr/>
        </p:nvPicPr>
        <p:blipFill>
          <a:blip r:embed="rId2"/>
          <a:stretch/>
        </p:blipFill>
        <p:spPr>
          <a:xfrm>
            <a:off x="10773000" y="6494400"/>
            <a:ext cx="1041840" cy="190440"/>
          </a:xfrm>
          <a:prstGeom prst="rect">
            <a:avLst/>
          </a:prstGeom>
          <a:ln>
            <a:noFill/>
          </a:ln>
        </p:spPr>
      </p:pic>
      <p:sp>
        <p:nvSpPr>
          <p:cNvPr id="42" name="PlaceHolder 1"/>
          <p:cNvSpPr>
            <a:spLocks noGrp="1"/>
          </p:cNvSpPr>
          <p:nvPr>
            <p:ph type="title"/>
          </p:nvPr>
        </p:nvSpPr>
        <p:spPr>
          <a:xfrm>
            <a:off x="609120" y="273600"/>
            <a:ext cx="10969560" cy="1144800"/>
          </a:xfrm>
          <a:prstGeom prst="rect">
            <a:avLst/>
          </a:prstGeom>
        </p:spPr>
        <p:txBody>
          <a:bodyPr lIns="0" rIns="0" tIns="0" bIns="0" anchor="ctr"/>
          <a:p>
            <a:pPr algn="ctr"/>
            <a:r>
              <a:rPr b="0" lang="en-US" sz="4400" spc="-1" strike="noStrike">
                <a:solidFill>
                  <a:srgbClr val="000000"/>
                </a:solidFill>
                <a:uFill>
                  <a:solidFill>
                    <a:srgbClr val="ffffff"/>
                  </a:solidFill>
                </a:uFill>
                <a:latin typeface="Arial"/>
              </a:rPr>
              <a:t>Click to edit </a:t>
            </a:r>
            <a:r>
              <a:rPr b="0" lang="en-US" sz="4400" spc="-1" strike="noStrike">
                <a:solidFill>
                  <a:srgbClr val="000000"/>
                </a:solidFill>
                <a:uFill>
                  <a:solidFill>
                    <a:srgbClr val="ffffff"/>
                  </a:solidFill>
                </a:uFill>
                <a:latin typeface="Arial"/>
              </a:rPr>
              <a:t>the title text </a:t>
            </a:r>
            <a:r>
              <a:rPr b="0" lang="en-US" sz="4400" spc="-1" strike="noStrike">
                <a:solidFill>
                  <a:srgbClr val="000000"/>
                </a:solidFill>
                <a:uFill>
                  <a:solidFill>
                    <a:srgbClr val="ffffff"/>
                  </a:solidFill>
                </a:uFill>
                <a:latin typeface="Arial"/>
              </a:rPr>
              <a:t>format</a:t>
            </a:r>
            <a:endParaRPr b="0" lang="en-US" sz="4400" spc="-1" strike="noStrike">
              <a:solidFill>
                <a:srgbClr val="000000"/>
              </a:solidFill>
              <a:uFill>
                <a:solidFill>
                  <a:srgbClr val="ffffff"/>
                </a:solidFill>
              </a:uFill>
              <a:latin typeface="Arial"/>
            </a:endParaRPr>
          </a:p>
        </p:txBody>
      </p:sp>
      <p:sp>
        <p:nvSpPr>
          <p:cNvPr id="43" name="PlaceHolder 2"/>
          <p:cNvSpPr>
            <a:spLocks noGrp="1"/>
          </p:cNvSpPr>
          <p:nvPr>
            <p:ph type="body"/>
          </p:nvPr>
        </p:nvSpPr>
        <p:spPr>
          <a:xfrm>
            <a:off x="609120" y="1604520"/>
            <a:ext cx="1096956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uFill>
                  <a:solidFill>
                    <a:srgbClr val="ffffff"/>
                  </a:solidFill>
                </a:uFill>
                <a:latin typeface="Arial"/>
              </a:rPr>
              <a:t>Click to edit the outline text format</a:t>
            </a:r>
            <a:endParaRPr b="0" lang="en-US" sz="3200" spc="-1" strike="noStrike">
              <a:solidFill>
                <a:srgbClr val="000000"/>
              </a:solidFill>
              <a:uFill>
                <a:solidFill>
                  <a:srgbClr val="ffffff"/>
                </a:solidFill>
              </a:u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uFill>
                  <a:solidFill>
                    <a:srgbClr val="ffffff"/>
                  </a:solidFill>
                </a:uFill>
                <a:latin typeface="Arial"/>
              </a:rPr>
              <a:t>Second Outline Level</a:t>
            </a:r>
            <a:endParaRPr b="0" lang="en-US" sz="2800" spc="-1" strike="noStrike">
              <a:solidFill>
                <a:srgbClr val="000000"/>
              </a:solidFill>
              <a:uFill>
                <a:solidFill>
                  <a:srgbClr val="ffffff"/>
                </a:solidFill>
              </a:u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uFill>
                  <a:solidFill>
                    <a:srgbClr val="ffffff"/>
                  </a:solidFill>
                </a:uFill>
                <a:latin typeface="Arial"/>
              </a:rPr>
              <a:t>Third Outline Level</a:t>
            </a:r>
            <a:endParaRPr b="0" lang="en-US" sz="2400" spc="-1" strike="noStrike">
              <a:solidFill>
                <a:srgbClr val="000000"/>
              </a:solidFill>
              <a:uFill>
                <a:solidFill>
                  <a:srgbClr val="ffffff"/>
                </a:solidFill>
              </a:u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uFill>
                  <a:solidFill>
                    <a:srgbClr val="ffffff"/>
                  </a:solidFill>
                </a:uFill>
                <a:latin typeface="Arial"/>
              </a:rPr>
              <a:t>Fourth Outline Level</a:t>
            </a:r>
            <a:endParaRPr b="0" lang="en-US" sz="2000" spc="-1" strike="noStrike">
              <a:solidFill>
                <a:srgbClr val="000000"/>
              </a:solidFill>
              <a:uFill>
                <a:solidFill>
                  <a:srgbClr val="ffffff"/>
                </a:solidFill>
              </a:u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Fifth Outline Level</a:t>
            </a:r>
            <a:endParaRPr b="0" lang="en-US" sz="2000" spc="-1" strike="noStrike">
              <a:solidFill>
                <a:srgbClr val="000000"/>
              </a:solidFill>
              <a:uFill>
                <a:solidFill>
                  <a:srgbClr val="ffffff"/>
                </a:solidFill>
              </a:u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Sixth Outline Level</a:t>
            </a:r>
            <a:endParaRPr b="0" lang="en-US" sz="2000" spc="-1" strike="noStrike">
              <a:solidFill>
                <a:srgbClr val="000000"/>
              </a:solidFill>
              <a:uFill>
                <a:solidFill>
                  <a:srgbClr val="ffffff"/>
                </a:solidFill>
              </a:u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Seventh Outline Level</a:t>
            </a:r>
            <a:endParaRPr b="0"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0" name="Picture 9" descr=""/>
          <p:cNvPicPr/>
          <p:nvPr/>
        </p:nvPicPr>
        <p:blipFill>
          <a:blip r:embed="rId2"/>
          <a:stretch/>
        </p:blipFill>
        <p:spPr>
          <a:xfrm>
            <a:off x="10773000" y="6494400"/>
            <a:ext cx="1041840" cy="190440"/>
          </a:xfrm>
          <a:prstGeom prst="rect">
            <a:avLst/>
          </a:prstGeom>
          <a:ln>
            <a:noFill/>
          </a:ln>
        </p:spPr>
      </p:pic>
      <p:sp>
        <p:nvSpPr>
          <p:cNvPr id="81" name="PlaceHolder 1"/>
          <p:cNvSpPr>
            <a:spLocks noGrp="1"/>
          </p:cNvSpPr>
          <p:nvPr>
            <p:ph type="title"/>
          </p:nvPr>
        </p:nvSpPr>
        <p:spPr>
          <a:xfrm>
            <a:off x="609120" y="273600"/>
            <a:ext cx="10969560" cy="1144800"/>
          </a:xfrm>
          <a:prstGeom prst="rect">
            <a:avLst/>
          </a:prstGeom>
        </p:spPr>
        <p:txBody>
          <a:bodyPr lIns="0" rIns="0" tIns="0" bIns="0" anchor="ctr"/>
          <a:p>
            <a:pPr algn="ctr"/>
            <a:r>
              <a:rPr b="0" lang="en-US" sz="4400" spc="-1" strike="noStrike">
                <a:solidFill>
                  <a:srgbClr val="000000"/>
                </a:solidFill>
                <a:uFill>
                  <a:solidFill>
                    <a:srgbClr val="ffffff"/>
                  </a:solidFill>
                </a:uFill>
                <a:latin typeface="Arial"/>
              </a:rPr>
              <a:t>Click to edit </a:t>
            </a:r>
            <a:r>
              <a:rPr b="0" lang="en-US" sz="4400" spc="-1" strike="noStrike">
                <a:solidFill>
                  <a:srgbClr val="000000"/>
                </a:solidFill>
                <a:uFill>
                  <a:solidFill>
                    <a:srgbClr val="ffffff"/>
                  </a:solidFill>
                </a:uFill>
                <a:latin typeface="Arial"/>
              </a:rPr>
              <a:t>the title text </a:t>
            </a:r>
            <a:r>
              <a:rPr b="0" lang="en-US" sz="4400" spc="-1" strike="noStrike">
                <a:solidFill>
                  <a:srgbClr val="000000"/>
                </a:solidFill>
                <a:uFill>
                  <a:solidFill>
                    <a:srgbClr val="ffffff"/>
                  </a:solidFill>
                </a:uFill>
                <a:latin typeface="Arial"/>
              </a:rPr>
              <a:t>format</a:t>
            </a:r>
            <a:endParaRPr b="0" lang="en-US" sz="4400" spc="-1" strike="noStrike">
              <a:solidFill>
                <a:srgbClr val="000000"/>
              </a:solidFill>
              <a:uFill>
                <a:solidFill>
                  <a:srgbClr val="ffffff"/>
                </a:solidFill>
              </a:uFill>
              <a:latin typeface="Arial"/>
            </a:endParaRPr>
          </a:p>
        </p:txBody>
      </p:sp>
      <p:sp>
        <p:nvSpPr>
          <p:cNvPr id="82" name="PlaceHolder 2"/>
          <p:cNvSpPr>
            <a:spLocks noGrp="1"/>
          </p:cNvSpPr>
          <p:nvPr>
            <p:ph type="body"/>
          </p:nvPr>
        </p:nvSpPr>
        <p:spPr>
          <a:xfrm>
            <a:off x="609120" y="1604520"/>
            <a:ext cx="1096956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uFill>
                  <a:solidFill>
                    <a:srgbClr val="ffffff"/>
                  </a:solidFill>
                </a:uFill>
                <a:latin typeface="Arial"/>
              </a:rPr>
              <a:t>Click to edit the outline text format</a:t>
            </a:r>
            <a:endParaRPr b="0" lang="en-US" sz="3200" spc="-1" strike="noStrike">
              <a:solidFill>
                <a:srgbClr val="000000"/>
              </a:solidFill>
              <a:uFill>
                <a:solidFill>
                  <a:srgbClr val="ffffff"/>
                </a:solidFill>
              </a:u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uFill>
                  <a:solidFill>
                    <a:srgbClr val="ffffff"/>
                  </a:solidFill>
                </a:uFill>
                <a:latin typeface="Arial"/>
              </a:rPr>
              <a:t>Second Outline Level</a:t>
            </a:r>
            <a:endParaRPr b="0" lang="en-US" sz="2800" spc="-1" strike="noStrike">
              <a:solidFill>
                <a:srgbClr val="000000"/>
              </a:solidFill>
              <a:uFill>
                <a:solidFill>
                  <a:srgbClr val="ffffff"/>
                </a:solidFill>
              </a:u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uFill>
                  <a:solidFill>
                    <a:srgbClr val="ffffff"/>
                  </a:solidFill>
                </a:uFill>
                <a:latin typeface="Arial"/>
              </a:rPr>
              <a:t>Third Outline Level</a:t>
            </a:r>
            <a:endParaRPr b="0" lang="en-US" sz="2400" spc="-1" strike="noStrike">
              <a:solidFill>
                <a:srgbClr val="000000"/>
              </a:solidFill>
              <a:uFill>
                <a:solidFill>
                  <a:srgbClr val="ffffff"/>
                </a:solidFill>
              </a:u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uFill>
                  <a:solidFill>
                    <a:srgbClr val="ffffff"/>
                  </a:solidFill>
                </a:uFill>
                <a:latin typeface="Arial"/>
              </a:rPr>
              <a:t>Fourth Outline Level</a:t>
            </a:r>
            <a:endParaRPr b="0" lang="en-US" sz="2000" spc="-1" strike="noStrike">
              <a:solidFill>
                <a:srgbClr val="000000"/>
              </a:solidFill>
              <a:uFill>
                <a:solidFill>
                  <a:srgbClr val="ffffff"/>
                </a:solidFill>
              </a:u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Fifth Outline Level</a:t>
            </a:r>
            <a:endParaRPr b="0" lang="en-US" sz="2000" spc="-1" strike="noStrike">
              <a:solidFill>
                <a:srgbClr val="000000"/>
              </a:solidFill>
              <a:uFill>
                <a:solidFill>
                  <a:srgbClr val="ffffff"/>
                </a:solidFill>
              </a:u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Sixth Outline Level</a:t>
            </a:r>
            <a:endParaRPr b="0" lang="en-US" sz="2000" spc="-1" strike="noStrike">
              <a:solidFill>
                <a:srgbClr val="000000"/>
              </a:solidFill>
              <a:uFill>
                <a:solidFill>
                  <a:srgbClr val="ffffff"/>
                </a:solidFill>
              </a:u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Seventh Outline Level</a:t>
            </a:r>
            <a:endParaRPr b="0"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9" name="Picture 15" descr=""/>
          <p:cNvPicPr/>
          <p:nvPr/>
        </p:nvPicPr>
        <p:blipFill>
          <a:blip r:embed="rId2"/>
          <a:stretch/>
        </p:blipFill>
        <p:spPr>
          <a:xfrm>
            <a:off x="0" y="0"/>
            <a:ext cx="12191400" cy="2285280"/>
          </a:xfrm>
          <a:prstGeom prst="rect">
            <a:avLst/>
          </a:prstGeom>
          <a:ln>
            <a:noFill/>
          </a:ln>
        </p:spPr>
      </p:pic>
      <p:pic>
        <p:nvPicPr>
          <p:cNvPr id="120" name="Picture 12" descr=""/>
          <p:cNvPicPr/>
          <p:nvPr/>
        </p:nvPicPr>
        <p:blipFill>
          <a:blip r:embed="rId3"/>
          <a:stretch/>
        </p:blipFill>
        <p:spPr>
          <a:xfrm>
            <a:off x="10773000" y="6494400"/>
            <a:ext cx="1041840" cy="190440"/>
          </a:xfrm>
          <a:prstGeom prst="rect">
            <a:avLst/>
          </a:prstGeom>
          <a:ln>
            <a:noFill/>
          </a:ln>
        </p:spPr>
      </p:pic>
      <p:pic>
        <p:nvPicPr>
          <p:cNvPr id="121" name="Picture 4" descr=""/>
          <p:cNvPicPr/>
          <p:nvPr/>
        </p:nvPicPr>
        <p:blipFill>
          <a:blip r:embed="rId4"/>
          <a:stretch/>
        </p:blipFill>
        <p:spPr>
          <a:xfrm>
            <a:off x="0" y="0"/>
            <a:ext cx="2742480" cy="2285280"/>
          </a:xfrm>
          <a:prstGeom prst="rect">
            <a:avLst/>
          </a:prstGeom>
          <a:ln>
            <a:noFill/>
          </a:ln>
        </p:spPr>
      </p:pic>
      <p:sp>
        <p:nvSpPr>
          <p:cNvPr id="122" name="PlaceHolder 1"/>
          <p:cNvSpPr>
            <a:spLocks noGrp="1"/>
          </p:cNvSpPr>
          <p:nvPr>
            <p:ph type="title"/>
          </p:nvPr>
        </p:nvSpPr>
        <p:spPr>
          <a:xfrm>
            <a:off x="609120" y="273600"/>
            <a:ext cx="10969560" cy="1144800"/>
          </a:xfrm>
          <a:prstGeom prst="rect">
            <a:avLst/>
          </a:prstGeom>
        </p:spPr>
        <p:txBody>
          <a:bodyPr lIns="0" rIns="0" tIns="0" bIns="0" anchor="ctr"/>
          <a:p>
            <a:pPr algn="ctr"/>
            <a:r>
              <a:rPr b="0" lang="en-US" sz="4400" spc="-1" strike="noStrike">
                <a:solidFill>
                  <a:srgbClr val="000000"/>
                </a:solidFill>
                <a:uFill>
                  <a:solidFill>
                    <a:srgbClr val="ffffff"/>
                  </a:solidFill>
                </a:uFill>
                <a:latin typeface="Arial"/>
              </a:rPr>
              <a:t>Click to edit </a:t>
            </a:r>
            <a:r>
              <a:rPr b="0" lang="en-US" sz="4400" spc="-1" strike="noStrike">
                <a:solidFill>
                  <a:srgbClr val="000000"/>
                </a:solidFill>
                <a:uFill>
                  <a:solidFill>
                    <a:srgbClr val="ffffff"/>
                  </a:solidFill>
                </a:uFill>
                <a:latin typeface="Arial"/>
              </a:rPr>
              <a:t>the title text </a:t>
            </a:r>
            <a:r>
              <a:rPr b="0" lang="en-US" sz="4400" spc="-1" strike="noStrike">
                <a:solidFill>
                  <a:srgbClr val="000000"/>
                </a:solidFill>
                <a:uFill>
                  <a:solidFill>
                    <a:srgbClr val="ffffff"/>
                  </a:solidFill>
                </a:uFill>
                <a:latin typeface="Arial"/>
              </a:rPr>
              <a:t>format</a:t>
            </a:r>
            <a:endParaRPr b="0" lang="en-US" sz="4400" spc="-1" strike="noStrike">
              <a:solidFill>
                <a:srgbClr val="000000"/>
              </a:solidFill>
              <a:uFill>
                <a:solidFill>
                  <a:srgbClr val="ffffff"/>
                </a:solidFill>
              </a:uFill>
              <a:latin typeface="Arial"/>
            </a:endParaRPr>
          </a:p>
        </p:txBody>
      </p:sp>
      <p:sp>
        <p:nvSpPr>
          <p:cNvPr id="123" name="PlaceHolder 2"/>
          <p:cNvSpPr>
            <a:spLocks noGrp="1"/>
          </p:cNvSpPr>
          <p:nvPr>
            <p:ph type="body"/>
          </p:nvPr>
        </p:nvSpPr>
        <p:spPr>
          <a:xfrm>
            <a:off x="609120" y="1604520"/>
            <a:ext cx="1096956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uFill>
                  <a:solidFill>
                    <a:srgbClr val="ffffff"/>
                  </a:solidFill>
                </a:uFill>
                <a:latin typeface="Arial"/>
              </a:rPr>
              <a:t>Click to edit the outline text format</a:t>
            </a:r>
            <a:endParaRPr b="0" lang="en-US" sz="3200" spc="-1" strike="noStrike">
              <a:solidFill>
                <a:srgbClr val="000000"/>
              </a:solidFill>
              <a:uFill>
                <a:solidFill>
                  <a:srgbClr val="ffffff"/>
                </a:solidFill>
              </a:u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uFill>
                  <a:solidFill>
                    <a:srgbClr val="ffffff"/>
                  </a:solidFill>
                </a:uFill>
                <a:latin typeface="Arial"/>
              </a:rPr>
              <a:t>Second Outline Level</a:t>
            </a:r>
            <a:endParaRPr b="0" lang="en-US" sz="2800" spc="-1" strike="noStrike">
              <a:solidFill>
                <a:srgbClr val="000000"/>
              </a:solidFill>
              <a:uFill>
                <a:solidFill>
                  <a:srgbClr val="ffffff"/>
                </a:solidFill>
              </a:u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uFill>
                  <a:solidFill>
                    <a:srgbClr val="ffffff"/>
                  </a:solidFill>
                </a:uFill>
                <a:latin typeface="Arial"/>
              </a:rPr>
              <a:t>Third Outline Level</a:t>
            </a:r>
            <a:endParaRPr b="0" lang="en-US" sz="2400" spc="-1" strike="noStrike">
              <a:solidFill>
                <a:srgbClr val="000000"/>
              </a:solidFill>
              <a:uFill>
                <a:solidFill>
                  <a:srgbClr val="ffffff"/>
                </a:solidFill>
              </a:u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uFill>
                  <a:solidFill>
                    <a:srgbClr val="ffffff"/>
                  </a:solidFill>
                </a:uFill>
                <a:latin typeface="Arial"/>
              </a:rPr>
              <a:t>Fourth Outline Level</a:t>
            </a:r>
            <a:endParaRPr b="0" lang="en-US" sz="2000" spc="-1" strike="noStrike">
              <a:solidFill>
                <a:srgbClr val="000000"/>
              </a:solidFill>
              <a:uFill>
                <a:solidFill>
                  <a:srgbClr val="ffffff"/>
                </a:solidFill>
              </a:u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Fifth Outline Level</a:t>
            </a:r>
            <a:endParaRPr b="0" lang="en-US" sz="2000" spc="-1" strike="noStrike">
              <a:solidFill>
                <a:srgbClr val="000000"/>
              </a:solidFill>
              <a:uFill>
                <a:solidFill>
                  <a:srgbClr val="ffffff"/>
                </a:solidFill>
              </a:u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Sixth Outline Level</a:t>
            </a:r>
            <a:endParaRPr b="0" lang="en-US" sz="2000" spc="-1" strike="noStrike">
              <a:solidFill>
                <a:srgbClr val="000000"/>
              </a:solidFill>
              <a:uFill>
                <a:solidFill>
                  <a:srgbClr val="ffffff"/>
                </a:solidFill>
              </a:u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uFill>
                  <a:solidFill>
                    <a:srgbClr val="ffffff"/>
                  </a:solidFill>
                </a:uFill>
                <a:latin typeface="Arial"/>
              </a:rPr>
              <a:t>Seventh Outline Level</a:t>
            </a:r>
            <a:endParaRPr b="0" lang="en-US" sz="2000" spc="-1" strike="noStrike">
              <a:solidFill>
                <a:srgbClr val="000000"/>
              </a:solidFill>
              <a:uFill>
                <a:solidFill>
                  <a:srgbClr val="ffffff"/>
                </a:solidFill>
              </a:uFill>
              <a:latin typeface="Arial"/>
            </a:endParaRPr>
          </a:p>
        </p:txBody>
      </p:sp>
    </p:spTree>
  </p:cSld>
  <p:clrMap bg1="lt1" bg2="lt2" tx1="dk1" tx2="dk2" accent1="accent1" accent2="accent2" accent3="accent3" accent4="accent4" accent5="accent5" accent6="accent6" hlink="hlink" folHlink="folHlink"/>
  <p:sldLayoutIdLst>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CustomShape 1"/>
          <p:cNvSpPr/>
          <p:nvPr/>
        </p:nvSpPr>
        <p:spPr>
          <a:xfrm>
            <a:off x="1572120" y="2300040"/>
            <a:ext cx="9043920" cy="1079640"/>
          </a:xfrm>
          <a:prstGeom prst="rect">
            <a:avLst/>
          </a:prstGeom>
          <a:noFill/>
          <a:ln>
            <a:noFill/>
          </a:ln>
        </p:spPr>
        <p:style>
          <a:lnRef idx="0"/>
          <a:fillRef idx="0"/>
          <a:effectRef idx="0"/>
          <a:fontRef idx="minor"/>
        </p:style>
        <p:txBody>
          <a:bodyPr lIns="90000" rIns="90000" tIns="45000" bIns="45000" anchor="b"/>
          <a:p>
            <a:pPr>
              <a:lnSpc>
                <a:spcPct val="95000"/>
              </a:lnSpc>
            </a:pPr>
            <a:r>
              <a:rPr b="1" lang="en-US" sz="4400" spc="-1" strike="noStrike">
                <a:solidFill>
                  <a:srgbClr val="000000"/>
                </a:solidFill>
                <a:uFill>
                  <a:solidFill>
                    <a:srgbClr val="ffffff"/>
                  </a:solidFill>
                </a:uFill>
                <a:latin typeface="Arial"/>
              </a:rPr>
              <a:t>ZUFS</a:t>
            </a:r>
            <a:r>
              <a:rPr b="0" lang="en-US" sz="4400" spc="-1" strike="noStrike">
                <a:solidFill>
                  <a:srgbClr val="000000"/>
                </a:solidFill>
                <a:uFill>
                  <a:solidFill>
                    <a:srgbClr val="ffffff"/>
                  </a:solidFill>
                </a:uFill>
                <a:latin typeface="Arial"/>
              </a:rPr>
              <a:t> </a:t>
            </a:r>
            <a:r>
              <a:rPr b="0" lang="en-US" sz="4000" spc="-1" strike="noStrike">
                <a:solidFill>
                  <a:srgbClr val="000000"/>
                </a:solidFill>
                <a:uFill>
                  <a:solidFill>
                    <a:srgbClr val="ffffff"/>
                  </a:solidFill>
                </a:uFill>
                <a:latin typeface="Arial"/>
              </a:rPr>
              <a:t>- Zero-copy User-mode FS</a:t>
            </a:r>
            <a:endParaRPr b="0" lang="en-US" sz="4000" spc="-1" strike="noStrike">
              <a:solidFill>
                <a:srgbClr val="000000"/>
              </a:solidFill>
              <a:uFill>
                <a:solidFill>
                  <a:srgbClr val="ffffff"/>
                </a:solidFill>
              </a:uFill>
              <a:latin typeface="Arial"/>
            </a:endParaRPr>
          </a:p>
        </p:txBody>
      </p:sp>
      <p:sp>
        <p:nvSpPr>
          <p:cNvPr id="161" name="CustomShape 2"/>
          <p:cNvSpPr/>
          <p:nvPr/>
        </p:nvSpPr>
        <p:spPr>
          <a:xfrm>
            <a:off x="1572120" y="3677040"/>
            <a:ext cx="9843480" cy="1531440"/>
          </a:xfrm>
          <a:prstGeom prst="rect">
            <a:avLst/>
          </a:prstGeom>
          <a:noFill/>
          <a:ln>
            <a:noFill/>
          </a:ln>
        </p:spPr>
        <p:style>
          <a:lnRef idx="0"/>
          <a:fillRef idx="0"/>
          <a:effectRef idx="0"/>
          <a:fontRef idx="minor"/>
        </p:style>
        <p:txBody>
          <a:bodyPr lIns="90000" rIns="90000" tIns="45000" bIns="45000"/>
          <a:p>
            <a:pPr marL="216000" indent="-216000">
              <a:lnSpc>
                <a:spcPct val="85000"/>
              </a:lnSpc>
              <a:spcBef>
                <a:spcPts val="1199"/>
              </a:spcBef>
              <a:spcAft>
                <a:spcPts val="1602"/>
              </a:spcAft>
              <a:buClr>
                <a:srgbClr val="0067c5"/>
              </a:buClr>
              <a:buFont typeface="Arial"/>
              <a:buChar char="​"/>
            </a:pPr>
            <a:r>
              <a:rPr b="0" lang="en-US" sz="2400" spc="-1" strike="noStrike">
                <a:solidFill>
                  <a:srgbClr val="0067c5"/>
                </a:solidFill>
                <a:uFill>
                  <a:solidFill>
                    <a:srgbClr val="ffffff"/>
                  </a:solidFill>
                </a:uFill>
                <a:latin typeface="Arial"/>
              </a:rPr>
              <a:t>A new interface for a new breed of user-mode filesystems that require: </a:t>
            </a:r>
            <a:r>
              <a:rPr b="0" lang="en-US" sz="2400" spc="-1" strike="noStrike">
                <a:solidFill>
                  <a:srgbClr val="0067c5"/>
                </a:solidFill>
                <a:uFill>
                  <a:solidFill>
                    <a:srgbClr val="ffffff"/>
                  </a:solidFill>
                </a:uFill>
                <a:latin typeface="Arial"/>
              </a:rPr>
              <a:t>	</a:t>
            </a:r>
            <a:r>
              <a:rPr b="0" lang="en-US" sz="2400" spc="-1" strike="noStrike">
                <a:solidFill>
                  <a:srgbClr val="0067c5"/>
                </a:solidFill>
                <a:uFill>
                  <a:solidFill>
                    <a:srgbClr val="ffffff"/>
                  </a:solidFill>
                </a:uFill>
                <a:latin typeface="Arial"/>
              </a:rPr>
              <a:t>- Extremely Low-Latency, </a:t>
            </a:r>
            <a:br/>
            <a:r>
              <a:rPr b="0" lang="en-US" sz="2400" spc="-1" strike="noStrike">
                <a:solidFill>
                  <a:srgbClr val="0067c5"/>
                </a:solidFill>
                <a:uFill>
                  <a:solidFill>
                    <a:srgbClr val="ffffff"/>
                  </a:solidFill>
                </a:uFill>
                <a:latin typeface="Arial"/>
              </a:rPr>
              <a:t>	</a:t>
            </a:r>
            <a:r>
              <a:rPr b="0" lang="en-US" sz="2400" spc="-1" strike="noStrike">
                <a:solidFill>
                  <a:srgbClr val="0067c5"/>
                </a:solidFill>
                <a:uFill>
                  <a:solidFill>
                    <a:srgbClr val="ffffff"/>
                  </a:solidFill>
                </a:uFill>
                <a:latin typeface="Arial"/>
              </a:rPr>
              <a:t>- Synchronous &amp; DAX, </a:t>
            </a:r>
            <a:br/>
            <a:r>
              <a:rPr b="0" lang="en-US" sz="2400" spc="-1" strike="noStrike">
                <a:solidFill>
                  <a:srgbClr val="0067c5"/>
                </a:solidFill>
                <a:uFill>
                  <a:solidFill>
                    <a:srgbClr val="ffffff"/>
                  </a:solidFill>
                </a:uFill>
                <a:latin typeface="Arial"/>
              </a:rPr>
              <a:t>	</a:t>
            </a:r>
            <a:r>
              <a:rPr b="0" lang="en-US" sz="2400" spc="-1" strike="noStrike">
                <a:solidFill>
                  <a:srgbClr val="0067c5"/>
                </a:solidFill>
                <a:uFill>
                  <a:solidFill>
                    <a:srgbClr val="ffffff"/>
                  </a:solidFill>
                </a:uFill>
                <a:latin typeface="Arial"/>
              </a:rPr>
              <a:t>- NUMA-aware access</a:t>
            </a:r>
            <a:endParaRPr b="0" lang="en-US" sz="2400" spc="-1" strike="noStrike">
              <a:solidFill>
                <a:srgbClr val="000000"/>
              </a:solidFill>
              <a:uFill>
                <a:solidFill>
                  <a:srgbClr val="ffffff"/>
                </a:solidFill>
              </a:uFill>
              <a:latin typeface="Arial"/>
            </a:endParaRPr>
          </a:p>
        </p:txBody>
      </p:sp>
      <p:sp>
        <p:nvSpPr>
          <p:cNvPr id="162"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000000"/>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163"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259280E7-EE89-41A5-A8FD-12F848E00450}"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164" name="CustomShape 5"/>
          <p:cNvSpPr/>
          <p:nvPr/>
        </p:nvSpPr>
        <p:spPr>
          <a:xfrm>
            <a:off x="1560960" y="5604120"/>
            <a:ext cx="3885480" cy="837360"/>
          </a:xfrm>
          <a:prstGeom prst="rect">
            <a:avLst/>
          </a:prstGeom>
          <a:noFill/>
          <a:ln>
            <a:noFill/>
          </a:ln>
        </p:spPr>
        <p:style>
          <a:lnRef idx="0"/>
          <a:fillRef idx="0"/>
          <a:effectRef idx="0"/>
          <a:fontRef idx="minor"/>
        </p:style>
        <p:txBody>
          <a:bodyPr lIns="90000" rIns="90000" tIns="45000" bIns="45000">
            <a:normAutofit/>
          </a:bodyPr>
          <a:p>
            <a:pPr>
              <a:lnSpc>
                <a:spcPct val="100000"/>
              </a:lnSpc>
              <a:spcBef>
                <a:spcPts val="561"/>
              </a:spcBef>
            </a:pPr>
            <a:r>
              <a:rPr b="0" lang="en-US" sz="2800" spc="-1" strike="noStrike">
                <a:solidFill>
                  <a:srgbClr val="000000"/>
                </a:solidFill>
                <a:uFill>
                  <a:solidFill>
                    <a:srgbClr val="ffffff"/>
                  </a:solidFill>
                </a:uFill>
                <a:latin typeface="Arial"/>
                <a:ea typeface="DejaVu Sans"/>
              </a:rPr>
              <a:t>Boaz Harrosh @ Linux Plumbers</a:t>
            </a:r>
            <a:endParaRPr b="0" lang="en-US" sz="2800" spc="-1" strike="noStrike">
              <a:solidFill>
                <a:srgbClr val="000000"/>
              </a:solidFill>
              <a:uFill>
                <a:solidFill>
                  <a:srgbClr val="ffffff"/>
                </a:solidFill>
              </a:uFill>
              <a:latin typeface="Arial"/>
            </a:endParaRPr>
          </a:p>
          <a:p>
            <a:pPr>
              <a:lnSpc>
                <a:spcPct val="100000"/>
              </a:lnSpc>
              <a:spcBef>
                <a:spcPts val="561"/>
              </a:spcBef>
            </a:pPr>
            <a:r>
              <a:rPr b="0" lang="en-US" sz="2800" spc="-1" strike="noStrike">
                <a:solidFill>
                  <a:srgbClr val="000000"/>
                </a:solidFill>
                <a:uFill>
                  <a:solidFill>
                    <a:srgbClr val="ffffff"/>
                  </a:solidFill>
                </a:uFill>
                <a:latin typeface="Arial"/>
                <a:ea typeface="DejaVu Sans"/>
              </a:rPr>
              <a:t>Sep. 2017</a:t>
            </a:r>
            <a:endParaRPr b="0" lang="en-US" sz="2800" spc="-1" strike="noStrike">
              <a:solidFill>
                <a:srgbClr val="000000"/>
              </a:solidFill>
              <a:uFill>
                <a:solidFill>
                  <a:srgbClr val="ffffff"/>
                </a:solidFill>
              </a:uFill>
              <a:latin typeface="Arial"/>
            </a:endParaRPr>
          </a:p>
        </p:txBody>
      </p:sp>
    </p:spTree>
  </p:cSld>
  <p:transition spd="med">
    <p:fade/>
  </p:transition>
  <p:timing>
    <p:tnLst>
      <p:par>
        <p:cTn id="1" dur="indefinite" restart="never" nodeType="tmRoot">
          <p:childTnLst>
            <p:seq>
              <p:cTn id="2" nodeType="mainSeq"/>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CustomShape 1"/>
          <p:cNvSpPr/>
          <p:nvPr/>
        </p:nvSpPr>
        <p:spPr>
          <a:xfrm>
            <a:off x="262800" y="240480"/>
            <a:ext cx="11657880" cy="9039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In theory</a:t>
            </a:r>
            <a:endParaRPr b="0" lang="en-US" sz="3000" spc="-1" strike="noStrike">
              <a:solidFill>
                <a:srgbClr val="000000"/>
              </a:solidFill>
              <a:uFill>
                <a:solidFill>
                  <a:srgbClr val="ffffff"/>
                </a:solidFill>
              </a:uFill>
              <a:latin typeface="Arial"/>
            </a:endParaRPr>
          </a:p>
        </p:txBody>
      </p:sp>
      <p:sp>
        <p:nvSpPr>
          <p:cNvPr id="166" name="CustomShape 2"/>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167" name="CustomShape 3"/>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9910ADE1-4BA3-4113-B014-319DD4613B2A}"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168" name="CustomShape 4"/>
          <p:cNvSpPr/>
          <p:nvPr/>
        </p:nvSpPr>
        <p:spPr>
          <a:xfrm>
            <a:off x="4297680" y="2377440"/>
            <a:ext cx="3291480" cy="91404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ZUF</a:t>
            </a:r>
            <a:endParaRPr b="0" lang="en-US" sz="1800" spc="-1" strike="noStrike">
              <a:solidFill>
                <a:srgbClr val="000000"/>
              </a:solidFill>
              <a:uFill>
                <a:solidFill>
                  <a:srgbClr val="ffffff"/>
                </a:solidFill>
              </a:uFill>
              <a:latin typeface="Arial"/>
            </a:endParaRPr>
          </a:p>
          <a:p>
            <a:pPr algn="ctr">
              <a:lnSpc>
                <a:spcPct val="100000"/>
              </a:lnSpc>
            </a:pPr>
            <a:r>
              <a:rPr b="0" lang="en-US" sz="1100" spc="-1" strike="noStrike">
                <a:solidFill>
                  <a:srgbClr val="000000"/>
                </a:solidFill>
                <a:uFill>
                  <a:solidFill>
                    <a:srgbClr val="ffffff"/>
                  </a:solidFill>
                </a:uFill>
                <a:latin typeface="Arial"/>
                <a:ea typeface="DejaVu Sans"/>
              </a:rPr>
              <a:t>Zu Feeder</a:t>
            </a:r>
            <a:endParaRPr b="0" lang="en-US" sz="1100" spc="-1" strike="noStrike">
              <a:solidFill>
                <a:srgbClr val="000000"/>
              </a:solidFill>
              <a:uFill>
                <a:solidFill>
                  <a:srgbClr val="ffffff"/>
                </a:solidFill>
              </a:uFill>
              <a:latin typeface="Arial"/>
            </a:endParaRPr>
          </a:p>
        </p:txBody>
      </p:sp>
      <p:sp>
        <p:nvSpPr>
          <p:cNvPr id="169" name="CustomShape 5"/>
          <p:cNvSpPr/>
          <p:nvPr/>
        </p:nvSpPr>
        <p:spPr>
          <a:xfrm>
            <a:off x="4297680" y="4465440"/>
            <a:ext cx="3291480" cy="91404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ZUS</a:t>
            </a:r>
            <a:endParaRPr b="0" lang="en-US" sz="1800" spc="-1" strike="noStrike">
              <a:solidFill>
                <a:srgbClr val="000000"/>
              </a:solidFill>
              <a:uFill>
                <a:solidFill>
                  <a:srgbClr val="ffffff"/>
                </a:solidFill>
              </a:uFill>
              <a:latin typeface="Arial"/>
            </a:endParaRPr>
          </a:p>
          <a:p>
            <a:pPr algn="ctr">
              <a:lnSpc>
                <a:spcPct val="100000"/>
              </a:lnSpc>
            </a:pPr>
            <a:r>
              <a:rPr b="0" lang="en-US" sz="1100" spc="-1" strike="noStrike">
                <a:solidFill>
                  <a:srgbClr val="000000"/>
                </a:solidFill>
                <a:uFill>
                  <a:solidFill>
                    <a:srgbClr val="ffffff"/>
                  </a:solidFill>
                </a:uFill>
                <a:latin typeface="Arial"/>
                <a:ea typeface="DejaVu Sans"/>
              </a:rPr>
              <a:t>Zu Server</a:t>
            </a:r>
            <a:endParaRPr b="0" lang="en-US" sz="1100" spc="-1" strike="noStrike">
              <a:solidFill>
                <a:srgbClr val="000000"/>
              </a:solidFill>
              <a:uFill>
                <a:solidFill>
                  <a:srgbClr val="ffffff"/>
                </a:solidFill>
              </a:uFill>
              <a:latin typeface="Arial"/>
            </a:endParaRPr>
          </a:p>
        </p:txBody>
      </p:sp>
      <p:sp>
        <p:nvSpPr>
          <p:cNvPr id="170" name="CustomShape 6"/>
          <p:cNvSpPr/>
          <p:nvPr/>
        </p:nvSpPr>
        <p:spPr>
          <a:xfrm>
            <a:off x="7772400" y="4572000"/>
            <a:ext cx="1645560" cy="27396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Zufs-foo.so</a:t>
            </a:r>
            <a:endParaRPr b="0" lang="en-US" sz="1800" spc="-1" strike="noStrike">
              <a:solidFill>
                <a:srgbClr val="000000"/>
              </a:solidFill>
              <a:uFill>
                <a:solidFill>
                  <a:srgbClr val="ffffff"/>
                </a:solidFill>
              </a:uFill>
              <a:latin typeface="Arial"/>
            </a:endParaRPr>
          </a:p>
        </p:txBody>
      </p:sp>
      <p:sp>
        <p:nvSpPr>
          <p:cNvPr id="171" name="CustomShape 7"/>
          <p:cNvSpPr/>
          <p:nvPr/>
        </p:nvSpPr>
        <p:spPr>
          <a:xfrm>
            <a:off x="7772400" y="4896000"/>
            <a:ext cx="1645560" cy="27396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Zufs-bar.so</a:t>
            </a:r>
            <a:endParaRPr b="0" lang="en-US" sz="1800" spc="-1" strike="noStrike">
              <a:solidFill>
                <a:srgbClr val="000000"/>
              </a:solidFill>
              <a:uFill>
                <a:solidFill>
                  <a:srgbClr val="ffffff"/>
                </a:solidFill>
              </a:uFill>
              <a:latin typeface="Arial"/>
            </a:endParaRPr>
          </a:p>
        </p:txBody>
      </p:sp>
      <p:sp>
        <p:nvSpPr>
          <p:cNvPr id="172" name="CustomShape 8"/>
          <p:cNvSpPr/>
          <p:nvPr/>
        </p:nvSpPr>
        <p:spPr>
          <a:xfrm>
            <a:off x="7772400" y="5256000"/>
            <a:ext cx="1645560" cy="27396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Zufs-mem.so</a:t>
            </a:r>
            <a:endParaRPr b="0" lang="en-US" sz="1800" spc="-1" strike="noStrike">
              <a:solidFill>
                <a:srgbClr val="000000"/>
              </a:solidFill>
              <a:uFill>
                <a:solidFill>
                  <a:srgbClr val="ffffff"/>
                </a:solidFill>
              </a:uFill>
              <a:latin typeface="Arial"/>
            </a:endParaRPr>
          </a:p>
        </p:txBody>
      </p:sp>
      <p:sp>
        <p:nvSpPr>
          <p:cNvPr id="173" name="Line 9"/>
          <p:cNvSpPr/>
          <p:nvPr/>
        </p:nvSpPr>
        <p:spPr>
          <a:xfrm>
            <a:off x="7589520" y="4663440"/>
            <a:ext cx="182880" cy="360"/>
          </a:xfrm>
          <a:prstGeom prst="line">
            <a:avLst/>
          </a:prstGeom>
          <a:ln>
            <a:solidFill>
              <a:srgbClr val="000000"/>
            </a:solidFill>
          </a:ln>
        </p:spPr>
        <p:style>
          <a:lnRef idx="0"/>
          <a:fillRef idx="0"/>
          <a:effectRef idx="0"/>
          <a:fontRef idx="minor"/>
        </p:style>
      </p:sp>
      <p:sp>
        <p:nvSpPr>
          <p:cNvPr id="174" name="Line 10"/>
          <p:cNvSpPr/>
          <p:nvPr/>
        </p:nvSpPr>
        <p:spPr>
          <a:xfrm flipH="1">
            <a:off x="7589520" y="5029200"/>
            <a:ext cx="182880" cy="360"/>
          </a:xfrm>
          <a:prstGeom prst="line">
            <a:avLst/>
          </a:prstGeom>
          <a:ln>
            <a:solidFill>
              <a:srgbClr val="000000"/>
            </a:solidFill>
          </a:ln>
        </p:spPr>
        <p:style>
          <a:lnRef idx="0"/>
          <a:fillRef idx="0"/>
          <a:effectRef idx="0"/>
          <a:fontRef idx="minor"/>
        </p:style>
      </p:sp>
      <p:sp>
        <p:nvSpPr>
          <p:cNvPr id="175" name="Line 11"/>
          <p:cNvSpPr/>
          <p:nvPr/>
        </p:nvSpPr>
        <p:spPr>
          <a:xfrm flipH="1" flipV="1">
            <a:off x="7498080" y="5303520"/>
            <a:ext cx="274320" cy="91440"/>
          </a:xfrm>
          <a:prstGeom prst="line">
            <a:avLst/>
          </a:prstGeom>
          <a:ln>
            <a:solidFill>
              <a:srgbClr val="000000"/>
            </a:solidFill>
          </a:ln>
        </p:spPr>
        <p:style>
          <a:lnRef idx="0"/>
          <a:fillRef idx="0"/>
          <a:effectRef idx="0"/>
          <a:fontRef idx="minor"/>
        </p:style>
      </p:sp>
      <p:sp>
        <p:nvSpPr>
          <p:cNvPr id="176" name="CustomShape 12"/>
          <p:cNvSpPr/>
          <p:nvPr/>
        </p:nvSpPr>
        <p:spPr>
          <a:xfrm>
            <a:off x="4480560" y="3200400"/>
            <a:ext cx="182520" cy="1554120"/>
          </a:xfrm>
          <a:prstGeom prst="rect">
            <a:avLst/>
          </a:prstGeom>
          <a:solidFill>
            <a:srgbClr val="00ff00"/>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zt</a:t>
            </a:r>
            <a:endParaRPr b="0" lang="en-US" sz="1800" spc="-1" strike="noStrike">
              <a:solidFill>
                <a:srgbClr val="000000"/>
              </a:solidFill>
              <a:uFill>
                <a:solidFill>
                  <a:srgbClr val="ffffff"/>
                </a:solidFill>
              </a:uFill>
              <a:latin typeface="Arial"/>
            </a:endParaRPr>
          </a:p>
        </p:txBody>
      </p:sp>
      <p:sp>
        <p:nvSpPr>
          <p:cNvPr id="177" name="CustomShape 13"/>
          <p:cNvSpPr/>
          <p:nvPr/>
        </p:nvSpPr>
        <p:spPr>
          <a:xfrm>
            <a:off x="4768560" y="3200400"/>
            <a:ext cx="182520" cy="1554120"/>
          </a:xfrm>
          <a:prstGeom prst="rect">
            <a:avLst/>
          </a:prstGeom>
          <a:solidFill>
            <a:srgbClr val="00ff00"/>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zt</a:t>
            </a:r>
            <a:endParaRPr b="0" lang="en-US" sz="1800" spc="-1" strike="noStrike">
              <a:solidFill>
                <a:srgbClr val="000000"/>
              </a:solidFill>
              <a:uFill>
                <a:solidFill>
                  <a:srgbClr val="ffffff"/>
                </a:solidFill>
              </a:uFill>
              <a:latin typeface="Arial"/>
            </a:endParaRPr>
          </a:p>
        </p:txBody>
      </p:sp>
      <p:sp>
        <p:nvSpPr>
          <p:cNvPr id="178" name="CustomShape 14"/>
          <p:cNvSpPr/>
          <p:nvPr/>
        </p:nvSpPr>
        <p:spPr>
          <a:xfrm>
            <a:off x="7000560" y="3200400"/>
            <a:ext cx="182520" cy="1554120"/>
          </a:xfrm>
          <a:prstGeom prst="rect">
            <a:avLst/>
          </a:prstGeom>
          <a:solidFill>
            <a:srgbClr val="00ff00"/>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zt</a:t>
            </a:r>
            <a:endParaRPr b="0" lang="en-US" sz="1800" spc="-1" strike="noStrike">
              <a:solidFill>
                <a:srgbClr val="000000"/>
              </a:solidFill>
              <a:uFill>
                <a:solidFill>
                  <a:srgbClr val="ffffff"/>
                </a:solidFill>
              </a:uFill>
              <a:latin typeface="Arial"/>
            </a:endParaRPr>
          </a:p>
        </p:txBody>
      </p:sp>
      <p:sp>
        <p:nvSpPr>
          <p:cNvPr id="179" name="CustomShape 15"/>
          <p:cNvSpPr/>
          <p:nvPr/>
        </p:nvSpPr>
        <p:spPr>
          <a:xfrm>
            <a:off x="5092560" y="3200400"/>
            <a:ext cx="182520" cy="1554120"/>
          </a:xfrm>
          <a:prstGeom prst="rect">
            <a:avLst/>
          </a:prstGeom>
          <a:solidFill>
            <a:srgbClr val="00ff00"/>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zt</a:t>
            </a:r>
            <a:endParaRPr b="0" lang="en-US" sz="1800" spc="-1" strike="noStrike">
              <a:solidFill>
                <a:srgbClr val="000000"/>
              </a:solidFill>
              <a:uFill>
                <a:solidFill>
                  <a:srgbClr val="ffffff"/>
                </a:solidFill>
              </a:uFill>
              <a:latin typeface="Arial"/>
            </a:endParaRPr>
          </a:p>
        </p:txBody>
      </p:sp>
      <p:sp>
        <p:nvSpPr>
          <p:cNvPr id="180" name="CustomShape 16"/>
          <p:cNvSpPr/>
          <p:nvPr/>
        </p:nvSpPr>
        <p:spPr>
          <a:xfrm>
            <a:off x="1097280" y="1737360"/>
            <a:ext cx="1096920" cy="9140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APP</a:t>
            </a:r>
            <a:endParaRPr b="0" lang="en-US" sz="1800" spc="-1" strike="noStrike">
              <a:solidFill>
                <a:srgbClr val="000000"/>
              </a:solidFill>
              <a:uFill>
                <a:solidFill>
                  <a:srgbClr val="ffffff"/>
                </a:solidFill>
              </a:uFill>
              <a:latin typeface="Arial"/>
            </a:endParaRPr>
          </a:p>
        </p:txBody>
      </p:sp>
      <p:sp>
        <p:nvSpPr>
          <p:cNvPr id="181" name="CustomShape 17"/>
          <p:cNvSpPr/>
          <p:nvPr/>
        </p:nvSpPr>
        <p:spPr>
          <a:xfrm>
            <a:off x="1097280" y="2925360"/>
            <a:ext cx="1096920" cy="9140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APP</a:t>
            </a:r>
            <a:endParaRPr b="0" lang="en-US" sz="1800" spc="-1" strike="noStrike">
              <a:solidFill>
                <a:srgbClr val="000000"/>
              </a:solidFill>
              <a:uFill>
                <a:solidFill>
                  <a:srgbClr val="ffffff"/>
                </a:solidFill>
              </a:uFill>
              <a:latin typeface="Arial"/>
            </a:endParaRPr>
          </a:p>
        </p:txBody>
      </p:sp>
      <p:sp>
        <p:nvSpPr>
          <p:cNvPr id="182" name="CustomShape 18"/>
          <p:cNvSpPr/>
          <p:nvPr/>
        </p:nvSpPr>
        <p:spPr>
          <a:xfrm>
            <a:off x="1097280" y="4077360"/>
            <a:ext cx="1096920" cy="9140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APP</a:t>
            </a:r>
            <a:endParaRPr b="0" lang="en-US" sz="1800" spc="-1" strike="noStrike">
              <a:solidFill>
                <a:srgbClr val="000000"/>
              </a:solidFill>
              <a:uFill>
                <a:solidFill>
                  <a:srgbClr val="ffffff"/>
                </a:solidFill>
              </a:uFill>
              <a:latin typeface="Arial"/>
            </a:endParaRPr>
          </a:p>
        </p:txBody>
      </p:sp>
      <p:sp>
        <p:nvSpPr>
          <p:cNvPr id="183" name="Line 19"/>
          <p:cNvSpPr/>
          <p:nvPr/>
        </p:nvSpPr>
        <p:spPr>
          <a:xfrm>
            <a:off x="3291840" y="914400"/>
            <a:ext cx="360" cy="3017520"/>
          </a:xfrm>
          <a:prstGeom prst="line">
            <a:avLst/>
          </a:prstGeom>
          <a:ln>
            <a:solidFill>
              <a:srgbClr val="000000"/>
            </a:solidFill>
          </a:ln>
        </p:spPr>
        <p:style>
          <a:lnRef idx="0"/>
          <a:fillRef idx="0"/>
          <a:effectRef idx="0"/>
          <a:fontRef idx="minor"/>
        </p:style>
      </p:sp>
      <p:sp>
        <p:nvSpPr>
          <p:cNvPr id="184" name="Line 20"/>
          <p:cNvSpPr/>
          <p:nvPr/>
        </p:nvSpPr>
        <p:spPr>
          <a:xfrm>
            <a:off x="3311280" y="3931920"/>
            <a:ext cx="8686800" cy="360"/>
          </a:xfrm>
          <a:prstGeom prst="line">
            <a:avLst/>
          </a:prstGeom>
          <a:ln>
            <a:solidFill>
              <a:srgbClr val="000000"/>
            </a:solidFill>
          </a:ln>
        </p:spPr>
        <p:style>
          <a:lnRef idx="0"/>
          <a:fillRef idx="0"/>
          <a:effectRef idx="0"/>
          <a:fontRef idx="minor"/>
        </p:style>
      </p:sp>
      <p:sp>
        <p:nvSpPr>
          <p:cNvPr id="185" name="CustomShape 21"/>
          <p:cNvSpPr/>
          <p:nvPr/>
        </p:nvSpPr>
        <p:spPr>
          <a:xfrm>
            <a:off x="9235440" y="1280160"/>
            <a:ext cx="164556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kernel</a:t>
            </a:r>
            <a:endParaRPr b="0" lang="en-US" sz="1800" spc="-1" strike="noStrike">
              <a:solidFill>
                <a:srgbClr val="000000"/>
              </a:solidFill>
              <a:uFill>
                <a:solidFill>
                  <a:srgbClr val="ffffff"/>
                </a:solidFill>
              </a:uFill>
              <a:latin typeface="Arial"/>
            </a:endParaRPr>
          </a:p>
        </p:txBody>
      </p:sp>
      <p:sp>
        <p:nvSpPr>
          <p:cNvPr id="186" name="CustomShape 22"/>
          <p:cNvSpPr/>
          <p:nvPr/>
        </p:nvSpPr>
        <p:spPr>
          <a:xfrm>
            <a:off x="955440" y="5780160"/>
            <a:ext cx="164556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User space</a:t>
            </a:r>
            <a:endParaRPr b="0" lang="en-US" sz="1800" spc="-1" strike="noStrike">
              <a:solidFill>
                <a:srgbClr val="000000"/>
              </a:solidFill>
              <a:uFill>
                <a:solidFill>
                  <a:srgbClr val="ffffff"/>
                </a:solidFill>
              </a:uFill>
              <a:latin typeface="Arial"/>
            </a:endParaRPr>
          </a:p>
        </p:txBody>
      </p:sp>
      <p:sp>
        <p:nvSpPr>
          <p:cNvPr id="187" name="Line 23"/>
          <p:cNvSpPr/>
          <p:nvPr/>
        </p:nvSpPr>
        <p:spPr>
          <a:xfrm>
            <a:off x="2194560" y="2194560"/>
            <a:ext cx="2377440" cy="548640"/>
          </a:xfrm>
          <a:prstGeom prst="line">
            <a:avLst/>
          </a:prstGeom>
          <a:ln>
            <a:solidFill>
              <a:srgbClr val="3465a4"/>
            </a:solidFill>
            <a:headEnd len="med" type="triangle" w="med"/>
            <a:tailEnd len="med" type="triangle" w="med"/>
          </a:ln>
        </p:spPr>
        <p:style>
          <a:lnRef idx="0"/>
          <a:fillRef idx="0"/>
          <a:effectRef idx="0"/>
          <a:fontRef idx="minor"/>
        </p:style>
      </p:sp>
      <p:sp>
        <p:nvSpPr>
          <p:cNvPr id="188" name="Line 24"/>
          <p:cNvSpPr/>
          <p:nvPr/>
        </p:nvSpPr>
        <p:spPr>
          <a:xfrm flipV="1">
            <a:off x="2194560" y="2743200"/>
            <a:ext cx="2651760" cy="459360"/>
          </a:xfrm>
          <a:prstGeom prst="line">
            <a:avLst/>
          </a:prstGeom>
          <a:ln>
            <a:solidFill>
              <a:srgbClr val="3465a4"/>
            </a:solidFill>
            <a:headEnd len="med" type="triangle" w="med"/>
            <a:tailEnd len="med" type="triangle" w="med"/>
          </a:ln>
        </p:spPr>
        <p:style>
          <a:lnRef idx="0"/>
          <a:fillRef idx="0"/>
          <a:effectRef idx="0"/>
          <a:fontRef idx="minor"/>
        </p:style>
      </p:sp>
      <p:sp>
        <p:nvSpPr>
          <p:cNvPr id="189" name="Line 25"/>
          <p:cNvSpPr/>
          <p:nvPr/>
        </p:nvSpPr>
        <p:spPr>
          <a:xfrm flipV="1">
            <a:off x="2194560" y="2651760"/>
            <a:ext cx="3017520" cy="1846800"/>
          </a:xfrm>
          <a:prstGeom prst="line">
            <a:avLst/>
          </a:prstGeom>
          <a:ln>
            <a:solidFill>
              <a:srgbClr val="3465a4"/>
            </a:solidFill>
            <a:headEnd len="med" type="triangle" w="med"/>
            <a:tailEnd len="med" type="triangle" w="med"/>
          </a:ln>
        </p:spPr>
        <p:style>
          <a:lnRef idx="0"/>
          <a:fillRef idx="0"/>
          <a:effectRef idx="0"/>
          <a:fontRef idx="minor"/>
        </p:style>
      </p:sp>
      <p:sp>
        <p:nvSpPr>
          <p:cNvPr id="190" name="Line 26"/>
          <p:cNvSpPr/>
          <p:nvPr/>
        </p:nvSpPr>
        <p:spPr>
          <a:xfrm>
            <a:off x="4572000" y="2743200"/>
            <a:ext cx="360" cy="731520"/>
          </a:xfrm>
          <a:prstGeom prst="line">
            <a:avLst/>
          </a:prstGeom>
          <a:ln>
            <a:solidFill>
              <a:srgbClr val="3465a4"/>
            </a:solidFill>
            <a:headEnd len="med" type="triangle" w="med"/>
            <a:tailEnd len="med" type="triangle" w="med"/>
          </a:ln>
        </p:spPr>
        <p:style>
          <a:lnRef idx="0"/>
          <a:fillRef idx="0"/>
          <a:effectRef idx="0"/>
          <a:fontRef idx="minor"/>
        </p:style>
      </p:sp>
      <p:sp>
        <p:nvSpPr>
          <p:cNvPr id="191" name="Line 27"/>
          <p:cNvSpPr/>
          <p:nvPr/>
        </p:nvSpPr>
        <p:spPr>
          <a:xfrm>
            <a:off x="4860000" y="2743200"/>
            <a:ext cx="360" cy="731520"/>
          </a:xfrm>
          <a:prstGeom prst="line">
            <a:avLst/>
          </a:prstGeom>
          <a:ln>
            <a:solidFill>
              <a:srgbClr val="3465a4"/>
            </a:solidFill>
            <a:headEnd len="med" type="triangle" w="med"/>
            <a:tailEnd len="med" type="triangle" w="med"/>
          </a:ln>
        </p:spPr>
        <p:style>
          <a:lnRef idx="0"/>
          <a:fillRef idx="0"/>
          <a:effectRef idx="0"/>
          <a:fontRef idx="minor"/>
        </p:style>
      </p:sp>
      <p:sp>
        <p:nvSpPr>
          <p:cNvPr id="192" name="Line 28"/>
          <p:cNvSpPr/>
          <p:nvPr/>
        </p:nvSpPr>
        <p:spPr>
          <a:xfrm>
            <a:off x="5184000" y="2743200"/>
            <a:ext cx="360" cy="731520"/>
          </a:xfrm>
          <a:prstGeom prst="line">
            <a:avLst/>
          </a:prstGeom>
          <a:ln>
            <a:solidFill>
              <a:srgbClr val="3465a4"/>
            </a:solidFill>
            <a:headEnd len="med" type="triangle" w="med"/>
            <a:tailEnd len="med" type="triangle" w="med"/>
          </a:ln>
        </p:spPr>
        <p:style>
          <a:lnRef idx="0"/>
          <a:fillRef idx="0"/>
          <a:effectRef idx="0"/>
          <a:fontRef idx="minor"/>
        </p:style>
      </p:sp>
      <p:sp>
        <p:nvSpPr>
          <p:cNvPr id="193" name="CustomShape 29"/>
          <p:cNvSpPr/>
          <p:nvPr/>
        </p:nvSpPr>
        <p:spPr>
          <a:xfrm>
            <a:off x="5427360" y="3749040"/>
            <a:ext cx="119700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per cpu ...</a:t>
            </a:r>
            <a:endParaRPr b="0" lang="en-US" sz="1800" spc="-1" strike="noStrike">
              <a:solidFill>
                <a:srgbClr val="000000"/>
              </a:solidFill>
              <a:uFill>
                <a:solidFill>
                  <a:srgbClr val="ffffff"/>
                </a:solidFill>
              </a:uFill>
              <a:latin typeface="Arial"/>
            </a:endParaRPr>
          </a:p>
        </p:txBody>
      </p:sp>
      <p:sp>
        <p:nvSpPr>
          <p:cNvPr id="194" name="CustomShape 30"/>
          <p:cNvSpPr/>
          <p:nvPr/>
        </p:nvSpPr>
        <p:spPr>
          <a:xfrm>
            <a:off x="8778240" y="3291840"/>
            <a:ext cx="126684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ZU Thread</a:t>
            </a:r>
            <a:endParaRPr b="0" lang="en-US" sz="1800" spc="-1" strike="noStrike">
              <a:solidFill>
                <a:srgbClr val="000000"/>
              </a:solidFill>
              <a:uFill>
                <a:solidFill>
                  <a:srgbClr val="ffffff"/>
                </a:solidFill>
              </a:uFill>
              <a:latin typeface="Arial"/>
            </a:endParaRPr>
          </a:p>
        </p:txBody>
      </p:sp>
      <p:sp>
        <p:nvSpPr>
          <p:cNvPr id="195" name="Line 31"/>
          <p:cNvSpPr/>
          <p:nvPr/>
        </p:nvSpPr>
        <p:spPr>
          <a:xfrm flipV="1">
            <a:off x="5212080" y="3474720"/>
            <a:ext cx="3566160" cy="274320"/>
          </a:xfrm>
          <a:prstGeom prst="line">
            <a:avLst/>
          </a:prstGeom>
          <a:ln>
            <a:solidFill>
              <a:srgbClr val="3465a4"/>
            </a:solidFill>
            <a:headEnd len="med" type="triangle" w="med"/>
            <a:tailEnd len="med" type="oval" w="med"/>
          </a:ln>
        </p:spPr>
        <p:style>
          <a:lnRef idx="0"/>
          <a:fillRef idx="0"/>
          <a:effectRef idx="0"/>
          <a:fontRef idx="minor"/>
        </p:style>
      </p:sp>
    </p:spTree>
  </p:cSld>
  <p:transition spd="med">
    <p:fade/>
  </p:transition>
  <p:timing>
    <p:tnLst>
      <p:par>
        <p:cTn id="3" dur="indefinite" restart="never" nodeType="tmRoot">
          <p:childTnLst>
            <p:seq>
              <p:cTn id="4" nodeType="mainSeq"/>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CustomShape 1"/>
          <p:cNvSpPr/>
          <p:nvPr/>
        </p:nvSpPr>
        <p:spPr>
          <a:xfrm>
            <a:off x="262800" y="240480"/>
            <a:ext cx="11657880" cy="9039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In Theory</a:t>
            </a:r>
            <a:endParaRPr b="0" lang="en-US" sz="3000" spc="-1" strike="noStrike">
              <a:solidFill>
                <a:srgbClr val="000000"/>
              </a:solidFill>
              <a:uFill>
                <a:solidFill>
                  <a:srgbClr val="ffffff"/>
                </a:solidFill>
              </a:uFill>
              <a:latin typeface="Arial"/>
            </a:endParaRPr>
          </a:p>
        </p:txBody>
      </p:sp>
      <p:sp>
        <p:nvSpPr>
          <p:cNvPr id="197" name="CustomShape 2"/>
          <p:cNvSpPr/>
          <p:nvPr/>
        </p:nvSpPr>
        <p:spPr>
          <a:xfrm>
            <a:off x="262800" y="1733400"/>
            <a:ext cx="11657880" cy="4479120"/>
          </a:xfrm>
          <a:prstGeom prst="rect">
            <a:avLst/>
          </a:prstGeom>
          <a:noFill/>
          <a:ln>
            <a:noFill/>
          </a:ln>
        </p:spPr>
        <p:style>
          <a:lnRef idx="0"/>
          <a:fillRef idx="0"/>
          <a:effectRef idx="0"/>
          <a:fontRef idx="minor"/>
        </p:style>
        <p:txBody>
          <a:bodyPr lIns="90000" rIns="90000" tIns="45000" bIns="45000"/>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ff"/>
                </a:solidFill>
                <a:uFill>
                  <a:solidFill>
                    <a:srgbClr val="ffffff"/>
                  </a:solidFill>
                </a:uFill>
                <a:latin typeface="Arial"/>
              </a:rPr>
              <a:t>ZT</a:t>
            </a:r>
            <a:r>
              <a:rPr b="0" lang="en-US" sz="2200" spc="-1" strike="noStrike">
                <a:solidFill>
                  <a:srgbClr val="000000"/>
                </a:solidFill>
                <a:uFill>
                  <a:solidFill>
                    <a:srgbClr val="ffffff"/>
                  </a:solidFill>
                </a:uFill>
                <a:latin typeface="Arial"/>
              </a:rPr>
              <a:t> - ZUFS Thread per CPU, affinity on a single CPU (thread_fifo/rr)</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Special ZUFS communication file per ZT (O_TMPFILE + IOCTL_ZUFS_INIT)</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ff"/>
                </a:solidFill>
                <a:uFill>
                  <a:solidFill>
                    <a:srgbClr val="ffffff"/>
                  </a:solidFill>
                </a:uFill>
                <a:latin typeface="Arial"/>
              </a:rPr>
              <a:t>ZT-vma</a:t>
            </a:r>
            <a:r>
              <a:rPr b="0" lang="en-US" sz="2200" spc="-1" strike="noStrike">
                <a:solidFill>
                  <a:srgbClr val="000000"/>
                </a:solidFill>
                <a:uFill>
                  <a:solidFill>
                    <a:srgbClr val="ffffff"/>
                  </a:solidFill>
                </a:uFill>
                <a:latin typeface="Arial"/>
              </a:rPr>
              <a:t> - Mmap 4M vma zero copy communication area per ZT</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IOCTL_ZU_WAIT_OPT – threads sleeps in Kernel waiting for an operation</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On App IO current CPU ZT is selected, app pages mapped into ZT-vma. Server thread released with an operation</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After execution, ZT returns to kernel (IOCTL_ZU_WAIT_OPT), app is released, Server wait for new operation.</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On exit (or server crash) file is closed, Kernel cleans all resources</a:t>
            </a:r>
            <a:endParaRPr b="0" lang="en-US" sz="2200" spc="-1" strike="noStrike">
              <a:solidFill>
                <a:srgbClr val="000000"/>
              </a:solidFill>
              <a:uFill>
                <a:solidFill>
                  <a:srgbClr val="ffffff"/>
                </a:solidFill>
              </a:uFill>
              <a:latin typeface="Arial"/>
            </a:endParaRPr>
          </a:p>
        </p:txBody>
      </p:sp>
      <p:sp>
        <p:nvSpPr>
          <p:cNvPr id="198"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199"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6DDB4F73-11E3-4049-AA14-6A9D41DC6D80}"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Tree>
  </p:cSld>
  <p:transition spd="med">
    <p:fade/>
  </p:transition>
  <p:timing>
    <p:tnLst>
      <p:par>
        <p:cTn id="5" dur="indefinite" restart="never" nodeType="tmRoot">
          <p:childTnLst>
            <p:seq>
              <p:cTn id="6" nodeType="mainSeq"/>
              <p:prevCondLst>
                <p:cond delay="0" evt="onPrev">
                  <p:tgtEl>
                    <p:sldTgt/>
                  </p:tgtEl>
                </p:cond>
              </p:prevCondLst>
              <p:nextCondLst>
                <p:cond delay="0"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CustomShape 1"/>
          <p:cNvSpPr/>
          <p:nvPr/>
        </p:nvSpPr>
        <p:spPr>
          <a:xfrm>
            <a:off x="262800" y="240480"/>
            <a:ext cx="11657880" cy="9039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In theory</a:t>
            </a:r>
            <a:endParaRPr b="0" lang="en-US" sz="3000" spc="-1" strike="noStrike">
              <a:solidFill>
                <a:srgbClr val="000000"/>
              </a:solidFill>
              <a:uFill>
                <a:solidFill>
                  <a:srgbClr val="ffffff"/>
                </a:solidFill>
              </a:uFill>
              <a:latin typeface="Arial"/>
            </a:endParaRPr>
          </a:p>
        </p:txBody>
      </p:sp>
      <p:sp>
        <p:nvSpPr>
          <p:cNvPr id="201" name="CustomShape 2"/>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02" name="CustomShape 3"/>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5D53E3C9-672B-4FE4-8EF9-D94AFF592CFD}"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03" name="CustomShape 4"/>
          <p:cNvSpPr/>
          <p:nvPr/>
        </p:nvSpPr>
        <p:spPr>
          <a:xfrm>
            <a:off x="4297680" y="1280160"/>
            <a:ext cx="3291480" cy="137124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ZUF</a:t>
            </a:r>
            <a:endParaRPr b="0" lang="en-US" sz="1800" spc="-1" strike="noStrike">
              <a:solidFill>
                <a:srgbClr val="000000"/>
              </a:solidFill>
              <a:uFill>
                <a:solidFill>
                  <a:srgbClr val="ffffff"/>
                </a:solidFill>
              </a:uFill>
              <a:latin typeface="Arial"/>
            </a:endParaRPr>
          </a:p>
          <a:p>
            <a:pPr algn="ctr">
              <a:lnSpc>
                <a:spcPct val="100000"/>
              </a:lnSpc>
            </a:pPr>
            <a:r>
              <a:rPr b="0" lang="en-US" sz="1100" spc="-1" strike="noStrike">
                <a:solidFill>
                  <a:srgbClr val="000000"/>
                </a:solidFill>
                <a:uFill>
                  <a:solidFill>
                    <a:srgbClr val="ffffff"/>
                  </a:solidFill>
                </a:uFill>
                <a:latin typeface="Arial"/>
                <a:ea typeface="DejaVu Sans"/>
              </a:rPr>
              <a:t>Zu Feeder</a:t>
            </a:r>
            <a:endParaRPr b="0" lang="en-US" sz="1100" spc="-1" strike="noStrike">
              <a:solidFill>
                <a:srgbClr val="000000"/>
              </a:solidFill>
              <a:uFill>
                <a:solidFill>
                  <a:srgbClr val="ffffff"/>
                </a:solidFill>
              </a:uFill>
              <a:latin typeface="Arial"/>
            </a:endParaRPr>
          </a:p>
        </p:txBody>
      </p:sp>
      <p:sp>
        <p:nvSpPr>
          <p:cNvPr id="204" name="CustomShape 5"/>
          <p:cNvSpPr/>
          <p:nvPr/>
        </p:nvSpPr>
        <p:spPr>
          <a:xfrm>
            <a:off x="4297680" y="5212080"/>
            <a:ext cx="3291480" cy="914040"/>
          </a:xfrm>
          <a:prstGeom prst="rect">
            <a:avLst/>
          </a:prstGeom>
          <a:solidFill>
            <a:srgbClr val="729fc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ZUS</a:t>
            </a:r>
            <a:endParaRPr b="0" lang="en-US" sz="1800" spc="-1" strike="noStrike">
              <a:solidFill>
                <a:srgbClr val="000000"/>
              </a:solidFill>
              <a:uFill>
                <a:solidFill>
                  <a:srgbClr val="ffffff"/>
                </a:solidFill>
              </a:uFill>
              <a:latin typeface="Arial"/>
            </a:endParaRPr>
          </a:p>
          <a:p>
            <a:pPr algn="ctr">
              <a:lnSpc>
                <a:spcPct val="100000"/>
              </a:lnSpc>
            </a:pPr>
            <a:r>
              <a:rPr b="0" lang="en-US" sz="1100" spc="-1" strike="noStrike">
                <a:solidFill>
                  <a:srgbClr val="000000"/>
                </a:solidFill>
                <a:uFill>
                  <a:solidFill>
                    <a:srgbClr val="ffffff"/>
                  </a:solidFill>
                </a:uFill>
                <a:latin typeface="Arial"/>
                <a:ea typeface="DejaVu Sans"/>
              </a:rPr>
              <a:t>Zu Server</a:t>
            </a:r>
            <a:endParaRPr b="0" lang="en-US" sz="1100" spc="-1" strike="noStrike">
              <a:solidFill>
                <a:srgbClr val="000000"/>
              </a:solidFill>
              <a:uFill>
                <a:solidFill>
                  <a:srgbClr val="ffffff"/>
                </a:solidFill>
              </a:uFill>
              <a:latin typeface="Arial"/>
            </a:endParaRPr>
          </a:p>
        </p:txBody>
      </p:sp>
      <p:sp>
        <p:nvSpPr>
          <p:cNvPr id="205" name="CustomShape 6"/>
          <p:cNvSpPr/>
          <p:nvPr/>
        </p:nvSpPr>
        <p:spPr>
          <a:xfrm>
            <a:off x="4785480" y="2377440"/>
            <a:ext cx="974880" cy="3090600"/>
          </a:xfrm>
          <a:prstGeom prst="rect">
            <a:avLst/>
          </a:prstGeom>
          <a:solidFill>
            <a:srgbClr val="00ff00"/>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Zu </a:t>
            </a:r>
            <a:endParaRPr b="0" lang="en-US" sz="1800" spc="-1" strike="noStrike">
              <a:solidFill>
                <a:srgbClr val="000000"/>
              </a:solidFill>
              <a:uFill>
                <a:solidFill>
                  <a:srgbClr val="ffffff"/>
                </a:solidFill>
              </a:uFill>
              <a:latin typeface="Arial"/>
            </a:endParaRPr>
          </a:p>
          <a:p>
            <a:pPr algn="ctr">
              <a:lnSpc>
                <a:spcPct val="100000"/>
              </a:lnSpc>
            </a:pPr>
            <a:r>
              <a:rPr b="0" lang="en-US" sz="1800" spc="-1" strike="noStrike">
                <a:solidFill>
                  <a:srgbClr val="000000"/>
                </a:solidFill>
                <a:uFill>
                  <a:solidFill>
                    <a:srgbClr val="ffffff"/>
                  </a:solidFill>
                </a:uFill>
                <a:latin typeface="Arial"/>
                <a:ea typeface="DejaVu Sans"/>
              </a:rPr>
              <a:t>Thread</a:t>
            </a:r>
            <a:endParaRPr b="0" lang="en-US" sz="1800" spc="-1" strike="noStrike">
              <a:solidFill>
                <a:srgbClr val="000000"/>
              </a:solidFill>
              <a:uFill>
                <a:solidFill>
                  <a:srgbClr val="ffffff"/>
                </a:solidFill>
              </a:uFill>
              <a:latin typeface="Arial"/>
            </a:endParaRPr>
          </a:p>
        </p:txBody>
      </p:sp>
      <p:sp>
        <p:nvSpPr>
          <p:cNvPr id="206" name="CustomShape 7"/>
          <p:cNvSpPr/>
          <p:nvPr/>
        </p:nvSpPr>
        <p:spPr>
          <a:xfrm>
            <a:off x="1097280" y="1737360"/>
            <a:ext cx="1096920" cy="9140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APP</a:t>
            </a:r>
            <a:endParaRPr b="0" lang="en-US" sz="1800" spc="-1" strike="noStrike">
              <a:solidFill>
                <a:srgbClr val="000000"/>
              </a:solidFill>
              <a:uFill>
                <a:solidFill>
                  <a:srgbClr val="ffffff"/>
                </a:solidFill>
              </a:uFill>
              <a:latin typeface="Arial"/>
            </a:endParaRPr>
          </a:p>
        </p:txBody>
      </p:sp>
      <p:sp>
        <p:nvSpPr>
          <p:cNvPr id="207" name="Line 8"/>
          <p:cNvSpPr/>
          <p:nvPr/>
        </p:nvSpPr>
        <p:spPr>
          <a:xfrm>
            <a:off x="3291840" y="914400"/>
            <a:ext cx="360" cy="3017520"/>
          </a:xfrm>
          <a:prstGeom prst="line">
            <a:avLst/>
          </a:prstGeom>
          <a:ln>
            <a:solidFill>
              <a:srgbClr val="000000"/>
            </a:solidFill>
          </a:ln>
        </p:spPr>
        <p:style>
          <a:lnRef idx="0"/>
          <a:fillRef idx="0"/>
          <a:effectRef idx="0"/>
          <a:fontRef idx="minor"/>
        </p:style>
      </p:sp>
      <p:sp>
        <p:nvSpPr>
          <p:cNvPr id="208" name="Line 9"/>
          <p:cNvSpPr/>
          <p:nvPr/>
        </p:nvSpPr>
        <p:spPr>
          <a:xfrm>
            <a:off x="3311280" y="3931920"/>
            <a:ext cx="8686800" cy="360"/>
          </a:xfrm>
          <a:prstGeom prst="line">
            <a:avLst/>
          </a:prstGeom>
          <a:ln>
            <a:solidFill>
              <a:srgbClr val="000000"/>
            </a:solidFill>
          </a:ln>
        </p:spPr>
        <p:style>
          <a:lnRef idx="0"/>
          <a:fillRef idx="0"/>
          <a:effectRef idx="0"/>
          <a:fontRef idx="minor"/>
        </p:style>
      </p:sp>
      <p:sp>
        <p:nvSpPr>
          <p:cNvPr id="209" name="CustomShape 10"/>
          <p:cNvSpPr/>
          <p:nvPr/>
        </p:nvSpPr>
        <p:spPr>
          <a:xfrm>
            <a:off x="9235440" y="1280160"/>
            <a:ext cx="164556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kernel</a:t>
            </a:r>
            <a:endParaRPr b="0" lang="en-US" sz="1800" spc="-1" strike="noStrike">
              <a:solidFill>
                <a:srgbClr val="000000"/>
              </a:solidFill>
              <a:uFill>
                <a:solidFill>
                  <a:srgbClr val="ffffff"/>
                </a:solidFill>
              </a:uFill>
              <a:latin typeface="Arial"/>
            </a:endParaRPr>
          </a:p>
        </p:txBody>
      </p:sp>
      <p:sp>
        <p:nvSpPr>
          <p:cNvPr id="210" name="CustomShape 11"/>
          <p:cNvSpPr/>
          <p:nvPr/>
        </p:nvSpPr>
        <p:spPr>
          <a:xfrm>
            <a:off x="955440" y="5780160"/>
            <a:ext cx="1645560" cy="3034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User space</a:t>
            </a:r>
            <a:endParaRPr b="0" lang="en-US" sz="1800" spc="-1" strike="noStrike">
              <a:solidFill>
                <a:srgbClr val="000000"/>
              </a:solidFill>
              <a:uFill>
                <a:solidFill>
                  <a:srgbClr val="ffffff"/>
                </a:solidFill>
              </a:uFill>
              <a:latin typeface="Arial"/>
            </a:endParaRPr>
          </a:p>
        </p:txBody>
      </p:sp>
      <p:sp>
        <p:nvSpPr>
          <p:cNvPr id="211" name="Line 12"/>
          <p:cNvSpPr/>
          <p:nvPr/>
        </p:nvSpPr>
        <p:spPr>
          <a:xfrm>
            <a:off x="2194560" y="2194560"/>
            <a:ext cx="2651760" cy="274320"/>
          </a:xfrm>
          <a:prstGeom prst="line">
            <a:avLst/>
          </a:prstGeom>
          <a:ln>
            <a:solidFill>
              <a:srgbClr val="3465a4"/>
            </a:solidFill>
            <a:headEnd len="med" type="triangle" w="med"/>
            <a:tailEnd len="med" type="triangle" w="med"/>
          </a:ln>
        </p:spPr>
        <p:style>
          <a:lnRef idx="0"/>
          <a:fillRef idx="0"/>
          <a:effectRef idx="0"/>
          <a:fontRef idx="minor"/>
        </p:style>
      </p:sp>
      <p:sp>
        <p:nvSpPr>
          <p:cNvPr id="212" name="CustomShape 13"/>
          <p:cNvSpPr/>
          <p:nvPr/>
        </p:nvSpPr>
        <p:spPr>
          <a:xfrm>
            <a:off x="2184120" y="3325680"/>
            <a:ext cx="2673000" cy="548280"/>
          </a:xfrm>
          <a:prstGeom prst="rect">
            <a:avLst/>
          </a:prstGeom>
          <a:solidFill>
            <a:srgbClr val="00ff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zt-vma</a:t>
            </a:r>
            <a:endParaRPr b="0" lang="en-US" sz="1800" spc="-1" strike="noStrike">
              <a:solidFill>
                <a:srgbClr val="000000"/>
              </a:solidFill>
              <a:uFill>
                <a:solidFill>
                  <a:srgbClr val="ffffff"/>
                </a:solidFill>
              </a:uFill>
              <a:latin typeface="Arial"/>
            </a:endParaRPr>
          </a:p>
        </p:txBody>
      </p:sp>
      <p:sp>
        <p:nvSpPr>
          <p:cNvPr id="213" name="CustomShape 14"/>
          <p:cNvSpPr/>
          <p:nvPr/>
        </p:nvSpPr>
        <p:spPr>
          <a:xfrm>
            <a:off x="3166560" y="2147760"/>
            <a:ext cx="456840" cy="4568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P</a:t>
            </a:r>
            <a:endParaRPr b="0" lang="en-US" sz="1800" spc="-1" strike="noStrike">
              <a:solidFill>
                <a:srgbClr val="000000"/>
              </a:solidFill>
              <a:uFill>
                <a:solidFill>
                  <a:srgbClr val="ffffff"/>
                </a:solidFill>
              </a:uFill>
              <a:latin typeface="Arial"/>
            </a:endParaRPr>
          </a:p>
        </p:txBody>
      </p:sp>
      <p:sp>
        <p:nvSpPr>
          <p:cNvPr id="214" name="CustomShape 15"/>
          <p:cNvSpPr/>
          <p:nvPr/>
        </p:nvSpPr>
        <p:spPr>
          <a:xfrm>
            <a:off x="3274560" y="2255760"/>
            <a:ext cx="456840" cy="4568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P</a:t>
            </a:r>
            <a:endParaRPr b="0" lang="en-US" sz="1800" spc="-1" strike="noStrike">
              <a:solidFill>
                <a:srgbClr val="000000"/>
              </a:solidFill>
              <a:uFill>
                <a:solidFill>
                  <a:srgbClr val="ffffff"/>
                </a:solidFill>
              </a:uFill>
              <a:latin typeface="Arial"/>
            </a:endParaRPr>
          </a:p>
        </p:txBody>
      </p:sp>
      <p:sp>
        <p:nvSpPr>
          <p:cNvPr id="215" name="CustomShape 16"/>
          <p:cNvSpPr/>
          <p:nvPr/>
        </p:nvSpPr>
        <p:spPr>
          <a:xfrm>
            <a:off x="3418560" y="2399760"/>
            <a:ext cx="456840" cy="456840"/>
          </a:xfrm>
          <a:prstGeom prst="rect">
            <a:avLst/>
          </a:prstGeom>
          <a:solidFill>
            <a:srgbClr val="ff00ff"/>
          </a:solidFill>
          <a:ln>
            <a:solidFill>
              <a:srgbClr val="3465a4"/>
            </a:solidFill>
          </a:ln>
        </p:spPr>
        <p:style>
          <a:lnRef idx="0"/>
          <a:fillRef idx="0"/>
          <a:effectRef idx="0"/>
          <a:fontRef idx="minor"/>
        </p:style>
        <p:txBody>
          <a:bodyPr wrap="none" lIns="90000" rIns="90000" tIns="45000" bIns="45000" anchor="ctr"/>
          <a:p>
            <a:pPr algn="ctr">
              <a:lnSpc>
                <a:spcPct val="100000"/>
              </a:lnSpc>
            </a:pPr>
            <a:r>
              <a:rPr b="0" lang="en-US" sz="1800" spc="-1" strike="noStrike">
                <a:solidFill>
                  <a:srgbClr val="000000"/>
                </a:solidFill>
                <a:uFill>
                  <a:solidFill>
                    <a:srgbClr val="ffffff"/>
                  </a:solidFill>
                </a:uFill>
                <a:latin typeface="Arial"/>
                <a:ea typeface="DejaVu Sans"/>
              </a:rPr>
              <a:t>P</a:t>
            </a:r>
            <a:endParaRPr b="0" lang="en-US" sz="1800" spc="-1" strike="noStrike">
              <a:solidFill>
                <a:srgbClr val="000000"/>
              </a:solidFill>
              <a:uFill>
                <a:solidFill>
                  <a:srgbClr val="ffffff"/>
                </a:solidFill>
              </a:uFill>
              <a:latin typeface="Arial"/>
            </a:endParaRPr>
          </a:p>
        </p:txBody>
      </p:sp>
      <p:sp>
        <p:nvSpPr>
          <p:cNvPr id="216" name="Line 17"/>
          <p:cNvSpPr/>
          <p:nvPr/>
        </p:nvSpPr>
        <p:spPr>
          <a:xfrm flipH="1">
            <a:off x="2377440" y="2468880"/>
            <a:ext cx="789120" cy="914400"/>
          </a:xfrm>
          <a:prstGeom prst="line">
            <a:avLst/>
          </a:prstGeom>
          <a:ln>
            <a:solidFill>
              <a:srgbClr val="000000"/>
            </a:solidFill>
          </a:ln>
        </p:spPr>
        <p:style>
          <a:lnRef idx="0"/>
          <a:fillRef idx="0"/>
          <a:effectRef idx="0"/>
          <a:fontRef idx="minor"/>
        </p:style>
      </p:sp>
      <p:sp>
        <p:nvSpPr>
          <p:cNvPr id="217" name="Line 18"/>
          <p:cNvSpPr/>
          <p:nvPr/>
        </p:nvSpPr>
        <p:spPr>
          <a:xfrm flipH="1">
            <a:off x="2743200" y="2712960"/>
            <a:ext cx="548640" cy="612720"/>
          </a:xfrm>
          <a:prstGeom prst="line">
            <a:avLst/>
          </a:prstGeom>
          <a:ln>
            <a:solidFill>
              <a:srgbClr val="000000"/>
            </a:solidFill>
          </a:ln>
        </p:spPr>
        <p:style>
          <a:lnRef idx="0"/>
          <a:fillRef idx="0"/>
          <a:effectRef idx="0"/>
          <a:fontRef idx="minor"/>
        </p:style>
      </p:sp>
      <p:sp>
        <p:nvSpPr>
          <p:cNvPr id="218" name="Line 19"/>
          <p:cNvSpPr/>
          <p:nvPr/>
        </p:nvSpPr>
        <p:spPr>
          <a:xfrm flipH="1">
            <a:off x="3108960" y="2784960"/>
            <a:ext cx="398880" cy="540720"/>
          </a:xfrm>
          <a:prstGeom prst="line">
            <a:avLst/>
          </a:prstGeom>
          <a:ln>
            <a:solidFill>
              <a:srgbClr val="000000"/>
            </a:solidFill>
          </a:ln>
        </p:spPr>
        <p:style>
          <a:lnRef idx="0"/>
          <a:fillRef idx="0"/>
          <a:effectRef idx="0"/>
          <a:fontRef idx="minor"/>
        </p:style>
      </p:sp>
      <p:sp>
        <p:nvSpPr>
          <p:cNvPr id="219" name="CustomShape 20"/>
          <p:cNvSpPr/>
          <p:nvPr/>
        </p:nvSpPr>
        <p:spPr>
          <a:xfrm>
            <a:off x="451800" y="3623400"/>
            <a:ext cx="1611360" cy="1370880"/>
          </a:xfrm>
          <a:prstGeom prst="rect">
            <a:avLst/>
          </a:prstGeom>
          <a:noFill/>
          <a:ln>
            <a:noFill/>
          </a:ln>
        </p:spPr>
        <p:style>
          <a:lnRef idx="0"/>
          <a:fillRef idx="0"/>
          <a:effectRef idx="0"/>
          <a:fontRef idx="minor"/>
        </p:style>
        <p:txBody>
          <a:bodyPr lIns="90000" rIns="90000" tIns="45000" bIns="45000"/>
          <a:p>
            <a:r>
              <a:rPr b="0" lang="en-US" sz="1800" spc="-1" strike="noStrike">
                <a:solidFill>
                  <a:srgbClr val="000000"/>
                </a:solidFill>
                <a:uFill>
                  <a:solidFill>
                    <a:srgbClr val="ffffff"/>
                  </a:solidFill>
                </a:uFill>
                <a:latin typeface="Arial"/>
              </a:rPr>
              <a:t>App pages</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Arial"/>
              </a:rPr>
              <a:t>Mapped into</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Arial"/>
              </a:rPr>
              <a:t>Server VM</a:t>
            </a:r>
            <a:endParaRPr b="0" lang="en-US" sz="1800" spc="-1" strike="noStrike">
              <a:solidFill>
                <a:srgbClr val="000000"/>
              </a:solidFill>
              <a:uFill>
                <a:solidFill>
                  <a:srgbClr val="ffffff"/>
                </a:solidFill>
              </a:uFill>
              <a:latin typeface="Arial"/>
            </a:endParaRPr>
          </a:p>
          <a:p>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Arial"/>
              </a:rPr>
              <a:t>Unmapped on</a:t>
            </a:r>
            <a:endParaRPr b="0" lang="en-US" sz="1800" spc="-1" strike="noStrike">
              <a:solidFill>
                <a:srgbClr val="000000"/>
              </a:solidFill>
              <a:uFill>
                <a:solidFill>
                  <a:srgbClr val="ffffff"/>
                </a:solidFill>
              </a:uFill>
              <a:latin typeface="Arial"/>
            </a:endParaRPr>
          </a:p>
          <a:p>
            <a:r>
              <a:rPr b="0" lang="en-US" sz="1800" spc="-1" strike="noStrike">
                <a:solidFill>
                  <a:srgbClr val="000000"/>
                </a:solidFill>
                <a:uFill>
                  <a:solidFill>
                    <a:srgbClr val="ffffff"/>
                  </a:solidFill>
                </a:uFill>
                <a:latin typeface="Arial"/>
              </a:rPr>
              <a:t>return</a:t>
            </a:r>
            <a:endParaRPr b="0" lang="en-US" sz="1800" spc="-1" strike="noStrike">
              <a:solidFill>
                <a:srgbClr val="000000"/>
              </a:solidFill>
              <a:uFill>
                <a:solidFill>
                  <a:srgbClr val="ffffff"/>
                </a:solidFill>
              </a:uFill>
              <a:latin typeface="Arial"/>
            </a:endParaRPr>
          </a:p>
        </p:txBody>
      </p:sp>
    </p:spTree>
  </p:cSld>
  <p:transition spd="med">
    <p:fade/>
  </p:transition>
  <p:timing>
    <p:tnLst>
      <p:par>
        <p:cTn id="7" dur="indefinite" restart="never" nodeType="tmRoot">
          <p:childTnLst>
            <p:seq>
              <p:cTn id="8" nodeType="mainSeq"/>
              <p:prevCondLst>
                <p:cond delay="0" evt="onPrev">
                  <p:tgtEl>
                    <p:sldTgt/>
                  </p:tgtEl>
                </p:cond>
              </p:prevCondLst>
              <p:nextCondLst>
                <p:cond delay="0"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CustomShape 1"/>
          <p:cNvSpPr/>
          <p:nvPr/>
        </p:nvSpPr>
        <p:spPr>
          <a:xfrm>
            <a:off x="262800" y="240480"/>
            <a:ext cx="11657880" cy="9039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In Theory</a:t>
            </a:r>
            <a:endParaRPr b="0" lang="en-US" sz="3000" spc="-1" strike="noStrike">
              <a:solidFill>
                <a:srgbClr val="000000"/>
              </a:solidFill>
              <a:uFill>
                <a:solidFill>
                  <a:srgbClr val="ffffff"/>
                </a:solidFill>
              </a:uFill>
              <a:latin typeface="Arial"/>
            </a:endParaRPr>
          </a:p>
        </p:txBody>
      </p:sp>
      <p:sp>
        <p:nvSpPr>
          <p:cNvPr id="221" name="CustomShape 2"/>
          <p:cNvSpPr/>
          <p:nvPr/>
        </p:nvSpPr>
        <p:spPr>
          <a:xfrm>
            <a:off x="262800" y="1733400"/>
            <a:ext cx="11657880" cy="4479120"/>
          </a:xfrm>
          <a:prstGeom prst="rect">
            <a:avLst/>
          </a:prstGeom>
          <a:noFill/>
          <a:ln>
            <a:noFill/>
          </a:ln>
        </p:spPr>
        <p:style>
          <a:lnRef idx="0"/>
          <a:fillRef idx="0"/>
          <a:effectRef idx="0"/>
          <a:fontRef idx="minor"/>
        </p:style>
        <p:txBody>
          <a:bodyPr lIns="90000" rIns="90000" tIns="45000" bIns="45000"/>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Async operation is also supported</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Server must not sleep in a ZT. All locks are trylocks. If failed to lock operation is queued and server returns EAGAIN.</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Server will later complete the operation ASYNC. App will be woken up.</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Do we need PAGE_CACHE support ? Also here write/read_pages() maps page-cache to zt-vma</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Application mmap is the opposite direction. ZUS exposes pages (opt_get_data_block) into the app VM</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 </a:t>
            </a:r>
            <a:endParaRPr b="0" lang="en-US" sz="2200" spc="-1" strike="noStrike">
              <a:solidFill>
                <a:srgbClr val="000000"/>
              </a:solidFill>
              <a:uFill>
                <a:solidFill>
                  <a:srgbClr val="ffffff"/>
                </a:solidFill>
              </a:uFill>
              <a:latin typeface="Arial"/>
            </a:endParaRPr>
          </a:p>
        </p:txBody>
      </p:sp>
      <p:sp>
        <p:nvSpPr>
          <p:cNvPr id="222"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23"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882D359B-A8A2-4A8E-B8C0-4BE3B549BE8C}"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Tree>
  </p:cSld>
  <p:transition spd="med">
    <p:fade/>
  </p:transition>
  <p:timing>
    <p:tnLst>
      <p:par>
        <p:cTn id="9" dur="indefinite" restart="never" nodeType="tmRoot">
          <p:childTnLst>
            <p:seq>
              <p:cTn id="10" nodeType="mainSeq"/>
              <p:prevCondLst>
                <p:cond delay="0" evt="onPrev">
                  <p:tgtEl>
                    <p:sldTgt/>
                  </p:tgtEl>
                </p:cond>
              </p:prevCondLst>
              <p:nextCondLst>
                <p:cond delay="0"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CustomShape 1"/>
          <p:cNvSpPr/>
          <p:nvPr/>
        </p:nvSpPr>
        <p:spPr>
          <a:xfrm>
            <a:off x="262800" y="232560"/>
            <a:ext cx="11657880" cy="91188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Raw Results</a:t>
            </a:r>
            <a:endParaRPr b="0" lang="en-US" sz="3000" spc="-1" strike="noStrike">
              <a:solidFill>
                <a:srgbClr val="000000"/>
              </a:solidFill>
              <a:uFill>
                <a:solidFill>
                  <a:srgbClr val="ffffff"/>
                </a:solidFill>
              </a:uFill>
              <a:latin typeface="Arial"/>
            </a:endParaRPr>
          </a:p>
        </p:txBody>
      </p:sp>
      <p:sp>
        <p:nvSpPr>
          <p:cNvPr id="225" name="CustomShape 2"/>
          <p:cNvSpPr/>
          <p:nvPr/>
        </p:nvSpPr>
        <p:spPr>
          <a:xfrm>
            <a:off x="275760" y="1106280"/>
            <a:ext cx="11647080" cy="399240"/>
          </a:xfrm>
          <a:prstGeom prst="rect">
            <a:avLst/>
          </a:prstGeom>
          <a:noFill/>
          <a:ln>
            <a:noFill/>
          </a:ln>
        </p:spPr>
        <p:style>
          <a:lnRef idx="0"/>
          <a:fillRef idx="0"/>
          <a:effectRef idx="0"/>
          <a:fontRef idx="minor"/>
        </p:style>
        <p:txBody>
          <a:bodyPr lIns="90000" rIns="90000" tIns="45000" bIns="45000"/>
          <a:p>
            <a:pPr>
              <a:lnSpc>
                <a:spcPct val="100000"/>
              </a:lnSpc>
            </a:pPr>
            <a:r>
              <a:rPr b="0" lang="en-US" sz="1800" spc="-1" strike="noStrike">
                <a:solidFill>
                  <a:srgbClr val="0067c5"/>
                </a:solidFill>
                <a:uFill>
                  <a:solidFill>
                    <a:srgbClr val="ffffff"/>
                  </a:solidFill>
                </a:uFill>
                <a:latin typeface="Arial"/>
              </a:rPr>
              <a:t>FUSE Vs. ZUFS vs In Kernel </a:t>
            </a:r>
            <a:endParaRPr b="0" lang="en-US" sz="1800" spc="-1" strike="noStrike">
              <a:solidFill>
                <a:srgbClr val="000000"/>
              </a:solidFill>
              <a:uFill>
                <a:solidFill>
                  <a:srgbClr val="ffffff"/>
                </a:solidFill>
              </a:uFill>
              <a:latin typeface="Arial"/>
            </a:endParaRPr>
          </a:p>
        </p:txBody>
      </p:sp>
      <p:sp>
        <p:nvSpPr>
          <p:cNvPr id="226"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27"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0116ADBE-7D45-4652-9A62-8700565E04EC}"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graphicFrame>
        <p:nvGraphicFramePr>
          <p:cNvPr id="228" name="Table 5"/>
          <p:cNvGraphicFramePr/>
          <p:nvPr/>
        </p:nvGraphicFramePr>
        <p:xfrm>
          <a:off x="5203800" y="573840"/>
          <a:ext cx="5400000" cy="5919840"/>
        </p:xfrm>
        <a:graphic>
          <a:graphicData uri="http://schemas.openxmlformats.org/drawingml/2006/table">
            <a:tbl>
              <a:tblPr/>
              <a:tblGrid>
                <a:gridCol w="1520280"/>
                <a:gridCol w="1701720"/>
                <a:gridCol w="2178360"/>
              </a:tblGrid>
              <a:tr h="233640">
                <a:tc gridSpan="2">
                  <a:txBody>
                    <a:bodyPr lIns="6120" rIns="6120"/>
                    <a:p>
                      <a:pPr algn="ctr">
                        <a:lnSpc>
                          <a:spcPct val="100000"/>
                        </a:lnSpc>
                      </a:pPr>
                      <a:r>
                        <a:rPr b="1" lang="en-US" sz="1200" spc="-1" strike="noStrike">
                          <a:solidFill>
                            <a:srgbClr val="000000"/>
                          </a:solidFill>
                          <a:uFill>
                            <a:solidFill>
                              <a:srgbClr val="ffffff"/>
                            </a:solidFill>
                          </a:uFill>
                          <a:latin typeface="Arial"/>
                        </a:rPr>
                        <a:t>FUSE</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hMerge="1">
                  <a:tcPr>
                    <a:solidFill>
                      <a:srgbClr val="729fcf"/>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Threads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Op/s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Lat [us]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71,820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13.5</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148,083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13.1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212,133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18.3</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209,799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37.6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201,689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58.7</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174,823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101.8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149,413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159.0</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36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148,276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240.7</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145,296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327.3</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367560">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367560">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gridSpan="2">
                  <a:txBody>
                    <a:bodyPr lIns="6120" rIns="6120"/>
                    <a:p>
                      <a:pPr algn="ctr">
                        <a:lnSpc>
                          <a:spcPct val="100000"/>
                        </a:lnSpc>
                      </a:pPr>
                      <a:r>
                        <a:rPr b="1" lang="en-US" sz="1200" spc="-1" strike="noStrike">
                          <a:solidFill>
                            <a:srgbClr val="000000"/>
                          </a:solidFill>
                          <a:uFill>
                            <a:solidFill>
                              <a:srgbClr val="ffffff"/>
                            </a:solidFill>
                          </a:uFill>
                          <a:latin typeface="Arial"/>
                        </a:rPr>
                        <a:t>ZUFS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hMerge="1">
                  <a:tcPr>
                    <a:solidFill>
                      <a:srgbClr val="729fcf"/>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Threads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Op/s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Lat [us]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200,799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4.6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314,321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5.9</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565,574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1,113,138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1,598,451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1,648,689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7.8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1,702,285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8.0</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36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1,783,346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13.4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1,741,873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17.4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bl>
          </a:graphicData>
        </a:graphic>
      </p:graphicFrame>
      <p:graphicFrame>
        <p:nvGraphicFramePr>
          <p:cNvPr id="229" name="Table 6"/>
          <p:cNvGraphicFramePr/>
          <p:nvPr/>
        </p:nvGraphicFramePr>
        <p:xfrm>
          <a:off x="291240" y="1683000"/>
          <a:ext cx="4432680" cy="360000"/>
        </p:xfrm>
        <a:graphic>
          <a:graphicData uri="http://schemas.openxmlformats.org/drawingml/2006/table">
            <a:tbl>
              <a:tblPr/>
              <a:tblGrid>
                <a:gridCol w="1243800"/>
                <a:gridCol w="1910880"/>
                <a:gridCol w="1278360"/>
              </a:tblGrid>
              <a:tr h="0">
                <a:tc gridSpan="2">
                  <a:txBody>
                    <a:bodyPr lIns="90000" rIns="90000"/>
                    <a:p>
                      <a:r>
                        <a:rPr b="0" lang="en-US" sz="1800" spc="-1" strike="noStrike">
                          <a:solidFill>
                            <a:srgbClr val="000000"/>
                          </a:solidFill>
                          <a:uFill>
                            <a:solidFill>
                              <a:srgbClr val="ffffff"/>
                            </a:solidFill>
                          </a:uFill>
                          <a:latin typeface="Arial"/>
                        </a:rPr>
                        <a:t>In Kernel FS</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hMerge="1">
                  <a:tcPr>
                    <a:solidFill>
                      <a:srgbClr val="729fcf"/>
                    </a:solidFill>
                  </a:tcPr>
                </a:tc>
                <a:tc>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r>
              <a:tr h="0">
                <a:tc>
                  <a:txBody>
                    <a:bodyPr lIns="90000" rIns="90000"/>
                    <a:p>
                      <a:r>
                        <a:rPr b="0" lang="en-US" sz="1800" spc="-1" strike="noStrike">
                          <a:solidFill>
                            <a:srgbClr val="000000"/>
                          </a:solidFill>
                          <a:uFill>
                            <a:solidFill>
                              <a:srgbClr val="ffffff"/>
                            </a:solidFill>
                          </a:uFill>
                          <a:latin typeface="Arial"/>
                        </a:rPr>
                        <a:t>Threads</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r>
                        <a:rPr b="0" lang="en-US" sz="1800" spc="-1" strike="noStrike">
                          <a:solidFill>
                            <a:srgbClr val="000000"/>
                          </a:solidFill>
                          <a:uFill>
                            <a:solidFill>
                              <a:srgbClr val="ffffff"/>
                            </a:solidFill>
                          </a:uFill>
                          <a:latin typeface="Arial"/>
                        </a:rPr>
                        <a:t>Op/s</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r>
                        <a:rPr b="0" lang="en-US" sz="1800" spc="-1" strike="noStrike">
                          <a:solidFill>
                            <a:srgbClr val="000000"/>
                          </a:solidFill>
                          <a:uFill>
                            <a:solidFill>
                              <a:srgbClr val="ffffff"/>
                            </a:solidFill>
                          </a:uFill>
                          <a:latin typeface="Arial"/>
                        </a:rPr>
                        <a:t>Lat (us)</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0">
                <a:tc>
                  <a:txBody>
                    <a:bodyPr lIns="90000" rIns="90000"/>
                    <a:p>
                      <a:r>
                        <a:rPr b="0" lang="en-US" sz="1800" spc="-1" strike="noStrike">
                          <a:solidFill>
                            <a:srgbClr val="000000"/>
                          </a:solidFill>
                          <a:uFill>
                            <a:solidFill>
                              <a:srgbClr val="ffffff"/>
                            </a:solidFill>
                          </a:uFill>
                          <a:latin typeface="Arial"/>
                        </a:rPr>
                        <a:t>1</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388361</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2.271589</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0">
                <a:tc>
                  <a:txBody>
                    <a:bodyPr lIns="90000" rIns="90000"/>
                    <a:p>
                      <a:r>
                        <a:rPr b="0" lang="en-US" sz="1800" spc="-1" strike="noStrike">
                          <a:solidFill>
                            <a:srgbClr val="000000"/>
                          </a:solidFill>
                          <a:uFill>
                            <a:solidFill>
                              <a:srgbClr val="ffffff"/>
                            </a:solidFill>
                          </a:uFill>
                          <a:latin typeface="Arial"/>
                        </a:rPr>
                        <a:t>2</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635115</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2.604376</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0">
                <a:tc>
                  <a:txBody>
                    <a:bodyPr lIns="90000" rIns="90000"/>
                    <a:p>
                      <a:r>
                        <a:rPr b="0" lang="en-US" sz="1800" spc="-1" strike="noStrike">
                          <a:solidFill>
                            <a:srgbClr val="000000"/>
                          </a:solidFill>
                          <a:uFill>
                            <a:solidFill>
                              <a:srgbClr val="ffffff"/>
                            </a:solidFill>
                          </a:uFill>
                          <a:latin typeface="Arial"/>
                        </a:rPr>
                        <a:t>4</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1260307</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2.626361</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0">
                <a:tc>
                  <a:txBody>
                    <a:bodyPr lIns="90000" rIns="90000"/>
                    <a:p>
                      <a:r>
                        <a:rPr b="0" lang="en-US" sz="1800" spc="-1" strike="noStrike">
                          <a:solidFill>
                            <a:srgbClr val="000000"/>
                          </a:solidFill>
                          <a:uFill>
                            <a:solidFill>
                              <a:srgbClr val="ffffff"/>
                            </a:solidFill>
                          </a:uFill>
                          <a:latin typeface="Arial"/>
                        </a:rPr>
                        <a:t>8</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2744963</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2.485292</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0">
                <a:tc>
                  <a:txBody>
                    <a:bodyPr lIns="90000" rIns="90000"/>
                    <a:p>
                      <a:r>
                        <a:rPr b="0" lang="en-US" sz="1800" spc="-1" strike="noStrike">
                          <a:solidFill>
                            <a:srgbClr val="000000"/>
                          </a:solidFill>
                          <a:uFill>
                            <a:solidFill>
                              <a:srgbClr val="ffffff"/>
                            </a:solidFill>
                          </a:uFill>
                          <a:latin typeface="Arial"/>
                        </a:rPr>
                        <a:t>12</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2126945</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5.020506</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0">
                <a:tc>
                  <a:txBody>
                    <a:bodyPr lIns="90000" rIns="90000"/>
                    <a:p>
                      <a:r>
                        <a:rPr b="0" lang="en-US" sz="1800" spc="-1" strike="noStrike">
                          <a:solidFill>
                            <a:srgbClr val="000000"/>
                          </a:solidFill>
                          <a:uFill>
                            <a:solidFill>
                              <a:srgbClr val="ffffff"/>
                            </a:solidFill>
                          </a:uFill>
                          <a:latin typeface="Arial"/>
                        </a:rPr>
                        <a:t>18</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4350995</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3.386433</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0">
                <a:tc>
                  <a:txBody>
                    <a:bodyPr lIns="90000" rIns="90000"/>
                    <a:p>
                      <a:r>
                        <a:rPr b="0" lang="en-US" sz="1800" spc="-1" strike="noStrike">
                          <a:solidFill>
                            <a:srgbClr val="000000"/>
                          </a:solidFill>
                          <a:uFill>
                            <a:solidFill>
                              <a:srgbClr val="ffffff"/>
                            </a:solidFill>
                          </a:uFill>
                          <a:latin typeface="Arial"/>
                        </a:rPr>
                        <a:t>24</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4211180</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4.784997</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r h="0">
                <a:tc>
                  <a:txBody>
                    <a:bodyPr lIns="90000" rIns="90000"/>
                    <a:p>
                      <a:r>
                        <a:rPr b="0" lang="en-US" sz="1800" spc="-1" strike="noStrike">
                          <a:solidFill>
                            <a:srgbClr val="000000"/>
                          </a:solidFill>
                          <a:uFill>
                            <a:solidFill>
                              <a:srgbClr val="ffffff"/>
                            </a:solidFill>
                          </a:uFill>
                          <a:latin typeface="Arial"/>
                        </a:rPr>
                        <a:t>36</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3057166</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9.291997</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cccccc"/>
                    </a:solidFill>
                  </a:tcPr>
                </a:tc>
              </a:tr>
              <a:tr h="0">
                <a:tc>
                  <a:txBody>
                    <a:bodyPr lIns="90000" rIns="90000"/>
                    <a:p>
                      <a:r>
                        <a:rPr b="0" lang="en-US" sz="1800" spc="-1" strike="noStrike">
                          <a:solidFill>
                            <a:srgbClr val="000000"/>
                          </a:solidFill>
                          <a:uFill>
                            <a:solidFill>
                              <a:srgbClr val="ffffff"/>
                            </a:solidFill>
                          </a:uFill>
                          <a:latin typeface="Arial"/>
                        </a:rPr>
                        <a:t>48</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3148972</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lIns="90000" rIns="90000"/>
                    <a:p>
                      <a:pPr algn="r">
                        <a:lnSpc>
                          <a:spcPct val="100000"/>
                        </a:lnSpc>
                      </a:pPr>
                      <a:r>
                        <a:rPr b="0" lang="en-US" sz="1800" spc="-1" strike="noStrike">
                          <a:solidFill>
                            <a:srgbClr val="000000"/>
                          </a:solidFill>
                          <a:uFill>
                            <a:solidFill>
                              <a:srgbClr val="ffffff"/>
                            </a:solidFill>
                          </a:uFill>
                          <a:latin typeface="Arial"/>
                        </a:rPr>
                        <a:t>10.382461</a:t>
                      </a:r>
                      <a:endParaRPr b="0" lang="en-US" sz="1800" spc="-1" strike="noStrike">
                        <a:solidFill>
                          <a:srgbClr val="000000"/>
                        </a:solidFill>
                        <a:uFill>
                          <a:solidFill>
                            <a:srgbClr val="ffffff"/>
                          </a:solidFill>
                        </a:uFill>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e6e6e6"/>
                    </a:solidFill>
                  </a:tcPr>
                </a:tc>
              </a:tr>
            </a:tbl>
          </a:graphicData>
        </a:graphic>
      </p:graphicFrame>
    </p:spTree>
  </p:cSld>
  <p:transition spd="med">
    <p:fade/>
  </p:transition>
  <p:timing>
    <p:tnLst>
      <p:par>
        <p:cTn id="11" dur="indefinite" restart="never" nodeType="tmRoot">
          <p:childTnLst>
            <p:seq>
              <p:cTn id="12" nodeType="mainSeq"/>
              <p:prevCondLst>
                <p:cond delay="0" evt="onPrev">
                  <p:tgtEl>
                    <p:sldTgt/>
                  </p:tgtEl>
                </p:cond>
              </p:prevCondLst>
              <p:nextCondLst>
                <p:cond delay="0"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CustomShape 1"/>
          <p:cNvSpPr/>
          <p:nvPr/>
        </p:nvSpPr>
        <p:spPr>
          <a:xfrm>
            <a:off x="262800" y="232560"/>
            <a:ext cx="11657880" cy="91188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Motivation for ZUFS (for near-memory speed PM media)</a:t>
            </a:r>
            <a:endParaRPr b="0" lang="en-US" sz="3000" spc="-1" strike="noStrike">
              <a:solidFill>
                <a:srgbClr val="000000"/>
              </a:solidFill>
              <a:uFill>
                <a:solidFill>
                  <a:srgbClr val="ffffff"/>
                </a:solidFill>
              </a:uFill>
              <a:latin typeface="Arial"/>
            </a:endParaRPr>
          </a:p>
        </p:txBody>
      </p:sp>
      <p:sp>
        <p:nvSpPr>
          <p:cNvPr id="231" name="CustomShape 2"/>
          <p:cNvSpPr/>
          <p:nvPr/>
        </p:nvSpPr>
        <p:spPr>
          <a:xfrm>
            <a:off x="275760" y="1106280"/>
            <a:ext cx="11647080" cy="399240"/>
          </a:xfrm>
          <a:prstGeom prst="rect">
            <a:avLst/>
          </a:prstGeom>
          <a:noFill/>
          <a:ln>
            <a:noFill/>
          </a:ln>
        </p:spPr>
        <p:style>
          <a:lnRef idx="0"/>
          <a:fillRef idx="0"/>
          <a:effectRef idx="0"/>
          <a:fontRef idx="minor"/>
        </p:style>
      </p:sp>
      <p:sp>
        <p:nvSpPr>
          <p:cNvPr id="232"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33"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C1DC718D-1127-4503-9267-0D2CFC5CC9AC}"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34" name="CustomShape 5"/>
          <p:cNvSpPr/>
          <p:nvPr/>
        </p:nvSpPr>
        <p:spPr>
          <a:xfrm>
            <a:off x="262800" y="1659600"/>
            <a:ext cx="5869440" cy="1387800"/>
          </a:xfrm>
          <a:prstGeom prst="rect">
            <a:avLst/>
          </a:prstGeom>
          <a:noFill/>
          <a:ln>
            <a:noFill/>
          </a:ln>
        </p:spPr>
        <p:style>
          <a:lnRef idx="0"/>
          <a:fillRef idx="0"/>
          <a:effectRef idx="0"/>
          <a:fontRef idx="minor"/>
        </p:style>
        <p:txBody>
          <a:bodyPr lIns="90000" rIns="90000" tIns="45000" bIns="45000">
            <a:normAutofit/>
          </a:bodyPr>
          <a:p>
            <a:pPr marL="343080" indent="-342360">
              <a:lnSpc>
                <a:spcPct val="100000"/>
              </a:lnSpc>
              <a:spcBef>
                <a:spcPts val="320"/>
              </a:spcBef>
              <a:spcAft>
                <a:spcPts val="400"/>
              </a:spcAft>
              <a:buClr>
                <a:srgbClr val="0067c5"/>
              </a:buClr>
              <a:buFont typeface="Arial"/>
              <a:buChar char="•"/>
            </a:pPr>
            <a:r>
              <a:rPr b="0" lang="en-US" sz="1600" spc="-1" strike="noStrike">
                <a:solidFill>
                  <a:srgbClr val="808080"/>
                </a:solidFill>
                <a:uFill>
                  <a:solidFill>
                    <a:srgbClr val="ffffff"/>
                  </a:solidFill>
                </a:uFill>
                <a:latin typeface="Arial"/>
              </a:rPr>
              <a:t>Measured on </a:t>
            </a:r>
            <a:br/>
            <a:r>
              <a:rPr b="0" lang="en-US" sz="1600" spc="-1" strike="noStrike">
                <a:solidFill>
                  <a:srgbClr val="808080"/>
                </a:solidFill>
                <a:uFill>
                  <a:solidFill>
                    <a:srgbClr val="ffffff"/>
                  </a:solidFill>
                </a:uFill>
                <a:latin typeface="Arial"/>
              </a:rPr>
              <a:t>Dual socket Intel XEON 2650v4 (48 HW Threads)</a:t>
            </a:r>
            <a:br/>
            <a:r>
              <a:rPr b="0" lang="en-US" sz="1600" spc="-1" strike="noStrike">
                <a:solidFill>
                  <a:srgbClr val="808080"/>
                </a:solidFill>
                <a:uFill>
                  <a:solidFill>
                    <a:srgbClr val="ffffff"/>
                  </a:solidFill>
                </a:uFill>
                <a:latin typeface="Arial"/>
              </a:rPr>
              <a:t>DRAM-backed PM type</a:t>
            </a:r>
            <a:endParaRPr b="0" lang="en-US" sz="1600" spc="-1" strike="noStrike">
              <a:solidFill>
                <a:srgbClr val="000000"/>
              </a:solidFill>
              <a:uFill>
                <a:solidFill>
                  <a:srgbClr val="ffffff"/>
                </a:solidFill>
              </a:uFill>
              <a:latin typeface="Arial"/>
            </a:endParaRPr>
          </a:p>
          <a:p>
            <a:pPr marL="343080" indent="-342360">
              <a:lnSpc>
                <a:spcPct val="100000"/>
              </a:lnSpc>
              <a:spcBef>
                <a:spcPts val="320"/>
              </a:spcBef>
              <a:spcAft>
                <a:spcPts val="400"/>
              </a:spcAft>
              <a:buClr>
                <a:srgbClr val="0067c5"/>
              </a:buClr>
              <a:buFont typeface="Arial"/>
              <a:buChar char="•"/>
            </a:pPr>
            <a:r>
              <a:rPr b="0" lang="en-US" sz="1600" spc="-1" strike="noStrike">
                <a:solidFill>
                  <a:srgbClr val="808080"/>
                </a:solidFill>
                <a:uFill>
                  <a:solidFill>
                    <a:srgbClr val="ffffff"/>
                  </a:solidFill>
                </a:uFill>
                <a:latin typeface="Arial"/>
              </a:rPr>
              <a:t>Random 4KB DirectIO writ(ish) access </a:t>
            </a:r>
            <a:endParaRPr b="0" lang="en-US" sz="1600" spc="-1" strike="noStrike">
              <a:solidFill>
                <a:srgbClr val="000000"/>
              </a:solidFill>
              <a:uFill>
                <a:solidFill>
                  <a:srgbClr val="ffffff"/>
                </a:solidFill>
              </a:uFill>
              <a:latin typeface="Arial"/>
            </a:endParaRPr>
          </a:p>
        </p:txBody>
      </p:sp>
      <p:pic>
        <p:nvPicPr>
          <p:cNvPr id="235" name="Picture 7" descr=""/>
          <p:cNvPicPr/>
          <p:nvPr/>
        </p:nvPicPr>
        <p:blipFill>
          <a:blip r:embed="rId1"/>
          <a:stretch/>
        </p:blipFill>
        <p:spPr>
          <a:xfrm>
            <a:off x="0" y="2798280"/>
            <a:ext cx="12188160" cy="3606840"/>
          </a:xfrm>
          <a:prstGeom prst="rect">
            <a:avLst/>
          </a:prstGeom>
          <a:ln>
            <a:noFill/>
          </a:ln>
        </p:spPr>
      </p:pic>
    </p:spTree>
  </p:cSld>
  <p:transition spd="med">
    <p:fade/>
  </p:transition>
  <p:timing>
    <p:tnLst>
      <p:par>
        <p:cTn id="13" dur="indefinite" restart="never" nodeType="tmRoot">
          <p:childTnLst>
            <p:seq>
              <p:cTn id="14" nodeType="mainSeq"/>
              <p:prevCondLst>
                <p:cond delay="0" evt="onPrev">
                  <p:tgtEl>
                    <p:sldTgt/>
                  </p:tgtEl>
                </p:cond>
              </p:prevCondLst>
              <p:nextCondLst>
                <p:cond delay="0"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262800" y="232560"/>
            <a:ext cx="11657880" cy="91188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Why is the mm patch required </a:t>
            </a:r>
            <a:endParaRPr b="0" lang="en-US" sz="3000" spc="-1" strike="noStrike">
              <a:solidFill>
                <a:srgbClr val="000000"/>
              </a:solidFill>
              <a:uFill>
                <a:solidFill>
                  <a:srgbClr val="ffffff"/>
                </a:solidFill>
              </a:uFill>
              <a:latin typeface="Arial"/>
            </a:endParaRPr>
          </a:p>
        </p:txBody>
      </p:sp>
      <p:sp>
        <p:nvSpPr>
          <p:cNvPr id="237" name="CustomShape 2"/>
          <p:cNvSpPr/>
          <p:nvPr/>
        </p:nvSpPr>
        <p:spPr>
          <a:xfrm>
            <a:off x="275760" y="1106280"/>
            <a:ext cx="11647080" cy="399240"/>
          </a:xfrm>
          <a:prstGeom prst="rect">
            <a:avLst/>
          </a:prstGeom>
          <a:noFill/>
          <a:ln>
            <a:noFill/>
          </a:ln>
        </p:spPr>
        <p:style>
          <a:lnRef idx="0"/>
          <a:fillRef idx="0"/>
          <a:effectRef idx="0"/>
          <a:fontRef idx="minor"/>
        </p:style>
        <p:txBody>
          <a:bodyPr lIns="90000" rIns="90000" tIns="45000" bIns="45000"/>
          <a:p>
            <a:pPr>
              <a:lnSpc>
                <a:spcPct val="100000"/>
              </a:lnSpc>
            </a:pPr>
            <a:r>
              <a:rPr b="0" lang="en-US" sz="1800" spc="-1" strike="noStrike">
                <a:solidFill>
                  <a:srgbClr val="0067c5"/>
                </a:solidFill>
                <a:uFill>
                  <a:solidFill>
                    <a:srgbClr val="ffffff"/>
                  </a:solidFill>
                </a:uFill>
                <a:latin typeface="Arial"/>
              </a:rPr>
              <a:t>MMAP_LOCAL_CPU</a:t>
            </a:r>
            <a:endParaRPr b="0" lang="en-US" sz="1800" spc="-1" strike="noStrike">
              <a:solidFill>
                <a:srgbClr val="000000"/>
              </a:solidFill>
              <a:uFill>
                <a:solidFill>
                  <a:srgbClr val="ffffff"/>
                </a:solidFill>
              </a:uFill>
              <a:latin typeface="Arial"/>
            </a:endParaRPr>
          </a:p>
        </p:txBody>
      </p:sp>
      <p:sp>
        <p:nvSpPr>
          <p:cNvPr id="238"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39"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A2537759-1CFF-4E0A-BBB0-019FFF87FCE2}"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40" name="CustomShape 5"/>
          <p:cNvSpPr/>
          <p:nvPr/>
        </p:nvSpPr>
        <p:spPr>
          <a:xfrm>
            <a:off x="262800" y="1659600"/>
            <a:ext cx="5296680" cy="879840"/>
          </a:xfrm>
          <a:prstGeom prst="rect">
            <a:avLst/>
          </a:prstGeom>
          <a:noFill/>
          <a:ln>
            <a:noFill/>
          </a:ln>
        </p:spPr>
        <p:style>
          <a:lnRef idx="0"/>
          <a:fillRef idx="0"/>
          <a:effectRef idx="0"/>
          <a:fontRef idx="minor"/>
        </p:style>
        <p:txBody>
          <a:bodyPr lIns="90000" rIns="90000" tIns="45000" bIns="45000">
            <a:normAutofit/>
          </a:bodyPr>
          <a:p>
            <a:pPr marL="343080" indent="-342360">
              <a:lnSpc>
                <a:spcPct val="100000"/>
              </a:lnSpc>
              <a:spcBef>
                <a:spcPts val="320"/>
              </a:spcBef>
              <a:spcAft>
                <a:spcPts val="400"/>
              </a:spcAft>
              <a:buClr>
                <a:srgbClr val="0067c5"/>
              </a:buClr>
              <a:buFont typeface="Arial"/>
              <a:buChar char="•"/>
            </a:pPr>
            <a:r>
              <a:rPr b="0" lang="en-US" sz="1600" spc="-1" strike="noStrike">
                <a:solidFill>
                  <a:srgbClr val="000000"/>
                </a:solidFill>
                <a:uFill>
                  <a:solidFill>
                    <a:srgbClr val="ffffff"/>
                  </a:solidFill>
                </a:uFill>
                <a:latin typeface="Arial"/>
              </a:rPr>
              <a:t>Own-core TLB invalidate</a:t>
            </a:r>
            <a:endParaRPr b="0" lang="en-US" sz="1600" spc="-1" strike="noStrike">
              <a:solidFill>
                <a:srgbClr val="000000"/>
              </a:solidFill>
              <a:uFill>
                <a:solidFill>
                  <a:srgbClr val="ffffff"/>
                </a:solidFill>
              </a:uFill>
              <a:latin typeface="Arial"/>
            </a:endParaRPr>
          </a:p>
          <a:p>
            <a:pPr marL="343080" indent="-342360">
              <a:lnSpc>
                <a:spcPct val="100000"/>
              </a:lnSpc>
              <a:spcBef>
                <a:spcPts val="320"/>
              </a:spcBef>
              <a:spcAft>
                <a:spcPts val="400"/>
              </a:spcAft>
              <a:buClr>
                <a:srgbClr val="0067c5"/>
              </a:buClr>
              <a:buFont typeface="Arial"/>
              <a:buChar char="•"/>
            </a:pPr>
            <a:r>
              <a:rPr b="0" lang="en-US" sz="1600" spc="-1" strike="noStrike">
                <a:solidFill>
                  <a:srgbClr val="000000"/>
                </a:solidFill>
                <a:uFill>
                  <a:solidFill>
                    <a:srgbClr val="ffffff"/>
                  </a:solidFill>
                </a:uFill>
                <a:latin typeface="Arial"/>
              </a:rPr>
              <a:t>Secure file system signing?</a:t>
            </a:r>
            <a:endParaRPr b="0" lang="en-US" sz="1600" spc="-1" strike="noStrike">
              <a:solidFill>
                <a:srgbClr val="000000"/>
              </a:solidFill>
              <a:uFill>
                <a:solidFill>
                  <a:srgbClr val="ffffff"/>
                </a:solidFill>
              </a:uFill>
              <a:latin typeface="Arial"/>
            </a:endParaRPr>
          </a:p>
        </p:txBody>
      </p:sp>
      <p:graphicFrame>
        <p:nvGraphicFramePr>
          <p:cNvPr id="241" name="Chart 8"/>
          <p:cNvGraphicFramePr/>
          <p:nvPr/>
        </p:nvGraphicFramePr>
        <p:xfrm>
          <a:off x="3808440" y="2057400"/>
          <a:ext cx="7856280" cy="4053240"/>
        </p:xfrm>
        <a:graphic>
          <a:graphicData uri="http://schemas.openxmlformats.org/drawingml/2006/chart">
            <c:chart xmlns:c="http://schemas.openxmlformats.org/drawingml/2006/chart" xmlns:r="http://schemas.openxmlformats.org/officeDocument/2006/relationships" r:id="rId1"/>
          </a:graphicData>
        </a:graphic>
      </p:graphicFrame>
    </p:spTree>
  </p:cSld>
  <p:transition spd="med">
    <p:fade/>
  </p:transition>
  <p:timing>
    <p:tnLst>
      <p:par>
        <p:cTn id="15" dur="indefinite" restart="never" nodeType="tmRoot">
          <p:childTnLst>
            <p:seq>
              <p:cTn id="16" nodeType="mainSeq"/>
              <p:prevCondLst>
                <p:cond delay="0" evt="onPrev">
                  <p:tgtEl>
                    <p:sldTgt/>
                  </p:tgtEl>
                </p:cond>
              </p:prevCondLst>
              <p:nextCondLst>
                <p:cond delay="0"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CustomShape 1"/>
          <p:cNvSpPr/>
          <p:nvPr/>
        </p:nvSpPr>
        <p:spPr>
          <a:xfrm>
            <a:off x="262800" y="232560"/>
            <a:ext cx="11657880" cy="91188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Raw Results</a:t>
            </a:r>
            <a:endParaRPr b="0" lang="en-US" sz="3000" spc="-1" strike="noStrike">
              <a:solidFill>
                <a:srgbClr val="000000"/>
              </a:solidFill>
              <a:uFill>
                <a:solidFill>
                  <a:srgbClr val="ffffff"/>
                </a:solidFill>
              </a:uFill>
              <a:latin typeface="Arial"/>
            </a:endParaRPr>
          </a:p>
        </p:txBody>
      </p:sp>
      <p:sp>
        <p:nvSpPr>
          <p:cNvPr id="243" name="CustomShape 2"/>
          <p:cNvSpPr/>
          <p:nvPr/>
        </p:nvSpPr>
        <p:spPr>
          <a:xfrm>
            <a:off x="275760" y="1106280"/>
            <a:ext cx="11647080" cy="399240"/>
          </a:xfrm>
          <a:prstGeom prst="rect">
            <a:avLst/>
          </a:prstGeom>
          <a:noFill/>
          <a:ln>
            <a:noFill/>
          </a:ln>
        </p:spPr>
        <p:style>
          <a:lnRef idx="0"/>
          <a:fillRef idx="0"/>
          <a:effectRef idx="0"/>
          <a:fontRef idx="minor"/>
        </p:style>
        <p:txBody>
          <a:bodyPr lIns="90000" rIns="90000" tIns="45000" bIns="45000"/>
          <a:p>
            <a:pPr>
              <a:lnSpc>
                <a:spcPct val="100000"/>
              </a:lnSpc>
            </a:pPr>
            <a:r>
              <a:rPr b="0" lang="en-US" sz="1800" spc="-1" strike="noStrike">
                <a:solidFill>
                  <a:srgbClr val="0067c5"/>
                </a:solidFill>
                <a:uFill>
                  <a:solidFill>
                    <a:srgbClr val="ffffff"/>
                  </a:solidFill>
                </a:uFill>
                <a:latin typeface="Arial"/>
              </a:rPr>
              <a:t>w/ and wo/ mm patch</a:t>
            </a:r>
            <a:endParaRPr b="0" lang="en-US" sz="1800" spc="-1" strike="noStrike">
              <a:solidFill>
                <a:srgbClr val="000000"/>
              </a:solidFill>
              <a:uFill>
                <a:solidFill>
                  <a:srgbClr val="ffffff"/>
                </a:solidFill>
              </a:uFill>
              <a:latin typeface="Arial"/>
            </a:endParaRPr>
          </a:p>
        </p:txBody>
      </p:sp>
      <p:sp>
        <p:nvSpPr>
          <p:cNvPr id="244"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45"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FBB58638-16E3-4EA9-9CE9-132EBCC28AFF}"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graphicFrame>
        <p:nvGraphicFramePr>
          <p:cNvPr id="246" name="Table 5"/>
          <p:cNvGraphicFramePr/>
          <p:nvPr/>
        </p:nvGraphicFramePr>
        <p:xfrm>
          <a:off x="4987800" y="378720"/>
          <a:ext cx="5263920" cy="5887440"/>
        </p:xfrm>
        <a:graphic>
          <a:graphicData uri="http://schemas.openxmlformats.org/drawingml/2006/table">
            <a:tbl>
              <a:tblPr/>
              <a:tblGrid>
                <a:gridCol w="1481760"/>
                <a:gridCol w="1658880"/>
                <a:gridCol w="2123640"/>
              </a:tblGrid>
              <a:tr h="279360">
                <a:tc gridSpan="2">
                  <a:txBody>
                    <a:bodyPr lIns="6120" rIns="6120"/>
                    <a:p>
                      <a:pPr algn="ctr">
                        <a:lnSpc>
                          <a:spcPct val="100000"/>
                        </a:lnSpc>
                      </a:pPr>
                      <a:r>
                        <a:rPr b="0" lang="en-US" sz="1200" spc="-1" strike="noStrike">
                          <a:solidFill>
                            <a:srgbClr val="000000"/>
                          </a:solidFill>
                          <a:uFill>
                            <a:solidFill>
                              <a:srgbClr val="ffffff"/>
                            </a:solidFill>
                          </a:uFill>
                          <a:latin typeface="Arial"/>
                        </a:rPr>
                        <a:t>ZUFS penalty</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hMerge="1">
                  <a:tcPr>
                    <a:solidFill>
                      <a:srgbClr val="729fcf"/>
                    </a:solidFill>
                  </a:tcPr>
                </a:tc>
                <a:tc>
                  <a:txBody>
                    <a:bodyPr lIns="6120" rIns="6120"/>
                    <a:p>
                      <a:pPr algn="ctr">
                        <a:lnSpc>
                          <a:spcPct val="100000"/>
                        </a:lnSpc>
                      </a:pPr>
                      <a:r>
                        <a:rPr b="1" lang="en-US" sz="1600" spc="-1" strike="noStrike">
                          <a:solidFill>
                            <a:srgbClr val="000000"/>
                          </a:solidFill>
                          <a:uFill>
                            <a:solidFill>
                              <a:srgbClr val="ffffff"/>
                            </a:solidFill>
                          </a:uFill>
                          <a:latin typeface="Arial"/>
                        </a:rPr>
                        <a:t>patched</a:t>
                      </a:r>
                      <a:endParaRPr b="0" lang="en-US" sz="16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Threads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Op/s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Lat [us]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200,799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4.6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314,321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5.9</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565,574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1,113,138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1,598,451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6.8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1,648,689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7.8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1,702,285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8.0</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36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1,783,346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13.4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1,741,873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17.4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367560">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367560">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79360">
                <a:tc gridSpan="2">
                  <a:txBody>
                    <a:bodyPr lIns="6120" rIns="6120"/>
                    <a:p>
                      <a:pPr algn="ctr">
                        <a:lnSpc>
                          <a:spcPct val="100000"/>
                        </a:lnSpc>
                      </a:pPr>
                      <a:r>
                        <a:rPr b="0" lang="en-US" sz="1200" spc="-1" strike="noStrike">
                          <a:solidFill>
                            <a:srgbClr val="000000"/>
                          </a:solidFill>
                          <a:uFill>
                            <a:solidFill>
                              <a:srgbClr val="ffffff"/>
                            </a:solidFill>
                          </a:uFill>
                          <a:latin typeface="Arial"/>
                        </a:rPr>
                        <a:t>ZUFS penalty</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hMerge="1">
                  <a:tcPr>
                    <a:solidFill>
                      <a:srgbClr val="729fcf"/>
                    </a:solidFill>
                  </a:tcPr>
                </a:tc>
                <a:tc>
                  <a:txBody>
                    <a:bodyPr lIns="6120" rIns="6120"/>
                    <a:p>
                      <a:pPr algn="ctr">
                        <a:lnSpc>
                          <a:spcPct val="100000"/>
                        </a:lnSpc>
                      </a:pPr>
                      <a:r>
                        <a:rPr b="1" lang="en-US" sz="1600" spc="-1" strike="noStrike">
                          <a:solidFill>
                            <a:srgbClr val="000000"/>
                          </a:solidFill>
                          <a:uFill>
                            <a:solidFill>
                              <a:srgbClr val="ffffff"/>
                            </a:solidFill>
                          </a:uFill>
                          <a:latin typeface="Arial"/>
                        </a:rPr>
                        <a:t>unpatched</a:t>
                      </a:r>
                      <a:endParaRPr b="0" lang="en-US" sz="16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Threads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Op/s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Lat [us]</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185,391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4.9</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197,993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9.6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310,597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12.1</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546,702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13.8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641,728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17.2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18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744,750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22.2</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24</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790,805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28.3</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36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849,763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38.9</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r h="233640">
                <a:tc>
                  <a:txBody>
                    <a:bodyPr lIns="6120" rIns="6120"/>
                    <a:p>
                      <a:pPr algn="ctr">
                        <a:lnSpc>
                          <a:spcPct val="100000"/>
                        </a:lnSpc>
                      </a:pPr>
                      <a:r>
                        <a:rPr b="0" lang="en-US" sz="1200" spc="-1" strike="noStrike">
                          <a:solidFill>
                            <a:srgbClr val="000000"/>
                          </a:solidFill>
                          <a:uFill>
                            <a:solidFill>
                              <a:srgbClr val="ffffff"/>
                            </a:solidFill>
                          </a:uFill>
                          <a:latin typeface="Arial"/>
                        </a:rPr>
                        <a:t>48</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    </a:t>
                      </a:r>
                      <a:r>
                        <a:rPr b="0" lang="en-US" sz="1200" spc="-1" strike="noStrike">
                          <a:solidFill>
                            <a:srgbClr val="000000"/>
                          </a:solidFill>
                          <a:uFill>
                            <a:solidFill>
                              <a:srgbClr val="ffffff"/>
                            </a:solidFill>
                          </a:uFill>
                          <a:latin typeface="Arial"/>
                        </a:rPr>
                        <a:t>792,000 </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c>
                  <a:txBody>
                    <a:bodyPr lIns="6120" rIns="6120"/>
                    <a:p>
                      <a:pPr algn="ctr">
                        <a:lnSpc>
                          <a:spcPct val="100000"/>
                        </a:lnSpc>
                      </a:pPr>
                      <a:r>
                        <a:rPr b="0" lang="en-US" sz="1200" spc="-1" strike="noStrike">
                          <a:solidFill>
                            <a:srgbClr val="000000"/>
                          </a:solidFill>
                          <a:uFill>
                            <a:solidFill>
                              <a:srgbClr val="ffffff"/>
                            </a:solidFill>
                          </a:uFill>
                          <a:latin typeface="Arial"/>
                        </a:rPr>
                        <a:t>44.6</a:t>
                      </a:r>
                      <a:endParaRPr b="0" lang="en-US" sz="1200" spc="-1" strike="noStrike">
                        <a:solidFill>
                          <a:srgbClr val="000000"/>
                        </a:solidFill>
                        <a:uFill>
                          <a:solidFill>
                            <a:srgbClr val="ffffff"/>
                          </a:solidFill>
                        </a:uFill>
                        <a:latin typeface="Arial"/>
                      </a:endParaRPr>
                    </a:p>
                  </a:txBody>
                  <a:tcPr marL="6120" marR="6120">
                    <a:lnL w="12240">
                      <a:solidFill>
                        <a:srgbClr val="ffffff"/>
                      </a:solidFill>
                    </a:lnL>
                    <a:lnR w="12240">
                      <a:solidFill>
                        <a:srgbClr val="ffffff"/>
                      </a:solidFill>
                    </a:lnR>
                    <a:lnT w="12240">
                      <a:solidFill>
                        <a:srgbClr val="ffffff"/>
                      </a:solidFill>
                    </a:lnT>
                    <a:lnB w="12240">
                      <a:solidFill>
                        <a:srgbClr val="ffffff"/>
                      </a:solidFill>
                    </a:lnB>
                    <a:solidFill>
                      <a:srgbClr val="e7eaf4"/>
                    </a:solidFill>
                  </a:tcPr>
                </a:tc>
              </a:tr>
            </a:tbl>
          </a:graphicData>
        </a:graphic>
      </p:graphicFrame>
    </p:spTree>
  </p:cSld>
  <p:transition spd="med">
    <p:fade/>
  </p:transition>
  <p:timing>
    <p:tnLst>
      <p:par>
        <p:cTn id="17" dur="indefinite" restart="never" nodeType="tmRoot">
          <p:childTnLst>
            <p:seq>
              <p:cTn id="18" nodeType="mainSeq"/>
              <p:prevCondLst>
                <p:cond delay="0" evt="onPrev">
                  <p:tgtEl>
                    <p:sldTgt/>
                  </p:tgtEl>
                </p:cond>
              </p:prevCondLst>
              <p:nextCondLst>
                <p:cond delay="0"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CustomShape 1"/>
          <p:cNvSpPr/>
          <p:nvPr/>
        </p:nvSpPr>
        <p:spPr>
          <a:xfrm>
            <a:off x="262800" y="240480"/>
            <a:ext cx="11657880" cy="9039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Additional Design Considerations</a:t>
            </a:r>
            <a:endParaRPr b="0" lang="en-US" sz="3000" spc="-1" strike="noStrike">
              <a:solidFill>
                <a:srgbClr val="000000"/>
              </a:solidFill>
              <a:uFill>
                <a:solidFill>
                  <a:srgbClr val="ffffff"/>
                </a:solidFill>
              </a:uFill>
              <a:latin typeface="Arial"/>
            </a:endParaRPr>
          </a:p>
        </p:txBody>
      </p:sp>
      <p:sp>
        <p:nvSpPr>
          <p:cNvPr id="248" name="CustomShape 2"/>
          <p:cNvSpPr/>
          <p:nvPr/>
        </p:nvSpPr>
        <p:spPr>
          <a:xfrm>
            <a:off x="262800" y="1733400"/>
            <a:ext cx="11657880" cy="4479120"/>
          </a:xfrm>
          <a:prstGeom prst="rect">
            <a:avLst/>
          </a:prstGeom>
          <a:noFill/>
          <a:ln>
            <a:noFill/>
          </a:ln>
        </p:spPr>
        <p:style>
          <a:lnRef idx="0"/>
          <a:fillRef idx="0"/>
          <a:effectRef idx="0"/>
          <a:fontRef idx="minor"/>
        </p:style>
        <p:txBody>
          <a:bodyPr lIns="90000" rIns="90000" tIns="45000" bIns="45000"/>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Single ZUS application server</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ZUFS filesystems are .so libraries loaded into ZUS. (pre configured or at run time)</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Regular mount command. New Super blocks created</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Devices are managed and owned by ZUF in Kernel</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Bind mount also works, the regular way.</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ZUS-API with fs-plugins very close to VFS API. </a:t>
            </a:r>
            <a:endParaRPr b="0" lang="en-US" sz="2200" spc="-1" strike="noStrike">
              <a:solidFill>
                <a:srgbClr val="000000"/>
              </a:solidFill>
              <a:uFill>
                <a:solidFill>
                  <a:srgbClr val="ffffff"/>
                </a:solidFill>
              </a:uFill>
              <a:latin typeface="Arial"/>
            </a:endParaRPr>
          </a:p>
          <a:p>
            <a:pPr marL="235080" indent="-234360">
              <a:lnSpc>
                <a:spcPct val="95000"/>
              </a:lnSpc>
              <a:spcBef>
                <a:spcPts val="1199"/>
              </a:spcBef>
              <a:spcAft>
                <a:spcPts val="400"/>
              </a:spcAft>
              <a:buClr>
                <a:srgbClr val="0067c5"/>
              </a:buClr>
              <a:buFont typeface="Wingdings" charset="2"/>
              <a:buChar char=""/>
            </a:pPr>
            <a:r>
              <a:rPr b="0" lang="en-US" sz="2200" spc="-1" strike="noStrike">
                <a:solidFill>
                  <a:srgbClr val="000000"/>
                </a:solidFill>
                <a:uFill>
                  <a:solidFill>
                    <a:srgbClr val="ffffff"/>
                  </a:solidFill>
                </a:uFill>
                <a:latin typeface="Arial"/>
              </a:rPr>
              <a:t>Support for compiling zus-plugins as kernel modules also fed by ZUF?</a:t>
            </a:r>
            <a:endParaRPr b="0" lang="en-US" sz="2200" spc="-1" strike="noStrike">
              <a:solidFill>
                <a:srgbClr val="000000"/>
              </a:solidFill>
              <a:uFill>
                <a:solidFill>
                  <a:srgbClr val="ffffff"/>
                </a:solidFill>
              </a:uFill>
              <a:latin typeface="Arial"/>
            </a:endParaRPr>
          </a:p>
        </p:txBody>
      </p:sp>
      <p:sp>
        <p:nvSpPr>
          <p:cNvPr id="249"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50"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A587BA17-AB9E-4839-9049-6C5CAA3A68D8}"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Tree>
  </p:cSld>
  <p:transition spd="med">
    <p:fade/>
  </p:transition>
  <p:timing>
    <p:tnLst>
      <p:par>
        <p:cTn id="19" dur="indefinite" restart="never" nodeType="tmRoot">
          <p:childTnLst>
            <p:seq>
              <p:cTn id="20" nodeType="mainSeq"/>
              <p:prevCondLst>
                <p:cond delay="0" evt="onPrev">
                  <p:tgtEl>
                    <p:sldTgt/>
                  </p:tgtEl>
                </p:cond>
              </p:prevCondLst>
              <p:nextCondLst>
                <p:cond delay="0"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CustomShape 1"/>
          <p:cNvSpPr/>
          <p:nvPr/>
        </p:nvSpPr>
        <p:spPr>
          <a:xfrm>
            <a:off x="1572120" y="2586240"/>
            <a:ext cx="9043920" cy="1471320"/>
          </a:xfrm>
          <a:prstGeom prst="rect">
            <a:avLst/>
          </a:prstGeom>
          <a:noFill/>
          <a:ln>
            <a:noFill/>
          </a:ln>
        </p:spPr>
        <p:style>
          <a:lnRef idx="0"/>
          <a:fillRef idx="0"/>
          <a:effectRef idx="0"/>
          <a:fontRef idx="minor"/>
        </p:style>
        <p:txBody>
          <a:bodyPr lIns="90000" rIns="90000" tIns="45000" bIns="45000" anchor="b"/>
          <a:p>
            <a:pPr>
              <a:lnSpc>
                <a:spcPct val="95000"/>
              </a:lnSpc>
            </a:pPr>
            <a:r>
              <a:rPr b="0" lang="en-US" sz="4400" spc="-1" strike="noStrike">
                <a:solidFill>
                  <a:srgbClr val="000000"/>
                </a:solidFill>
                <a:uFill>
                  <a:solidFill>
                    <a:srgbClr val="ffffff"/>
                  </a:solidFill>
                </a:uFill>
                <a:latin typeface="Arial"/>
              </a:rPr>
              <a:t>Thank you</a:t>
            </a:r>
            <a:endParaRPr b="0" lang="en-US" sz="4400" spc="-1" strike="noStrike">
              <a:solidFill>
                <a:srgbClr val="000000"/>
              </a:solidFill>
              <a:uFill>
                <a:solidFill>
                  <a:srgbClr val="ffffff"/>
                </a:solidFill>
              </a:uFill>
              <a:latin typeface="Arial"/>
            </a:endParaRPr>
          </a:p>
        </p:txBody>
      </p:sp>
      <p:sp>
        <p:nvSpPr>
          <p:cNvPr id="252" name="CustomShape 2"/>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53" name="CustomShape 3"/>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98BFF0C7-FA19-44F1-962A-4E04A80267B1}"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54" name="CustomShape 4"/>
          <p:cNvSpPr/>
          <p:nvPr/>
        </p:nvSpPr>
        <p:spPr>
          <a:xfrm>
            <a:off x="1572120" y="4085280"/>
            <a:ext cx="9043920" cy="927360"/>
          </a:xfrm>
          <a:prstGeom prst="rect">
            <a:avLst/>
          </a:prstGeom>
          <a:noFill/>
          <a:ln>
            <a:noFill/>
          </a:ln>
        </p:spPr>
        <p:style>
          <a:lnRef idx="0"/>
          <a:fillRef idx="0"/>
          <a:effectRef idx="0"/>
          <a:fontRef idx="minor"/>
        </p:style>
        <p:txBody>
          <a:bodyPr lIns="90000" rIns="90000" tIns="45000" bIns="45000"/>
          <a:p>
            <a:pPr>
              <a:lnSpc>
                <a:spcPct val="85000"/>
              </a:lnSpc>
              <a:spcAft>
                <a:spcPts val="601"/>
              </a:spcAft>
            </a:pPr>
            <a:r>
              <a:rPr b="0" lang="en-US" sz="2200" spc="-1" strike="noStrike">
                <a:solidFill>
                  <a:srgbClr val="0067c5"/>
                </a:solidFill>
                <a:uFill>
                  <a:solidFill>
                    <a:srgbClr val="ffffff"/>
                  </a:solidFill>
                </a:uFill>
                <a:latin typeface="Arial"/>
              </a:rPr>
              <a:t>Please talk to me about ZUFS</a:t>
            </a:r>
            <a:endParaRPr b="0" lang="en-US" sz="2200" spc="-1" strike="noStrike">
              <a:solidFill>
                <a:srgbClr val="000000"/>
              </a:solidFill>
              <a:uFill>
                <a:solidFill>
                  <a:srgbClr val="ffffff"/>
                </a:solidFill>
              </a:uFill>
              <a:latin typeface="Arial"/>
            </a:endParaRPr>
          </a:p>
          <a:p>
            <a:pPr>
              <a:lnSpc>
                <a:spcPct val="85000"/>
              </a:lnSpc>
              <a:spcAft>
                <a:spcPts val="601"/>
              </a:spcAft>
            </a:pPr>
            <a:r>
              <a:rPr b="0" lang="en-US" sz="2200" spc="-1" strike="noStrike">
                <a:solidFill>
                  <a:srgbClr val="0067c5"/>
                </a:solidFill>
                <a:uFill>
                  <a:solidFill>
                    <a:srgbClr val="ffffff"/>
                  </a:solidFill>
                </a:uFill>
                <a:latin typeface="Arial"/>
              </a:rPr>
              <a:t>boazh@netapp.com</a:t>
            </a:r>
            <a:endParaRPr b="0" lang="en-US" sz="2200" spc="-1" strike="noStrike">
              <a:solidFill>
                <a:srgbClr val="000000"/>
              </a:solidFill>
              <a:uFill>
                <a:solidFill>
                  <a:srgbClr val="ffffff"/>
                </a:solidFill>
              </a:uFill>
              <a:latin typeface="Arial"/>
            </a:endParaRPr>
          </a:p>
        </p:txBody>
      </p:sp>
    </p:spTree>
  </p:cSld>
  <p:transition spd="med">
    <p:fade/>
  </p:transition>
  <p:timing>
    <p:tnLst>
      <p:par>
        <p:cTn id="21" dur="indefinite" restart="never" nodeType="tmRoot">
          <p:childTnLst>
            <p:seq>
              <p:cTn id="22" nodeType="mainSeq"/>
              <p:prevCondLst>
                <p:cond delay="0" evt="onPrev">
                  <p:tgtEl>
                    <p:sldTgt/>
                  </p:tgtEl>
                </p:cond>
              </p:prevCondLst>
              <p:nextCondLst>
                <p:cond delay="0"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CustomShape 1"/>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56" name="CustomShape 2"/>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A1D1308E-BA0F-484F-A055-AFC797559094}"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57" name="CustomShape 3"/>
          <p:cNvSpPr/>
          <p:nvPr/>
        </p:nvSpPr>
        <p:spPr>
          <a:xfrm>
            <a:off x="6126480" y="-34560"/>
            <a:ext cx="6047640" cy="6747120"/>
          </a:xfrm>
          <a:prstGeom prst="rect">
            <a:avLst/>
          </a:prstGeom>
          <a:noFill/>
          <a:ln>
            <a:noFill/>
          </a:ln>
        </p:spPr>
        <p:style>
          <a:lnRef idx="0"/>
          <a:fillRef idx="0"/>
          <a:effectRef idx="0"/>
          <a:fontRef idx="minor"/>
        </p:style>
        <p:txBody>
          <a:bodyPr lIns="90000" rIns="90000" tIns="45000" bIns="45000"/>
          <a:p>
            <a:r>
              <a:rPr b="0" lang="en-US" sz="1000" spc="-1" strike="noStrike">
                <a:solidFill>
                  <a:srgbClr val="000000"/>
                </a:solidFill>
                <a:uFill>
                  <a:solidFill>
                    <a:srgbClr val="ffffff"/>
                  </a:solidFill>
                </a:uFill>
                <a:latin typeface="Courier New"/>
              </a:rPr>
              <a:t>static int _zu_wait(struct file *file, void *parg)</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int cpu = smp_processor_id();</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int err;</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err = _zt_from_f(file, cpu, &amp;zt);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if (unlikely(err))</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goto err;</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zt-&gt;fss_waiting = true;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if (zt-&gt;app_waiting) {</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_unmap_pages(zt, zt-&gt;pages, zt-&gt;nump);</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zt-&gt;app_waiting = false;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get_user(zt-&gt;next_opt.hdr.err, (int *)parg);</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_zu_wakeup_app(zt);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_zu_wait_fss(zt);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zt-&gt;fss_waiting = false;</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 call map here at the zuf thread so we need no locks */</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if (zt-&gt;next_opt.operation &amp;&amp;  zt-&gt;next_opt.operation &lt; ZUS_OP_BREAK)</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_map_pages(zt, zt-&gt;pages, zt-&gt;nump, false);</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err = copy_to_user(parg, &amp;zt-&gt;next_opt, sizeof(zt-&gt;next_opt));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err;</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err:</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put_user(err, (int *)parg);</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err;</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int zufs_dispatch(struct m1fs_sb_info *sbi, int operation, </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uint pgoffset, struct page **pages, uint nump,</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u64 filepos, uint len)</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int cpu = smp_processor_id();</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if ((cpu &lt; 0) || (sbi-&gt;_max_zts &lt;= cpu))</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-ERANGE;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 = &amp;sbi-&gt;_all_zt[cpu];</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if (unlikely(!zt-&gt;file))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-EIO;</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while (!zt-&gt;fss_waiting) {</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mb();</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if (unlikely(!zt-&gt;file))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-EIO;</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m1fs_err("[%d] can this be\n", cpu);</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msleep(100);</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mb();</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zt-&gt;next_opt.operation = operation;</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zt-&gt;next_opt.offset = pgoffset;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zt-&gt;next_opt.filepos = filepos;</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zt-&gt;next_opt.len = len;</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zt-&gt;pages = pages;</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zt-&gt;nump = nump;</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zt-&gt;app_waiting = true;</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_zu_wakeup_fss(zt);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_zu_wait_app(zt);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zt-&gt;file ? zt-&gt;next_opt.hdr.err : -EIO;</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p:txBody>
      </p:sp>
      <p:sp>
        <p:nvSpPr>
          <p:cNvPr id="258" name="CustomShape 4"/>
          <p:cNvSpPr/>
          <p:nvPr/>
        </p:nvSpPr>
        <p:spPr>
          <a:xfrm>
            <a:off x="135000" y="1937520"/>
            <a:ext cx="5361840" cy="2474640"/>
          </a:xfrm>
          <a:prstGeom prst="rect">
            <a:avLst/>
          </a:prstGeom>
          <a:noFill/>
          <a:ln>
            <a:noFill/>
          </a:ln>
        </p:spPr>
        <p:style>
          <a:lnRef idx="0"/>
          <a:fillRef idx="0"/>
          <a:effectRef idx="0"/>
          <a:fontRef idx="minor"/>
        </p:style>
        <p:txBody>
          <a:bodyPr lIns="90000" rIns="90000" tIns="45000" bIns="45000"/>
          <a:p>
            <a:r>
              <a:rPr b="0" lang="en-US" sz="1000" spc="-1" strike="noStrike">
                <a:solidFill>
                  <a:srgbClr val="000000"/>
                </a:solidFill>
                <a:uFill>
                  <a:solidFill>
                    <a:srgbClr val="ffffff"/>
                  </a:solidFill>
                </a:uFill>
                <a:latin typeface="Courier New"/>
              </a:rPr>
              <a:t>static void _zu_wakeup_fss(struct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zt-&gt;fss_wakeup = true;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        </a:t>
            </a:r>
            <a:r>
              <a:rPr b="0" lang="en-US" sz="1000" spc="-1" strike="noStrike">
                <a:solidFill>
                  <a:srgbClr val="000000"/>
                </a:solidFill>
                <a:uFill>
                  <a:solidFill>
                    <a:srgbClr val="ffffff"/>
                  </a:solidFill>
                </a:uFill>
                <a:latin typeface="Courier New"/>
              </a:rPr>
              <a:t>wake_up(&amp;zt-&gt;fss_wq);</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static void _zu_wakeup_app(struct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zt-&gt;app_wakeup = true;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wake_up(&amp;zt-&gt;app_wq);</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static int _zu_wait_fss(struct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zt-&gt;fss_wakeup = false;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wait_event_interruptible(zt-&gt;fss_wq, zt-&gt;fss_wakeup);</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static int _zu_wait_app(struct zufs_thread *zt)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zt-&gt;app_wakeup = false;</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        </a:t>
            </a:r>
            <a:r>
              <a:rPr b="0" lang="en-US" sz="1000" spc="-1" strike="noStrike">
                <a:solidFill>
                  <a:srgbClr val="000000"/>
                </a:solidFill>
                <a:uFill>
                  <a:solidFill>
                    <a:srgbClr val="ffffff"/>
                  </a:solidFill>
                </a:uFill>
                <a:latin typeface="Courier New"/>
                <a:ea typeface="Courier New"/>
              </a:rPr>
              <a:t>return wait_event_interruptible(zt-&gt;app_wq, zt-&gt;app_wakeup);</a:t>
            </a:r>
            <a:endParaRPr b="0" lang="en-US" sz="1000" spc="-1" strike="noStrike">
              <a:solidFill>
                <a:srgbClr val="000000"/>
              </a:solidFill>
              <a:uFill>
                <a:solidFill>
                  <a:srgbClr val="ffffff"/>
                </a:solidFill>
              </a:uFill>
              <a:latin typeface="Arial"/>
            </a:endParaRPr>
          </a:p>
          <a:p>
            <a:r>
              <a:rPr b="0" lang="en-US" sz="1000" spc="-1" strike="noStrike">
                <a:solidFill>
                  <a:srgbClr val="000000"/>
                </a:solidFill>
                <a:uFill>
                  <a:solidFill>
                    <a:srgbClr val="ffffff"/>
                  </a:solidFill>
                </a:uFill>
                <a:latin typeface="Courier New"/>
                <a:ea typeface="Courier New"/>
              </a:rPr>
              <a:t>}</a:t>
            </a:r>
            <a:endParaRPr b="0" lang="en-US" sz="1000" spc="-1" strike="noStrike">
              <a:solidFill>
                <a:srgbClr val="000000"/>
              </a:solidFill>
              <a:uFill>
                <a:solidFill>
                  <a:srgbClr val="ffffff"/>
                </a:solidFill>
              </a:uFill>
              <a:latin typeface="Arial"/>
            </a:endParaRPr>
          </a:p>
          <a:p>
            <a:endParaRPr b="0" lang="en-US" sz="1000" spc="-1" strike="noStrike">
              <a:solidFill>
                <a:srgbClr val="000000"/>
              </a:solidFill>
              <a:uFill>
                <a:solidFill>
                  <a:srgbClr val="ffffff"/>
                </a:solidFill>
              </a:uFill>
              <a:latin typeface="Arial"/>
            </a:endParaRPr>
          </a:p>
        </p:txBody>
      </p:sp>
    </p:spTree>
  </p:cSld>
  <p:transition spd="med">
    <p:fade/>
  </p:transition>
  <p:timing>
    <p:tnLst>
      <p:par>
        <p:cTn id="23" dur="indefinite" restart="never" nodeType="tmRoot">
          <p:childTnLst>
            <p:seq>
              <p:cTn id="24" nodeType="mainSeq"/>
              <p:prevCondLst>
                <p:cond delay="0" evt="onPrev">
                  <p:tgtEl>
                    <p:sldTgt/>
                  </p:tgtEl>
                </p:cond>
              </p:prevCondLst>
              <p:nextCondLst>
                <p:cond delay="0"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CustomShape 1"/>
          <p:cNvSpPr/>
          <p:nvPr/>
        </p:nvSpPr>
        <p:spPr>
          <a:xfrm>
            <a:off x="262800" y="232560"/>
            <a:ext cx="11657880" cy="911880"/>
          </a:xfrm>
          <a:prstGeom prst="rect">
            <a:avLst/>
          </a:prstGeom>
          <a:noFill/>
          <a:ln>
            <a:noFill/>
          </a:ln>
        </p:spPr>
        <p:style>
          <a:lnRef idx="0"/>
          <a:fillRef idx="0"/>
          <a:effectRef idx="0"/>
          <a:fontRef idx="minor"/>
        </p:style>
        <p:txBody>
          <a:bodyPr lIns="90000" rIns="90000" tIns="45000" bIns="45000" anchor="b"/>
          <a:p>
            <a:pPr>
              <a:lnSpc>
                <a:spcPct val="100000"/>
              </a:lnSpc>
            </a:pPr>
            <a:r>
              <a:rPr b="0" lang="en-US" sz="3000" spc="-1" strike="noStrike">
                <a:solidFill>
                  <a:srgbClr val="000000"/>
                </a:solidFill>
                <a:uFill>
                  <a:solidFill>
                    <a:srgbClr val="ffffff"/>
                  </a:solidFill>
                </a:uFill>
                <a:latin typeface="Arial"/>
              </a:rPr>
              <a:t>Abstract</a:t>
            </a:r>
            <a:endParaRPr b="0" lang="en-US" sz="3000" spc="-1" strike="noStrike">
              <a:solidFill>
                <a:srgbClr val="000000"/>
              </a:solidFill>
              <a:uFill>
                <a:solidFill>
                  <a:srgbClr val="ffffff"/>
                </a:solidFill>
              </a:uFill>
              <a:latin typeface="Arial"/>
            </a:endParaRPr>
          </a:p>
        </p:txBody>
      </p:sp>
      <p:sp>
        <p:nvSpPr>
          <p:cNvPr id="260" name="CustomShape 2"/>
          <p:cNvSpPr/>
          <p:nvPr/>
        </p:nvSpPr>
        <p:spPr>
          <a:xfrm>
            <a:off x="275760" y="1106280"/>
            <a:ext cx="11647080" cy="399240"/>
          </a:xfrm>
          <a:prstGeom prst="rect">
            <a:avLst/>
          </a:prstGeom>
          <a:noFill/>
          <a:ln>
            <a:noFill/>
          </a:ln>
        </p:spPr>
        <p:style>
          <a:lnRef idx="0"/>
          <a:fillRef idx="0"/>
          <a:effectRef idx="0"/>
          <a:fontRef idx="minor"/>
        </p:style>
      </p:sp>
      <p:sp>
        <p:nvSpPr>
          <p:cNvPr id="261" name="CustomShape 3"/>
          <p:cNvSpPr/>
          <p:nvPr/>
        </p:nvSpPr>
        <p:spPr>
          <a:xfrm>
            <a:off x="889200" y="6472800"/>
            <a:ext cx="6537960" cy="239760"/>
          </a:xfrm>
          <a:prstGeom prst="rect">
            <a:avLst/>
          </a:prstGeom>
          <a:noFill/>
          <a:ln>
            <a:noFill/>
          </a:ln>
        </p:spPr>
        <p:style>
          <a:lnRef idx="0"/>
          <a:fillRef idx="0"/>
          <a:effectRef idx="0"/>
          <a:fontRef idx="minor"/>
        </p:style>
        <p:txBody>
          <a:bodyPr lIns="90000" rIns="90000" tIns="45000" bIns="45000" anchor="b"/>
          <a:p>
            <a:pPr>
              <a:lnSpc>
                <a:spcPct val="100000"/>
              </a:lnSpc>
            </a:pPr>
            <a:r>
              <a:rPr b="0" lang="en-US" sz="800" spc="-1" strike="noStrike">
                <a:solidFill>
                  <a:srgbClr val="9ea2a2"/>
                </a:solidFill>
                <a:uFill>
                  <a:solidFill>
                    <a:srgbClr val="ffffff"/>
                  </a:solidFill>
                </a:uFill>
                <a:latin typeface="Arial"/>
              </a:rPr>
              <a:t>© 2017 NetApp, Inc. All rights reserved.  --- NETAPP CONFIDENTIAL ---</a:t>
            </a:r>
            <a:endParaRPr b="0" lang="en-US" sz="800" spc="-1" strike="noStrike">
              <a:solidFill>
                <a:srgbClr val="000000"/>
              </a:solidFill>
              <a:uFill>
                <a:solidFill>
                  <a:srgbClr val="ffffff"/>
                </a:solidFill>
              </a:uFill>
              <a:latin typeface="Arial"/>
            </a:endParaRPr>
          </a:p>
        </p:txBody>
      </p:sp>
      <p:sp>
        <p:nvSpPr>
          <p:cNvPr id="262" name="CustomShape 4"/>
          <p:cNvSpPr/>
          <p:nvPr/>
        </p:nvSpPr>
        <p:spPr>
          <a:xfrm>
            <a:off x="294480" y="6462720"/>
            <a:ext cx="447840" cy="259920"/>
          </a:xfrm>
          <a:prstGeom prst="rect">
            <a:avLst/>
          </a:prstGeom>
          <a:noFill/>
          <a:ln>
            <a:noFill/>
          </a:ln>
        </p:spPr>
        <p:style>
          <a:lnRef idx="0"/>
          <a:fillRef idx="0"/>
          <a:effectRef idx="0"/>
          <a:fontRef idx="minor"/>
        </p:style>
        <p:txBody>
          <a:bodyPr lIns="90000" rIns="90000" tIns="45000" bIns="45000" anchor="b"/>
          <a:p>
            <a:pPr>
              <a:lnSpc>
                <a:spcPct val="100000"/>
              </a:lnSpc>
            </a:pPr>
            <a:fld id="{377DA9BC-CE31-4273-A938-A1A08D8A13E7}" type="slidenum">
              <a:rPr b="1" lang="en-US" sz="1050" spc="-1" strike="noStrike">
                <a:solidFill>
                  <a:srgbClr val="272929"/>
                </a:solidFill>
                <a:uFill>
                  <a:solidFill>
                    <a:srgbClr val="ffffff"/>
                  </a:solidFill>
                </a:uFill>
                <a:latin typeface="Arial"/>
              </a:rPr>
              <a:t>&lt;number&gt;</a:t>
            </a:fld>
            <a:endParaRPr b="0" lang="en-US" sz="1050" spc="-1" strike="noStrike">
              <a:solidFill>
                <a:srgbClr val="000000"/>
              </a:solidFill>
              <a:uFill>
                <a:solidFill>
                  <a:srgbClr val="ffffff"/>
                </a:solidFill>
              </a:uFill>
              <a:latin typeface="Arial"/>
            </a:endParaRPr>
          </a:p>
        </p:txBody>
      </p:sp>
      <p:sp>
        <p:nvSpPr>
          <p:cNvPr id="263" name="CustomShape 5"/>
          <p:cNvSpPr/>
          <p:nvPr/>
        </p:nvSpPr>
        <p:spPr>
          <a:xfrm>
            <a:off x="262800" y="1733400"/>
            <a:ext cx="11657880" cy="4479480"/>
          </a:xfrm>
          <a:prstGeom prst="rect">
            <a:avLst/>
          </a:prstGeom>
          <a:noFill/>
          <a:ln>
            <a:noFill/>
          </a:ln>
        </p:spPr>
        <p:style>
          <a:lnRef idx="0"/>
          <a:fillRef idx="0"/>
          <a:effectRef idx="0"/>
          <a:fontRef idx="minor"/>
        </p:style>
        <p:txBody>
          <a:bodyPr lIns="90000" rIns="90000" tIns="45000" bIns="45000">
            <a:normAutofit/>
          </a:bodyPr>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FUSE enables user space file systems ever since kernel 2.6.14. It is a widely popular vehicle for rapid development and tens of file systems have used it to date. FUSE is asynchronous in nature and heavily relies on the operating system page cache. It was designed with hard drive latency in mind and was measured to add penalty of 12.5 to 1000 micro second [us], depending on the load.</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Emerging persistent memory technologies, such as NVDIMM-N and 3D XPoint / MRAM / ReRAM based NVDIMM, operate at near memory speed and require a different user space file system mechanism. One that is tuned to latency.</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The motivation of this work is to enable new bread of User-mode work, based on above Technologies that typically respond within a single micro second – faster than any caching, redundant data copying and queuing.</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ZUFS, pronounced Zoo-FS and stands for Zero-copy User-mode FS is a new kernel project designed to fill that gap.</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ZUFS is designed from the get go to provide an example of a full, PMEM based, FS, to demonstrate Speed, behavior and correctness. But the motivation is that not only full flagged Filesystems need apply. Any other User-Mode Service that wants to very effectively with modern direct mmapped access, service many applications and can enjoy a filesystem like interface. Can enjoy this new ABI from Kernel.</a:t>
            </a:r>
            <a:br/>
            <a:r>
              <a:rPr b="0" lang="en-US" sz="2200" spc="-1" strike="noStrike">
                <a:solidFill>
                  <a:srgbClr val="0067c5"/>
                </a:solidFill>
                <a:uFill>
                  <a:solidFill>
                    <a:srgbClr val="ffffff"/>
                  </a:solidFill>
                </a:uFill>
                <a:latin typeface="Arial"/>
              </a:rPr>
              <a:t>The emphasis here is on multi-threaded, Low Latency, synchronous, Zero copy, direct mapped type access from the application to the Server-Application. And vise versa direct mapping of Server resources into the application.</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All this without sacrificing security or robustness.</a:t>
            </a:r>
            <a:endParaRPr b="0" lang="en-US" sz="2200" spc="-1" strike="noStrike">
              <a:solidFill>
                <a:srgbClr val="000000"/>
              </a:solidFill>
              <a:uFill>
                <a:solidFill>
                  <a:srgbClr val="ffffff"/>
                </a:solidFill>
              </a:uFill>
              <a:latin typeface="Arial"/>
            </a:endParaRPr>
          </a:p>
          <a:p>
            <a:pPr marL="343080" indent="-342360">
              <a:lnSpc>
                <a:spcPct val="100000"/>
              </a:lnSpc>
              <a:spcBef>
                <a:spcPts val="1199"/>
              </a:spcBef>
              <a:spcAft>
                <a:spcPts val="400"/>
              </a:spcAft>
              <a:buClr>
                <a:srgbClr val="0067c5"/>
              </a:buClr>
              <a:buFont typeface="Arial"/>
              <a:buChar char="•"/>
            </a:pPr>
            <a:r>
              <a:rPr b="0" lang="en-US" sz="2200" spc="-1" strike="noStrike">
                <a:solidFill>
                  <a:srgbClr val="0067c5"/>
                </a:solidFill>
                <a:uFill>
                  <a:solidFill>
                    <a:srgbClr val="ffffff"/>
                  </a:solidFill>
                </a:uFill>
                <a:latin typeface="Arial"/>
              </a:rPr>
              <a:t>And how we think we can do this? Please see the attached paper, and come to our talk. But mainly this is more of an open question then a ready made proposal.</a:t>
            </a:r>
            <a:endParaRPr b="0" lang="en-US" sz="2200" spc="-1" strike="noStrike">
              <a:solidFill>
                <a:srgbClr val="000000"/>
              </a:solidFill>
              <a:uFill>
                <a:solidFill>
                  <a:srgbClr val="ffffff"/>
                </a:solidFill>
              </a:uFill>
              <a:latin typeface="Arial"/>
            </a:endParaRPr>
          </a:p>
          <a:p>
            <a:pPr>
              <a:lnSpc>
                <a:spcPct val="100000"/>
              </a:lnSpc>
              <a:spcBef>
                <a:spcPts val="1199"/>
              </a:spcBef>
              <a:spcAft>
                <a:spcPts val="400"/>
              </a:spcAft>
            </a:pPr>
            <a:endParaRPr b="0" lang="en-US" sz="2200" spc="-1" strike="noStrike">
              <a:solidFill>
                <a:srgbClr val="000000"/>
              </a:solidFill>
              <a:uFill>
                <a:solidFill>
                  <a:srgbClr val="ffffff"/>
                </a:solidFill>
              </a:uFill>
              <a:latin typeface="Arial"/>
            </a:endParaRPr>
          </a:p>
        </p:txBody>
      </p:sp>
    </p:spTree>
  </p:cSld>
  <p:transition spd="med">
    <p:fade/>
  </p:transition>
  <p:timing>
    <p:tnLst>
      <p:par>
        <p:cTn id="25" dur="indefinite" restart="never" nodeType="tmRoot">
          <p:childTnLst>
            <p:seq>
              <p:cTn id="26"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310</TotalTime>
  <Application>LibreOffice/5.3.6.1$Linux_X86_64 LibreOffice_project/30$Build-1</Application>
  <Words>742</Words>
  <Paragraphs>216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2017-06-02T01:06:37Z</dcterms:created>
  <dc:creator/>
  <dc:description/>
  <dc:language>en-US</dc:language>
  <cp:lastModifiedBy/>
  <dcterms:modified xsi:type="dcterms:W3CDTF">2017-09-17T03:02:47Z</dcterms:modified>
  <cp:revision>8</cp:revision>
  <dc:subject/>
  <dc:title>NetApp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3</vt:i4>
  </property>
  <property fmtid="{D5CDD505-2E9C-101B-9397-08002B2CF9AE}" pid="8" name="PresentationFormat">
    <vt:lpwstr>Custom</vt:lpwstr>
  </property>
  <property fmtid="{D5CDD505-2E9C-101B-9397-08002B2CF9AE}" pid="9" name="ScaleCrop">
    <vt:bool>0</vt:bool>
  </property>
  <property fmtid="{D5CDD505-2E9C-101B-9397-08002B2CF9AE}" pid="10" name="ShareDoc">
    <vt:bool>0</vt:bool>
  </property>
  <property fmtid="{D5CDD505-2E9C-101B-9397-08002B2CF9AE}" pid="11" name="Slides">
    <vt:i4>12</vt:i4>
  </property>
</Properties>
</file>