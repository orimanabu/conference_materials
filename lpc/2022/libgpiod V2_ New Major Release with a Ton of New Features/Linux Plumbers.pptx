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Helvetica Neue"/>
      <p:regular r:id="rId40"/>
      <p:bold r:id="rId41"/>
      <p:italic r:id="rId42"/>
      <p:boldItalic r:id="rId43"/>
    </p:embeddedFont>
    <p:embeddedFont>
      <p:font typeface="Quicksand SemiBold"/>
      <p:regular r:id="rId44"/>
      <p:bold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44" Type="http://schemas.openxmlformats.org/officeDocument/2006/relationships/font" Target="fonts/QuicksandSemiBold-regular.fntdata"/><Relationship Id="rId43" Type="http://schemas.openxmlformats.org/officeDocument/2006/relationships/font" Target="fonts/HelveticaNeue-boldItalic.fntdata"/><Relationship Id="rId46" Type="http://schemas.openxmlformats.org/officeDocument/2006/relationships/font" Target="fonts/RobotoMono-regular.fntdata"/><Relationship Id="rId45" Type="http://schemas.openxmlformats.org/officeDocument/2006/relationships/font" Target="fonts/QuicksandSemi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136acf934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5136acf934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136acf934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15136acf934_2_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1fd4fdc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51fd4fdc0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136acf934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15136acf934_2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24c9871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1524c9871b9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24c9871b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1524c9871b9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524c9871b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1524c9871b9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524c9871b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1524c9871b9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524c9871b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1524c9871b9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524c9871b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1524c9871b9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524c9871b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1524c9871b9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24c9871b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1524c9871b9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524c9871b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1524c9871b9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524c9871b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1524c9871b9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524c9871b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524c9871b9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52aabea0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152aabea0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52aabea0b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152aabea0b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2aabea0b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152aabea0be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52aabea0b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152aabea0be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52aabea0b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52aabea0be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52aabea0b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152aabea0b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52aabea0b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152aabea0be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52aabea0b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152aabea0be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52aabea0b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152aabea0be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52aabea0b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152aabea0be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52aabea0b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152aabea0be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52aabea0b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152aabea0be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52aabea0be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152aabea0be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52aabea0be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152aabea0be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52aabea0b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152aabea0be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2aabea0b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152aabea0be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52aabea0b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152aabea0be_0_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110" y="1203525"/>
            <a:ext cx="8229330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subTitle"/>
          </p:nvPr>
        </p:nvSpPr>
        <p:spPr>
          <a:xfrm>
            <a:off x="457110" y="1203525"/>
            <a:ext cx="8229330" cy="2983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457110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673835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subTitle"/>
          </p:nvPr>
        </p:nvSpPr>
        <p:spPr>
          <a:xfrm>
            <a:off x="457110" y="205200"/>
            <a:ext cx="8229330" cy="3981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2" type="body"/>
          </p:nvPr>
        </p:nvSpPr>
        <p:spPr>
          <a:xfrm>
            <a:off x="4673835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3" type="body"/>
          </p:nvPr>
        </p:nvSpPr>
        <p:spPr>
          <a:xfrm>
            <a:off x="457110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457110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3" type="body"/>
          </p:nvPr>
        </p:nvSpPr>
        <p:spPr>
          <a:xfrm>
            <a:off x="4673835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3" type="body"/>
          </p:nvPr>
        </p:nvSpPr>
        <p:spPr>
          <a:xfrm>
            <a:off x="457110" y="276169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457110" y="120352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457110" y="276169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3" type="body"/>
          </p:nvPr>
        </p:nvSpPr>
        <p:spPr>
          <a:xfrm>
            <a:off x="457110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4" type="body"/>
          </p:nvPr>
        </p:nvSpPr>
        <p:spPr>
          <a:xfrm>
            <a:off x="4673835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457110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3239460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6021945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4" type="body"/>
          </p:nvPr>
        </p:nvSpPr>
        <p:spPr>
          <a:xfrm>
            <a:off x="457110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5" type="body"/>
          </p:nvPr>
        </p:nvSpPr>
        <p:spPr>
          <a:xfrm>
            <a:off x="3239460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6" type="body"/>
          </p:nvPr>
        </p:nvSpPr>
        <p:spPr>
          <a:xfrm>
            <a:off x="6021945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457110" y="1203525"/>
            <a:ext cx="8229330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" type="subTitle"/>
          </p:nvPr>
        </p:nvSpPr>
        <p:spPr>
          <a:xfrm>
            <a:off x="457110" y="1203525"/>
            <a:ext cx="8229330" cy="2983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idx="1" type="body"/>
          </p:nvPr>
        </p:nvSpPr>
        <p:spPr>
          <a:xfrm>
            <a:off x="457110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2" type="body"/>
          </p:nvPr>
        </p:nvSpPr>
        <p:spPr>
          <a:xfrm>
            <a:off x="4673835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idx="1" type="subTitle"/>
          </p:nvPr>
        </p:nvSpPr>
        <p:spPr>
          <a:xfrm>
            <a:off x="457110" y="205200"/>
            <a:ext cx="8229330" cy="3981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2" type="body"/>
          </p:nvPr>
        </p:nvSpPr>
        <p:spPr>
          <a:xfrm>
            <a:off x="4673835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3" type="body"/>
          </p:nvPr>
        </p:nvSpPr>
        <p:spPr>
          <a:xfrm>
            <a:off x="457110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1" type="body"/>
          </p:nvPr>
        </p:nvSpPr>
        <p:spPr>
          <a:xfrm>
            <a:off x="457110" y="1203525"/>
            <a:ext cx="4015845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3" type="body"/>
          </p:nvPr>
        </p:nvSpPr>
        <p:spPr>
          <a:xfrm>
            <a:off x="4673835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3" type="body"/>
          </p:nvPr>
        </p:nvSpPr>
        <p:spPr>
          <a:xfrm>
            <a:off x="457110" y="276169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1" type="body"/>
          </p:nvPr>
        </p:nvSpPr>
        <p:spPr>
          <a:xfrm>
            <a:off x="457110" y="120352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2" type="body"/>
          </p:nvPr>
        </p:nvSpPr>
        <p:spPr>
          <a:xfrm>
            <a:off x="457110" y="2761695"/>
            <a:ext cx="822933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1" type="body"/>
          </p:nvPr>
        </p:nvSpPr>
        <p:spPr>
          <a:xfrm>
            <a:off x="457110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2" type="body"/>
          </p:nvPr>
        </p:nvSpPr>
        <p:spPr>
          <a:xfrm>
            <a:off x="4673835" y="120352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3" type="body"/>
          </p:nvPr>
        </p:nvSpPr>
        <p:spPr>
          <a:xfrm>
            <a:off x="457110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4" type="body"/>
          </p:nvPr>
        </p:nvSpPr>
        <p:spPr>
          <a:xfrm>
            <a:off x="4673835" y="2761695"/>
            <a:ext cx="4015845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457110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3239460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6021945" y="120352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457110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5" type="body"/>
          </p:nvPr>
        </p:nvSpPr>
        <p:spPr>
          <a:xfrm>
            <a:off x="3239460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6" type="body"/>
          </p:nvPr>
        </p:nvSpPr>
        <p:spPr>
          <a:xfrm>
            <a:off x="6021945" y="2761695"/>
            <a:ext cx="264978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35"/>
            <a:ext cx="9143820" cy="514336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-433350" y="-485730"/>
            <a:ext cx="10029690" cy="600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452385" y="2671785"/>
            <a:ext cx="8239050" cy="174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52925" y="414855"/>
            <a:ext cx="8238105" cy="2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452385" y="4353750"/>
            <a:ext cx="8239050" cy="41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4500630" y="2024460"/>
            <a:ext cx="138105" cy="30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457110" y="205200"/>
            <a:ext cx="8229330" cy="858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457110" y="1203525"/>
            <a:ext cx="8229330" cy="298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457110" y="4685715"/>
            <a:ext cx="2130300" cy="35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3127140" y="4685715"/>
            <a:ext cx="2898450" cy="35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6556140" y="4685715"/>
            <a:ext cx="2130300" cy="35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35"/>
            <a:ext cx="9143820" cy="51433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9"/>
          <p:cNvSpPr txBox="1"/>
          <p:nvPr/>
        </p:nvSpPr>
        <p:spPr>
          <a:xfrm>
            <a:off x="1675492" y="2207466"/>
            <a:ext cx="5793000" cy="13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</a:rPr>
              <a:t>libgpiod v2: new major release with a ton of new features</a:t>
            </a:r>
            <a:endParaRPr b="1" sz="2800">
              <a:solidFill>
                <a:srgbClr val="000000"/>
              </a:solidFill>
            </a:endParaRPr>
          </a:p>
        </p:txBody>
      </p:sp>
      <p:sp>
        <p:nvSpPr>
          <p:cNvPr id="165" name="Google Shape;165;p39"/>
          <p:cNvSpPr txBox="1"/>
          <p:nvPr/>
        </p:nvSpPr>
        <p:spPr>
          <a:xfrm>
            <a:off x="2019317" y="2059133"/>
            <a:ext cx="3026100" cy="4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Bartosz Golaszewski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About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0"/>
          <p:cNvSpPr txBox="1"/>
          <p:nvPr/>
        </p:nvSpPr>
        <p:spPr>
          <a:xfrm>
            <a:off x="925526" y="894771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14 years of experience</a:t>
            </a:r>
            <a:endParaRPr sz="2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Kernel and user-space developer</a:t>
            </a:r>
            <a:endParaRPr sz="2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Author &amp; maintainer of libgpiod and the GPIO kernel framework</a:t>
            </a:r>
            <a:endParaRPr sz="2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Contributor to various Yocto layers</a:t>
            </a:r>
            <a:endParaRPr sz="2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Maintainer of Zephyr LVGL stack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/>
          <p:nvPr/>
        </p:nvSpPr>
        <p:spPr>
          <a:xfrm>
            <a:off x="2700" y="188054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Recap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2"/>
          <p:cNvSpPr txBox="1"/>
          <p:nvPr/>
        </p:nvSpPr>
        <p:spPr>
          <a:xfrm>
            <a:off x="795476" y="763196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Users really want user-space control for GPIOs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Linux GPIO subsystem exposes a per-chip character device as </a:t>
            </a:r>
            <a:r>
              <a:rPr lang="en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/dev/gpiochipX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Meant to replace sysfs (</a:t>
            </a:r>
            <a:r>
              <a:rPr lang="en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/sys/class/gpio</a:t>
            </a:r>
            <a:r>
              <a:rPr lang="en" sz="2700">
                <a:solidFill>
                  <a:srgbClr val="000000"/>
                </a:solidFill>
              </a:rPr>
              <a:t>)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Lots of ioctl()s and data structures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libgpiod wraps that functionality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libgpiod exposes a C library, C++ and Python bindings and command-line tools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182" name="Google Shape;182;p42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Recap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3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Recap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3"/>
          <p:cNvSpPr/>
          <p:nvPr/>
        </p:nvSpPr>
        <p:spPr>
          <a:xfrm>
            <a:off x="954700" y="1460710"/>
            <a:ext cx="6928800" cy="10026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libgpiod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project</a:t>
            </a:r>
            <a:endParaRPr sz="1100"/>
          </a:p>
        </p:txBody>
      </p:sp>
      <p:sp>
        <p:nvSpPr>
          <p:cNvPr id="189" name="Google Shape;189;p43"/>
          <p:cNvSpPr/>
          <p:nvPr/>
        </p:nvSpPr>
        <p:spPr>
          <a:xfrm>
            <a:off x="1553741" y="2562459"/>
            <a:ext cx="6289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 character device</a:t>
            </a:r>
            <a:endParaRPr/>
          </a:p>
        </p:txBody>
      </p:sp>
      <p:sp>
        <p:nvSpPr>
          <p:cNvPr id="190" name="Google Shape;190;p43"/>
          <p:cNvSpPr/>
          <p:nvPr/>
        </p:nvSpPr>
        <p:spPr>
          <a:xfrm>
            <a:off x="1553741" y="2029643"/>
            <a:ext cx="6289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libgpiod (core)</a:t>
            </a:r>
            <a:endParaRPr/>
          </a:p>
        </p:txBody>
      </p:sp>
      <p:sp>
        <p:nvSpPr>
          <p:cNvPr id="191" name="Google Shape;191;p43"/>
          <p:cNvSpPr/>
          <p:nvPr/>
        </p:nvSpPr>
        <p:spPr>
          <a:xfrm>
            <a:off x="1553741" y="1496828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C++ bindings</a:t>
            </a:r>
            <a:endParaRPr/>
          </a:p>
        </p:txBody>
      </p:sp>
      <p:sp>
        <p:nvSpPr>
          <p:cNvPr id="192" name="Google Shape;192;p43"/>
          <p:cNvSpPr/>
          <p:nvPr/>
        </p:nvSpPr>
        <p:spPr>
          <a:xfrm>
            <a:off x="3677584" y="1496817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bindings</a:t>
            </a:r>
            <a:endParaRPr/>
          </a:p>
        </p:txBody>
      </p:sp>
      <p:sp>
        <p:nvSpPr>
          <p:cNvPr id="193" name="Google Shape;193;p43"/>
          <p:cNvSpPr/>
          <p:nvPr/>
        </p:nvSpPr>
        <p:spPr>
          <a:xfrm>
            <a:off x="5801426" y="1496828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gpio-tools</a:t>
            </a:r>
            <a:endParaRPr/>
          </a:p>
        </p:txBody>
      </p:sp>
      <p:sp>
        <p:nvSpPr>
          <p:cNvPr id="194" name="Google Shape;194;p43"/>
          <p:cNvSpPr/>
          <p:nvPr/>
        </p:nvSpPr>
        <p:spPr>
          <a:xfrm>
            <a:off x="1553741" y="3095274"/>
            <a:ext cx="6289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 subsystem (gpiolib)</a:t>
            </a:r>
            <a:endParaRPr/>
          </a:p>
        </p:txBody>
      </p:sp>
      <p:sp>
        <p:nvSpPr>
          <p:cNvPr id="195" name="Google Shape;195;p43"/>
          <p:cNvSpPr/>
          <p:nvPr/>
        </p:nvSpPr>
        <p:spPr>
          <a:xfrm>
            <a:off x="5801511" y="3628090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 driver C</a:t>
            </a:r>
            <a:endParaRPr/>
          </a:p>
        </p:txBody>
      </p:sp>
      <p:sp>
        <p:nvSpPr>
          <p:cNvPr id="196" name="Google Shape;196;p43"/>
          <p:cNvSpPr/>
          <p:nvPr/>
        </p:nvSpPr>
        <p:spPr>
          <a:xfrm>
            <a:off x="3677626" y="3628090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 driver B</a:t>
            </a:r>
            <a:endParaRPr/>
          </a:p>
        </p:txBody>
      </p:sp>
      <p:sp>
        <p:nvSpPr>
          <p:cNvPr id="197" name="Google Shape;197;p43"/>
          <p:cNvSpPr/>
          <p:nvPr/>
        </p:nvSpPr>
        <p:spPr>
          <a:xfrm>
            <a:off x="1553741" y="3628090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GPIO driver A</a:t>
            </a:r>
            <a:endParaRPr/>
          </a:p>
        </p:txBody>
      </p:sp>
      <p:cxnSp>
        <p:nvCxnSpPr>
          <p:cNvPr id="198" name="Google Shape;198;p43"/>
          <p:cNvCxnSpPr/>
          <p:nvPr/>
        </p:nvCxnSpPr>
        <p:spPr>
          <a:xfrm>
            <a:off x="1380720" y="2495192"/>
            <a:ext cx="6635100" cy="63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43"/>
          <p:cNvSpPr/>
          <p:nvPr/>
        </p:nvSpPr>
        <p:spPr>
          <a:xfrm>
            <a:off x="1553741" y="949726"/>
            <a:ext cx="41649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programs</a:t>
            </a:r>
            <a:endParaRPr/>
          </a:p>
        </p:txBody>
      </p:sp>
      <p:sp>
        <p:nvSpPr>
          <p:cNvPr id="200" name="Google Shape;200;p43"/>
          <p:cNvSpPr/>
          <p:nvPr/>
        </p:nvSpPr>
        <p:spPr>
          <a:xfrm>
            <a:off x="5801426" y="949736"/>
            <a:ext cx="2041200" cy="404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scripts</a:t>
            </a:r>
            <a:endParaRPr/>
          </a:p>
        </p:txBody>
      </p:sp>
      <p:sp>
        <p:nvSpPr>
          <p:cNvPr id="201" name="Google Shape;201;p43"/>
          <p:cNvSpPr/>
          <p:nvPr/>
        </p:nvSpPr>
        <p:spPr>
          <a:xfrm>
            <a:off x="7931474" y="1919025"/>
            <a:ext cx="705900" cy="570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User</a:t>
            </a:r>
            <a:endParaRPr sz="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space</a:t>
            </a:r>
            <a:endParaRPr sz="500"/>
          </a:p>
        </p:txBody>
      </p:sp>
      <p:sp>
        <p:nvSpPr>
          <p:cNvPr id="202" name="Google Shape;202;p43"/>
          <p:cNvSpPr/>
          <p:nvPr/>
        </p:nvSpPr>
        <p:spPr>
          <a:xfrm>
            <a:off x="7931474" y="2524325"/>
            <a:ext cx="705900" cy="57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Kernel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space</a:t>
            </a:r>
            <a:endParaRPr sz="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4"/>
          <p:cNvSpPr txBox="1"/>
          <p:nvPr/>
        </p:nvSpPr>
        <p:spPr>
          <a:xfrm>
            <a:off x="2700" y="188054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API design is hard…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API design is hard…</a:t>
            </a:r>
            <a:endParaRPr b="1" sz="3400">
              <a:solidFill>
                <a:srgbClr val="407700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213" name="Google Shape;213;p45"/>
          <p:cNvSpPr txBox="1"/>
          <p:nvPr/>
        </p:nvSpPr>
        <p:spPr>
          <a:xfrm>
            <a:off x="883801" y="875921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Plan to throw one away</a:t>
            </a:r>
            <a:endParaRPr sz="2700">
              <a:solidFill>
                <a:srgbClr val="000000"/>
              </a:solidFill>
            </a:endParaRPr>
          </a:p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You don’t know what you don’t know</a:t>
            </a:r>
            <a:endParaRPr sz="27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300"/>
              <a:buChar char="–"/>
            </a:pPr>
            <a:r>
              <a:rPr lang="en" sz="2300">
                <a:solidFill>
                  <a:srgbClr val="000000"/>
                </a:solidFill>
              </a:rPr>
              <a:t>Do you assume the interface will actually be used by other people?</a:t>
            </a:r>
            <a:endParaRPr sz="23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300"/>
              <a:buChar char="–"/>
            </a:pPr>
            <a:r>
              <a:rPr lang="en" sz="2300">
                <a:solidFill>
                  <a:srgbClr val="000000"/>
                </a:solidFill>
              </a:rPr>
              <a:t>Can you put yourself in other people’s shoes?</a:t>
            </a:r>
            <a:endParaRPr sz="23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300"/>
              <a:buChar char="–"/>
            </a:pPr>
            <a:r>
              <a:rPr lang="en" sz="2300">
                <a:solidFill>
                  <a:srgbClr val="000000"/>
                </a:solidFill>
              </a:rPr>
              <a:t>Are your users experts?</a:t>
            </a:r>
            <a:endParaRPr sz="23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Do you know your programming languages well?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 txBox="1"/>
          <p:nvPr/>
        </p:nvSpPr>
        <p:spPr>
          <a:xfrm>
            <a:off x="2700" y="188054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GPIO character device v2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GPIO cdev v2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7"/>
          <p:cNvSpPr txBox="1"/>
          <p:nvPr/>
        </p:nvSpPr>
        <p:spPr>
          <a:xfrm>
            <a:off x="946001" y="838146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Character device v1 was not designed to be extended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Users came up with valid reasons for extending v1 anyway…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GPIO cdev v2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8"/>
          <p:cNvSpPr txBox="1"/>
          <p:nvPr/>
        </p:nvSpPr>
        <p:spPr>
          <a:xfrm>
            <a:off x="846826" y="809821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Debounce period setting from user-space needed for proper edge event detection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Sequence numbers for edge events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Setting bias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Changing the kernel clock used for timestamping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Watching changes in line status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/>
              <a:t>Getting the PID of the consumer</a:t>
            </a:r>
            <a:endParaRPr sz="2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/>
          <p:nvPr/>
        </p:nvSpPr>
        <p:spPr>
          <a:xfrm>
            <a:off x="2700" y="188054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Disclaimer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libgpiod v2 status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0"/>
          <p:cNvSpPr txBox="1"/>
          <p:nvPr/>
        </p:nvSpPr>
        <p:spPr>
          <a:xfrm>
            <a:off x="818476" y="908971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libgpiod v2 is not out yet :(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The API is complete and functional however not yet in master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API not likely to change much anymore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Some gpio-tools and Python changes upcoming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/>
              <a:t>Don’t want to commit to a date :(</a:t>
            </a:r>
            <a:endParaRPr sz="2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1"/>
          <p:cNvSpPr txBox="1"/>
          <p:nvPr/>
        </p:nvSpPr>
        <p:spPr>
          <a:xfrm>
            <a:off x="2700" y="188054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libgpiod v2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2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libgpiod v2 goals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2"/>
          <p:cNvSpPr txBox="1"/>
          <p:nvPr/>
        </p:nvSpPr>
        <p:spPr>
          <a:xfrm>
            <a:off x="1007401" y="937321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Make usage more intuitive</a:t>
            </a:r>
            <a:endParaRPr sz="2700">
              <a:solidFill>
                <a:srgbClr val="00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300"/>
              <a:buChar char="–"/>
            </a:pPr>
            <a:r>
              <a:rPr lang="en" sz="2300">
                <a:solidFill>
                  <a:srgbClr val="000000"/>
                </a:solidFill>
              </a:rPr>
              <a:t>Make it more difficult to commit programming errors</a:t>
            </a:r>
            <a:endParaRPr sz="23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Allow very concise code when using high-level bindings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700"/>
              <a:buChar char="•"/>
            </a:pPr>
            <a:r>
              <a:rPr lang="en" sz="2700">
                <a:solidFill>
                  <a:srgbClr val="000000"/>
                </a:solidFill>
              </a:rPr>
              <a:t>Don’t try to needlessly represent the kernel model exactly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3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  Kernel object model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3"/>
          <p:cNvSpPr/>
          <p:nvPr/>
        </p:nvSpPr>
        <p:spPr>
          <a:xfrm>
            <a:off x="897400" y="807650"/>
            <a:ext cx="1666800" cy="331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</a:t>
            </a:r>
            <a:endParaRPr/>
          </a:p>
        </p:txBody>
      </p:sp>
      <p:sp>
        <p:nvSpPr>
          <p:cNvPr id="259" name="Google Shape;259;p53"/>
          <p:cNvSpPr/>
          <p:nvPr/>
        </p:nvSpPr>
        <p:spPr>
          <a:xfrm>
            <a:off x="7293007" y="807650"/>
            <a:ext cx="1666800" cy="331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</a:t>
            </a:r>
            <a:endParaRPr/>
          </a:p>
        </p:txBody>
      </p:sp>
      <p:sp>
        <p:nvSpPr>
          <p:cNvPr id="260" name="Google Shape;260;p53"/>
          <p:cNvSpPr/>
          <p:nvPr/>
        </p:nvSpPr>
        <p:spPr>
          <a:xfrm>
            <a:off x="2762012" y="807650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0</a:t>
            </a:r>
            <a:endParaRPr/>
          </a:p>
        </p:txBody>
      </p:sp>
      <p:sp>
        <p:nvSpPr>
          <p:cNvPr id="261" name="Google Shape;261;p53"/>
          <p:cNvSpPr/>
          <p:nvPr/>
        </p:nvSpPr>
        <p:spPr>
          <a:xfrm>
            <a:off x="2762012" y="1225199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1</a:t>
            </a:r>
            <a:endParaRPr/>
          </a:p>
        </p:txBody>
      </p:sp>
      <p:sp>
        <p:nvSpPr>
          <p:cNvPr id="262" name="Google Shape;262;p53"/>
          <p:cNvSpPr/>
          <p:nvPr/>
        </p:nvSpPr>
        <p:spPr>
          <a:xfrm>
            <a:off x="2762012" y="2080697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3</a:t>
            </a:r>
            <a:endParaRPr/>
          </a:p>
        </p:txBody>
      </p:sp>
      <p:sp>
        <p:nvSpPr>
          <p:cNvPr id="263" name="Google Shape;263;p53"/>
          <p:cNvSpPr/>
          <p:nvPr/>
        </p:nvSpPr>
        <p:spPr>
          <a:xfrm>
            <a:off x="3186109" y="1652950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2</a:t>
            </a:r>
            <a:endParaRPr/>
          </a:p>
        </p:txBody>
      </p:sp>
      <p:sp>
        <p:nvSpPr>
          <p:cNvPr id="264" name="Google Shape;264;p53"/>
          <p:cNvSpPr/>
          <p:nvPr/>
        </p:nvSpPr>
        <p:spPr>
          <a:xfrm>
            <a:off x="3186109" y="2936191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5</a:t>
            </a:r>
            <a:endParaRPr/>
          </a:p>
        </p:txBody>
      </p:sp>
      <p:sp>
        <p:nvSpPr>
          <p:cNvPr id="265" name="Google Shape;265;p53"/>
          <p:cNvSpPr/>
          <p:nvPr/>
        </p:nvSpPr>
        <p:spPr>
          <a:xfrm>
            <a:off x="2762012" y="2508444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4</a:t>
            </a:r>
            <a:endParaRPr/>
          </a:p>
        </p:txBody>
      </p:sp>
      <p:sp>
        <p:nvSpPr>
          <p:cNvPr id="266" name="Google Shape;266;p53"/>
          <p:cNvSpPr/>
          <p:nvPr/>
        </p:nvSpPr>
        <p:spPr>
          <a:xfrm>
            <a:off x="2762012" y="3363939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6</a:t>
            </a:r>
            <a:endParaRPr/>
          </a:p>
        </p:txBody>
      </p:sp>
      <p:sp>
        <p:nvSpPr>
          <p:cNvPr id="267" name="Google Shape;267;p53"/>
          <p:cNvSpPr/>
          <p:nvPr/>
        </p:nvSpPr>
        <p:spPr>
          <a:xfrm>
            <a:off x="2762012" y="3791686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7</a:t>
            </a:r>
            <a:endParaRPr/>
          </a:p>
        </p:txBody>
      </p:sp>
      <p:sp>
        <p:nvSpPr>
          <p:cNvPr id="268" name="Google Shape;268;p53"/>
          <p:cNvSpPr/>
          <p:nvPr/>
        </p:nvSpPr>
        <p:spPr>
          <a:xfrm>
            <a:off x="5210278" y="1249634"/>
            <a:ext cx="1725600" cy="1138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Request for exclusive usage</a:t>
            </a:r>
            <a:endParaRPr sz="1300"/>
          </a:p>
        </p:txBody>
      </p:sp>
      <p:sp>
        <p:nvSpPr>
          <p:cNvPr id="269" name="Google Shape;269;p53"/>
          <p:cNvSpPr/>
          <p:nvPr/>
        </p:nvSpPr>
        <p:spPr>
          <a:xfrm>
            <a:off x="5210278" y="2532876"/>
            <a:ext cx="1725600" cy="1138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Request for exclusive usage</a:t>
            </a:r>
            <a:endParaRPr sz="1300"/>
          </a:p>
        </p:txBody>
      </p:sp>
      <p:sp>
        <p:nvSpPr>
          <p:cNvPr id="270" name="Google Shape;270;p53"/>
          <p:cNvSpPr/>
          <p:nvPr/>
        </p:nvSpPr>
        <p:spPr>
          <a:xfrm>
            <a:off x="2762012" y="1652950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2</a:t>
            </a:r>
            <a:endParaRPr/>
          </a:p>
        </p:txBody>
      </p:sp>
      <p:sp>
        <p:nvSpPr>
          <p:cNvPr id="271" name="Google Shape;271;p53"/>
          <p:cNvSpPr/>
          <p:nvPr/>
        </p:nvSpPr>
        <p:spPr>
          <a:xfrm>
            <a:off x="2762012" y="2936191"/>
            <a:ext cx="1666800" cy="331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4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      Object model overhaul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54"/>
          <p:cNvCxnSpPr/>
          <p:nvPr/>
        </p:nvCxnSpPr>
        <p:spPr>
          <a:xfrm flipH="1">
            <a:off x="4840771" y="936343"/>
            <a:ext cx="4500" cy="36561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54"/>
          <p:cNvSpPr/>
          <p:nvPr/>
        </p:nvSpPr>
        <p:spPr>
          <a:xfrm>
            <a:off x="889475" y="1894710"/>
            <a:ext cx="1414500" cy="16524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</a:t>
            </a:r>
            <a:endParaRPr/>
          </a:p>
        </p:txBody>
      </p:sp>
      <p:sp>
        <p:nvSpPr>
          <p:cNvPr id="279" name="Google Shape;279;p54"/>
          <p:cNvSpPr/>
          <p:nvPr/>
        </p:nvSpPr>
        <p:spPr>
          <a:xfrm>
            <a:off x="3379399" y="2229093"/>
            <a:ext cx="1147800" cy="365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0</a:t>
            </a:r>
            <a:endParaRPr/>
          </a:p>
        </p:txBody>
      </p:sp>
      <p:sp>
        <p:nvSpPr>
          <p:cNvPr id="280" name="Google Shape;280;p54"/>
          <p:cNvSpPr/>
          <p:nvPr/>
        </p:nvSpPr>
        <p:spPr>
          <a:xfrm>
            <a:off x="3320374" y="2637802"/>
            <a:ext cx="1414500" cy="10638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bulk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4"/>
          <p:cNvSpPr/>
          <p:nvPr/>
        </p:nvSpPr>
        <p:spPr>
          <a:xfrm>
            <a:off x="3453861" y="3309427"/>
            <a:ext cx="1147800" cy="2475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2</a:t>
            </a:r>
            <a:endParaRPr/>
          </a:p>
        </p:txBody>
      </p:sp>
      <p:sp>
        <p:nvSpPr>
          <p:cNvPr id="282" name="Google Shape;282;p54"/>
          <p:cNvSpPr/>
          <p:nvPr/>
        </p:nvSpPr>
        <p:spPr>
          <a:xfrm>
            <a:off x="3453861" y="2960787"/>
            <a:ext cx="1147800" cy="2475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1</a:t>
            </a:r>
            <a:endParaRPr/>
          </a:p>
        </p:txBody>
      </p:sp>
      <p:sp>
        <p:nvSpPr>
          <p:cNvPr id="283" name="Google Shape;283;p54"/>
          <p:cNvSpPr/>
          <p:nvPr/>
        </p:nvSpPr>
        <p:spPr>
          <a:xfrm>
            <a:off x="2304125" y="2924875"/>
            <a:ext cx="1199400" cy="319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get_line_bulk()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4" name="Google Shape;284;p54"/>
          <p:cNvSpPr/>
          <p:nvPr/>
        </p:nvSpPr>
        <p:spPr>
          <a:xfrm>
            <a:off x="2304132" y="2251914"/>
            <a:ext cx="1147800" cy="319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get_line()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p54"/>
          <p:cNvSpPr txBox="1"/>
          <p:nvPr/>
        </p:nvSpPr>
        <p:spPr>
          <a:xfrm>
            <a:off x="2711576" y="835925"/>
            <a:ext cx="3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v1</a:t>
            </a:r>
            <a:endParaRPr/>
          </a:p>
        </p:txBody>
      </p:sp>
      <p:sp>
        <p:nvSpPr>
          <p:cNvPr id="286" name="Google Shape;286;p54"/>
          <p:cNvSpPr txBox="1"/>
          <p:nvPr/>
        </p:nvSpPr>
        <p:spPr>
          <a:xfrm>
            <a:off x="6738353" y="835925"/>
            <a:ext cx="4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</a:t>
            </a:r>
            <a:endParaRPr/>
          </a:p>
        </p:txBody>
      </p:sp>
      <p:sp>
        <p:nvSpPr>
          <p:cNvPr id="287" name="Google Shape;287;p54"/>
          <p:cNvSpPr/>
          <p:nvPr/>
        </p:nvSpPr>
        <p:spPr>
          <a:xfrm>
            <a:off x="5060775" y="2109258"/>
            <a:ext cx="1414500" cy="16524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</a:t>
            </a:r>
            <a:endParaRPr/>
          </a:p>
        </p:txBody>
      </p:sp>
      <p:sp>
        <p:nvSpPr>
          <p:cNvPr id="288" name="Google Shape;288;p54"/>
          <p:cNvSpPr/>
          <p:nvPr/>
        </p:nvSpPr>
        <p:spPr>
          <a:xfrm>
            <a:off x="7563812" y="2443641"/>
            <a:ext cx="1147800" cy="365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 Info</a:t>
            </a:r>
            <a:endParaRPr/>
          </a:p>
        </p:txBody>
      </p:sp>
      <p:sp>
        <p:nvSpPr>
          <p:cNvPr id="289" name="Google Shape;289;p54"/>
          <p:cNvSpPr/>
          <p:nvPr/>
        </p:nvSpPr>
        <p:spPr>
          <a:xfrm>
            <a:off x="7563812" y="3047239"/>
            <a:ext cx="1147800" cy="365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Info</a:t>
            </a:r>
            <a:endParaRPr/>
          </a:p>
        </p:txBody>
      </p:sp>
      <p:sp>
        <p:nvSpPr>
          <p:cNvPr id="290" name="Google Shape;290;p54"/>
          <p:cNvSpPr/>
          <p:nvPr/>
        </p:nvSpPr>
        <p:spPr>
          <a:xfrm>
            <a:off x="6475433" y="2466462"/>
            <a:ext cx="1147800" cy="319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get_info()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1" name="Google Shape;291;p54"/>
          <p:cNvSpPr/>
          <p:nvPr/>
        </p:nvSpPr>
        <p:spPr>
          <a:xfrm>
            <a:off x="6475425" y="3070050"/>
            <a:ext cx="1199400" cy="319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get_line_info()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p54"/>
          <p:cNvSpPr/>
          <p:nvPr/>
        </p:nvSpPr>
        <p:spPr>
          <a:xfrm>
            <a:off x="7766065" y="1506896"/>
            <a:ext cx="1125600" cy="698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snapshots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5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      Object model overhaul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55"/>
          <p:cNvCxnSpPr/>
          <p:nvPr/>
        </p:nvCxnSpPr>
        <p:spPr>
          <a:xfrm flipH="1">
            <a:off x="4590725" y="866825"/>
            <a:ext cx="4800" cy="37728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55"/>
          <p:cNvSpPr txBox="1"/>
          <p:nvPr/>
        </p:nvSpPr>
        <p:spPr>
          <a:xfrm>
            <a:off x="2300975" y="763200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v1</a:t>
            </a:r>
            <a:endParaRPr/>
          </a:p>
        </p:txBody>
      </p:sp>
      <p:sp>
        <p:nvSpPr>
          <p:cNvPr id="300" name="Google Shape;300;p55"/>
          <p:cNvSpPr txBox="1"/>
          <p:nvPr/>
        </p:nvSpPr>
        <p:spPr>
          <a:xfrm>
            <a:off x="6631300" y="763200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</a:t>
            </a:r>
            <a:endParaRPr/>
          </a:p>
        </p:txBody>
      </p:sp>
      <p:sp>
        <p:nvSpPr>
          <p:cNvPr id="301" name="Google Shape;301;p55"/>
          <p:cNvSpPr/>
          <p:nvPr/>
        </p:nvSpPr>
        <p:spPr>
          <a:xfrm>
            <a:off x="1756175" y="2619000"/>
            <a:ext cx="1461000" cy="625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request_config</a:t>
            </a:r>
            <a:endParaRPr/>
          </a:p>
        </p:txBody>
      </p:sp>
      <p:sp>
        <p:nvSpPr>
          <p:cNvPr id="302" name="Google Shape;302;p55"/>
          <p:cNvSpPr/>
          <p:nvPr/>
        </p:nvSpPr>
        <p:spPr>
          <a:xfrm>
            <a:off x="7165025" y="2440625"/>
            <a:ext cx="1461000" cy="625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line_config</a:t>
            </a:r>
            <a:endParaRPr/>
          </a:p>
        </p:txBody>
      </p:sp>
      <p:sp>
        <p:nvSpPr>
          <p:cNvPr id="303" name="Google Shape;303;p55"/>
          <p:cNvSpPr/>
          <p:nvPr/>
        </p:nvSpPr>
        <p:spPr>
          <a:xfrm>
            <a:off x="4967850" y="2440625"/>
            <a:ext cx="1461000" cy="625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request_config</a:t>
            </a:r>
            <a:endParaRPr/>
          </a:p>
        </p:txBody>
      </p:sp>
      <p:sp>
        <p:nvSpPr>
          <p:cNvPr id="304" name="Google Shape;304;p55"/>
          <p:cNvSpPr/>
          <p:nvPr/>
        </p:nvSpPr>
        <p:spPr>
          <a:xfrm>
            <a:off x="7398625" y="1289825"/>
            <a:ext cx="1423200" cy="941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Can be reused for reconfiguring requested lines</a:t>
            </a:r>
            <a:endParaRPr sz="1200"/>
          </a:p>
        </p:txBody>
      </p:sp>
      <p:sp>
        <p:nvSpPr>
          <p:cNvPr id="305" name="Google Shape;305;p55"/>
          <p:cNvSpPr/>
          <p:nvPr/>
        </p:nvSpPr>
        <p:spPr>
          <a:xfrm>
            <a:off x="5259875" y="1327475"/>
            <a:ext cx="1332900" cy="903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Used once at request time</a:t>
            </a:r>
            <a:endParaRPr sz="1200"/>
          </a:p>
        </p:txBody>
      </p:sp>
      <p:sp>
        <p:nvSpPr>
          <p:cNvPr id="306" name="Google Shape;306;p55"/>
          <p:cNvSpPr/>
          <p:nvPr/>
        </p:nvSpPr>
        <p:spPr>
          <a:xfrm>
            <a:off x="922175" y="1071425"/>
            <a:ext cx="3309498" cy="1619136"/>
          </a:xfrm>
          <a:prstGeom prst="irregularSeal2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Single config structure, need to jump through hoops when reconfiguring lines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      Object model overhaul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56"/>
          <p:cNvCxnSpPr/>
          <p:nvPr/>
        </p:nvCxnSpPr>
        <p:spPr>
          <a:xfrm flipH="1">
            <a:off x="4842948" y="865562"/>
            <a:ext cx="4500" cy="37269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56"/>
          <p:cNvSpPr txBox="1"/>
          <p:nvPr/>
        </p:nvSpPr>
        <p:spPr>
          <a:xfrm>
            <a:off x="2727227" y="763200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v1</a:t>
            </a:r>
            <a:endParaRPr/>
          </a:p>
        </p:txBody>
      </p:sp>
      <p:sp>
        <p:nvSpPr>
          <p:cNvPr id="314" name="Google Shape;314;p56"/>
          <p:cNvSpPr txBox="1"/>
          <p:nvPr/>
        </p:nvSpPr>
        <p:spPr>
          <a:xfrm>
            <a:off x="6728576" y="763200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</a:t>
            </a:r>
            <a:endParaRPr/>
          </a:p>
        </p:txBody>
      </p:sp>
      <p:sp>
        <p:nvSpPr>
          <p:cNvPr id="315" name="Google Shape;315;p56"/>
          <p:cNvSpPr/>
          <p:nvPr/>
        </p:nvSpPr>
        <p:spPr>
          <a:xfrm>
            <a:off x="4992036" y="1566090"/>
            <a:ext cx="1118400" cy="814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16" name="Google Shape;316;p56"/>
          <p:cNvSpPr/>
          <p:nvPr/>
        </p:nvSpPr>
        <p:spPr>
          <a:xfrm>
            <a:off x="1052944" y="1992428"/>
            <a:ext cx="1140600" cy="372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0</a:t>
            </a:r>
            <a:endParaRPr/>
          </a:p>
        </p:txBody>
      </p:sp>
      <p:sp>
        <p:nvSpPr>
          <p:cNvPr id="317" name="Google Shape;317;p56"/>
          <p:cNvSpPr/>
          <p:nvPr/>
        </p:nvSpPr>
        <p:spPr>
          <a:xfrm>
            <a:off x="920300" y="2527857"/>
            <a:ext cx="1405800" cy="1084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bulk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6"/>
          <p:cNvSpPr/>
          <p:nvPr/>
        </p:nvSpPr>
        <p:spPr>
          <a:xfrm>
            <a:off x="1052944" y="3153078"/>
            <a:ext cx="1140600" cy="252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2</a:t>
            </a:r>
            <a:endParaRPr/>
          </a:p>
        </p:txBody>
      </p:sp>
      <p:sp>
        <p:nvSpPr>
          <p:cNvPr id="319" name="Google Shape;319;p56"/>
          <p:cNvSpPr/>
          <p:nvPr/>
        </p:nvSpPr>
        <p:spPr>
          <a:xfrm>
            <a:off x="1052944" y="2857093"/>
            <a:ext cx="1140600" cy="252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1</a:t>
            </a:r>
            <a:endParaRPr/>
          </a:p>
        </p:txBody>
      </p:sp>
      <p:sp>
        <p:nvSpPr>
          <p:cNvPr id="320" name="Google Shape;320;p56"/>
          <p:cNvSpPr/>
          <p:nvPr/>
        </p:nvSpPr>
        <p:spPr>
          <a:xfrm>
            <a:off x="2162935" y="1845739"/>
            <a:ext cx="2567700" cy="6657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line_event_read()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1" name="Google Shape;321;p56"/>
          <p:cNvSpPr/>
          <p:nvPr/>
        </p:nvSpPr>
        <p:spPr>
          <a:xfrm>
            <a:off x="2162935" y="2737235"/>
            <a:ext cx="2567700" cy="6657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line_event_read_bulk()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2" name="Google Shape;322;p56"/>
          <p:cNvSpPr/>
          <p:nvPr/>
        </p:nvSpPr>
        <p:spPr>
          <a:xfrm>
            <a:off x="7649313" y="1566090"/>
            <a:ext cx="1118400" cy="8142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 Buffer</a:t>
            </a:r>
            <a:endParaRPr/>
          </a:p>
        </p:txBody>
      </p:sp>
      <p:sp>
        <p:nvSpPr>
          <p:cNvPr id="323" name="Google Shape;323;p56"/>
          <p:cNvSpPr/>
          <p:nvPr/>
        </p:nvSpPr>
        <p:spPr>
          <a:xfrm>
            <a:off x="6110573" y="1730857"/>
            <a:ext cx="1628400" cy="484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read_edge_event()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4" name="Google Shape;324;p56"/>
          <p:cNvSpPr/>
          <p:nvPr/>
        </p:nvSpPr>
        <p:spPr>
          <a:xfrm>
            <a:off x="7632126" y="3061755"/>
            <a:ext cx="1118400" cy="665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</a:t>
            </a:r>
            <a:endParaRPr/>
          </a:p>
        </p:txBody>
      </p:sp>
      <p:sp>
        <p:nvSpPr>
          <p:cNvPr id="325" name="Google Shape;325;p56"/>
          <p:cNvSpPr/>
          <p:nvPr/>
        </p:nvSpPr>
        <p:spPr>
          <a:xfrm>
            <a:off x="7238906" y="2396170"/>
            <a:ext cx="1905000" cy="665700"/>
          </a:xfrm>
          <a:prstGeom prst="downArrow">
            <a:avLst>
              <a:gd fmla="val 50000" name="adj1"/>
              <a:gd fmla="val 48126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get_event()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6" name="Google Shape;326;p56"/>
          <p:cNvSpPr/>
          <p:nvPr/>
        </p:nvSpPr>
        <p:spPr>
          <a:xfrm>
            <a:off x="4992036" y="2890222"/>
            <a:ext cx="2612400" cy="11010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Additional mechanism for avoiding unnecessary memory allocations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7"/>
          <p:cNvSpPr/>
          <p:nvPr/>
        </p:nvSpPr>
        <p:spPr>
          <a:xfrm>
            <a:off x="1501988" y="1276438"/>
            <a:ext cx="2091300" cy="1997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</a:t>
            </a:r>
            <a:endParaRPr/>
          </a:p>
        </p:txBody>
      </p:sp>
      <p:sp>
        <p:nvSpPr>
          <p:cNvPr id="333" name="Google Shape;333;p57"/>
          <p:cNvSpPr/>
          <p:nvPr/>
        </p:nvSpPr>
        <p:spPr>
          <a:xfrm>
            <a:off x="5623413" y="1479013"/>
            <a:ext cx="1808700" cy="57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line_info</a:t>
            </a:r>
            <a:endParaRPr/>
          </a:p>
        </p:txBody>
      </p:sp>
      <p:sp>
        <p:nvSpPr>
          <p:cNvPr id="334" name="Google Shape;334;p57"/>
          <p:cNvSpPr/>
          <p:nvPr/>
        </p:nvSpPr>
        <p:spPr>
          <a:xfrm>
            <a:off x="3593313" y="1610863"/>
            <a:ext cx="2152500" cy="3156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watch_line_info()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57"/>
          <p:cNvSpPr/>
          <p:nvPr/>
        </p:nvSpPr>
        <p:spPr>
          <a:xfrm>
            <a:off x="5573913" y="2479263"/>
            <a:ext cx="1907700" cy="13878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Info_event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7"/>
          <p:cNvSpPr/>
          <p:nvPr/>
        </p:nvSpPr>
        <p:spPr>
          <a:xfrm>
            <a:off x="3593313" y="2639363"/>
            <a:ext cx="2152500" cy="3156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read_info_event()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57"/>
          <p:cNvSpPr/>
          <p:nvPr/>
        </p:nvSpPr>
        <p:spPr>
          <a:xfrm>
            <a:off x="5623413" y="3053863"/>
            <a:ext cx="1808700" cy="57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line_info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8"/>
          <p:cNvSpPr/>
          <p:nvPr/>
        </p:nvSpPr>
        <p:spPr>
          <a:xfrm>
            <a:off x="1375375" y="2445100"/>
            <a:ext cx="1317300" cy="1173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</a:t>
            </a:r>
            <a:endParaRPr/>
          </a:p>
        </p:txBody>
      </p:sp>
      <p:sp>
        <p:nvSpPr>
          <p:cNvPr id="344" name="Google Shape;344;p58"/>
          <p:cNvSpPr/>
          <p:nvPr/>
        </p:nvSpPr>
        <p:spPr>
          <a:xfrm>
            <a:off x="3981150" y="2546350"/>
            <a:ext cx="1249500" cy="971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Info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Used: False</a:t>
            </a:r>
            <a:endParaRPr/>
          </a:p>
        </p:txBody>
      </p:sp>
      <p:sp>
        <p:nvSpPr>
          <p:cNvPr id="345" name="Google Shape;345;p58"/>
          <p:cNvSpPr/>
          <p:nvPr/>
        </p:nvSpPr>
        <p:spPr>
          <a:xfrm>
            <a:off x="5142600" y="1803450"/>
            <a:ext cx="1528200" cy="9069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request_lines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6" name="Google Shape;346;p58"/>
          <p:cNvSpPr/>
          <p:nvPr/>
        </p:nvSpPr>
        <p:spPr>
          <a:xfrm>
            <a:off x="6519125" y="2546350"/>
            <a:ext cx="1249500" cy="971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Info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Used: True</a:t>
            </a:r>
            <a:endParaRPr/>
          </a:p>
        </p:txBody>
      </p:sp>
      <p:sp>
        <p:nvSpPr>
          <p:cNvPr id="347" name="Google Shape;347;p58"/>
          <p:cNvSpPr/>
          <p:nvPr/>
        </p:nvSpPr>
        <p:spPr>
          <a:xfrm>
            <a:off x="2692675" y="2786650"/>
            <a:ext cx="1352100" cy="490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watch_line_info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8" name="Google Shape;348;p58"/>
          <p:cNvSpPr/>
          <p:nvPr/>
        </p:nvSpPr>
        <p:spPr>
          <a:xfrm>
            <a:off x="5230650" y="2786650"/>
            <a:ext cx="1352100" cy="4905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read_info_event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9"/>
          <p:cNvSpPr/>
          <p:nvPr/>
        </p:nvSpPr>
        <p:spPr>
          <a:xfrm>
            <a:off x="1647000" y="920075"/>
            <a:ext cx="2091300" cy="19971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  <p:sp>
        <p:nvSpPr>
          <p:cNvPr id="355" name="Google Shape;355;p59"/>
          <p:cNvSpPr/>
          <p:nvPr/>
        </p:nvSpPr>
        <p:spPr>
          <a:xfrm>
            <a:off x="5342100" y="1086675"/>
            <a:ext cx="1907700" cy="22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Edge_event_buffer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9"/>
          <p:cNvSpPr/>
          <p:nvPr/>
        </p:nvSpPr>
        <p:spPr>
          <a:xfrm>
            <a:off x="3738300" y="1246775"/>
            <a:ext cx="1705200" cy="3156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read_edge_event()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7" name="Google Shape;357;p59"/>
          <p:cNvSpPr/>
          <p:nvPr/>
        </p:nvSpPr>
        <p:spPr>
          <a:xfrm>
            <a:off x="5391600" y="1577175"/>
            <a:ext cx="1808700" cy="4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edge_event0</a:t>
            </a:r>
            <a:endParaRPr/>
          </a:p>
        </p:txBody>
      </p:sp>
      <p:sp>
        <p:nvSpPr>
          <p:cNvPr id="358" name="Google Shape;358;p59"/>
          <p:cNvSpPr/>
          <p:nvPr/>
        </p:nvSpPr>
        <p:spPr>
          <a:xfrm>
            <a:off x="5391600" y="2667225"/>
            <a:ext cx="1808700" cy="4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edge_event2</a:t>
            </a:r>
            <a:endParaRPr/>
          </a:p>
        </p:txBody>
      </p:sp>
      <p:sp>
        <p:nvSpPr>
          <p:cNvPr id="359" name="Google Shape;359;p59"/>
          <p:cNvSpPr/>
          <p:nvPr/>
        </p:nvSpPr>
        <p:spPr>
          <a:xfrm>
            <a:off x="5391600" y="2122200"/>
            <a:ext cx="1808700" cy="4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edge_event1</a:t>
            </a:r>
            <a:endParaRPr/>
          </a:p>
        </p:txBody>
      </p:sp>
      <p:sp>
        <p:nvSpPr>
          <p:cNvPr id="360" name="Google Shape;360;p59"/>
          <p:cNvSpPr/>
          <p:nvPr/>
        </p:nvSpPr>
        <p:spPr>
          <a:xfrm>
            <a:off x="5391600" y="3797350"/>
            <a:ext cx="1808700" cy="4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&amp;edge_event0</a:t>
            </a:r>
            <a:endParaRPr/>
          </a:p>
        </p:txBody>
      </p:sp>
      <p:sp>
        <p:nvSpPr>
          <p:cNvPr id="361" name="Google Shape;361;p59"/>
          <p:cNvSpPr/>
          <p:nvPr/>
        </p:nvSpPr>
        <p:spPr>
          <a:xfrm>
            <a:off x="4892250" y="3322275"/>
            <a:ext cx="2807400" cy="527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get_edge_event()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2" name="Google Shape;362;p59"/>
          <p:cNvSpPr/>
          <p:nvPr/>
        </p:nvSpPr>
        <p:spPr>
          <a:xfrm>
            <a:off x="1898325" y="3797350"/>
            <a:ext cx="1808700" cy="4356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edge_event0 copy</a:t>
            </a:r>
            <a:endParaRPr/>
          </a:p>
        </p:txBody>
      </p:sp>
      <p:sp>
        <p:nvSpPr>
          <p:cNvPr id="363" name="Google Shape;363;p59"/>
          <p:cNvSpPr/>
          <p:nvPr/>
        </p:nvSpPr>
        <p:spPr>
          <a:xfrm>
            <a:off x="3625500" y="3738850"/>
            <a:ext cx="1766100" cy="552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edge_event_copy()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0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0"/>
          <p:cNvSpPr/>
          <p:nvPr/>
        </p:nvSpPr>
        <p:spPr>
          <a:xfrm>
            <a:off x="3022675" y="918125"/>
            <a:ext cx="3588300" cy="323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Settings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0"/>
          <p:cNvSpPr/>
          <p:nvPr/>
        </p:nvSpPr>
        <p:spPr>
          <a:xfrm>
            <a:off x="3499675" y="1469800"/>
            <a:ext cx="2685000" cy="43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Direction: INPUT</a:t>
            </a:r>
            <a:endParaRPr/>
          </a:p>
        </p:txBody>
      </p:sp>
      <p:sp>
        <p:nvSpPr>
          <p:cNvPr id="371" name="Google Shape;371;p60"/>
          <p:cNvSpPr/>
          <p:nvPr/>
        </p:nvSpPr>
        <p:spPr>
          <a:xfrm>
            <a:off x="3499675" y="3244600"/>
            <a:ext cx="2685000" cy="43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clock</a:t>
            </a:r>
            <a:r>
              <a:rPr lang="en"/>
              <a:t>: REALTIME</a:t>
            </a:r>
            <a:endParaRPr/>
          </a:p>
        </p:txBody>
      </p:sp>
      <p:sp>
        <p:nvSpPr>
          <p:cNvPr id="372" name="Google Shape;372;p60"/>
          <p:cNvSpPr/>
          <p:nvPr/>
        </p:nvSpPr>
        <p:spPr>
          <a:xfrm>
            <a:off x="3499675" y="2061400"/>
            <a:ext cx="2685000" cy="43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</a:t>
            </a:r>
            <a:r>
              <a:rPr lang="en"/>
              <a:t>: BOTH</a:t>
            </a:r>
            <a:endParaRPr/>
          </a:p>
        </p:txBody>
      </p:sp>
      <p:sp>
        <p:nvSpPr>
          <p:cNvPr id="373" name="Google Shape;373;p60"/>
          <p:cNvSpPr/>
          <p:nvPr/>
        </p:nvSpPr>
        <p:spPr>
          <a:xfrm>
            <a:off x="3499675" y="2653000"/>
            <a:ext cx="2685000" cy="43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</a:t>
            </a:r>
            <a:r>
              <a:rPr lang="en"/>
              <a:t>: PULL_UP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1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1"/>
          <p:cNvSpPr/>
          <p:nvPr/>
        </p:nvSpPr>
        <p:spPr>
          <a:xfrm>
            <a:off x="1115575" y="918125"/>
            <a:ext cx="7453200" cy="323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Config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1"/>
          <p:cNvSpPr/>
          <p:nvPr/>
        </p:nvSpPr>
        <p:spPr>
          <a:xfrm>
            <a:off x="1612650" y="1621100"/>
            <a:ext cx="16632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Offsets: 3, 5</a:t>
            </a:r>
            <a:endParaRPr/>
          </a:p>
        </p:txBody>
      </p:sp>
      <p:sp>
        <p:nvSpPr>
          <p:cNvPr id="381" name="Google Shape;381;p61"/>
          <p:cNvSpPr/>
          <p:nvPr/>
        </p:nvSpPr>
        <p:spPr>
          <a:xfrm>
            <a:off x="1612650" y="2377188"/>
            <a:ext cx="16632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Offsets: 1</a:t>
            </a:r>
            <a:endParaRPr/>
          </a:p>
        </p:txBody>
      </p:sp>
      <p:sp>
        <p:nvSpPr>
          <p:cNvPr id="382" name="Google Shape;382;p61"/>
          <p:cNvSpPr/>
          <p:nvPr/>
        </p:nvSpPr>
        <p:spPr>
          <a:xfrm>
            <a:off x="1612650" y="3133275"/>
            <a:ext cx="16632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Offsets: 7, 4, 2</a:t>
            </a:r>
            <a:endParaRPr/>
          </a:p>
        </p:txBody>
      </p:sp>
      <p:sp>
        <p:nvSpPr>
          <p:cNvPr id="383" name="Google Shape;383;p61"/>
          <p:cNvSpPr/>
          <p:nvPr/>
        </p:nvSpPr>
        <p:spPr>
          <a:xfrm>
            <a:off x="3275850" y="1654850"/>
            <a:ext cx="1165200" cy="42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1"/>
          <p:cNvSpPr/>
          <p:nvPr/>
        </p:nvSpPr>
        <p:spPr>
          <a:xfrm>
            <a:off x="3275850" y="3167050"/>
            <a:ext cx="1165200" cy="42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1"/>
          <p:cNvSpPr/>
          <p:nvPr/>
        </p:nvSpPr>
        <p:spPr>
          <a:xfrm>
            <a:off x="3275850" y="2410950"/>
            <a:ext cx="1165200" cy="42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1"/>
          <p:cNvSpPr/>
          <p:nvPr/>
        </p:nvSpPr>
        <p:spPr>
          <a:xfrm>
            <a:off x="4441050" y="1545050"/>
            <a:ext cx="2769300" cy="641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Settings A</a:t>
            </a:r>
            <a:endParaRPr/>
          </a:p>
        </p:txBody>
      </p:sp>
      <p:sp>
        <p:nvSpPr>
          <p:cNvPr id="387" name="Google Shape;387;p61"/>
          <p:cNvSpPr/>
          <p:nvPr/>
        </p:nvSpPr>
        <p:spPr>
          <a:xfrm>
            <a:off x="4441050" y="3057250"/>
            <a:ext cx="2769300" cy="641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Settings C</a:t>
            </a:r>
            <a:endParaRPr/>
          </a:p>
        </p:txBody>
      </p:sp>
      <p:sp>
        <p:nvSpPr>
          <p:cNvPr id="388" name="Google Shape;388;p61"/>
          <p:cNvSpPr/>
          <p:nvPr/>
        </p:nvSpPr>
        <p:spPr>
          <a:xfrm>
            <a:off x="4441050" y="2301150"/>
            <a:ext cx="2769300" cy="641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Settings B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2"/>
          <p:cNvSpPr/>
          <p:nvPr/>
        </p:nvSpPr>
        <p:spPr>
          <a:xfrm>
            <a:off x="1295075" y="1953975"/>
            <a:ext cx="1689900" cy="126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 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seqno: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seqno: 1</a:t>
            </a:r>
            <a:endParaRPr/>
          </a:p>
        </p:txBody>
      </p:sp>
      <p:sp>
        <p:nvSpPr>
          <p:cNvPr id="395" name="Google Shape;395;p62"/>
          <p:cNvSpPr/>
          <p:nvPr/>
        </p:nvSpPr>
        <p:spPr>
          <a:xfrm>
            <a:off x="3166875" y="1953975"/>
            <a:ext cx="1689900" cy="126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seqno: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seqno: 2</a:t>
            </a:r>
            <a:endParaRPr/>
          </a:p>
        </p:txBody>
      </p:sp>
      <p:sp>
        <p:nvSpPr>
          <p:cNvPr id="396" name="Google Shape;396;p62"/>
          <p:cNvSpPr/>
          <p:nvPr/>
        </p:nvSpPr>
        <p:spPr>
          <a:xfrm>
            <a:off x="5038675" y="1953975"/>
            <a:ext cx="1689900" cy="126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seqno: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seqno: 3</a:t>
            </a:r>
            <a:endParaRPr/>
          </a:p>
        </p:txBody>
      </p:sp>
      <p:sp>
        <p:nvSpPr>
          <p:cNvPr id="397" name="Google Shape;397;p62"/>
          <p:cNvSpPr/>
          <p:nvPr/>
        </p:nvSpPr>
        <p:spPr>
          <a:xfrm>
            <a:off x="6910475" y="1953975"/>
            <a:ext cx="1689900" cy="1269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event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Offset: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seqno: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seqno: 4</a:t>
            </a:r>
            <a:endParaRPr/>
          </a:p>
        </p:txBody>
      </p:sp>
      <p:sp>
        <p:nvSpPr>
          <p:cNvPr id="398" name="Google Shape;398;p62"/>
          <p:cNvSpPr/>
          <p:nvPr/>
        </p:nvSpPr>
        <p:spPr>
          <a:xfrm>
            <a:off x="1295075" y="1234500"/>
            <a:ext cx="7305300" cy="4905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3"/>
          <p:cNvSpPr txBox="1"/>
          <p:nvPr/>
        </p:nvSpPr>
        <p:spPr>
          <a:xfrm>
            <a:off x="1005725" y="1138675"/>
            <a:ext cx="73764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New test harness based on gpio-sim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gpio-sim is a replacement for gpio-mockup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Doesn’t require module reloading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Much more flexible configuration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4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4"/>
          <p:cNvSpPr/>
          <p:nvPr/>
        </p:nvSpPr>
        <p:spPr>
          <a:xfrm>
            <a:off x="1236350" y="1539125"/>
            <a:ext cx="2850300" cy="21474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Configfs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4"/>
          <p:cNvSpPr/>
          <p:nvPr/>
        </p:nvSpPr>
        <p:spPr>
          <a:xfrm>
            <a:off x="5829875" y="1539125"/>
            <a:ext cx="2850300" cy="21474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Sysfs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4"/>
          <p:cNvSpPr/>
          <p:nvPr/>
        </p:nvSpPr>
        <p:spPr>
          <a:xfrm>
            <a:off x="4086650" y="2047175"/>
            <a:ext cx="1806900" cy="1131300"/>
          </a:xfrm>
          <a:prstGeom prst="homePlate">
            <a:avLst>
              <a:gd fmla="val 50000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chip</a:t>
            </a:r>
            <a:endParaRPr/>
          </a:p>
        </p:txBody>
      </p:sp>
      <p:sp>
        <p:nvSpPr>
          <p:cNvPr id="413" name="Google Shape;413;p64"/>
          <p:cNvSpPr/>
          <p:nvPr/>
        </p:nvSpPr>
        <p:spPr>
          <a:xfrm>
            <a:off x="1530050" y="2212125"/>
            <a:ext cx="2262900" cy="1325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GPIO device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4"/>
          <p:cNvSpPr/>
          <p:nvPr/>
        </p:nvSpPr>
        <p:spPr>
          <a:xfrm>
            <a:off x="1846700" y="2793900"/>
            <a:ext cx="1629600" cy="4905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GPIO bank</a:t>
            </a:r>
            <a:endParaRPr/>
          </a:p>
        </p:txBody>
      </p:sp>
      <p:sp>
        <p:nvSpPr>
          <p:cNvPr id="415" name="Google Shape;415;p64"/>
          <p:cNvSpPr/>
          <p:nvPr/>
        </p:nvSpPr>
        <p:spPr>
          <a:xfrm>
            <a:off x="6157475" y="2212125"/>
            <a:ext cx="2195100" cy="11313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simulated GPIO device pops up!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5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5"/>
          <p:cNvSpPr txBox="1"/>
          <p:nvPr/>
        </p:nvSpPr>
        <p:spPr>
          <a:xfrm>
            <a:off x="883801" y="1020446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All C objects are opaque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All C++ classes have their implementation hidden (PImpl)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Python interface strives to be more “Pythonic” than v1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Rust bindings coming up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6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6"/>
          <p:cNvSpPr txBox="1"/>
          <p:nvPr/>
        </p:nvSpPr>
        <p:spPr>
          <a:xfrm>
            <a:off x="1115475" y="1079573"/>
            <a:ext cx="737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gpio-tools are getting a rework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New program: gpiowatch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Interactive mode for gpioset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</a:rPr>
              <a:t>Specifiying lines by name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428" name="Google Shape;428;p66"/>
          <p:cNvSpPr txBox="1"/>
          <p:nvPr/>
        </p:nvSpPr>
        <p:spPr>
          <a:xfrm>
            <a:off x="1056775" y="3342625"/>
            <a:ext cx="7435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# gpioset /dev/gpiochip1 GPIO_0=active PHY_RST=inactive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7"/>
          <p:cNvSpPr txBox="1"/>
          <p:nvPr/>
        </p:nvSpPr>
        <p:spPr>
          <a:xfrm>
            <a:off x="1292800" y="1463700"/>
            <a:ext cx="7376400" cy="242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auto request = ::gpiod::chip(“/dev/gpiochip0”)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.prepare_request()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.set_consumer(“foobar”)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.add_line_settings(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        { 3, 4, 8 },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        ::gpiod::line_settings()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                .set_direction(direction::INPUT)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                .set_edge_detection(edge::BOTH)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       .do_request()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</p:txBody>
      </p:sp>
      <p:sp>
        <p:nvSpPr>
          <p:cNvPr id="435" name="Google Shape;435;p67"/>
          <p:cNvSpPr txBox="1"/>
          <p:nvPr/>
        </p:nvSpPr>
        <p:spPr>
          <a:xfrm>
            <a:off x="1014325" y="763200"/>
            <a:ext cx="737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All that to make it simple for high-level language:</a:t>
            </a:r>
            <a:endParaRPr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8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New features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8"/>
          <p:cNvSpPr txBox="1"/>
          <p:nvPr/>
        </p:nvSpPr>
        <p:spPr>
          <a:xfrm>
            <a:off x="1360325" y="1083774"/>
            <a:ext cx="7376400" cy="287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request = gpiod.request_lines(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Roboto Mono"/>
                <a:ea typeface="Roboto Mono"/>
                <a:cs typeface="Roboto Mono"/>
                <a:sym typeface="Roboto Mono"/>
              </a:rPr>
              <a:t>    chip=”/dev/gpiochip0”,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lines=["GPIO_0", "GPIO_3", 5],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edge_detection=gpiod.Line.Edge.BOTH,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event_clock=gpiod.Line.Clock.REALTIME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for event in request.read_edge_events():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print(event)</a:t>
            </a:r>
            <a:endParaRPr sz="2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9"/>
          <p:cNvSpPr txBox="1"/>
          <p:nvPr/>
        </p:nvSpPr>
        <p:spPr>
          <a:xfrm>
            <a:off x="-246925" y="719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Links &amp; Resources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69"/>
          <p:cNvSpPr txBox="1"/>
          <p:nvPr/>
        </p:nvSpPr>
        <p:spPr>
          <a:xfrm>
            <a:off x="1039501" y="902246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https://git.kernel.org/pub/scm/libs/libgpiod/libgpiod.git/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See tools, tests and binding examples for code samples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Branch next/libgpiod-2.0 contains current v2 API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Development happens on the linux-gpio mailing list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Please do help us review v2 before we carve it in stone.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16361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</a:rPr>
              <a:t>Special thanks to Kent Gibson for his hard work on the character device code and reviewing libgpiod patches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0"/>
          <p:cNvSpPr txBox="1"/>
          <p:nvPr/>
        </p:nvSpPr>
        <p:spPr>
          <a:xfrm>
            <a:off x="141475" y="1929495"/>
            <a:ext cx="9138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25" lIns="19025" spcFirstLastPara="1" rIns="19025" wrap="square" tIns="190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077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Q &amp; A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