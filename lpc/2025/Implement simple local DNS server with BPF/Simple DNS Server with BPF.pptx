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Optimistic Text"/>
      <p:regular r:id="rId26"/>
      <p:bold r:id="rId27"/>
    </p:embeddedFont>
    <p:embeddedFont>
      <p:font typeface="Optimistic Display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timisticText-regular.fntdata"/><Relationship Id="rId25" Type="http://schemas.openxmlformats.org/officeDocument/2006/relationships/slide" Target="slides/slide20.xml"/><Relationship Id="rId28" Type="http://schemas.openxmlformats.org/officeDocument/2006/relationships/font" Target="fonts/OptimisticDisplay-bold.fntdata"/><Relationship Id="rId27" Type="http://schemas.openxmlformats.org/officeDocument/2006/relationships/font" Target="fonts/OptimisticText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7d512a78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7d512a78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Hello, as a last talk today i’ll tell you a story about implementing lightweight DNS server with BPF.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7d512a78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7d512a78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 this point there are multiple applications for BPF, we are using most of them at Meta in </a:t>
            </a:r>
            <a:r>
              <a:rPr lang="en"/>
              <a:t>different projects.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7d512a78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7d512a78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0A1317"/>
                </a:solidFill>
                <a:highlight>
                  <a:srgbClr val="FFFFFF"/>
                </a:highlight>
              </a:rPr>
              <a:t>BPF can also act as a simple server for certain protocols, but is not a replacement for full-featured user-space servers. It can be excellent at fast, stateless responses and packet manipulation at the kernel level. 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7d512a786_0_4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7d512a786_0_4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of a good examples for this use-case is DNS. It’s UDP based protocol and requests are stateless with a single packet for a request and a single packet for a response.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7d512a786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7d512a786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look at a structure of DNS packet. All DNS packets have the following structure as on this picture. To build a simple example with BPF, we can limit our logic to Header/Question/Answer sections.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7d512a786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7d512a786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Let’s look closer at each section, here are specific fields in the DNS header.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QR A one bit field that specifies whether this message is a query (), or a response ().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QDCOUNT  specifies the number of entries in the question section.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ANCOUNT specifying the number of resource records in the answer section.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ab62ea8d5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ab62ea8d5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QNAME A domain name represented as a sequence of labels, where each label consists of a length octet followed by that number of octets. The domain name terminates with the zero length octet for the null label of the root.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b62ea8d5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b62ea8d5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7d512a786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7d512a786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b62ea8d5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ab62ea8d5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b62ea8d5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b62ea8d5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The domain name that was queried, in the same format as the QNAME in the questions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RDLENGTH The length of the RDATA field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RDATA The data of the response. The format is dependent on the TYPE field: if the TYPE is 1 for A records and 28 for AAAA then this is the IPv4 or IPv6 address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b62ea8d5f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b62ea8d5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b62ea8d5f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b62ea8d5f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14273a51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14273a51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60e13f5a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60e13f5a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7d512a786_0_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7d512a786_0_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e392ebf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e392ebf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60e13f5a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60e13f5a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914273a51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914273a51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a7d512a786_0_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a7d512a786_0_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922676" y="4353853"/>
            <a:ext cx="48861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7B7FF"/>
                </a:solidFill>
                <a:latin typeface="Optimistic Text"/>
                <a:ea typeface="Optimistic Text"/>
                <a:cs typeface="Optimistic Text"/>
                <a:sym typeface="Optimistic Text"/>
              </a:rPr>
              <a:t>Martin Lau, Raman Shukhau</a:t>
            </a:r>
            <a:endParaRPr sz="1200">
              <a:solidFill>
                <a:srgbClr val="87B7FF"/>
              </a:solidFill>
              <a:latin typeface="Optimistic Text"/>
              <a:ea typeface="Optimistic Text"/>
              <a:cs typeface="Optimistic Text"/>
              <a:sym typeface="Optimistic Tex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922675" y="1326062"/>
            <a:ext cx="5674800" cy="17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Optimistic Text"/>
                <a:ea typeface="Optimistic Text"/>
                <a:cs typeface="Optimistic Text"/>
                <a:sym typeface="Optimistic Text"/>
              </a:rPr>
              <a:t>Simple DNS Server with BPF</a:t>
            </a:r>
            <a:endParaRPr b="1" sz="3000">
              <a:solidFill>
                <a:srgbClr val="FFFFFF"/>
              </a:solidFill>
              <a:latin typeface="Optimistic Text"/>
              <a:ea typeface="Optimistic Text"/>
              <a:cs typeface="Optimistic Text"/>
              <a:sym typeface="Optimistic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508000" y="2243125"/>
            <a:ext cx="40011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BPF “</a:t>
            </a:r>
            <a:r>
              <a:rPr b="1" lang="en" sz="25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usual” </a:t>
            </a:r>
            <a:r>
              <a:rPr b="1" lang="en" sz="25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use-cases</a:t>
            </a:r>
            <a:endParaRPr b="1" sz="2500">
              <a:solidFill>
                <a:schemeClr val="lt1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  <p:sp>
        <p:nvSpPr>
          <p:cNvPr id="61" name="Google Shape;61;p14"/>
          <p:cNvSpPr/>
          <p:nvPr/>
        </p:nvSpPr>
        <p:spPr>
          <a:xfrm rot="-5400000">
            <a:off x="3760650" y="2608050"/>
            <a:ext cx="1622700" cy="24300"/>
          </a:xfrm>
          <a:prstGeom prst="rect">
            <a:avLst/>
          </a:prstGeom>
          <a:solidFill>
            <a:srgbClr val="2A7B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4862875" y="1686600"/>
            <a:ext cx="3196200" cy="18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timistic Display"/>
              <a:buChar char="●"/>
            </a:pPr>
            <a:r>
              <a:rPr lang="en" sz="11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Packet Filtering &amp; Processing</a:t>
            </a:r>
            <a:endParaRPr sz="1100">
              <a:solidFill>
                <a:schemeClr val="lt1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timistic Display"/>
              <a:buChar char="●"/>
            </a:pPr>
            <a:r>
              <a:rPr lang="en" sz="11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Custom Congestion Control</a:t>
            </a:r>
            <a:endParaRPr sz="1100">
              <a:solidFill>
                <a:schemeClr val="lt1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timistic Display"/>
              <a:buChar char="●"/>
            </a:pPr>
            <a:r>
              <a:rPr lang="en" sz="11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Container Networking</a:t>
            </a:r>
            <a:endParaRPr sz="1100">
              <a:solidFill>
                <a:schemeClr val="lt1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timistic Display"/>
              <a:buChar char="●"/>
            </a:pPr>
            <a:r>
              <a:rPr lang="en" sz="11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Performance Profiling &amp; Observability</a:t>
            </a:r>
            <a:endParaRPr sz="1100">
              <a:solidFill>
                <a:schemeClr val="lt1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timistic Display"/>
              <a:buChar char="●"/>
            </a:pPr>
            <a:r>
              <a:rPr lang="en" sz="11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Tracing &amp; Debugging</a:t>
            </a:r>
            <a:endParaRPr sz="1100">
              <a:solidFill>
                <a:schemeClr val="lt1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timistic Display"/>
              <a:buChar char="●"/>
            </a:pPr>
            <a:r>
              <a:rPr lang="en" sz="11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Security &amp; Monitoring</a:t>
            </a:r>
            <a:endParaRPr sz="1100">
              <a:solidFill>
                <a:schemeClr val="lt1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timistic Display"/>
              <a:buChar char="●"/>
            </a:pPr>
            <a:r>
              <a:rPr lang="en" sz="11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Custom Schedulers &amp; I/O Accelerators</a:t>
            </a:r>
            <a:endParaRPr sz="1100">
              <a:solidFill>
                <a:schemeClr val="lt1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timistic Display"/>
              <a:buChar char="●"/>
            </a:pPr>
            <a:r>
              <a:rPr lang="en" sz="11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GPU Profiling</a:t>
            </a:r>
            <a:endParaRPr sz="1100">
              <a:solidFill>
                <a:schemeClr val="lt1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  <a:p>
            <a:pPr indent="-2413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Optimistic Display"/>
              <a:buChar char="●"/>
            </a:pPr>
            <a:r>
              <a:rPr lang="en" sz="11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Kernel Debugging</a:t>
            </a:r>
            <a:endParaRPr sz="1100">
              <a:solidFill>
                <a:schemeClr val="lt1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1743350" y="1656200"/>
            <a:ext cx="5883300" cy="21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BPF can also reply to network packets</a:t>
            </a:r>
            <a:endParaRPr b="1" sz="4600">
              <a:solidFill>
                <a:schemeClr val="lt1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/>
        </p:nvSpPr>
        <p:spPr>
          <a:xfrm>
            <a:off x="1352825" y="1708913"/>
            <a:ext cx="70413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What Network Protocol is a good use-case? </a:t>
            </a:r>
            <a:endParaRPr b="1" sz="4200">
              <a:solidFill>
                <a:schemeClr val="lt1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6313725" y="3015025"/>
            <a:ext cx="20286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400">
                <a:solidFill>
                  <a:srgbClr val="2A7BF5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DNS</a:t>
            </a:r>
            <a:endParaRPr b="1" sz="6400">
              <a:solidFill>
                <a:srgbClr val="2A7BF5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675" y="1251750"/>
            <a:ext cx="5577850" cy="26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7"/>
          <p:cNvSpPr txBox="1"/>
          <p:nvPr/>
        </p:nvSpPr>
        <p:spPr>
          <a:xfrm>
            <a:off x="456325" y="0"/>
            <a:ext cx="68646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DNS Structure Request</a:t>
            </a:r>
            <a:endParaRPr b="1" sz="3200">
              <a:solidFill>
                <a:srgbClr val="2A7BF5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/>
        </p:nvSpPr>
        <p:spPr>
          <a:xfrm>
            <a:off x="456325" y="0"/>
            <a:ext cx="68646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DNS Structure Request: </a:t>
            </a:r>
            <a:r>
              <a:rPr b="1" lang="en" sz="3200">
                <a:solidFill>
                  <a:srgbClr val="2A7BF5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Header</a:t>
            </a:r>
            <a:endParaRPr b="1" sz="3200">
              <a:solidFill>
                <a:srgbClr val="2A7BF5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250" y="1056000"/>
            <a:ext cx="4697749" cy="320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250" y="1056000"/>
            <a:ext cx="4697768" cy="320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/>
        </p:nvSpPr>
        <p:spPr>
          <a:xfrm>
            <a:off x="456325" y="0"/>
            <a:ext cx="70791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DNS Structure Request: </a:t>
            </a:r>
            <a:r>
              <a:rPr b="1" lang="en" sz="3200">
                <a:solidFill>
                  <a:srgbClr val="2A7BF5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Question</a:t>
            </a:r>
            <a:endParaRPr b="1" sz="3200">
              <a:solidFill>
                <a:srgbClr val="2A7BF5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  <p:pic>
        <p:nvPicPr>
          <p:cNvPr id="92" name="Google Shape;9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250" y="1056000"/>
            <a:ext cx="4982076" cy="26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250" y="3981450"/>
            <a:ext cx="5021074" cy="5397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94" name="Google Shape;94;p19"/>
          <p:cNvSpPr txBox="1"/>
          <p:nvPr/>
        </p:nvSpPr>
        <p:spPr>
          <a:xfrm>
            <a:off x="6064275" y="1352425"/>
            <a:ext cx="29709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In this example host will be encoded as: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0x08 + </a:t>
            </a:r>
            <a:r>
              <a:rPr b="1" lang="en" sz="1800">
                <a:solidFill>
                  <a:schemeClr val="lt1"/>
                </a:solidFill>
              </a:rPr>
              <a:t>example6</a:t>
            </a:r>
            <a:r>
              <a:rPr lang="en" sz="1800">
                <a:solidFill>
                  <a:schemeClr val="lt1"/>
                </a:solidFill>
              </a:rPr>
              <a:t> + 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0x03 + </a:t>
            </a:r>
            <a:r>
              <a:rPr b="1" lang="en" sz="1800">
                <a:solidFill>
                  <a:schemeClr val="lt1"/>
                </a:solidFill>
              </a:rPr>
              <a:t>com</a:t>
            </a:r>
            <a:r>
              <a:rPr lang="en" sz="1800">
                <a:solidFill>
                  <a:schemeClr val="lt1"/>
                </a:solidFill>
              </a:rPr>
              <a:t> + 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0x00 +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0x001c (type) +</a:t>
            </a:r>
            <a:endParaRPr sz="1800"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 sz="1800">
                <a:solidFill>
                  <a:schemeClr val="lt1"/>
                </a:solidFill>
              </a:rPr>
              <a:t>0x0001 (class)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/>
        </p:nvSpPr>
        <p:spPr>
          <a:xfrm>
            <a:off x="456325" y="0"/>
            <a:ext cx="70791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2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What program types we can use? </a:t>
            </a:r>
            <a:endParaRPr b="1" sz="3200">
              <a:solidFill>
                <a:srgbClr val="2A7BF5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884775" y="1102175"/>
            <a:ext cx="76182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Cgroup Types - </a:t>
            </a:r>
            <a:r>
              <a:rPr lang="en" sz="2400">
                <a:solidFill>
                  <a:srgbClr val="CC0000"/>
                </a:solidFill>
              </a:rPr>
              <a:t>Not Supported</a:t>
            </a:r>
            <a:endParaRPr sz="2400">
              <a:solidFill>
                <a:srgbClr val="CC0000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</a:pPr>
            <a:r>
              <a:rPr lang="en" sz="2400">
                <a:solidFill>
                  <a:schemeClr val="lt1"/>
                </a:solidFill>
              </a:rPr>
              <a:t>routing decision is made at this point</a:t>
            </a:r>
            <a:endParaRPr sz="2400">
              <a:solidFill>
                <a:schemeClr val="lt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</a:pPr>
            <a:r>
              <a:rPr lang="en" sz="2400">
                <a:solidFill>
                  <a:schemeClr val="lt1"/>
                </a:solidFill>
              </a:rPr>
              <a:t>change to SKB structure limited or not allowed</a:t>
            </a:r>
            <a:endParaRPr sz="24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TC/TCX - </a:t>
            </a:r>
            <a:r>
              <a:rPr lang="en" sz="2400">
                <a:solidFill>
                  <a:srgbClr val="6AA84F"/>
                </a:solidFill>
              </a:rPr>
              <a:t>Supported</a:t>
            </a:r>
            <a:endParaRPr sz="2400">
              <a:solidFill>
                <a:srgbClr val="6AA84F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</a:pPr>
            <a:r>
              <a:rPr lang="en" sz="2400">
                <a:solidFill>
                  <a:schemeClr val="lt1"/>
                </a:solidFill>
              </a:rPr>
              <a:t>Can modify SKB and use bpf_redirect </a:t>
            </a:r>
            <a:endParaRPr sz="24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XDP - </a:t>
            </a:r>
            <a:r>
              <a:rPr lang="en" sz="2400">
                <a:solidFill>
                  <a:srgbClr val="6AA84F"/>
                </a:solidFill>
              </a:rPr>
              <a:t>Supported</a:t>
            </a:r>
            <a:endParaRPr sz="2400">
              <a:solidFill>
                <a:srgbClr val="6AA84F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</a:pPr>
            <a:r>
              <a:rPr lang="en" sz="2400">
                <a:solidFill>
                  <a:schemeClr val="lt1"/>
                </a:solidFill>
              </a:rPr>
              <a:t>Can change XDP struct and do XDP_TX</a:t>
            </a:r>
            <a:endParaRPr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/>
        </p:nvSpPr>
        <p:spPr>
          <a:xfrm>
            <a:off x="456325" y="0"/>
            <a:ext cx="70791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What do we need to do?</a:t>
            </a:r>
            <a:endParaRPr b="1" sz="3200">
              <a:solidFill>
                <a:srgbClr val="2A7BF5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884775" y="1102175"/>
            <a:ext cx="79926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Swap Source and Destination</a:t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Create Answer section </a:t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Adjust packet size </a:t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Calculate new Checksum</a:t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Flip packet “direction”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/>
        </p:nvSpPr>
        <p:spPr>
          <a:xfrm>
            <a:off x="456325" y="0"/>
            <a:ext cx="68646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Preparing DNS Response</a:t>
            </a:r>
            <a:r>
              <a:rPr b="1" lang="en" sz="32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: </a:t>
            </a:r>
            <a:r>
              <a:rPr b="1" lang="en" sz="3200">
                <a:solidFill>
                  <a:srgbClr val="6AA84F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Src/Dst</a:t>
            </a:r>
            <a:endParaRPr b="1" sz="3200">
              <a:solidFill>
                <a:srgbClr val="6AA84F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  <p:sp>
        <p:nvSpPr>
          <p:cNvPr id="112" name="Google Shape;112;p22"/>
          <p:cNvSpPr txBox="1"/>
          <p:nvPr/>
        </p:nvSpPr>
        <p:spPr>
          <a:xfrm>
            <a:off x="884775" y="1102175"/>
            <a:ext cx="7992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Swap MAC address in ETH header</a:t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Swap Src/Dst IP in IPv4/IPv6 header</a:t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Swap Ports UDP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/>
        </p:nvSpPr>
        <p:spPr>
          <a:xfrm>
            <a:off x="456325" y="0"/>
            <a:ext cx="68646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Preparing DNS Response</a:t>
            </a:r>
            <a:r>
              <a:rPr b="1" lang="en" sz="32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: </a:t>
            </a:r>
            <a:r>
              <a:rPr b="1" lang="en" sz="3200">
                <a:solidFill>
                  <a:srgbClr val="6AA84F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Answer</a:t>
            </a:r>
            <a:endParaRPr b="1" sz="3200">
              <a:solidFill>
                <a:srgbClr val="6AA84F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  <p:pic>
        <p:nvPicPr>
          <p:cNvPr id="118" name="Google Shape;11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250" y="1043127"/>
            <a:ext cx="3780751" cy="345018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3"/>
          <p:cNvSpPr txBox="1"/>
          <p:nvPr/>
        </p:nvSpPr>
        <p:spPr>
          <a:xfrm>
            <a:off x="4819775" y="1056000"/>
            <a:ext cx="40572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Little difference </a:t>
            </a:r>
            <a:r>
              <a:rPr lang="en" sz="1800">
                <a:solidFill>
                  <a:schemeClr val="lt1"/>
                </a:solidFill>
              </a:rPr>
              <a:t>between A (IPv4) &amp; AAAA (IPv6) answers: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Type = 1 (A IPv4) </a:t>
            </a:r>
            <a:r>
              <a:rPr b="1" lang="en" sz="1800">
                <a:solidFill>
                  <a:schemeClr val="lt1"/>
                </a:solidFill>
              </a:rPr>
              <a:t>or</a:t>
            </a:r>
            <a:r>
              <a:rPr lang="en" sz="1800">
                <a:solidFill>
                  <a:schemeClr val="lt1"/>
                </a:solidFill>
              </a:rPr>
              <a:t> 28 (AAAA IPv6)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RDLength = 4 </a:t>
            </a:r>
            <a:r>
              <a:rPr b="1" lang="en" sz="1800">
                <a:solidFill>
                  <a:schemeClr val="lt1"/>
                </a:solidFill>
              </a:rPr>
              <a:t>or</a:t>
            </a:r>
            <a:r>
              <a:rPr lang="en" sz="1800">
                <a:solidFill>
                  <a:schemeClr val="lt1"/>
                </a:solidFill>
              </a:rPr>
              <a:t> 16 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RDATA = IPv4 </a:t>
            </a:r>
            <a:r>
              <a:rPr b="1" lang="en" sz="1800">
                <a:solidFill>
                  <a:schemeClr val="lt1"/>
                </a:solidFill>
              </a:rPr>
              <a:t>or</a:t>
            </a:r>
            <a:r>
              <a:rPr lang="en" sz="1800">
                <a:solidFill>
                  <a:schemeClr val="lt1"/>
                </a:solidFill>
              </a:rPr>
              <a:t> IPv6 address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/>
        </p:nvSpPr>
        <p:spPr>
          <a:xfrm>
            <a:off x="456325" y="0"/>
            <a:ext cx="789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Preparing DNS Response</a:t>
            </a:r>
            <a:r>
              <a:rPr b="1" lang="en" sz="32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: </a:t>
            </a:r>
            <a:r>
              <a:rPr b="1" lang="en" sz="3200">
                <a:solidFill>
                  <a:srgbClr val="6AA84F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Packet Size</a:t>
            </a:r>
            <a:endParaRPr b="1" sz="3200">
              <a:solidFill>
                <a:srgbClr val="6AA84F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  <p:sp>
        <p:nvSpPr>
          <p:cNvPr id="125" name="Google Shape;125;p24"/>
          <p:cNvSpPr txBox="1"/>
          <p:nvPr/>
        </p:nvSpPr>
        <p:spPr>
          <a:xfrm>
            <a:off x="884775" y="1231650"/>
            <a:ext cx="77118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" sz="3200">
                <a:solidFill>
                  <a:schemeClr val="lt1"/>
                </a:solidFill>
              </a:rPr>
              <a:t>sizeof(DNS Header + DNS Name + Domain Info + </a:t>
            </a:r>
            <a:r>
              <a:rPr b="1" lang="en" sz="3200">
                <a:solidFill>
                  <a:srgbClr val="93C47D"/>
                </a:solidFill>
              </a:rPr>
              <a:t>DNS Answer(s))</a:t>
            </a:r>
            <a:endParaRPr b="1" sz="3200">
              <a:solidFill>
                <a:srgbClr val="93C47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93C47D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" sz="3200">
                <a:solidFill>
                  <a:schemeClr val="lt1"/>
                </a:solidFill>
              </a:rPr>
              <a:t>Adjust SKB/XDP packet size</a:t>
            </a:r>
            <a:endParaRPr sz="32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</a:endParaRPr>
          </a:p>
          <a:p>
            <a:pPr indent="-431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</a:pPr>
            <a:r>
              <a:rPr lang="en" sz="3200">
                <a:solidFill>
                  <a:schemeClr val="lt1"/>
                </a:solidFill>
              </a:rPr>
              <a:t>Set new UDP/IP packet length</a:t>
            </a:r>
            <a:endParaRPr sz="3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/>
        </p:nvSpPr>
        <p:spPr>
          <a:xfrm>
            <a:off x="456325" y="0"/>
            <a:ext cx="789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Preparing DNS Response</a:t>
            </a:r>
            <a:r>
              <a:rPr b="1" lang="en" sz="32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: </a:t>
            </a:r>
            <a:r>
              <a:rPr b="1" lang="en" sz="3200">
                <a:solidFill>
                  <a:srgbClr val="6AA84F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Checksum</a:t>
            </a:r>
            <a:endParaRPr b="1" sz="3200">
              <a:solidFill>
                <a:srgbClr val="6AA84F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884775" y="1102175"/>
            <a:ext cx="7992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CSUM chain of the following items: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UDP header 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DNS Header + </a:t>
            </a:r>
            <a:r>
              <a:rPr lang="en" sz="2400">
                <a:solidFill>
                  <a:schemeClr val="lt1"/>
                </a:solidFill>
              </a:rPr>
              <a:t>DNS Name + DNS Answer(s)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ip6h-&gt;saddr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ip6h-&gt;daddr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UDP packet len</a:t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IPPROTO_UDP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csum_fold at the end to get u16 value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/>
        </p:nvSpPr>
        <p:spPr>
          <a:xfrm>
            <a:off x="456325" y="0"/>
            <a:ext cx="789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How can we store DNS Records?</a:t>
            </a:r>
            <a:endParaRPr b="1" sz="3200">
              <a:solidFill>
                <a:srgbClr val="6AA84F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4098550" y="2094875"/>
            <a:ext cx="4685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… or </a:t>
            </a:r>
            <a:r>
              <a:rPr lang="en" sz="2400">
                <a:solidFill>
                  <a:schemeClr val="lt1"/>
                </a:solidFill>
              </a:rPr>
              <a:t>can use BPF LPM_T</a:t>
            </a:r>
            <a:r>
              <a:rPr lang="en" sz="2400">
                <a:solidFill>
                  <a:schemeClr val="lt1"/>
                </a:solidFill>
              </a:rPr>
              <a:t>RIE</a:t>
            </a:r>
            <a:r>
              <a:rPr lang="en" sz="2400">
                <a:solidFill>
                  <a:schemeClr val="lt1"/>
                </a:solidFill>
              </a:rPr>
              <a:t> Map, but need to “invert” hostname in BPF for lookup. 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490525" y="1056000"/>
            <a:ext cx="3259500" cy="2901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dns_records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900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9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__u32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a_count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900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9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__u32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aaaa_count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b="1" sz="900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9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__u32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a_records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9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MAX_A_RECORDS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r>
              <a:rPr b="1" lang="en" sz="900">
                <a:solidFill>
                  <a:srgbClr val="008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900">
              <a:solidFill>
                <a:srgbClr val="0080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" sz="9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__u8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aaaa_records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9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MAX_AAAA_RECORDS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][</a:t>
            </a:r>
            <a:r>
              <a:rPr b="1" lang="en" sz="900">
                <a:solidFill>
                  <a:srgbClr val="098658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16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r>
              <a:rPr b="1" lang="en" sz="900">
                <a:solidFill>
                  <a:srgbClr val="008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900">
              <a:solidFill>
                <a:srgbClr val="0080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b="1" sz="900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b="1" sz="900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__uint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9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type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9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BPF_MAP_TYPE_HASH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900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__uint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9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max_entries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128);</a:t>
            </a:r>
            <a:endParaRPr b="1" sz="900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__type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9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key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9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char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b="1" lang="en" sz="9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MAX_HOSTNAME_LEN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b="1" sz="900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795E26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__type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9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b="1" lang="en" sz="900">
                <a:solidFill>
                  <a:srgbClr val="0000FF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struct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dns_records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900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b="1" lang="en" sz="900">
                <a:solidFill>
                  <a:srgbClr val="267F99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dns_map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" sz="900">
                <a:solidFill>
                  <a:srgbClr val="00108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SEC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b="1" lang="en" sz="900">
                <a:solidFill>
                  <a:srgbClr val="A3151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".maps"</a:t>
            </a:r>
            <a:r>
              <a:rPr b="1" lang="en" sz="900">
                <a:solidFill>
                  <a:srgbClr val="3B3B3B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b="1" sz="900">
              <a:solidFill>
                <a:srgbClr val="3B3B3B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9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 txBox="1"/>
          <p:nvPr/>
        </p:nvSpPr>
        <p:spPr>
          <a:xfrm>
            <a:off x="456325" y="0"/>
            <a:ext cx="789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How can we use DNS BPF?</a:t>
            </a:r>
            <a:endParaRPr b="1" sz="3200">
              <a:solidFill>
                <a:srgbClr val="6AA84F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884775" y="1102150"/>
            <a:ext cx="77118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Resolving external queries</a:t>
            </a:r>
            <a:endParaRPr sz="2400">
              <a:solidFill>
                <a:schemeClr val="lt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</a:pPr>
            <a:r>
              <a:rPr lang="en" sz="2400">
                <a:solidFill>
                  <a:schemeClr val="lt1"/>
                </a:solidFill>
              </a:rPr>
              <a:t>DNS DDoS Protection (XDP)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93C47D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Resolving local queries (TC) </a:t>
            </a:r>
            <a:endParaRPr sz="2400">
              <a:solidFill>
                <a:schemeClr val="lt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</a:pPr>
            <a:r>
              <a:rPr lang="en" sz="2400">
                <a:solidFill>
                  <a:schemeClr val="lt1"/>
                </a:solidFill>
              </a:rPr>
              <a:t>Alternative to local DNS cache server </a:t>
            </a:r>
            <a:endParaRPr sz="2400">
              <a:solidFill>
                <a:schemeClr val="lt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</a:pPr>
            <a:r>
              <a:rPr lang="en" sz="2400">
                <a:solidFill>
                  <a:schemeClr val="lt1"/>
                </a:solidFill>
              </a:rPr>
              <a:t>Test mocking </a:t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</a:pPr>
            <a:r>
              <a:rPr lang="en" sz="2400">
                <a:solidFill>
                  <a:schemeClr val="lt1"/>
                </a:solidFill>
              </a:rPr>
              <a:t>Alternative for /etc/hosts </a:t>
            </a:r>
            <a:r>
              <a:rPr lang="en" sz="2400">
                <a:solidFill>
                  <a:schemeClr val="lt1"/>
                </a:solidFill>
              </a:rPr>
              <a:t>(TC)</a:t>
            </a:r>
            <a:endParaRPr sz="2400">
              <a:solidFill>
                <a:schemeClr val="lt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</a:pPr>
            <a:r>
              <a:rPr lang="en" sz="2400">
                <a:solidFill>
                  <a:schemeClr val="lt1"/>
                </a:solidFill>
              </a:rPr>
              <a:t>More flexible support with similar effort 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8"/>
          <p:cNvSpPr txBox="1"/>
          <p:nvPr/>
        </p:nvSpPr>
        <p:spPr>
          <a:xfrm>
            <a:off x="456325" y="0"/>
            <a:ext cx="82338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</a:rPr>
              <a:t>Use Case: Resolving external queries</a:t>
            </a:r>
            <a:endParaRPr b="1" sz="3200">
              <a:solidFill>
                <a:srgbClr val="6AA84F"/>
              </a:solidFill>
            </a:endParaRPr>
          </a:p>
        </p:txBody>
      </p:sp>
      <p:sp>
        <p:nvSpPr>
          <p:cNvPr id="150" name="Google Shape;150;p28"/>
          <p:cNvSpPr txBox="1"/>
          <p:nvPr/>
        </p:nvSpPr>
        <p:spPr>
          <a:xfrm>
            <a:off x="884763" y="1056000"/>
            <a:ext cx="77118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      No burden with service maintenance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Only simple use-cases supported</a:t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lt1"/>
                </a:solidFill>
              </a:rPr>
              <a:t>better performance with XDP DNS vs. DNS Server</a:t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id="151" name="Google Shape;151;p28"/>
          <p:cNvPicPr preferRelativeResize="0"/>
          <p:nvPr/>
        </p:nvPicPr>
        <p:blipFill rotWithShape="1">
          <a:blip r:embed="rId4">
            <a:alphaModFix/>
          </a:blip>
          <a:srcRect b="19003" l="9126" r="54354" t="19157"/>
          <a:stretch/>
        </p:blipFill>
        <p:spPr>
          <a:xfrm>
            <a:off x="758025" y="1056009"/>
            <a:ext cx="518375" cy="52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8"/>
          <p:cNvPicPr preferRelativeResize="0"/>
          <p:nvPr/>
        </p:nvPicPr>
        <p:blipFill rotWithShape="1">
          <a:blip r:embed="rId4">
            <a:alphaModFix/>
          </a:blip>
          <a:srcRect b="18343" l="52809" r="8541" t="19347"/>
          <a:stretch/>
        </p:blipFill>
        <p:spPr>
          <a:xfrm>
            <a:off x="794000" y="1821375"/>
            <a:ext cx="518379" cy="50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8"/>
          <p:cNvSpPr/>
          <p:nvPr/>
        </p:nvSpPr>
        <p:spPr>
          <a:xfrm>
            <a:off x="368438" y="3731825"/>
            <a:ext cx="3920700" cy="110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8"/>
          <p:cNvSpPr/>
          <p:nvPr/>
        </p:nvSpPr>
        <p:spPr>
          <a:xfrm>
            <a:off x="1668950" y="3521325"/>
            <a:ext cx="1079400" cy="251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BPF XDP</a:t>
            </a:r>
            <a:endParaRPr/>
          </a:p>
        </p:txBody>
      </p:sp>
      <p:sp>
        <p:nvSpPr>
          <p:cNvPr id="155" name="Google Shape;155;p28"/>
          <p:cNvSpPr/>
          <p:nvPr/>
        </p:nvSpPr>
        <p:spPr>
          <a:xfrm>
            <a:off x="4857313" y="3731825"/>
            <a:ext cx="3920700" cy="110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8"/>
          <p:cNvSpPr/>
          <p:nvPr/>
        </p:nvSpPr>
        <p:spPr>
          <a:xfrm>
            <a:off x="5862875" y="3521325"/>
            <a:ext cx="2035800" cy="251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Unbound DNS Server</a:t>
            </a:r>
            <a:endParaRPr/>
          </a:p>
        </p:txBody>
      </p:sp>
      <p:sp>
        <p:nvSpPr>
          <p:cNvPr id="157" name="Google Shape;157;p28"/>
          <p:cNvSpPr txBox="1"/>
          <p:nvPr/>
        </p:nvSpPr>
        <p:spPr>
          <a:xfrm>
            <a:off x="1131025" y="3762575"/>
            <a:ext cx="2395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Queries per second:   286K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AVG Latency (ms):     0.205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P0 Latency (ms):        0.047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P100 Latency (ms):    4.195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5619900" y="3762575"/>
            <a:ext cx="2395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Queries per second:   </a:t>
            </a:r>
            <a:r>
              <a:rPr lang="en">
                <a:solidFill>
                  <a:schemeClr val="dk1"/>
                </a:solidFill>
              </a:rPr>
              <a:t>117K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AVG Latency (ms):     </a:t>
            </a:r>
            <a:r>
              <a:rPr lang="en">
                <a:solidFill>
                  <a:schemeClr val="dk1"/>
                </a:solidFill>
              </a:rPr>
              <a:t>0.772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P0 Latency (ms):        </a:t>
            </a:r>
            <a:r>
              <a:rPr lang="en">
                <a:solidFill>
                  <a:schemeClr val="dk1"/>
                </a:solidFill>
              </a:rPr>
              <a:t>0.062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P100 Latency (ms):    </a:t>
            </a:r>
            <a:r>
              <a:rPr lang="en">
                <a:solidFill>
                  <a:schemeClr val="dk1"/>
                </a:solidFill>
              </a:rPr>
              <a:t>6.785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9" name="Google Shape;159;p28"/>
          <p:cNvPicPr preferRelativeResize="0"/>
          <p:nvPr/>
        </p:nvPicPr>
        <p:blipFill rotWithShape="1">
          <a:blip r:embed="rId4">
            <a:alphaModFix/>
          </a:blip>
          <a:srcRect b="19003" l="9126" r="54354" t="19157"/>
          <a:stretch/>
        </p:blipFill>
        <p:spPr>
          <a:xfrm>
            <a:off x="794000" y="2561534"/>
            <a:ext cx="518375" cy="526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/>
        </p:nvSpPr>
        <p:spPr>
          <a:xfrm>
            <a:off x="456325" y="0"/>
            <a:ext cx="789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200">
                <a:solidFill>
                  <a:schemeClr val="lt1"/>
                </a:solidFill>
              </a:rPr>
              <a:t>Use Case: Resolving local queries </a:t>
            </a:r>
            <a:endParaRPr b="1" sz="3200">
              <a:solidFill>
                <a:srgbClr val="6AA84F"/>
              </a:solidFill>
            </a:endParaRPr>
          </a:p>
        </p:txBody>
      </p:sp>
      <p:sp>
        <p:nvSpPr>
          <p:cNvPr id="165" name="Google Shape;165;p29"/>
          <p:cNvSpPr txBox="1"/>
          <p:nvPr/>
        </p:nvSpPr>
        <p:spPr>
          <a:xfrm>
            <a:off x="884763" y="1056000"/>
            <a:ext cx="77118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No messing with overriding /etc/resolv.conf</a:t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Same “no burden with maintenance” point</a:t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Same better performance in comparison to local DNS server</a:t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 rotWithShape="1">
          <a:blip r:embed="rId4">
            <a:alphaModFix/>
          </a:blip>
          <a:srcRect b="19003" l="9126" r="54354" t="19157"/>
          <a:stretch/>
        </p:blipFill>
        <p:spPr>
          <a:xfrm>
            <a:off x="851550" y="1084784"/>
            <a:ext cx="518375" cy="52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9"/>
          <p:cNvPicPr preferRelativeResize="0"/>
          <p:nvPr/>
        </p:nvPicPr>
        <p:blipFill rotWithShape="1">
          <a:blip r:embed="rId4">
            <a:alphaModFix/>
          </a:blip>
          <a:srcRect b="19003" l="9126" r="54354" t="19157"/>
          <a:stretch/>
        </p:blipFill>
        <p:spPr>
          <a:xfrm>
            <a:off x="851550" y="1808759"/>
            <a:ext cx="518375" cy="526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9"/>
          <p:cNvPicPr preferRelativeResize="0"/>
          <p:nvPr/>
        </p:nvPicPr>
        <p:blipFill rotWithShape="1">
          <a:blip r:embed="rId4">
            <a:alphaModFix/>
          </a:blip>
          <a:srcRect b="19003" l="9126" r="54354" t="19157"/>
          <a:stretch/>
        </p:blipFill>
        <p:spPr>
          <a:xfrm>
            <a:off x="851550" y="2532734"/>
            <a:ext cx="518375" cy="52637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9"/>
          <p:cNvSpPr/>
          <p:nvPr/>
        </p:nvSpPr>
        <p:spPr>
          <a:xfrm>
            <a:off x="368438" y="3731825"/>
            <a:ext cx="3920700" cy="110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9"/>
          <p:cNvSpPr/>
          <p:nvPr/>
        </p:nvSpPr>
        <p:spPr>
          <a:xfrm>
            <a:off x="1740875" y="3521325"/>
            <a:ext cx="999900" cy="251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BPF TC</a:t>
            </a:r>
            <a:endParaRPr/>
          </a:p>
        </p:txBody>
      </p:sp>
      <p:sp>
        <p:nvSpPr>
          <p:cNvPr id="171" name="Google Shape;171;p29"/>
          <p:cNvSpPr/>
          <p:nvPr/>
        </p:nvSpPr>
        <p:spPr>
          <a:xfrm>
            <a:off x="4857313" y="3731825"/>
            <a:ext cx="3920700" cy="1108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9"/>
          <p:cNvSpPr/>
          <p:nvPr/>
        </p:nvSpPr>
        <p:spPr>
          <a:xfrm>
            <a:off x="5862875" y="3521325"/>
            <a:ext cx="2035800" cy="251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Unbound DNS Server</a:t>
            </a:r>
            <a:endParaRPr/>
          </a:p>
        </p:txBody>
      </p:sp>
      <p:sp>
        <p:nvSpPr>
          <p:cNvPr id="173" name="Google Shape;173;p29"/>
          <p:cNvSpPr txBox="1"/>
          <p:nvPr/>
        </p:nvSpPr>
        <p:spPr>
          <a:xfrm>
            <a:off x="1131025" y="3762575"/>
            <a:ext cx="2395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Queries per second:   </a:t>
            </a:r>
            <a:r>
              <a:rPr lang="en">
                <a:solidFill>
                  <a:schemeClr val="dk1"/>
                </a:solidFill>
              </a:rPr>
              <a:t>211</a:t>
            </a:r>
            <a:r>
              <a:rPr lang="en">
                <a:solidFill>
                  <a:schemeClr val="dk1"/>
                </a:solidFill>
              </a:rPr>
              <a:t>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AVG Latency (ms):     0.</a:t>
            </a:r>
            <a:r>
              <a:rPr lang="en">
                <a:solidFill>
                  <a:schemeClr val="dk1"/>
                </a:solidFill>
              </a:rPr>
              <a:t>008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P0 Latency (ms):        0.</a:t>
            </a:r>
            <a:r>
              <a:rPr lang="en">
                <a:solidFill>
                  <a:schemeClr val="dk1"/>
                </a:solidFill>
              </a:rPr>
              <a:t>004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P100 Latency (ms):    0.891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4" name="Google Shape;174;p29"/>
          <p:cNvSpPr txBox="1"/>
          <p:nvPr/>
        </p:nvSpPr>
        <p:spPr>
          <a:xfrm>
            <a:off x="5619900" y="3762575"/>
            <a:ext cx="23955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Queries per second:   179K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AVG Latency (ms):     0.</a:t>
            </a:r>
            <a:r>
              <a:rPr lang="en">
                <a:solidFill>
                  <a:schemeClr val="dk1"/>
                </a:solidFill>
              </a:rPr>
              <a:t>531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P0 Latency (ms):        0.</a:t>
            </a:r>
            <a:r>
              <a:rPr lang="en">
                <a:solidFill>
                  <a:schemeClr val="dk1"/>
                </a:solidFill>
              </a:rPr>
              <a:t>009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P100 Latency (ms):    </a:t>
            </a:r>
            <a:r>
              <a:rPr lang="en">
                <a:solidFill>
                  <a:schemeClr val="dk1"/>
                </a:solidFill>
              </a:rPr>
              <a:t>1.424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/>
        </p:nvSpPr>
        <p:spPr>
          <a:xfrm>
            <a:off x="456325" y="0"/>
            <a:ext cx="78963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lt1"/>
                </a:solidFill>
              </a:rPr>
              <a:t>Use Case:</a:t>
            </a:r>
            <a:r>
              <a:rPr b="1" lang="en" sz="3200">
                <a:solidFill>
                  <a:schemeClr val="lt1"/>
                </a:solidFill>
              </a:rPr>
              <a:t> </a:t>
            </a:r>
            <a:r>
              <a:rPr b="1" lang="en" sz="3200">
                <a:solidFill>
                  <a:schemeClr val="lt1"/>
                </a:solidFill>
              </a:rPr>
              <a:t>Alternative for /etc/hosts</a:t>
            </a:r>
            <a:endParaRPr b="1" sz="3200">
              <a:solidFill>
                <a:srgbClr val="6AA84F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  <p:sp>
        <p:nvSpPr>
          <p:cNvPr id="180" name="Google Shape;180;p30"/>
          <p:cNvSpPr txBox="1"/>
          <p:nvPr/>
        </p:nvSpPr>
        <p:spPr>
          <a:xfrm>
            <a:off x="884775" y="1102175"/>
            <a:ext cx="79926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Easy to modify list of hosts with BPF Map</a:t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Observability with stats/counters/logs</a:t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Multiple IP addresses per Entry supported</a:t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/etc/hosts is still expected to be faster, as no </a:t>
            </a:r>
            <a:endParaRPr sz="24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lt1"/>
                </a:solidFill>
              </a:rPr>
              <a:t>network involved </a:t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id="181" name="Google Shape;181;p30"/>
          <p:cNvPicPr preferRelativeResize="0"/>
          <p:nvPr/>
        </p:nvPicPr>
        <p:blipFill rotWithShape="1">
          <a:blip r:embed="rId4">
            <a:alphaModFix/>
          </a:blip>
          <a:srcRect b="18343" l="52809" r="8541" t="19347"/>
          <a:stretch/>
        </p:blipFill>
        <p:spPr>
          <a:xfrm>
            <a:off x="1014300" y="3427000"/>
            <a:ext cx="336375" cy="32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30"/>
          <p:cNvPicPr preferRelativeResize="0"/>
          <p:nvPr/>
        </p:nvPicPr>
        <p:blipFill rotWithShape="1">
          <a:blip r:embed="rId4">
            <a:alphaModFix/>
          </a:blip>
          <a:srcRect b="19003" l="9126" r="54354" t="19157"/>
          <a:stretch/>
        </p:blipFill>
        <p:spPr>
          <a:xfrm>
            <a:off x="1014300" y="1947349"/>
            <a:ext cx="336375" cy="34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0"/>
          <p:cNvPicPr preferRelativeResize="0"/>
          <p:nvPr/>
        </p:nvPicPr>
        <p:blipFill rotWithShape="1">
          <a:blip r:embed="rId4">
            <a:alphaModFix/>
          </a:blip>
          <a:srcRect b="19003" l="9126" r="54354" t="19157"/>
          <a:stretch/>
        </p:blipFill>
        <p:spPr>
          <a:xfrm>
            <a:off x="1014300" y="2667249"/>
            <a:ext cx="336375" cy="341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0"/>
          <p:cNvPicPr preferRelativeResize="0"/>
          <p:nvPr/>
        </p:nvPicPr>
        <p:blipFill rotWithShape="1">
          <a:blip r:embed="rId4">
            <a:alphaModFix/>
          </a:blip>
          <a:srcRect b="19003" l="9126" r="54354" t="19157"/>
          <a:stretch/>
        </p:blipFill>
        <p:spPr>
          <a:xfrm>
            <a:off x="1014300" y="1227449"/>
            <a:ext cx="336375" cy="341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lso add reflection of texts &quot;error&quot; and &quot;no connection&quot; in the pupils of the dog in the picture" id="189" name="Google Shape;18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9936"/>
            <a:ext cx="9143545" cy="5103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2"/>
          <p:cNvSpPr txBox="1"/>
          <p:nvPr/>
        </p:nvSpPr>
        <p:spPr>
          <a:xfrm>
            <a:off x="2444700" y="1963963"/>
            <a:ext cx="4254600" cy="10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chemeClr val="lt1"/>
                </a:solidFill>
                <a:latin typeface="Optimistic Display"/>
                <a:ea typeface="Optimistic Display"/>
                <a:cs typeface="Optimistic Display"/>
                <a:sym typeface="Optimistic Display"/>
              </a:rPr>
              <a:t>Q&amp;A</a:t>
            </a:r>
            <a:endParaRPr b="1" sz="4600">
              <a:solidFill>
                <a:schemeClr val="lt1"/>
              </a:solidFill>
              <a:latin typeface="Optimistic Display"/>
              <a:ea typeface="Optimistic Display"/>
              <a:cs typeface="Optimistic Display"/>
              <a:sym typeface="Optimistic Display"/>
            </a:endParaRPr>
          </a:p>
        </p:txBody>
      </p:sp>
      <p:sp>
        <p:nvSpPr>
          <p:cNvPr id="195" name="Google Shape;195;p32"/>
          <p:cNvSpPr txBox="1"/>
          <p:nvPr/>
        </p:nvSpPr>
        <p:spPr>
          <a:xfrm>
            <a:off x="2128950" y="2857941"/>
            <a:ext cx="48861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87B7FF"/>
                </a:solidFill>
                <a:latin typeface="Optimistic Text"/>
                <a:ea typeface="Optimistic Text"/>
                <a:cs typeface="Optimistic Text"/>
                <a:sym typeface="Optimistic Text"/>
              </a:rPr>
              <a:t>Thank you</a:t>
            </a:r>
            <a:endParaRPr sz="1200">
              <a:solidFill>
                <a:srgbClr val="87B7FF"/>
              </a:solidFill>
              <a:latin typeface="Optimistic Text"/>
              <a:ea typeface="Optimistic Text"/>
              <a:cs typeface="Optimistic Text"/>
              <a:sym typeface="Optimistic Tex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