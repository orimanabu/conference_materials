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80" r:id="rId2"/>
    <p:sldId id="257" r:id="rId3"/>
    <p:sldId id="277" r:id="rId4"/>
    <p:sldId id="260" r:id="rId5"/>
    <p:sldId id="261" r:id="rId6"/>
    <p:sldId id="263" r:id="rId7"/>
    <p:sldId id="264" r:id="rId8"/>
    <p:sldId id="265" r:id="rId9"/>
    <p:sldId id="266" r:id="rId10"/>
    <p:sldId id="268" r:id="rId11"/>
    <p:sldId id="262" r:id="rId12"/>
    <p:sldId id="271" r:id="rId13"/>
    <p:sldId id="272" r:id="rId14"/>
    <p:sldId id="275" r:id="rId15"/>
    <p:sldId id="274" r:id="rId16"/>
    <p:sldId id="281" r:id="rId17"/>
    <p:sldId id="282" r:id="rId18"/>
    <p:sldId id="258" r:id="rId19"/>
    <p:sldId id="279" r:id="rId20"/>
    <p:sldId id="278" r:id="rId21"/>
    <p:sldId id="283" r:id="rId22"/>
    <p:sldId id="284" r:id="rId23"/>
    <p:sldId id="285" r:id="rId24"/>
    <p:sldId id="286" r:id="rId25"/>
    <p:sldId id="270" r:id="rId26"/>
    <p:sldId id="269" r:id="rId27"/>
    <p:sldId id="273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2CCAC9-4AE1-196E-111B-DEFE522E328B}" v="896" dt="2025-12-05T13:51:27.822"/>
    <p1510:client id="{B9965963-D6A6-3A36-AE07-4E23FFF72AF4}" v="175" dt="2025-12-06T18:58:29.736"/>
    <p1510:client id="{BB36FBC2-F42F-0531-7B9F-7EC33999D343}" v="221" dt="2025-12-05T06:17:26.5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DA7481-E1BF-4771-9F9B-CC74A606CAF2}" type="datetimeFigureOut">
              <a:t>12/8/2025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874B14-0EC8-479B-AE4A-78462D39870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5975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*IOPS(R/W):     Total read/write IOPS, aggregated across all namespaces within the subsystem.</a:t>
            </a:r>
          </a:p>
          <a:p>
            <a:r>
              <a:rPr lang="en-US" dirty="0"/>
              <a:t>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*</a:t>
            </a:r>
            <a:r>
              <a:rPr lang="en-US" dirty="0" err="1"/>
              <a:t>Lat_ms</a:t>
            </a:r>
            <a:r>
              <a:rPr lang="en-US" dirty="0"/>
              <a:t>(R/W):   Maximum read/write I/O latency (in milliseconds) recorded during the last sample interval. If a subsystem contains multiple namespaces, the value shown is the maximum latency observed across all namespaces during the sample interval.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 </a:t>
            </a:r>
            <a:endParaRPr lang="en-US" dirty="0">
              <a:ea typeface="Calibri"/>
              <a:cs typeface="Calibri"/>
            </a:endParaRPr>
          </a:p>
          <a:p>
            <a:r>
              <a:rPr lang="en-US" dirty="0"/>
              <a:t>*</a:t>
            </a:r>
            <a:r>
              <a:rPr lang="en-US" dirty="0" err="1"/>
              <a:t>BW_MiB</a:t>
            </a:r>
            <a:r>
              <a:rPr lang="en-US" dirty="0"/>
              <a:t>/s(R/W): Total read/write I/O bandwidth (in MiB/s) across all namespaces, in the given subsystem during the last sample interval. </a:t>
            </a:r>
            <a:br>
              <a:rPr lang="en-US" dirty="0">
                <a:ea typeface="Calibri"/>
                <a:cs typeface="+mn-lt"/>
              </a:rPr>
            </a:br>
            <a:br>
              <a:rPr lang="en-US" dirty="0">
                <a:cs typeface="+mn-lt"/>
              </a:rPr>
            </a:br>
            <a:r>
              <a:rPr lang="en-US" dirty="0"/>
              <a:t>*Util%:  Maximum utilization percentage, defined as the fraction of time the device was actively processing I/O. For subsystems with multiple namespaces, this value represents the maximum utilization among all namespaces during the sample interval.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874B14-0EC8-479B-AE4A-78462D39870D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7161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D3221F1-6069-B035-4A5F-DFCDD0420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AAE93656-C44F-264C-D1DF-E2BA0BAF77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1FF833C8-189E-2AF8-17CA-0A83659724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68731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Photo" type="tx">
  <p:cSld name="Title &amp; Photo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"/>
          <p:cNvSpPr>
            <a:spLocks noGrp="1"/>
          </p:cNvSpPr>
          <p:nvPr>
            <p:ph type="pic" idx="2"/>
          </p:nvPr>
        </p:nvSpPr>
        <p:spPr>
          <a:xfrm>
            <a:off x="-577850" y="-647700"/>
            <a:ext cx="13373100" cy="8009467"/>
          </a:xfrm>
          <a:prstGeom prst="rect">
            <a:avLst/>
          </a:prstGeom>
          <a:noFill/>
          <a:ln>
            <a:noFill/>
          </a:ln>
        </p:spPr>
      </p:sp>
      <p:sp>
        <p:nvSpPr>
          <p:cNvPr id="11" name="Google Shape;11;p7"/>
          <p:cNvSpPr txBox="1">
            <a:spLocks noGrp="1"/>
          </p:cNvSpPr>
          <p:nvPr>
            <p:ph type="title"/>
          </p:nvPr>
        </p:nvSpPr>
        <p:spPr>
          <a:xfrm>
            <a:off x="603250" y="3562350"/>
            <a:ext cx="10985500" cy="23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600"/>
              <a:buFont typeface="Helvetica Neue"/>
              <a:buNone/>
              <a:defRPr sz="5800"/>
            </a:lvl1pPr>
            <a:lvl2pPr lvl="1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7"/>
          <p:cNvSpPr txBox="1">
            <a:spLocks noGrp="1"/>
          </p:cNvSpPr>
          <p:nvPr>
            <p:ph type="body" idx="1"/>
          </p:nvPr>
        </p:nvSpPr>
        <p:spPr>
          <a:xfrm>
            <a:off x="603845" y="553069"/>
            <a:ext cx="10984311" cy="318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Helvetica Neue"/>
              <a:buNone/>
              <a:defRPr sz="1800" b="1"/>
            </a:lvl1pPr>
            <a:lvl2pPr marL="457200" lvl="1" indent="-25488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28"/>
              <a:buFont typeface="Helvetica Neue"/>
              <a:buChar char="•"/>
              <a:defRPr sz="1800" b="1"/>
            </a:lvl2pPr>
            <a:lvl3pPr marL="685800" lvl="2" indent="-25488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28"/>
              <a:buFont typeface="Helvetica Neue"/>
              <a:buChar char="•"/>
              <a:defRPr sz="1800" b="1"/>
            </a:lvl3pPr>
            <a:lvl4pPr marL="914400" lvl="3" indent="-25488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28"/>
              <a:buFont typeface="Helvetica Neue"/>
              <a:buChar char="•"/>
              <a:defRPr sz="1800" b="1"/>
            </a:lvl4pPr>
            <a:lvl5pPr marL="1143000" lvl="4" indent="-254889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28"/>
              <a:buFont typeface="Helvetica Neue"/>
              <a:buChar char="•"/>
              <a:defRPr sz="1800" b="1"/>
            </a:lvl5pPr>
            <a:lvl6pPr marL="1371600" lvl="5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600200" lvl="6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828800" lvl="7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2057400" lvl="8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3"/>
          </p:nvPr>
        </p:nvSpPr>
        <p:spPr>
          <a:xfrm>
            <a:off x="603250" y="5804955"/>
            <a:ext cx="10985500" cy="558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normAutofit/>
          </a:bodyPr>
          <a:lstStyle>
            <a:lvl1pPr marL="228600" lvl="0" indent="-1143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0"/>
              <a:buFont typeface="Helvetica Neue"/>
              <a:buNone/>
              <a:defRPr sz="2750" b="1"/>
            </a:lvl1pPr>
            <a:lvl2pPr marL="457200" lvl="1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2pPr>
            <a:lvl3pPr marL="685800" lvl="2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3pPr>
            <a:lvl4pPr marL="914400" lvl="3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4pPr>
            <a:lvl5pPr marL="1143000" lvl="4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5pPr>
            <a:lvl6pPr marL="1371600" lvl="5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6pPr>
            <a:lvl7pPr marL="1600200" lvl="6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7pPr>
            <a:lvl8pPr marL="1828800" lvl="7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8pPr>
            <a:lvl9pPr marL="2057400" lvl="8" indent="-184595" algn="l">
              <a:lnSpc>
                <a:spcPct val="90000"/>
              </a:lnSpc>
              <a:spcBef>
                <a:spcPts val="2250"/>
              </a:spcBef>
              <a:spcAft>
                <a:spcPts val="0"/>
              </a:spcAft>
              <a:buClr>
                <a:srgbClr val="000000"/>
              </a:buClr>
              <a:buSzPts val="2214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sldNum" idx="12"/>
          </p:nvPr>
        </p:nvSpPr>
        <p:spPr>
          <a:xfrm>
            <a:off x="6000750" y="6209709"/>
            <a:ext cx="184253" cy="518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b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>
                <a:solidFill>
                  <a:srgbClr val="000000"/>
                </a:solidFill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>
                <a:solidFill>
                  <a:srgbClr val="000000"/>
                </a:solidFill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>
                <a:solidFill>
                  <a:srgbClr val="000000"/>
                </a:solidFill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>
                <a:solidFill>
                  <a:srgbClr val="000000"/>
                </a:solidFill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>
                <a:solidFill>
                  <a:srgbClr val="000000"/>
                </a:solidFill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>
                <a:solidFill>
                  <a:srgbClr val="000000"/>
                </a:solidFill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>
                <a:solidFill>
                  <a:srgbClr val="000000"/>
                </a:solidFill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>
                <a:solidFill>
                  <a:srgbClr val="000000"/>
                </a:solidFill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Helvetica Neue"/>
              <a:buNone/>
              <a:defRPr sz="900">
                <a:solidFill>
                  <a:srgbClr val="000000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025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" descr="LPC2025_slide_bg3FIXc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" descr="LPC2025_slide_bg3FIXa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2"/>
          <p:cNvSpPr txBox="1">
            <a:spLocks noGrp="1"/>
          </p:cNvSpPr>
          <p:nvPr>
            <p:ph type="title"/>
          </p:nvPr>
        </p:nvSpPr>
        <p:spPr>
          <a:xfrm>
            <a:off x="3544" y="2024744"/>
            <a:ext cx="12184913" cy="15730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b" anchorCtr="0">
            <a:normAutofit/>
          </a:bodyPr>
          <a:lstStyle/>
          <a:p>
            <a:pPr lvl="0" algn="ctr">
              <a:buClr>
                <a:srgbClr val="C11A1A"/>
              </a:buClr>
              <a:buSzPts val="10000"/>
            </a:pPr>
            <a:r>
              <a:rPr lang="en-US" dirty="0">
                <a:ea typeface="+mj-lt"/>
                <a:cs typeface="+mj-lt"/>
              </a:rPr>
              <a:t>Towards Real-time </a:t>
            </a:r>
            <a:r>
              <a:rPr lang="en-US" dirty="0" err="1">
                <a:ea typeface="+mj-lt"/>
                <a:cs typeface="+mj-lt"/>
              </a:rPr>
              <a:t>NVMe</a:t>
            </a:r>
            <a:r>
              <a:rPr lang="en-US" dirty="0">
                <a:ea typeface="+mj-lt"/>
                <a:cs typeface="+mj-lt"/>
              </a:rPr>
              <a:t> monitoring (</a:t>
            </a:r>
            <a:r>
              <a:rPr lang="en-US" dirty="0" err="1">
                <a:ea typeface="+mj-lt"/>
                <a:cs typeface="+mj-lt"/>
              </a:rPr>
              <a:t>nvme</a:t>
            </a:r>
            <a:r>
              <a:rPr lang="en-US" dirty="0">
                <a:ea typeface="+mj-lt"/>
                <a:cs typeface="+mj-lt"/>
              </a:rPr>
              <a:t>-top) for Linux</a:t>
            </a:r>
            <a:endParaRPr dirty="0"/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E9D8B5D-0AE5-A981-ACAD-8626CF7D16CD}"/>
              </a:ext>
            </a:extLst>
          </p:cNvPr>
          <p:cNvSpPr txBox="1">
            <a:spLocks/>
          </p:cNvSpPr>
          <p:nvPr/>
        </p:nvSpPr>
        <p:spPr>
          <a:xfrm>
            <a:off x="2740090" y="3695134"/>
            <a:ext cx="5302898" cy="935232"/>
          </a:xfrm>
          <a:prstGeom prst="rect">
            <a:avLst/>
          </a:prstGeom>
        </p:spPr>
        <p:txBody>
          <a:bodyPr vert="horz" lIns="45720" tIns="22860" rIns="45720" bIns="2286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Tx/>
            </a:pPr>
            <a:r>
              <a:rPr lang="en-US" sz="1800" b="1" dirty="0">
                <a:ea typeface="+mn-lt"/>
                <a:cs typeface="+mn-lt"/>
              </a:rPr>
              <a:t>Speaker:</a:t>
            </a:r>
            <a:r>
              <a:rPr lang="en-US" sz="1800" dirty="0">
                <a:ea typeface="+mn-lt"/>
                <a:cs typeface="+mn-lt"/>
              </a:rPr>
              <a:t> Nilay Shroff, Daniel Wagner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 dirty="0">
                <a:ea typeface="+mn-lt"/>
                <a:cs typeface="+mn-lt"/>
              </a:rPr>
              <a:t> </a:t>
            </a:r>
            <a:r>
              <a:rPr lang="en-US" sz="1800" b="1" dirty="0">
                <a:ea typeface="+mn-lt"/>
                <a:cs typeface="+mn-lt"/>
              </a:rPr>
              <a:t>Event:</a:t>
            </a:r>
            <a:r>
              <a:rPr lang="en-US" sz="1800" dirty="0">
                <a:ea typeface="+mn-lt"/>
                <a:cs typeface="+mn-lt"/>
              </a:rPr>
              <a:t> Linux Plumbers Conference (LPC)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BC57-CC30-42C5-4675-4C287BCE8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E5D7D-3E11-B990-8D1E-EC992BEB2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NVMe</a:t>
            </a:r>
            <a:r>
              <a:rPr lang="en-US" dirty="0"/>
              <a:t> monitoring today: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 err="1">
                <a:latin typeface="Consolas"/>
              </a:rPr>
              <a:t>nvme</a:t>
            </a:r>
            <a:r>
              <a:rPr lang="en-US" dirty="0">
                <a:latin typeface="Consolas"/>
              </a:rPr>
              <a:t>-cli</a:t>
            </a:r>
            <a:r>
              <a:rPr lang="en-US" dirty="0">
                <a:ea typeface="+mn-lt"/>
                <a:cs typeface="+mn-lt"/>
              </a:rPr>
              <a:t> provides </a:t>
            </a:r>
            <a:r>
              <a:rPr lang="en-US" b="1" dirty="0">
                <a:ea typeface="+mn-lt"/>
                <a:cs typeface="+mn-lt"/>
              </a:rPr>
              <a:t>only static snapshots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Operators must manually rerun commands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Debugging multipath or fabrics issues is </a:t>
            </a:r>
            <a:r>
              <a:rPr lang="en-US" b="1" dirty="0">
                <a:ea typeface="+mn-lt"/>
                <a:cs typeface="+mn-lt"/>
              </a:rPr>
              <a:t>slow and reactive</a:t>
            </a:r>
            <a:endParaRPr lang="en-US" dirty="0"/>
          </a:p>
          <a:p>
            <a:r>
              <a:rPr lang="en-US" dirty="0"/>
              <a:t>In </a:t>
            </a:r>
            <a:r>
              <a:rPr lang="en-US" dirty="0" err="1"/>
              <a:t>NVMe-oF</a:t>
            </a:r>
            <a:r>
              <a:rPr lang="en-US" dirty="0"/>
              <a:t> deployments: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Path performance changes dynamically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ANA state can fluctuate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Congestion, latency spikes, or link failures are common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Operators need </a:t>
            </a:r>
            <a:r>
              <a:rPr lang="en-US" b="1" i="1" dirty="0">
                <a:ea typeface="+mn-lt"/>
                <a:cs typeface="+mn-lt"/>
              </a:rPr>
              <a:t>continuous</a:t>
            </a:r>
            <a:r>
              <a:rPr lang="en-US" b="1" dirty="0">
                <a:ea typeface="+mn-lt"/>
                <a:cs typeface="+mn-lt"/>
              </a:rPr>
              <a:t> visibility — not snapshots.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404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2319F-97C5-B64B-0C61-803E32DA7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69"/>
            <a:ext cx="10515600" cy="1325563"/>
          </a:xfrm>
        </p:spPr>
        <p:txBody>
          <a:bodyPr/>
          <a:lstStyle/>
          <a:p>
            <a:r>
              <a:rPr lang="en-US" sz="4200" err="1">
                <a:latin typeface="Dosis Medium"/>
                <a:ea typeface="+mj-lt"/>
                <a:cs typeface="+mj-lt"/>
              </a:rPr>
              <a:t>nvme</a:t>
            </a:r>
            <a:r>
              <a:rPr lang="en-US" sz="4200" dirty="0">
                <a:latin typeface="Dosis Medium"/>
                <a:ea typeface="+mj-lt"/>
                <a:cs typeface="+mj-lt"/>
              </a:rPr>
              <a:t>-top UI Design</a:t>
            </a:r>
            <a:r>
              <a:rPr lang="en-US" sz="4000" dirty="0">
                <a:ea typeface="+mj-lt"/>
                <a:cs typeface="+mj-lt"/>
              </a:rPr>
              <a:t> </a:t>
            </a:r>
            <a:endParaRPr lang="en-US" sz="4200" dirty="0">
              <a:latin typeface="Dosis Medium"/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03A16-A2BC-C03A-4A4C-B0EA3C735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7037"/>
            <a:ext cx="10515600" cy="4883694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None/>
            </a:pPr>
            <a:r>
              <a:rPr lang="en-US" dirty="0">
                <a:ea typeface="+mn-lt"/>
                <a:cs typeface="+mn-lt"/>
              </a:rPr>
              <a:t>Two-level dashboard design:</a:t>
            </a:r>
            <a:endParaRPr lang="en-US" dirty="0"/>
          </a:p>
          <a:p>
            <a:r>
              <a:rPr lang="en-US" dirty="0"/>
              <a:t>Level 1 — </a:t>
            </a:r>
            <a:r>
              <a:rPr lang="en-US" b="1" dirty="0"/>
              <a:t>Subsystem Summary</a:t>
            </a:r>
            <a:endParaRPr lang="en-US" dirty="0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Namespaces, controllers, paths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err="1">
                <a:ea typeface="+mn-lt"/>
                <a:cs typeface="+mn-lt"/>
              </a:rPr>
              <a:t>IOPolicy</a:t>
            </a:r>
            <a:r>
              <a:rPr lang="en-US" dirty="0">
                <a:ea typeface="+mn-lt"/>
                <a:cs typeface="+mn-lt"/>
              </a:rPr>
              <a:t> (</a:t>
            </a:r>
            <a:r>
              <a:rPr lang="en-US" err="1">
                <a:ea typeface="+mn-lt"/>
                <a:cs typeface="+mn-lt"/>
              </a:rPr>
              <a:t>numa</a:t>
            </a:r>
            <a:r>
              <a:rPr lang="en-US" dirty="0">
                <a:ea typeface="+mn-lt"/>
                <a:cs typeface="+mn-lt"/>
              </a:rPr>
              <a:t>, queue-depth, </a:t>
            </a:r>
            <a:r>
              <a:rPr lang="en-US" err="1">
                <a:ea typeface="+mn-lt"/>
                <a:cs typeface="+mn-lt"/>
              </a:rPr>
              <a:t>rr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Aggregate IOPS, BW, latency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Utilization</a:t>
            </a:r>
            <a:endParaRPr lang="en-US" dirty="0"/>
          </a:p>
          <a:p>
            <a:pPr lvl="1">
              <a:buFont typeface="Courier New"/>
              <a:buChar char="o"/>
            </a:pPr>
            <a:endParaRPr lang="en-US"/>
          </a:p>
          <a:p>
            <a:r>
              <a:rPr lang="en-US" dirty="0"/>
              <a:t>Level 2 — </a:t>
            </a:r>
            <a:r>
              <a:rPr lang="en-US" b="1" dirty="0"/>
              <a:t>Drill-Down Detail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Namespace-level stats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Path performance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Path health (ANA, retries, failovers etc.)</a:t>
            </a:r>
            <a:endParaRPr lang="en-US" dirty="0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Controller summary </a:t>
            </a:r>
          </a:p>
          <a:p>
            <a:pPr indent="0">
              <a:buNone/>
            </a:pPr>
            <a:r>
              <a:rPr lang="en-US" dirty="0">
                <a:ea typeface="+mn-lt"/>
                <a:cs typeface="+mn-lt"/>
              </a:rPr>
              <a:t>All updated in real time.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>
              <a:buNone/>
            </a:pPr>
            <a:endParaRPr lang="en-US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980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CD47C-5B36-0E1E-9154-76F9790CC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0"/>
            <a:ext cx="10515600" cy="636815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Level 1: Subsystem Summary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CE8B5F-2CC2-975B-DA26-72F84CEE3B97}"/>
              </a:ext>
            </a:extLst>
          </p:cNvPr>
          <p:cNvSpPr txBox="1"/>
          <p:nvPr/>
        </p:nvSpPr>
        <p:spPr>
          <a:xfrm>
            <a:off x="842569" y="3946030"/>
            <a:ext cx="8209120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ea typeface="+mn-lt"/>
                <a:cs typeface="+mn-lt"/>
              </a:rPr>
              <a:t>Displayed Metrics:</a:t>
            </a:r>
            <a:endParaRPr lang="en-US" sz="1600" dirty="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Namespaces: Num of namespaces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Paths                : Num of paths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Controllers    : Num of controllers</a:t>
            </a:r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I/O Policy        : </a:t>
            </a:r>
            <a:r>
              <a:rPr lang="en-US" sz="1600" dirty="0" err="1">
                <a:ea typeface="+mn-lt"/>
                <a:cs typeface="+mn-lt"/>
              </a:rPr>
              <a:t>numa</a:t>
            </a:r>
            <a:r>
              <a:rPr lang="en-US" sz="1600" dirty="0">
                <a:ea typeface="+mn-lt"/>
                <a:cs typeface="+mn-lt"/>
              </a:rPr>
              <a:t>, round-robin, queue-depth 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IOPS                  : Total IOPS aggregated across all ns per subsystem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Latency            :  Max latency observed across all ns during the sample  interval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Bandwidth      :  Total </a:t>
            </a:r>
            <a:r>
              <a:rPr lang="en-US" sz="1600" dirty="0" err="1">
                <a:ea typeface="+mn-lt"/>
                <a:cs typeface="+mn-lt"/>
              </a:rPr>
              <a:t>bw</a:t>
            </a:r>
            <a:r>
              <a:rPr lang="en-US" sz="1600" dirty="0">
                <a:ea typeface="+mn-lt"/>
                <a:cs typeface="+mn-lt"/>
              </a:rPr>
              <a:t> aggregated across all ns per subsystem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dirty="0">
                <a:ea typeface="+mn-lt"/>
                <a:cs typeface="+mn-lt"/>
              </a:rPr>
              <a:t> Utilization%    :  Max utilization among all ns during the sample interval.</a:t>
            </a:r>
            <a:endParaRPr lang="en-US" sz="1600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C115B6-9745-743C-1E0D-A4701E9923E8}"/>
              </a:ext>
            </a:extLst>
          </p:cNvPr>
          <p:cNvSpPr txBox="1"/>
          <p:nvPr/>
        </p:nvSpPr>
        <p:spPr>
          <a:xfrm>
            <a:off x="9044616" y="3950485"/>
            <a:ext cx="295601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User Interaction:</a:t>
            </a:r>
            <a:endParaRPr lang="en-US" dirty="0"/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Up/down arrow key to navigate</a:t>
            </a:r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Enter to expand</a:t>
            </a: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q to quit</a:t>
            </a:r>
            <a:endParaRPr lang="en-US"/>
          </a:p>
          <a:p>
            <a:pPr algn="l"/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F5EC287-45D9-5960-09E1-1AFB423352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820126"/>
            <a:ext cx="10515600" cy="295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368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392F3-590D-A2A7-BA99-F2CD5390A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8631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Level 2: Drill-Down (Header)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CAB704-C728-C74D-D424-A8AA792D7C4C}"/>
              </a:ext>
            </a:extLst>
          </p:cNvPr>
          <p:cNvSpPr txBox="1"/>
          <p:nvPr/>
        </p:nvSpPr>
        <p:spPr>
          <a:xfrm>
            <a:off x="866004" y="3990961"/>
            <a:ext cx="1046520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Displayed Metrics: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Refresh  : Interval in seconds, user wants to refresh the stat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/>
              <a:t>NQN        : </a:t>
            </a:r>
            <a:r>
              <a:rPr lang="en-US" dirty="0">
                <a:ea typeface="+mn-lt"/>
                <a:cs typeface="+mn-lt"/>
              </a:rPr>
              <a:t>NVM Subsystem </a:t>
            </a:r>
            <a:r>
              <a:rPr lang="en-US" dirty="0" err="1">
                <a:ea typeface="+mn-lt"/>
                <a:cs typeface="+mn-lt"/>
              </a:rPr>
              <a:t>NVMe</a:t>
            </a:r>
            <a:r>
              <a:rPr lang="en-US" dirty="0">
                <a:ea typeface="+mn-lt"/>
                <a:cs typeface="+mn-lt"/>
              </a:rPr>
              <a:t> Qualified Name</a:t>
            </a:r>
            <a:r>
              <a:rPr lang="en-US" dirty="0"/>
              <a:t> 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 err="1"/>
              <a:t>hostnqn</a:t>
            </a:r>
            <a:r>
              <a:rPr lang="en-US" dirty="0"/>
              <a:t> : Host </a:t>
            </a:r>
            <a:r>
              <a:rPr lang="en-US" dirty="0">
                <a:ea typeface="+mn-lt"/>
                <a:cs typeface="+mn-lt"/>
              </a:rPr>
              <a:t>NVM Subsystem </a:t>
            </a:r>
            <a:r>
              <a:rPr lang="en-US" dirty="0" err="1">
                <a:ea typeface="+mn-lt"/>
                <a:cs typeface="+mn-lt"/>
              </a:rPr>
              <a:t>NVMe</a:t>
            </a:r>
            <a:r>
              <a:rPr lang="en-US" dirty="0">
                <a:ea typeface="+mn-lt"/>
                <a:cs typeface="+mn-lt"/>
              </a:rPr>
              <a:t> Qualified Name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dirty="0" err="1"/>
              <a:t>iopolicy</a:t>
            </a:r>
            <a:r>
              <a:rPr lang="en-US" dirty="0"/>
              <a:t>  : </a:t>
            </a:r>
            <a:r>
              <a:rPr lang="en-US" dirty="0" err="1"/>
              <a:t>numa</a:t>
            </a:r>
            <a:r>
              <a:rPr lang="en-US" dirty="0"/>
              <a:t>, round-robin, queue-depth</a:t>
            </a:r>
          </a:p>
          <a:p>
            <a:pPr marL="285750" indent="-285750">
              <a:buFont typeface="Arial"/>
              <a:buChar char="•"/>
            </a:pPr>
            <a:endParaRPr lang="en-US" dirty="0"/>
          </a:p>
          <a:p>
            <a:br>
              <a:rPr lang="en-US" b="1" dirty="0"/>
            </a:br>
            <a:endParaRPr lang="en-US" b="1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B622F58-7871-E4AC-01A6-D47C1F9A19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857" y="1345103"/>
            <a:ext cx="10112828" cy="246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874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BFD4E-6F54-A1E1-6417-FEBB80B75B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419" y="-2170"/>
            <a:ext cx="10505162" cy="862222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Level 2: Drill-Down: </a:t>
            </a:r>
            <a:r>
              <a:rPr lang="en-US" dirty="0" err="1">
                <a:ea typeface="+mj-lt"/>
                <a:cs typeface="+mj-lt"/>
              </a:rPr>
              <a:t>NSHead</a:t>
            </a:r>
            <a:r>
              <a:rPr lang="en-US" dirty="0">
                <a:ea typeface="+mj-lt"/>
                <a:cs typeface="+mj-lt"/>
              </a:rPr>
              <a:t> Statistics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1757F94-C447-E0BA-CE3F-F7C28B807C9D}"/>
              </a:ext>
            </a:extLst>
          </p:cNvPr>
          <p:cNvSpPr txBox="1"/>
          <p:nvPr/>
        </p:nvSpPr>
        <p:spPr>
          <a:xfrm>
            <a:off x="845633" y="3425188"/>
            <a:ext cx="10310176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Displayed Metrics:</a:t>
            </a:r>
            <a:r>
              <a:rPr lang="en-US" sz="1400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br>
              <a:rPr lang="en-US" sz="1400" dirty="0">
                <a:latin typeface="Aptos"/>
                <a:ea typeface="Segoe UI"/>
                <a:cs typeface="Segoe UI"/>
              </a:rPr>
            </a:br>
            <a:endParaRPr lang="en-US" sz="1400" b="0" i="0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NSHead</a:t>
            </a:r>
            <a:r>
              <a:rPr lang="en-US" sz="1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        : Namespace head </a:t>
            </a:r>
            <a:endParaRPr lang="en-US" sz="1400" b="0" i="0">
              <a:latin typeface="Aptos"/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NSID</a:t>
            </a:r>
            <a:r>
              <a:rPr lang="en-US" sz="1400" b="0" i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​</a:t>
            </a: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               : Namespace ID</a:t>
            </a:r>
            <a:endParaRPr lang="en-US" sz="1400" b="0" i="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Paths               : 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Num of I/O paths associated with this namespace head</a:t>
            </a:r>
            <a:endParaRPr lang="en-US" sz="1400" dirty="0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Requeue-IO : Num of I/</a:t>
            </a:r>
            <a:r>
              <a:rPr lang="en-US" sz="1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re-queued due to none of the available paths could process I/O currently (maybe due to transient error)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Fail-IO             : Num of I/</a:t>
            </a:r>
            <a:r>
              <a:rPr lang="en-US" sz="1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Os</a:t>
            </a: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forced to fail due to no available paths  </a:t>
            </a:r>
          </a:p>
          <a:p>
            <a:pPr marL="285750" indent="-285750">
              <a:buFont typeface="Arial"/>
              <a:buChar char="•"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IOPS </a:t>
            </a: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               : 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Total read/write IOPS aggregated across all paths under this namespace head.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Latency           : 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Avg. read/write latency across all paths for this NSHead during the last sampling interval.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Bandwidth   </a:t>
            </a:r>
            <a:r>
              <a:rPr lang="en-US" sz="1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: 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Total read/write bandwidth (in MiB/s) aggregated across all paths.</a:t>
            </a: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 </a:t>
            </a:r>
            <a:endParaRPr lang="en-US" sz="1400"/>
          </a:p>
          <a:p>
            <a:pPr marL="285750" indent="-285750">
              <a:buFont typeface="Arial"/>
              <a:buChar char="•"/>
            </a:pPr>
            <a:r>
              <a:rPr lang="en-US" sz="1400" dirty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Inflights</a:t>
            </a: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          : 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Total number of in-flight I/</a:t>
            </a:r>
            <a:r>
              <a:rPr lang="en-US" sz="1400" dirty="0" err="1">
                <a:solidFill>
                  <a:srgbClr val="000000"/>
                </a:solidFill>
                <a:ea typeface="+mn-lt"/>
                <a:cs typeface="+mn-lt"/>
              </a:rPr>
              <a:t>Os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 aggregated across all paths.</a:t>
            </a:r>
          </a:p>
          <a:p>
            <a:pPr marL="285750" indent="-285750">
              <a:buFont typeface="Arial"/>
              <a:buChar char="•"/>
            </a:pPr>
            <a:r>
              <a:rPr lang="en-US" sz="1400" b="0" i="0" u="none" strike="noStrike" baseline="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Utilization%</a:t>
            </a:r>
            <a:r>
              <a:rPr lang="en-US" sz="1400" dirty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 : 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Avg. device utilization across all paths associated with this </a:t>
            </a:r>
            <a:r>
              <a:rPr lang="en-US" sz="1400" err="1">
                <a:solidFill>
                  <a:srgbClr val="000000"/>
                </a:solidFill>
                <a:ea typeface="+mn-lt"/>
                <a:cs typeface="+mn-lt"/>
              </a:rPr>
              <a:t>NSHead</a:t>
            </a:r>
            <a:r>
              <a:rPr lang="en-US" sz="1400" dirty="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sz="1400" dirty="0"/>
          </a:p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452D6C1-7E14-E2A9-B90A-E4D8C568B6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5507" y="992067"/>
            <a:ext cx="9895114" cy="229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9698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B7150-E2FB-4C95-946A-29EE33805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9515" y="-2170"/>
            <a:ext cx="10484285" cy="652704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Level 2: Drill-Down: Path Performance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282BD4-ABC4-4DF2-D560-8FB089DA916D}"/>
              </a:ext>
            </a:extLst>
          </p:cNvPr>
          <p:cNvSpPr txBox="1"/>
          <p:nvPr/>
        </p:nvSpPr>
        <p:spPr>
          <a:xfrm>
            <a:off x="868607" y="3233612"/>
            <a:ext cx="10029485" cy="26780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575"/>
              </a:lnSpc>
            </a:pPr>
            <a:r>
              <a:rPr lang="en-US" sz="1400" b="1" dirty="0"/>
              <a:t>Displayed Metrics:</a:t>
            </a:r>
            <a:r>
              <a:rPr lang="en-US" sz="1400" dirty="0"/>
              <a:t> 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dirty="0" err="1"/>
              <a:t>NSHead</a:t>
            </a:r>
            <a:r>
              <a:rPr lang="en-US" sz="1400" dirty="0"/>
              <a:t>        : </a:t>
            </a:r>
            <a:r>
              <a:rPr lang="en-US" sz="1400" dirty="0">
                <a:ea typeface="+mn-lt"/>
                <a:cs typeface="+mn-lt"/>
              </a:rPr>
              <a:t>Name of the namespace head</a:t>
            </a:r>
            <a:r>
              <a:rPr lang="en-US" sz="1400" dirty="0"/>
              <a:t> 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NSID               : </a:t>
            </a:r>
            <a:r>
              <a:rPr lang="en-US" sz="1400" dirty="0">
                <a:ea typeface="+mn-lt"/>
                <a:cs typeface="+mn-lt"/>
              </a:rPr>
              <a:t>Namespace Identifier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/>
              <a:t>NSPaths</a:t>
            </a:r>
            <a:r>
              <a:rPr lang="en-US" sz="1400" dirty="0"/>
              <a:t>        : </a:t>
            </a:r>
            <a:r>
              <a:rPr lang="en-US" sz="1400" dirty="0">
                <a:ea typeface="+mn-lt"/>
                <a:cs typeface="+mn-lt"/>
              </a:rPr>
              <a:t>Path name. If multiple paths exist, the same </a:t>
            </a:r>
            <a:r>
              <a:rPr lang="en-US" sz="1400" dirty="0" err="1">
                <a:ea typeface="+mn-lt"/>
                <a:cs typeface="+mn-lt"/>
              </a:rPr>
              <a:t>NSHead</a:t>
            </a:r>
            <a:r>
              <a:rPr lang="en-US" sz="1400" dirty="0">
                <a:ea typeface="+mn-lt"/>
                <a:cs typeface="+mn-lt"/>
              </a:rPr>
              <a:t> appears multiple times (it is represented with --&gt; symbol).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Nodes            : </a:t>
            </a:r>
            <a:r>
              <a:rPr lang="en-US" sz="1400" dirty="0">
                <a:ea typeface="+mn-lt"/>
                <a:cs typeface="+mn-lt"/>
              </a:rPr>
              <a:t>I/O originating from the list of NUMA nodes selects this path. (Displayed only when the I/O policy is </a:t>
            </a:r>
            <a:r>
              <a:rPr lang="en-US" sz="1400" dirty="0" err="1">
                <a:ea typeface="+mn-lt"/>
                <a:cs typeface="+mn-lt"/>
              </a:rPr>
              <a:t>numa</a:t>
            </a:r>
            <a:r>
              <a:rPr lang="en-US" sz="1400" dirty="0">
                <a:ea typeface="+mn-lt"/>
                <a:cs typeface="+mn-lt"/>
              </a:rPr>
              <a:t>)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Ctrl                  : </a:t>
            </a:r>
            <a:r>
              <a:rPr lang="en-US" sz="1400" dirty="0">
                <a:ea typeface="+mn-lt"/>
                <a:cs typeface="+mn-lt"/>
              </a:rPr>
              <a:t>Controller name to which this path belongs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IOPS                : </a:t>
            </a:r>
            <a:r>
              <a:rPr lang="en-US" sz="1400" dirty="0">
                <a:ea typeface="+mn-lt"/>
                <a:cs typeface="+mn-lt"/>
              </a:rPr>
              <a:t>Read/write IOPS for the specific path.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Latency          : </a:t>
            </a:r>
            <a:r>
              <a:rPr lang="en-US" sz="1400" dirty="0">
                <a:ea typeface="+mn-lt"/>
                <a:cs typeface="+mn-lt"/>
              </a:rPr>
              <a:t>Read/write Avg. I/O latency (in milliseconds) for this path during the last sample.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Bandwidth    : </a:t>
            </a:r>
            <a:r>
              <a:rPr lang="en-US" sz="1400" dirty="0">
                <a:ea typeface="+mn-lt"/>
                <a:cs typeface="+mn-lt"/>
              </a:rPr>
              <a:t>Read/Write I/O bandwidth (in MiB/s) for this path.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/>
              <a:t>Inflights</a:t>
            </a:r>
            <a:r>
              <a:rPr lang="en-US" sz="1400" dirty="0"/>
              <a:t>          : </a:t>
            </a:r>
            <a:r>
              <a:rPr lang="en-US" sz="1400" dirty="0">
                <a:ea typeface="+mn-lt"/>
                <a:cs typeface="+mn-lt"/>
              </a:rPr>
              <a:t>Current number of in-flight I/</a:t>
            </a:r>
            <a:r>
              <a:rPr lang="en-US" sz="1400" dirty="0" err="1">
                <a:ea typeface="+mn-lt"/>
                <a:cs typeface="+mn-lt"/>
              </a:rPr>
              <a:t>Os</a:t>
            </a:r>
            <a:r>
              <a:rPr lang="en-US" sz="1400" dirty="0">
                <a:ea typeface="+mn-lt"/>
                <a:cs typeface="+mn-lt"/>
              </a:rPr>
              <a:t> on this path.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Utilization% : </a:t>
            </a:r>
            <a:r>
              <a:rPr lang="en-US" sz="1400" dirty="0">
                <a:ea typeface="+mn-lt"/>
                <a:cs typeface="+mn-lt"/>
              </a:rPr>
              <a:t>Percent utilization of the specific path (fraction of time the controller was busy servicing I/O on this path).</a:t>
            </a:r>
            <a:r>
              <a:rPr lang="en-US" sz="1400" dirty="0"/>
              <a:t> 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5EF00DC-5BCD-9E39-3B2C-B8789AA9E0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0857" y="810844"/>
            <a:ext cx="10025742" cy="242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728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59C43-A2F0-0BE0-04C8-EFD6CCB2F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0665"/>
            <a:ext cx="10515600" cy="1035017"/>
          </a:xfrm>
        </p:spPr>
        <p:txBody>
          <a:bodyPr>
            <a:normAutofit/>
          </a:bodyPr>
          <a:lstStyle/>
          <a:p>
            <a:r>
              <a:rPr lang="en-US" sz="4000" dirty="0"/>
              <a:t>Level 2: </a:t>
            </a:r>
            <a:r>
              <a:rPr lang="en-US" sz="4000" dirty="0">
                <a:ea typeface="+mj-lt"/>
                <a:cs typeface="+mj-lt"/>
              </a:rPr>
              <a:t>Drill-Down: Path Health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F8A806-3656-DD71-D6E0-5A458E19670D}"/>
              </a:ext>
            </a:extLst>
          </p:cNvPr>
          <p:cNvSpPr txBox="1"/>
          <p:nvPr/>
        </p:nvSpPr>
        <p:spPr>
          <a:xfrm>
            <a:off x="839496" y="4247461"/>
            <a:ext cx="11341538" cy="20928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 dirty="0"/>
              <a:t>Displayed Metrics:</a:t>
            </a:r>
          </a:p>
          <a:p>
            <a:endParaRPr lang="en-US" sz="1400" b="1" dirty="0"/>
          </a:p>
          <a:p>
            <a:pPr marL="285750" indent="-285750">
              <a:buFont typeface="Arial,Sans-Serif"/>
              <a:buChar char="•"/>
            </a:pPr>
            <a:r>
              <a:rPr lang="en-US" sz="1400" err="1"/>
              <a:t>NSPath</a:t>
            </a:r>
            <a:r>
              <a:rPr lang="en-US" sz="1400" dirty="0"/>
              <a:t>     : Path name</a:t>
            </a:r>
          </a:p>
          <a:p>
            <a:pPr marL="285750" indent="-285750">
              <a:buFont typeface="Arial"/>
              <a:buChar char="•"/>
            </a:pPr>
            <a:r>
              <a:rPr lang="en-US" sz="1400" err="1"/>
              <a:t>ANAState</a:t>
            </a:r>
            <a:r>
              <a:rPr lang="en-US" sz="1400" dirty="0"/>
              <a:t> : ANA state value of the path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Retries      : </a:t>
            </a:r>
            <a:r>
              <a:rPr lang="en-US" sz="1400" dirty="0">
                <a:ea typeface="+mn-lt"/>
                <a:cs typeface="+mn-lt"/>
              </a:rPr>
              <a:t>Number of I/O retries observed on this path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Errors        : Number of I/O errors reported on this path</a:t>
            </a: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Failovers  : </a:t>
            </a:r>
            <a:r>
              <a:rPr lang="en-US" sz="1400" dirty="0">
                <a:ea typeface="+mn-lt"/>
                <a:cs typeface="+mn-lt"/>
              </a:rPr>
              <a:t>Number of times I/O switched from this path to another path (meaningful only when a ns is reachable from multiple paths)</a:t>
            </a:r>
            <a:endParaRPr lang="en-US" sz="1400" dirty="0"/>
          </a:p>
          <a:p>
            <a:pPr marL="285750" indent="-285750">
              <a:buFont typeface="Arial,Sans-Serif"/>
              <a:buChar char="•"/>
            </a:pPr>
            <a:endParaRPr lang="en-US" sz="1400" dirty="0"/>
          </a:p>
          <a:p>
            <a:endParaRPr lang="en-US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D5BB8A-827C-390D-A4B5-34EFC97A41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295" y="1246705"/>
            <a:ext cx="7920716" cy="267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747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9BEA9-0DA2-1643-4A77-AED380D5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2"/>
            <a:ext cx="10515600" cy="1064605"/>
          </a:xfrm>
        </p:spPr>
        <p:txBody>
          <a:bodyPr>
            <a:normAutofit/>
          </a:bodyPr>
          <a:lstStyle/>
          <a:p>
            <a:r>
              <a:rPr lang="en-US" sz="4000" dirty="0">
                <a:ea typeface="+mj-lt"/>
                <a:cs typeface="+mj-lt"/>
              </a:rPr>
              <a:t>Level 2: Drill-Down: Controller Summary</a:t>
            </a:r>
            <a:endParaRPr lang="en-US" sz="4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4DD8CD-BC5B-3413-6DF2-9B0656A2F4F9}"/>
              </a:ext>
            </a:extLst>
          </p:cNvPr>
          <p:cNvSpPr txBox="1"/>
          <p:nvPr/>
        </p:nvSpPr>
        <p:spPr>
          <a:xfrm>
            <a:off x="842534" y="3424594"/>
            <a:ext cx="11342401" cy="26571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1575"/>
              </a:lnSpc>
            </a:pPr>
            <a:r>
              <a:rPr lang="en-US" sz="1400" b="1" dirty="0"/>
              <a:t>Displayed Metrics:</a:t>
            </a:r>
            <a:r>
              <a:rPr lang="en-US" sz="1400" dirty="0"/>
              <a:t> </a:t>
            </a:r>
            <a:br>
              <a:rPr lang="en-US" sz="1400" dirty="0"/>
            </a:b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Ctrl                  : </a:t>
            </a:r>
            <a:r>
              <a:rPr lang="en-US" sz="1400" dirty="0">
                <a:ea typeface="+mn-lt"/>
                <a:cs typeface="+mn-lt"/>
              </a:rPr>
              <a:t>Controller name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Paths              : </a:t>
            </a:r>
            <a:r>
              <a:rPr lang="en-US" sz="1400" dirty="0">
                <a:ea typeface="+mn-lt"/>
                <a:cs typeface="+mn-lt"/>
              </a:rPr>
              <a:t>Number of I/O paths associated with the controller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Node              : </a:t>
            </a:r>
            <a:r>
              <a:rPr lang="en-US" sz="1400" dirty="0">
                <a:ea typeface="+mn-lt"/>
                <a:cs typeface="+mn-lt"/>
              </a:rPr>
              <a:t>NUMA node local to the controller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 err="1"/>
              <a:t>Trtype</a:t>
            </a:r>
            <a:r>
              <a:rPr lang="en-US" sz="1400" dirty="0"/>
              <a:t>             : </a:t>
            </a:r>
            <a:r>
              <a:rPr lang="en-US" sz="1400" dirty="0">
                <a:ea typeface="+mn-lt"/>
                <a:cs typeface="+mn-lt"/>
              </a:rPr>
              <a:t>Transport type (e.g. </a:t>
            </a:r>
            <a:r>
              <a:rPr lang="en-US" sz="1400" dirty="0" err="1">
                <a:ea typeface="+mn-lt"/>
                <a:cs typeface="+mn-lt"/>
              </a:rPr>
              <a:t>pcie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tcp</a:t>
            </a:r>
            <a:r>
              <a:rPr lang="en-US" sz="1400" dirty="0">
                <a:ea typeface="+mn-lt"/>
                <a:cs typeface="+mn-lt"/>
              </a:rPr>
              <a:t>, </a:t>
            </a:r>
            <a:r>
              <a:rPr lang="en-US" sz="1400" dirty="0" err="1">
                <a:ea typeface="+mn-lt"/>
                <a:cs typeface="+mn-lt"/>
              </a:rPr>
              <a:t>rdma</a:t>
            </a:r>
            <a:r>
              <a:rPr lang="en-US" sz="1400" dirty="0">
                <a:ea typeface="+mn-lt"/>
                <a:cs typeface="+mn-lt"/>
              </a:rPr>
              <a:t> etc.)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Address         : </a:t>
            </a:r>
            <a:r>
              <a:rPr lang="en-US" sz="1400" dirty="0">
                <a:ea typeface="+mn-lt"/>
                <a:cs typeface="+mn-lt"/>
              </a:rPr>
              <a:t>Transport address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State               : </a:t>
            </a:r>
            <a:r>
              <a:rPr lang="en-US" sz="1400" dirty="0">
                <a:ea typeface="+mn-lt"/>
                <a:cs typeface="+mn-lt"/>
              </a:rPr>
              <a:t>Controller state (live, reconnecting etc.)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IOPS                : </a:t>
            </a:r>
            <a:r>
              <a:rPr lang="en-US" sz="1400" dirty="0">
                <a:ea typeface="+mn-lt"/>
                <a:cs typeface="+mn-lt"/>
              </a:rPr>
              <a:t>Total read/write IOPS aggregated across all paths associated with the controller.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Latency          : </a:t>
            </a:r>
            <a:r>
              <a:rPr lang="en-US" sz="1400" dirty="0">
                <a:ea typeface="+mn-lt"/>
                <a:cs typeface="+mn-lt"/>
              </a:rPr>
              <a:t>Max read/write I/O latency (in milliseconds) observed across all paths for the controller during the last sample interval</a:t>
            </a:r>
            <a:endParaRPr lang="en-US" sz="1400" dirty="0"/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Bandwidth    : </a:t>
            </a:r>
            <a:r>
              <a:rPr lang="en-US" sz="1400" dirty="0">
                <a:ea typeface="+mn-lt"/>
                <a:cs typeface="+mn-lt"/>
              </a:rPr>
              <a:t>Total read/write bandwidth aggregated across controller paths </a:t>
            </a:r>
          </a:p>
          <a:p>
            <a:pPr marL="285750" indent="-285750">
              <a:buFont typeface="Arial"/>
              <a:buChar char="•"/>
            </a:pPr>
            <a:r>
              <a:rPr lang="en-US" sz="1400" dirty="0"/>
              <a:t>Utilization% : </a:t>
            </a:r>
            <a:r>
              <a:rPr lang="en-US" sz="1400" dirty="0">
                <a:ea typeface="+mn-lt"/>
                <a:cs typeface="+mn-lt"/>
              </a:rPr>
              <a:t>Maximum disk utilization in percentage among the paths under this controller</a:t>
            </a:r>
            <a:endParaRPr lang="en-US" sz="1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2227FD-110A-B265-709D-B19497ECEA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075678"/>
            <a:ext cx="10243457" cy="207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59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FE0D8-46FF-B062-2F7C-B39C9F49B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0894"/>
            <a:ext cx="10238984" cy="596694"/>
          </a:xfrm>
        </p:spPr>
        <p:txBody>
          <a:bodyPr>
            <a:normAutofit fontScale="90000"/>
          </a:bodyPr>
          <a:lstStyle/>
          <a:p>
            <a:r>
              <a:rPr lang="en-US" dirty="0">
                <a:ea typeface="+mj-lt"/>
                <a:cs typeface="+mj-lt"/>
              </a:rPr>
              <a:t>Level 2: Dashboard (multipath) 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154CB4-5C18-C1BD-C8C9-8FFDC3E70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23389" y="726887"/>
            <a:ext cx="8385496" cy="5967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660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6FCE8-2D4A-86C1-EAE4-75FE8C9BD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465" y="1112"/>
            <a:ext cx="10257865" cy="781971"/>
          </a:xfrm>
        </p:spPr>
        <p:txBody>
          <a:bodyPr/>
          <a:lstStyle/>
          <a:p>
            <a:r>
              <a:rPr lang="en-US" sz="4000" dirty="0"/>
              <a:t>Level 2: Dashboard (non-multipath)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9E00C7B-8E23-31FF-BFA2-B168EE660B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7945" y="884828"/>
            <a:ext cx="10265226" cy="5470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41346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EBB6B-C77D-92A4-1C09-312743405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166"/>
            <a:ext cx="10515600" cy="838685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Implementation Details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8EC76-184A-358C-01ED-14062E6671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7132"/>
            <a:ext cx="10515600" cy="4925447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Pure </a:t>
            </a:r>
            <a:r>
              <a:rPr lang="en-US" dirty="0" err="1">
                <a:ea typeface="+mn-lt"/>
                <a:cs typeface="+mn-lt"/>
              </a:rPr>
              <a:t>termios</a:t>
            </a:r>
            <a:r>
              <a:rPr lang="en-US" dirty="0">
                <a:ea typeface="+mn-lt"/>
                <a:cs typeface="+mn-lt"/>
              </a:rPr>
              <a:t>-based UI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No </a:t>
            </a:r>
            <a:r>
              <a:rPr lang="en-US" err="1">
                <a:ea typeface="+mn-lt"/>
                <a:cs typeface="+mn-lt"/>
              </a:rPr>
              <a:t>ncurses</a:t>
            </a:r>
            <a:r>
              <a:rPr lang="en-US" dirty="0">
                <a:ea typeface="+mn-lt"/>
                <a:cs typeface="+mn-lt"/>
              </a:rPr>
              <a:t> dependency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Low overhead</a:t>
            </a:r>
          </a:p>
          <a:p>
            <a:r>
              <a:rPr lang="en-US">
                <a:ea typeface="+mn-lt"/>
                <a:cs typeface="+mn-lt"/>
              </a:rPr>
              <a:t>Why not </a:t>
            </a:r>
            <a:r>
              <a:rPr lang="en-US" err="1">
                <a:ea typeface="+mn-lt"/>
                <a:cs typeface="+mn-lt"/>
              </a:rPr>
              <a:t>ncurses</a:t>
            </a:r>
            <a:r>
              <a:rPr lang="en-US">
                <a:ea typeface="+mn-lt"/>
                <a:cs typeface="+mn-lt"/>
              </a:rPr>
              <a:t>?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100">
                <a:ea typeface="+mn-lt"/>
                <a:cs typeface="+mn-lt"/>
              </a:rPr>
              <a:t>Simpler deployment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100">
                <a:ea typeface="+mn-lt"/>
                <a:cs typeface="+mn-lt"/>
              </a:rPr>
              <a:t>No external libraries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100">
                <a:ea typeface="+mn-lt"/>
                <a:cs typeface="+mn-lt"/>
              </a:rPr>
              <a:t>Faster redraw for small dashboards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2100" dirty="0">
                <a:ea typeface="+mn-lt"/>
                <a:cs typeface="+mn-lt"/>
              </a:rPr>
              <a:t>Easier integration into </a:t>
            </a:r>
            <a:r>
              <a:rPr lang="en-US" sz="2100" dirty="0" err="1">
                <a:ea typeface="+mn-lt"/>
                <a:cs typeface="+mn-lt"/>
              </a:rPr>
              <a:t>nvme</a:t>
            </a:r>
            <a:r>
              <a:rPr lang="en-US" sz="2100" dirty="0">
                <a:ea typeface="+mn-lt"/>
                <a:cs typeface="+mn-lt"/>
              </a:rPr>
              <a:t>-cli</a:t>
            </a:r>
          </a:p>
          <a:p>
            <a:r>
              <a:rPr lang="en-US" dirty="0">
                <a:ea typeface="+mn-lt"/>
                <a:cs typeface="+mn-lt"/>
              </a:rPr>
              <a:t>Uses ANSI escape codes for: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Cursor movement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Screen clearing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Row highlighting</a:t>
            </a:r>
          </a:p>
          <a:p>
            <a:r>
              <a:rPr lang="en-US" dirty="0">
                <a:ea typeface="+mn-lt"/>
                <a:cs typeface="+mn-lt"/>
              </a:rPr>
              <a:t>Efficient delta (time interval) based redraw</a:t>
            </a:r>
          </a:p>
          <a:p>
            <a:r>
              <a:rPr lang="en-US" dirty="0">
                <a:ea typeface="+mn-lt"/>
                <a:cs typeface="+mn-lt"/>
              </a:rPr>
              <a:t>Stats collection via </a:t>
            </a:r>
            <a:r>
              <a:rPr lang="en-US" err="1">
                <a:ea typeface="+mn-lt"/>
                <a:cs typeface="+mn-lt"/>
              </a:rPr>
              <a:t>libnvme</a:t>
            </a:r>
            <a:r>
              <a:rPr lang="en-US" dirty="0">
                <a:ea typeface="+mn-lt"/>
                <a:cs typeface="+mn-lt"/>
              </a:rPr>
              <a:t> / </a:t>
            </a:r>
            <a:r>
              <a:rPr lang="en-US" err="1">
                <a:ea typeface="+mn-lt"/>
                <a:cs typeface="+mn-lt"/>
              </a:rPr>
              <a:t>sysfs</a:t>
            </a:r>
            <a:r>
              <a:rPr lang="en-US" dirty="0">
                <a:ea typeface="+mn-lt"/>
                <a:cs typeface="+mn-lt"/>
              </a:rPr>
              <a:t> / </a:t>
            </a:r>
            <a:r>
              <a:rPr lang="en-US" err="1">
                <a:ea typeface="+mn-lt"/>
                <a:cs typeface="+mn-lt"/>
              </a:rPr>
              <a:t>ioctls</a:t>
            </a:r>
            <a:endParaRPr lang="en-US">
              <a:ea typeface="+mn-lt"/>
              <a:cs typeface="+mn-lt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2592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A0EE9-F014-A8F9-4058-78D8FE592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669"/>
            <a:ext cx="10515600" cy="777118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Call for Feedback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E13598-FCA4-DB89-5C37-034DAA97C5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1060"/>
            <a:ext cx="10515600" cy="607468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500" dirty="0">
                <a:ea typeface="+mn-lt"/>
                <a:cs typeface="+mn-lt"/>
              </a:rPr>
              <a:t>What metrics are missing/redundant ?</a:t>
            </a:r>
          </a:p>
          <a:p>
            <a:r>
              <a:rPr lang="en-US" sz="1500" dirty="0">
                <a:ea typeface="+mn-lt"/>
                <a:cs typeface="+mn-lt"/>
              </a:rPr>
              <a:t>Suggestions for interactive features?</a:t>
            </a:r>
          </a:p>
          <a:p>
            <a:r>
              <a:rPr lang="en-US" sz="1500" dirty="0">
                <a:ea typeface="+mn-lt"/>
                <a:cs typeface="+mn-lt"/>
              </a:rPr>
              <a:t>How should we handle large fabrics (&gt;50 controllers)?</a:t>
            </a:r>
          </a:p>
          <a:p>
            <a:r>
              <a:rPr lang="en-US" sz="1500" dirty="0">
                <a:ea typeface="+mn-lt"/>
                <a:cs typeface="+mn-lt"/>
              </a:rPr>
              <a:t>Update existing </a:t>
            </a:r>
            <a:r>
              <a:rPr lang="en-US" sz="1500" dirty="0" err="1">
                <a:ea typeface="+mn-lt"/>
                <a:cs typeface="+mn-lt"/>
              </a:rPr>
              <a:t>libnvme</a:t>
            </a:r>
            <a:r>
              <a:rPr lang="en-US" sz="1500" dirty="0">
                <a:ea typeface="+mn-lt"/>
                <a:cs typeface="+mn-lt"/>
              </a:rPr>
              <a:t> APIs ?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fetch the latest attribute value (instead of re-using cached value)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introduce new APIs for real-time update?</a:t>
            </a:r>
          </a:p>
          <a:p>
            <a:r>
              <a:rPr lang="en-US" sz="1500" dirty="0">
                <a:ea typeface="+mn-lt"/>
                <a:cs typeface="+mn-lt"/>
              </a:rPr>
              <a:t>Polling vs. Notification-based 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Acceptable overhead?</a:t>
            </a:r>
            <a:endParaRPr lang="en-US" sz="150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Should </a:t>
            </a:r>
            <a:r>
              <a:rPr lang="en-US" sz="1500" dirty="0" err="1">
                <a:ea typeface="+mn-lt"/>
                <a:cs typeface="+mn-lt"/>
              </a:rPr>
              <a:t>nvme</a:t>
            </a:r>
            <a:r>
              <a:rPr lang="en-US" sz="1500" dirty="0">
                <a:ea typeface="+mn-lt"/>
                <a:cs typeface="+mn-lt"/>
              </a:rPr>
              <a:t>-top wait for kernel events (</a:t>
            </a:r>
            <a:r>
              <a:rPr lang="en-US" sz="1500" dirty="0" err="1">
                <a:ea typeface="+mn-lt"/>
                <a:cs typeface="+mn-lt"/>
              </a:rPr>
              <a:t>inotify</a:t>
            </a:r>
            <a:r>
              <a:rPr lang="en-US" sz="1500" dirty="0">
                <a:ea typeface="+mn-lt"/>
                <a:cs typeface="+mn-lt"/>
              </a:rPr>
              <a:t>/</a:t>
            </a:r>
            <a:r>
              <a:rPr lang="en-US" sz="1500" dirty="0" err="1">
                <a:ea typeface="+mn-lt"/>
                <a:cs typeface="+mn-lt"/>
              </a:rPr>
              <a:t>fanotify</a:t>
            </a:r>
            <a:r>
              <a:rPr lang="en-US" sz="1500" dirty="0">
                <a:ea typeface="+mn-lt"/>
                <a:cs typeface="+mn-lt"/>
              </a:rPr>
              <a:t> or </a:t>
            </a:r>
            <a:r>
              <a:rPr lang="en-US" sz="1500" dirty="0" err="1">
                <a:ea typeface="+mn-lt"/>
                <a:cs typeface="+mn-lt"/>
              </a:rPr>
              <a:t>uevents</a:t>
            </a:r>
            <a:r>
              <a:rPr lang="en-US" sz="1500" dirty="0">
                <a:ea typeface="+mn-lt"/>
                <a:cs typeface="+mn-lt"/>
              </a:rPr>
              <a:t>)?</a:t>
            </a:r>
          </a:p>
          <a:p>
            <a:r>
              <a:rPr lang="en-US" sz="1500" dirty="0">
                <a:ea typeface="+mn-lt"/>
                <a:cs typeface="+mn-lt"/>
              </a:rPr>
              <a:t>Keep simple ASCII TUI?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Support curses / </a:t>
            </a:r>
            <a:r>
              <a:rPr lang="en-US" sz="1500" dirty="0" err="1">
                <a:ea typeface="+mn-lt"/>
                <a:cs typeface="+mn-lt"/>
              </a:rPr>
              <a:t>btop</a:t>
            </a:r>
            <a:r>
              <a:rPr lang="en-US" sz="1500" dirty="0">
                <a:ea typeface="+mn-lt"/>
                <a:cs typeface="+mn-lt"/>
              </a:rPr>
              <a:t>-style interface?</a:t>
            </a: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Exporter mode for Prometheus/Grafana?</a:t>
            </a:r>
          </a:p>
          <a:p>
            <a:r>
              <a:rPr lang="en-US" sz="1500" dirty="0" err="1">
                <a:ea typeface="+mn-lt"/>
                <a:cs typeface="+mn-lt"/>
              </a:rPr>
              <a:t>Qdepth</a:t>
            </a:r>
            <a:r>
              <a:rPr lang="en-US" sz="1500" dirty="0">
                <a:ea typeface="+mn-lt"/>
                <a:cs typeface="+mn-lt"/>
              </a:rPr>
              <a:t> is per-controller attribute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Fix kernel to export </a:t>
            </a:r>
            <a:r>
              <a:rPr lang="en-US" sz="1500" dirty="0" err="1">
                <a:ea typeface="+mn-lt"/>
                <a:cs typeface="+mn-lt"/>
              </a:rPr>
              <a:t>qdept</a:t>
            </a:r>
            <a:r>
              <a:rPr lang="en-US" sz="1500" dirty="0">
                <a:ea typeface="+mn-lt"/>
                <a:cs typeface="+mn-lt"/>
              </a:rPr>
              <a:t> through controller </a:t>
            </a:r>
            <a:r>
              <a:rPr lang="en-US" sz="1500" dirty="0" err="1">
                <a:ea typeface="+mn-lt"/>
                <a:cs typeface="+mn-lt"/>
              </a:rPr>
              <a:t>sysfs</a:t>
            </a:r>
            <a:r>
              <a:rPr lang="en-US" sz="1500" dirty="0">
                <a:ea typeface="+mn-lt"/>
                <a:cs typeface="+mn-lt"/>
              </a:rPr>
              <a:t> attribute instead of per-path </a:t>
            </a:r>
            <a:r>
              <a:rPr lang="en-US" sz="1500" dirty="0" err="1">
                <a:ea typeface="+mn-lt"/>
                <a:cs typeface="+mn-lt"/>
              </a:rPr>
              <a:t>sysfs</a:t>
            </a:r>
            <a:r>
              <a:rPr lang="en-US" sz="1500" dirty="0">
                <a:ea typeface="+mn-lt"/>
                <a:cs typeface="+mn-lt"/>
              </a:rPr>
              <a:t> attribute? </a:t>
            </a:r>
            <a:endParaRPr lang="en-US" sz="1500"/>
          </a:p>
          <a:p>
            <a:r>
              <a:rPr lang="en-US" sz="1500" dirty="0">
                <a:ea typeface="+mn-lt"/>
                <a:cs typeface="+mn-lt"/>
              </a:rPr>
              <a:t>Modify kernel to export following error counters?</a:t>
            </a:r>
            <a:endParaRPr lang="en-US" sz="15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Failovers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Errors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Requeue-IOs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1500" dirty="0">
                <a:ea typeface="+mn-lt"/>
                <a:cs typeface="+mn-lt"/>
              </a:rPr>
              <a:t>Fail-IOs</a:t>
            </a:r>
            <a:br>
              <a:rPr lang="en-US" sz="1400" dirty="0">
                <a:ea typeface="+mn-lt"/>
                <a:cs typeface="+mn-lt"/>
              </a:rPr>
            </a:br>
            <a:endParaRPr lang="en-US" sz="14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4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4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4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4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4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400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sz="1400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400" dirty="0">
              <a:ea typeface="+mn-lt"/>
              <a:cs typeface="+mn-lt"/>
            </a:endParaRPr>
          </a:p>
          <a:p>
            <a:endParaRPr lang="en-US" sz="14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32720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741AB-9946-E6C4-A7D6-BCA547CE9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604"/>
            <a:ext cx="10515600" cy="824522"/>
          </a:xfrm>
        </p:spPr>
        <p:txBody>
          <a:bodyPr>
            <a:normAutofit/>
          </a:bodyPr>
          <a:lstStyle/>
          <a:p>
            <a:r>
              <a:rPr lang="en-US" sz="400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6A445-EC05-18CB-5D38-42D75DB0EC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4063"/>
            <a:ext cx="10515600" cy="435133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 err="1">
                <a:ea typeface="+mn-lt"/>
                <a:cs typeface="+mn-lt"/>
              </a:rPr>
              <a:t>nvme</a:t>
            </a:r>
            <a:r>
              <a:rPr lang="en-US" b="1" dirty="0">
                <a:ea typeface="+mn-lt"/>
                <a:cs typeface="+mn-lt"/>
              </a:rPr>
              <a:t>-top aims to:</a:t>
            </a:r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Provide real-time </a:t>
            </a:r>
            <a:r>
              <a:rPr lang="en-US" err="1">
                <a:ea typeface="+mn-lt"/>
                <a:cs typeface="+mn-lt"/>
              </a:rPr>
              <a:t>NVMe</a:t>
            </a:r>
            <a:r>
              <a:rPr lang="en-US" dirty="0">
                <a:ea typeface="+mn-lt"/>
                <a:cs typeface="+mn-lt"/>
              </a:rPr>
              <a:t> visibility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500" dirty="0">
                <a:ea typeface="+mn-lt"/>
                <a:cs typeface="+mn-lt"/>
              </a:rPr>
              <a:t>Multipath-aware dynamic drill-down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Improve debugging of </a:t>
            </a:r>
            <a:r>
              <a:rPr lang="en-US" err="1">
                <a:ea typeface="+mn-lt"/>
                <a:cs typeface="+mn-lt"/>
              </a:rPr>
              <a:t>NVMe-oF</a:t>
            </a:r>
            <a:r>
              <a:rPr lang="en-US" dirty="0">
                <a:ea typeface="+mn-lt"/>
                <a:cs typeface="+mn-lt"/>
              </a:rPr>
              <a:t> multipath</a:t>
            </a:r>
            <a:endParaRPr lang="en-US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Highlight path/controller imbalances</a:t>
            </a:r>
            <a:endParaRPr lang="en-US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Enable fast triage during fabric issues</a:t>
            </a:r>
            <a:endParaRPr lang="en-US"/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Lightweight terminal UI</a:t>
            </a:r>
          </a:p>
          <a:p>
            <a:pPr lvl="1">
              <a:lnSpc>
                <a:spcPct val="100000"/>
              </a:lnSpc>
              <a:buFont typeface="Courier New" panose="020B0604020202020204" pitchFamily="34" charset="0"/>
              <a:buChar char="o"/>
            </a:pPr>
            <a:r>
              <a:rPr lang="en-US" dirty="0">
                <a:ea typeface="+mn-lt"/>
                <a:cs typeface="+mn-lt"/>
              </a:rPr>
              <a:t>A practical debugging tool for </a:t>
            </a:r>
            <a:r>
              <a:rPr lang="en-US" dirty="0" err="1">
                <a:ea typeface="+mn-lt"/>
                <a:cs typeface="+mn-lt"/>
              </a:rPr>
              <a:t>NVMe</a:t>
            </a:r>
            <a:r>
              <a:rPr lang="en-US" dirty="0">
                <a:ea typeface="+mn-lt"/>
                <a:cs typeface="+mn-lt"/>
              </a:rPr>
              <a:t>-MP deployments</a:t>
            </a:r>
          </a:p>
          <a:p>
            <a:endParaRPr lang="en-US" sz="2300" dirty="0">
              <a:ea typeface="+mn-lt"/>
              <a:cs typeface="+mn-lt"/>
            </a:endParaRPr>
          </a:p>
          <a:p>
            <a:r>
              <a:rPr lang="en-US" b="1" dirty="0">
                <a:ea typeface="+mn-lt"/>
                <a:cs typeface="+mn-lt"/>
              </a:rPr>
              <a:t>The goal of this </a:t>
            </a:r>
            <a:r>
              <a:rPr lang="en-US" b="1" dirty="0" err="1">
                <a:ea typeface="+mn-lt"/>
                <a:cs typeface="+mn-lt"/>
              </a:rPr>
              <a:t>BoF</a:t>
            </a:r>
            <a:r>
              <a:rPr lang="en-US" b="1" dirty="0">
                <a:ea typeface="+mn-lt"/>
                <a:cs typeface="+mn-lt"/>
              </a:rPr>
              <a:t> is to shape its future direction together with the community.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7869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DDFE64F5-22C9-38CE-874C-E222560E7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2" descr="LPC2025_slide_bg3FIXa.jpg">
            <a:extLst>
              <a:ext uri="{FF2B5EF4-FFF2-40B4-BE49-F238E27FC236}">
                <a16:creationId xmlns:a16="http://schemas.microsoft.com/office/drawing/2014/main" id="{D680CC3C-5009-491B-430C-BC79F923EF7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F55AA3-EA19-9AC0-98DD-88D8E46FB9C7}"/>
              </a:ext>
            </a:extLst>
          </p:cNvPr>
          <p:cNvSpPr txBox="1"/>
          <p:nvPr/>
        </p:nvSpPr>
        <p:spPr>
          <a:xfrm>
            <a:off x="1628384" y="1842370"/>
            <a:ext cx="8225424" cy="28315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THANK YOU!</a:t>
            </a:r>
            <a:r>
              <a:rPr lang="en-US" sz="4000" b="0" i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​</a:t>
            </a:r>
            <a:br>
              <a:rPr lang="en-US" sz="400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</a:br>
            <a:endParaRPr lang="en-US" sz="4000" b="0" i="0" dirty="0">
              <a:solidFill>
                <a:srgbClr val="000000"/>
              </a:solidFill>
              <a:latin typeface="Aptos"/>
              <a:ea typeface="Segoe UI"/>
              <a:cs typeface="Segoe UI"/>
            </a:endParaRPr>
          </a:p>
          <a:p>
            <a:pPr algn="ctr" rtl="0"/>
            <a:r>
              <a:rPr lang="en-US" sz="4000" b="0" i="0" u="none" strike="noStrike" baseline="0" dirty="0">
                <a:solidFill>
                  <a:srgbClr val="000000"/>
                </a:solidFill>
                <a:latin typeface="Aptos"/>
                <a:ea typeface="Segoe UI"/>
                <a:cs typeface="Segoe UI"/>
              </a:rPr>
              <a:t>Feedback and collaboration are welcome!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947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DF70E5E-1D55-B964-0FB1-E4F925716A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BACKUP</a:t>
            </a: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822AECE1-1E98-732A-8943-1254E1284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4595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CFA8C-FB8A-7F1A-5E45-DA3E2C1B3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Existing Gaps</a:t>
            </a:r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79CB03-6F34-CE46-14A6-6E5F903450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0945109"/>
              </p:ext>
            </p:extLst>
          </p:nvPr>
        </p:nvGraphicFramePr>
        <p:xfrm>
          <a:off x="838200" y="1825625"/>
          <a:ext cx="10515600" cy="3829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391804582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830115867"/>
                    </a:ext>
                  </a:extLst>
                </a:gridCol>
              </a:tblGrid>
              <a:tr h="765996">
                <a:tc>
                  <a:txBody>
                    <a:bodyPr/>
                    <a:lstStyle/>
                    <a:p>
                      <a:r>
                        <a:rPr lang="en-US"/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6527909"/>
                  </a:ext>
                </a:extLst>
              </a:tr>
              <a:tr h="765996">
                <a:tc>
                  <a:txBody>
                    <a:bodyPr/>
                    <a:lstStyle/>
                    <a:p>
                      <a:r>
                        <a:rPr lang="en-US" err="1"/>
                        <a:t>nvme</a:t>
                      </a:r>
                      <a:r>
                        <a:rPr lang="en-US"/>
                        <a:t>-cli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Aptos"/>
                        </a:rPr>
                        <a:t>Static data, not real-time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3200205"/>
                  </a:ext>
                </a:extLst>
              </a:tr>
              <a:tr h="765996">
                <a:tc>
                  <a:txBody>
                    <a:bodyPr/>
                    <a:lstStyle/>
                    <a:p>
                      <a:r>
                        <a:rPr lang="en-US" err="1"/>
                        <a:t>iostat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 </a:t>
                      </a:r>
                      <a:r>
                        <a:rPr lang="en-US" err="1"/>
                        <a:t>NVMe</a:t>
                      </a:r>
                      <a:r>
                        <a:rPr lang="en-US"/>
                        <a:t> multipath/topology aware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330795"/>
                  </a:ext>
                </a:extLst>
              </a:tr>
              <a:tr h="765996">
                <a:tc>
                  <a:txBody>
                    <a:bodyPr/>
                    <a:lstStyle/>
                    <a:p>
                      <a:r>
                        <a:rPr lang="en-US" err="1"/>
                        <a:t>iotop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Not </a:t>
                      </a:r>
                      <a:r>
                        <a:rPr lang="en-US" err="1"/>
                        <a:t>NVMe</a:t>
                      </a:r>
                      <a:r>
                        <a:rPr lang="en-US"/>
                        <a:t> multipath/topology aware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4892513"/>
                  </a:ext>
                </a:extLst>
              </a:tr>
              <a:tr h="765996">
                <a:tc>
                  <a:txBody>
                    <a:bodyPr/>
                    <a:lstStyle/>
                    <a:p>
                      <a:r>
                        <a:rPr lang="en-US"/>
                        <a:t>Perf/</a:t>
                      </a:r>
                      <a:r>
                        <a:rPr lang="en-US" err="1"/>
                        <a:t>eBPF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Low level not user friendly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67096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D9E2222-3172-7179-30F4-572FFE637C76}"/>
              </a:ext>
            </a:extLst>
          </p:cNvPr>
          <p:cNvSpPr txBox="1"/>
          <p:nvPr/>
        </p:nvSpPr>
        <p:spPr>
          <a:xfrm>
            <a:off x="1069731" y="6037384"/>
            <a:ext cx="10228384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ea typeface="+mn-lt"/>
                <a:cs typeface="+mn-lt"/>
              </a:rPr>
              <a:t>Missing:</a:t>
            </a:r>
            <a:r>
              <a:rPr lang="en-US">
                <a:ea typeface="+mn-lt"/>
                <a:cs typeface="+mn-lt"/>
              </a:rPr>
              <a:t> A tool combining </a:t>
            </a:r>
            <a:r>
              <a:rPr lang="en-US" i="1">
                <a:ea typeface="+mn-lt"/>
                <a:cs typeface="+mn-lt"/>
              </a:rPr>
              <a:t>top-style interactivity</a:t>
            </a:r>
            <a:r>
              <a:rPr lang="en-US">
                <a:ea typeface="+mn-lt"/>
                <a:cs typeface="+mn-lt"/>
              </a:rPr>
              <a:t> with </a:t>
            </a:r>
            <a:r>
              <a:rPr lang="en-US" i="1" err="1">
                <a:ea typeface="+mn-lt"/>
                <a:cs typeface="+mn-lt"/>
              </a:rPr>
              <a:t>NVMe</a:t>
            </a:r>
            <a:r>
              <a:rPr lang="en-US" i="1">
                <a:ea typeface="+mn-lt"/>
                <a:cs typeface="+mn-lt"/>
              </a:rPr>
              <a:t>-specific awareness</a:t>
            </a:r>
            <a:r>
              <a:rPr lang="en-US">
                <a:ea typeface="+mn-lt"/>
                <a:cs typeface="+mn-lt"/>
              </a:rPr>
              <a:t>.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3556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4301E-B820-D76E-4E75-FEEC72AB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6796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Why </a:t>
            </a:r>
            <a:r>
              <a:rPr lang="en-US" dirty="0" err="1">
                <a:ea typeface="+mj-lt"/>
                <a:cs typeface="+mj-lt"/>
              </a:rPr>
              <a:t>nvme</a:t>
            </a:r>
            <a:r>
              <a:rPr lang="en-US" dirty="0">
                <a:ea typeface="+mj-lt"/>
                <a:cs typeface="+mj-lt"/>
              </a:rPr>
              <a:t>-cli Alone Is Not Enough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CC1CE2-6EF5-EEE3-14FF-7D0CFD5B3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Today: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err="1">
                <a:ea typeface="+mn-lt"/>
                <a:cs typeface="+mn-lt"/>
              </a:rPr>
              <a:t>nvme</a:t>
            </a:r>
            <a:r>
              <a:rPr lang="en-US" i="1" dirty="0">
                <a:ea typeface="+mn-lt"/>
                <a:cs typeface="+mn-lt"/>
              </a:rPr>
              <a:t> list</a:t>
            </a:r>
            <a:endParaRPr lang="en-US" i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err="1">
                <a:ea typeface="+mn-lt"/>
                <a:cs typeface="+mn-lt"/>
              </a:rPr>
              <a:t>nvme</a:t>
            </a:r>
            <a:r>
              <a:rPr lang="en-US" i="1" dirty="0">
                <a:ea typeface="+mn-lt"/>
                <a:cs typeface="+mn-lt"/>
              </a:rPr>
              <a:t> list-</a:t>
            </a:r>
            <a:r>
              <a:rPr lang="en-US" i="1" err="1">
                <a:ea typeface="+mn-lt"/>
                <a:cs typeface="+mn-lt"/>
              </a:rPr>
              <a:t>subsys</a:t>
            </a:r>
            <a:endParaRPr lang="en-US" i="1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 err="1">
                <a:ea typeface="+mn-lt"/>
                <a:cs typeface="+mn-lt"/>
              </a:rPr>
              <a:t>nvme</a:t>
            </a:r>
            <a:r>
              <a:rPr lang="en-US" i="1" dirty="0">
                <a:ea typeface="+mn-lt"/>
                <a:cs typeface="+mn-lt"/>
              </a:rPr>
              <a:t> get-log</a:t>
            </a:r>
            <a:endParaRPr lang="en-US" i="1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en-US" i="1" dirty="0" err="1">
                <a:ea typeface="+mn-lt"/>
                <a:cs typeface="+mn-lt"/>
              </a:rPr>
              <a:t>nvme</a:t>
            </a:r>
            <a:r>
              <a:rPr lang="en-US" i="1" dirty="0">
                <a:ea typeface="+mn-lt"/>
                <a:cs typeface="+mn-lt"/>
              </a:rPr>
              <a:t> ana-log</a:t>
            </a:r>
          </a:p>
          <a:p>
            <a:pPr>
              <a:buNone/>
            </a:pPr>
            <a:r>
              <a:rPr lang="en-US" dirty="0">
                <a:ea typeface="+mn-lt"/>
                <a:cs typeface="+mn-lt"/>
              </a:rPr>
              <a:t>…but:</a:t>
            </a:r>
            <a:endParaRPr lang="en-US" dirty="0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Each output is </a:t>
            </a:r>
            <a:r>
              <a:rPr lang="en-US" b="1" dirty="0">
                <a:ea typeface="+mn-lt"/>
                <a:cs typeface="+mn-lt"/>
              </a:rPr>
              <a:t>static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Structure is rebuilt from </a:t>
            </a:r>
            <a:r>
              <a:rPr lang="en-US" err="1">
                <a:ea typeface="+mn-lt"/>
                <a:cs typeface="+mn-lt"/>
              </a:rPr>
              <a:t>sysfs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b="1" dirty="0">
                <a:ea typeface="+mn-lt"/>
                <a:cs typeface="+mn-lt"/>
              </a:rPr>
              <a:t>once per invocation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No persistent in-memory state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No incremental updates</a:t>
            </a:r>
            <a:endParaRPr lang="en-US"/>
          </a:p>
          <a:p>
            <a:pPr lvl="1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No live reactions to changing multipath conditions</a:t>
            </a:r>
            <a:br>
              <a:rPr lang="en-US" dirty="0">
                <a:ea typeface="+mn-lt"/>
                <a:cs typeface="+mn-lt"/>
              </a:rPr>
            </a:br>
            <a:endParaRPr lang="en-US" dirty="0"/>
          </a:p>
          <a:p>
            <a:pPr>
              <a:buNone/>
            </a:pPr>
            <a:r>
              <a:rPr lang="en-US" dirty="0"/>
              <a:t>To monitor fabric </a:t>
            </a:r>
            <a:r>
              <a:rPr lang="en-US" err="1"/>
              <a:t>NVMe</a:t>
            </a:r>
            <a:r>
              <a:rPr lang="en-US" dirty="0"/>
              <a:t> reliably:</a:t>
            </a:r>
          </a:p>
          <a:p>
            <a:pPr lvl="1">
              <a:buNone/>
            </a:pPr>
            <a:r>
              <a:rPr lang="en-US" b="1" dirty="0">
                <a:ea typeface="+mn-lt"/>
                <a:cs typeface="+mn-lt"/>
              </a:rPr>
              <a:t>We need </a:t>
            </a:r>
            <a:r>
              <a:rPr lang="en-US" b="1" i="1" dirty="0">
                <a:ea typeface="+mn-lt"/>
                <a:cs typeface="+mn-lt"/>
              </a:rPr>
              <a:t>continuous updates</a:t>
            </a:r>
            <a:r>
              <a:rPr lang="en-US" b="1" dirty="0">
                <a:ea typeface="+mn-lt"/>
                <a:cs typeface="+mn-lt"/>
              </a:rPr>
              <a:t>.</a:t>
            </a:r>
            <a:endParaRPr lang="en-US" b="1" dirty="0"/>
          </a:p>
          <a:p>
            <a:pPr marL="457200" lvl="1" indent="0">
              <a:buNone/>
            </a:pPr>
            <a:endParaRPr lang="en-US" dirty="0"/>
          </a:p>
          <a:p>
            <a:pPr marL="0" indent="0">
              <a:buFont typeface="Courier New" panose="020B0604020202020204" pitchFamily="34" charset="0"/>
              <a:buNone/>
            </a:pPr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024572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C1FFB-6573-2790-3C88-71D4A2CCE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What is </a:t>
            </a:r>
            <a:r>
              <a:rPr lang="en-US" dirty="0" err="1">
                <a:ea typeface="+mj-lt"/>
                <a:cs typeface="+mj-lt"/>
              </a:rPr>
              <a:t>nvme</a:t>
            </a:r>
            <a:r>
              <a:rPr lang="en-US" dirty="0">
                <a:ea typeface="+mj-lt"/>
                <a:cs typeface="+mj-lt"/>
              </a:rPr>
              <a:t>-top?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116D7-AE23-F274-4254-11770EAFC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 proposed tool that provides: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Real-time </a:t>
            </a:r>
            <a:r>
              <a:rPr lang="en-US" dirty="0" err="1">
                <a:ea typeface="+mn-lt"/>
                <a:cs typeface="+mn-lt"/>
              </a:rPr>
              <a:t>NVMe</a:t>
            </a:r>
            <a:r>
              <a:rPr lang="en-US" dirty="0">
                <a:ea typeface="+mn-lt"/>
                <a:cs typeface="+mn-lt"/>
              </a:rPr>
              <a:t> monitoring (e.g., refresh every second or at configured interval)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Continuously updating dashboard, similar to </a:t>
            </a:r>
            <a:r>
              <a:rPr lang="en-US" dirty="0">
                <a:latin typeface="Consolas"/>
              </a:rPr>
              <a:t>top</a:t>
            </a:r>
            <a:r>
              <a:rPr lang="en-US" dirty="0">
                <a:ea typeface="+mn-lt"/>
                <a:cs typeface="+mn-lt"/>
              </a:rPr>
              <a:t> / </a:t>
            </a:r>
            <a:r>
              <a:rPr lang="en-US" dirty="0" err="1">
                <a:latin typeface="Consolas"/>
              </a:rPr>
              <a:t>iotop</a:t>
            </a:r>
            <a:endParaRPr lang="en-US" dirty="0"/>
          </a:p>
          <a:p>
            <a:pPr lvl="1"/>
            <a:r>
              <a:rPr lang="en-US" err="1">
                <a:ea typeface="+mn-lt"/>
                <a:cs typeface="+mn-lt"/>
              </a:rPr>
              <a:t>NVMe</a:t>
            </a:r>
            <a:r>
              <a:rPr lang="en-US" dirty="0">
                <a:ea typeface="+mn-lt"/>
                <a:cs typeface="+mn-lt"/>
              </a:rPr>
              <a:t>-aware views: subsystem, namespace, path, controller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Multipath intelligence: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ANA state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NUMA node affinity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Queue depth (</a:t>
            </a:r>
            <a:r>
              <a:rPr lang="en-US" dirty="0" err="1">
                <a:ea typeface="+mn-lt"/>
                <a:cs typeface="+mn-lt"/>
              </a:rPr>
              <a:t>QDepth</a:t>
            </a:r>
            <a:r>
              <a:rPr lang="en-US" dirty="0">
                <a:ea typeface="+mn-lt"/>
                <a:cs typeface="+mn-lt"/>
              </a:rPr>
              <a:t>)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Per-path latency + bandwidth</a:t>
            </a:r>
            <a:endParaRPr lang="en-US" dirty="0"/>
          </a:p>
          <a:p>
            <a:pPr lvl="1"/>
            <a:endParaRPr lang="en-US" dirty="0">
              <a:ea typeface="+mn-lt"/>
              <a:cs typeface="+mn-lt"/>
            </a:endParaRPr>
          </a:p>
          <a:p>
            <a:r>
              <a:rPr lang="en-US" sz="3200" dirty="0">
                <a:ea typeface="+mn-lt"/>
                <a:cs typeface="+mn-lt"/>
              </a:rPr>
              <a:t>Goal: Improve operational visibility and reduce debugging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9740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9349B-DB13-CDAC-2FF0-4A54747FB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5706"/>
          </a:xfrm>
        </p:spPr>
        <p:txBody>
          <a:bodyPr/>
          <a:lstStyle/>
          <a:p>
            <a:r>
              <a:rPr lang="en-US" dirty="0"/>
              <a:t>Topology multipath (nvme-subsys7)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1CAA66A-C716-6567-122A-F37D3C382A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5027" y="1716769"/>
            <a:ext cx="396806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401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B5CB1-F74D-72FE-1314-532FAFB4F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982"/>
            <a:ext cx="10515600" cy="944563"/>
          </a:xfrm>
        </p:spPr>
        <p:txBody>
          <a:bodyPr/>
          <a:lstStyle/>
          <a:p>
            <a:r>
              <a:rPr lang="en-US" dirty="0"/>
              <a:t>Topology multipath (nvme-subsys0)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87F37E4-88E3-1235-517F-7E54C96E4F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98136" y="1531711"/>
            <a:ext cx="364332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084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0AF52-2AE4-9E32-3BA7-B4D1E4D77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01021"/>
          </a:xfrm>
        </p:spPr>
        <p:txBody>
          <a:bodyPr/>
          <a:lstStyle/>
          <a:p>
            <a:r>
              <a:rPr lang="en-US" dirty="0"/>
              <a:t>Topology multipath (nvme-subsys1)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520C595-EB09-407A-ABA4-925E9C4F8A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541" y="1553482"/>
            <a:ext cx="3379546" cy="4656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607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32EE1-F714-7F5C-1BD9-41DB06A25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4989"/>
            <a:ext cx="10515600" cy="1325563"/>
          </a:xfrm>
        </p:spPr>
        <p:txBody>
          <a:bodyPr/>
          <a:lstStyle/>
          <a:p>
            <a:r>
              <a:rPr lang="en-US" dirty="0"/>
              <a:t>Topology non-multipath (nvme-subsys2)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7075ED1-10E4-1717-395E-591E50D2F8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8908" y="1825625"/>
            <a:ext cx="4074183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6775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BFAAB-881A-FAA5-3BD6-6617549F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2"/>
            <a:ext cx="10515600" cy="728583"/>
          </a:xfrm>
        </p:spPr>
        <p:txBody>
          <a:bodyPr/>
          <a:lstStyle/>
          <a:p>
            <a:r>
              <a:rPr lang="en-US" sz="4000" dirty="0"/>
              <a:t>Level 2: Drill-Down (</a:t>
            </a:r>
            <a:r>
              <a:rPr lang="en-US" sz="4000" dirty="0" err="1"/>
              <a:t>iopolicy</a:t>
            </a:r>
            <a:r>
              <a:rPr lang="en-US" sz="4000" dirty="0"/>
              <a:t>=round-robin)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F990869-6520-5537-DE05-D724CAF1A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98759" y="735580"/>
            <a:ext cx="8811997" cy="5910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6216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251C1-8CDC-F50D-239C-A5FEF94A77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7"/>
            <a:ext cx="10504636" cy="558081"/>
          </a:xfrm>
        </p:spPr>
        <p:txBody>
          <a:bodyPr>
            <a:normAutofit fontScale="90000"/>
          </a:bodyPr>
          <a:lstStyle/>
          <a:p>
            <a:r>
              <a:rPr lang="en-US" dirty="0"/>
              <a:t>Level 2: Drill-Down (</a:t>
            </a:r>
            <a:r>
              <a:rPr lang="en-US" dirty="0" err="1"/>
              <a:t>iopolicy</a:t>
            </a:r>
            <a:r>
              <a:rPr lang="en-US" dirty="0"/>
              <a:t>=</a:t>
            </a:r>
            <a:r>
              <a:rPr lang="en-US" dirty="0" err="1"/>
              <a:t>qdepth</a:t>
            </a:r>
            <a:r>
              <a:rPr lang="en-US" dirty="0"/>
              <a:t>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688A53-43D0-4658-1FE0-841CCF6B4D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0921" y="746600"/>
            <a:ext cx="9412618" cy="609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1144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19BCD-6EAC-7FA2-1BD0-2081D1019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4166"/>
            <a:ext cx="10515600" cy="793207"/>
          </a:xfrm>
        </p:spPr>
        <p:txBody>
          <a:bodyPr/>
          <a:lstStyle/>
          <a:p>
            <a:r>
              <a:rPr lang="en-US" dirty="0">
                <a:ea typeface="+mj-lt"/>
                <a:cs typeface="+mj-lt"/>
              </a:rPr>
              <a:t>Why not </a:t>
            </a:r>
            <a:r>
              <a:rPr lang="en-US" dirty="0" err="1">
                <a:ea typeface="+mj-lt"/>
                <a:cs typeface="+mj-lt"/>
              </a:rPr>
              <a:t>ncurses</a:t>
            </a:r>
            <a:r>
              <a:rPr lang="en-US" dirty="0">
                <a:ea typeface="+mj-lt"/>
                <a:cs typeface="+mj-lt"/>
              </a:rPr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B114D-C905-9812-51AD-D09A955CF3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515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Simpler deployment</a:t>
            </a:r>
          </a:p>
          <a:p>
            <a:r>
              <a:rPr lang="en-US" dirty="0">
                <a:ea typeface="+mn-lt"/>
                <a:cs typeface="+mn-lt"/>
              </a:rPr>
              <a:t>No external libraries</a:t>
            </a:r>
          </a:p>
          <a:p>
            <a:r>
              <a:rPr lang="en-US" dirty="0">
                <a:ea typeface="+mn-lt"/>
                <a:cs typeface="+mn-lt"/>
              </a:rPr>
              <a:t>Faster redraw for small dashboards</a:t>
            </a:r>
          </a:p>
          <a:p>
            <a:r>
              <a:rPr lang="en-US" dirty="0">
                <a:ea typeface="+mn-lt"/>
                <a:cs typeface="+mn-lt"/>
              </a:rPr>
              <a:t>Easier integration into </a:t>
            </a:r>
            <a:r>
              <a:rPr lang="en-US" dirty="0" err="1">
                <a:ea typeface="+mn-lt"/>
                <a:cs typeface="+mn-lt"/>
              </a:rPr>
              <a:t>nvme</a:t>
            </a:r>
            <a:r>
              <a:rPr lang="en-US" dirty="0">
                <a:ea typeface="+mn-lt"/>
                <a:cs typeface="+mn-lt"/>
              </a:rPr>
              <a:t>-cli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1772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1413</Words>
  <Application>Microsoft Office PowerPoint</Application>
  <PresentationFormat>Widescreen</PresentationFormat>
  <Paragraphs>208</Paragraphs>
  <Slides>27</Slides>
  <Notes>4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28" baseType="lpstr">
      <vt:lpstr>office theme</vt:lpstr>
      <vt:lpstr>PowerPoint Presentation</vt:lpstr>
      <vt:lpstr>Towards Real-time NVMe monitoring (nvme-top) for Linux</vt:lpstr>
      <vt:lpstr>Motivation</vt:lpstr>
      <vt:lpstr>nvme-top UI Design </vt:lpstr>
      <vt:lpstr>Level 1: Subsystem Summary</vt:lpstr>
      <vt:lpstr>Level 2: Drill-Down (Header)</vt:lpstr>
      <vt:lpstr>Level 2: Drill-Down: NSHead Statistics</vt:lpstr>
      <vt:lpstr>Level 2: Drill-Down: Path Performance</vt:lpstr>
      <vt:lpstr>Level 2: Drill-Down: Path Health</vt:lpstr>
      <vt:lpstr>Level 2: Drill-Down: Controller Summary</vt:lpstr>
      <vt:lpstr>Level 2: Dashboard (multipath) </vt:lpstr>
      <vt:lpstr>Level 2: Dashboard (non-multipath)</vt:lpstr>
      <vt:lpstr>Implementation Details</vt:lpstr>
      <vt:lpstr>Call for Feedback</vt:lpstr>
      <vt:lpstr>Summary</vt:lpstr>
      <vt:lpstr>PowerPoint Presentation</vt:lpstr>
      <vt:lpstr>BACKUP</vt:lpstr>
      <vt:lpstr>Existing Gaps</vt:lpstr>
      <vt:lpstr>Why nvme-cli Alone Is Not Enough</vt:lpstr>
      <vt:lpstr>What is nvme-top?</vt:lpstr>
      <vt:lpstr>Topology multipath (nvme-subsys7)</vt:lpstr>
      <vt:lpstr>Topology multipath (nvme-subsys0)</vt:lpstr>
      <vt:lpstr>Topology multipath (nvme-subsys1)</vt:lpstr>
      <vt:lpstr>Topology non-multipath (nvme-subsys2)</vt:lpstr>
      <vt:lpstr>Level 2: Drill-Down (iopolicy=round-robin)</vt:lpstr>
      <vt:lpstr>Level 2: Drill-Down (iopolicy=qdepth)</vt:lpstr>
      <vt:lpstr>Why not ncurses?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Nilay Shroff</cp:lastModifiedBy>
  <cp:revision>1272</cp:revision>
  <dcterms:created xsi:type="dcterms:W3CDTF">2025-12-02T16:43:45Z</dcterms:created>
  <dcterms:modified xsi:type="dcterms:W3CDTF">2025-12-08T14:38:49Z</dcterms:modified>
</cp:coreProperties>
</file>