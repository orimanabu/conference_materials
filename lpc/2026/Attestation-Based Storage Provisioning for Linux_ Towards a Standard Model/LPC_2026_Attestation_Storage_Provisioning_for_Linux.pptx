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5A244-C162-4330-A581-7A0C4253FC27}" v="2" dt="2026-09-29T16:06:41.199"/>
    <p1510:client id="{1D692BFB-2C58-4900-9718-4C97263FEFA0}" v="58" dt="2026-09-29T15:59:10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825" autoAdjust="0"/>
  </p:normalViewPr>
  <p:slideViewPr>
    <p:cSldViewPr snapToGrid="0" snapToObjects="1">
      <p:cViewPr varScale="1">
        <p:scale>
          <a:sx n="97" d="100"/>
          <a:sy n="97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41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akumar Raghavan" userId="f96d16f8-2db3-42a6-a4b8-53a0233d351d" providerId="ADAL" clId="{58E9B5D4-B5D9-4233-94A6-B29B9608963D}"/>
    <pc:docChg chg="custSel modSld modMainMaster">
      <pc:chgData name="Nandakumar Raghavan" userId="f96d16f8-2db3-42a6-a4b8-53a0233d351d" providerId="ADAL" clId="{58E9B5D4-B5D9-4233-94A6-B29B9608963D}" dt="2026-09-29T15:59:10.828" v="57" actId="20577"/>
      <pc:docMkLst>
        <pc:docMk/>
      </pc:docMkLst>
      <pc:sldChg chg="modSp mod">
        <pc:chgData name="Nandakumar Raghavan" userId="f96d16f8-2db3-42a6-a4b8-53a0233d351d" providerId="ADAL" clId="{58E9B5D4-B5D9-4233-94A6-B29B9608963D}" dt="2026-09-29T15:59:10.828" v="57" actId="20577"/>
        <pc:sldMkLst>
          <pc:docMk/>
          <pc:sldMk cId="0" sldId="256"/>
        </pc:sldMkLst>
        <pc:spChg chg="mod">
          <ac:chgData name="Nandakumar Raghavan" userId="f96d16f8-2db3-42a6-a4b8-53a0233d351d" providerId="ADAL" clId="{58E9B5D4-B5D9-4233-94A6-B29B9608963D}" dt="2026-09-29T15:59:10.828" v="57" actId="20577"/>
          <ac:spMkLst>
            <pc:docMk/>
            <pc:sldMk cId="0" sldId="256"/>
            <ac:spMk id="10" creationId="{00000000-0000-0000-0000-000000000000}"/>
          </ac:spMkLst>
        </pc:spChg>
      </pc:sldChg>
      <pc:sldMasterChg chg="modSldLayout">
        <pc:chgData name="Nandakumar Raghavan" userId="f96d16f8-2db3-42a6-a4b8-53a0233d351d" providerId="ADAL" clId="{58E9B5D4-B5D9-4233-94A6-B29B9608963D}" dt="2026-09-29T15:47:07.822" v="2" actId="478"/>
        <pc:sldMasterMkLst>
          <pc:docMk/>
          <pc:sldMasterMk cId="0" sldId="2147483648"/>
        </pc:sldMasterMkLst>
        <pc:sldLayoutChg chg="delSp modSp mod">
          <pc:chgData name="Nandakumar Raghavan" userId="f96d16f8-2db3-42a6-a4b8-53a0233d351d" providerId="ADAL" clId="{58E9B5D4-B5D9-4233-94A6-B29B9608963D}" dt="2026-09-29T15:47:07.822" v="2" actId="478"/>
          <pc:sldLayoutMkLst>
            <pc:docMk/>
            <pc:sldMasterMk cId="0" sldId="2147483648"/>
            <pc:sldLayoutMk cId="0" sldId="2147483650"/>
          </pc:sldLayoutMkLst>
          <pc:spChg chg="del mod">
            <ac:chgData name="Nandakumar Raghavan" userId="f96d16f8-2db3-42a6-a4b8-53a0233d351d" providerId="ADAL" clId="{58E9B5D4-B5D9-4233-94A6-B29B9608963D}" dt="2026-09-29T15:46:59.154" v="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del">
            <ac:chgData name="Nandakumar Raghavan" userId="f96d16f8-2db3-42a6-a4b8-53a0233d351d" providerId="ADAL" clId="{58E9B5D4-B5D9-4233-94A6-B29B9608963D}" dt="2026-09-29T15:47:07.822" v="2" actId="478"/>
            <ac:spMkLst>
              <pc:docMk/>
              <pc:sldMasterMk cId="0" sldId="2147483648"/>
              <pc:sldLayoutMk cId="0" sldId="2147483650"/>
              <ac:spMk id="25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B4F70E0-073B-7B2A-DBD8-F985E0E596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6B7CE-D989-E2BE-4B59-83156DD053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2C327F-2F72-4DFD-93ED-7B2B6741358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6030E6-624A-250F-257F-91D6FBF2C39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806B8-ADCD-7B99-B7CC-43CF1A830A2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C3F91-F68E-4F1D-9ED0-31D19C8F6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710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87F77"/>
          </a:solidFill>
          <a:ln w="12700">
            <a:solidFill>
              <a:srgbClr val="087F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2700">
            <a:solidFill>
              <a:srgbClr val="BCD1C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6019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38589"/>
                </a:solidFill>
              </a:rPr>
              <a:t>Linux Plumbers Conference 2026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raghavan@linux.microsof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ystemd/systemd/pull/4208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ystemd/systemd/pull/42089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87F77"/>
          </a:solidFill>
          <a:ln w="1270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87F77"/>
                </a:solidFill>
              </a:rPr>
              <a:t>Attestation-Based Storage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087F77"/>
                </a:solidFill>
              </a:rPr>
              <a:t>Provisioning for Linux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1737360" cy="411480"/>
          </a:xfrm>
          <a:prstGeom prst="rect">
            <a:avLst/>
          </a:prstGeom>
          <a:solidFill>
            <a:srgbClr val="E7F2F0"/>
          </a:solidFill>
          <a:ln>
            <a:solidFill>
              <a:srgbClr val="087F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Provision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07208" y="3337560"/>
            <a:ext cx="1737360" cy="411480"/>
          </a:xfrm>
          <a:prstGeom prst="rect">
            <a:avLst/>
          </a:prstGeom>
          <a:solidFill>
            <a:srgbClr val="E7F2F0"/>
          </a:solidFill>
          <a:ln>
            <a:solidFill>
              <a:srgbClr val="087F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Bind token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64608" y="3337560"/>
            <a:ext cx="1737360" cy="411480"/>
          </a:xfrm>
          <a:prstGeom prst="rect">
            <a:avLst/>
          </a:prstGeom>
          <a:solidFill>
            <a:srgbClr val="E7F2F0"/>
          </a:solidFill>
          <a:ln>
            <a:solidFill>
              <a:srgbClr val="087F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Attest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2008" y="3337560"/>
            <a:ext cx="1737360" cy="411480"/>
          </a:xfrm>
          <a:prstGeom prst="rect">
            <a:avLst/>
          </a:prstGeom>
          <a:solidFill>
            <a:srgbClr val="E7F2F0"/>
          </a:solidFill>
          <a:ln>
            <a:solidFill>
              <a:srgbClr val="087F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Release</a:t>
            </a:r>
            <a:r>
              <a:rPr lang="en-US" sz="1500" b="1" dirty="0">
                <a:solidFill>
                  <a:srgbClr val="17343A"/>
                </a:solidFill>
              </a:rPr>
              <a:t> key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79408" y="3337560"/>
            <a:ext cx="1737360" cy="411480"/>
          </a:xfrm>
          <a:prstGeom prst="rect">
            <a:avLst/>
          </a:prstGeom>
          <a:solidFill>
            <a:srgbClr val="087F77"/>
          </a:solidFill>
          <a:ln>
            <a:solidFill>
              <a:srgbClr val="087F7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Unlock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6968" y="4753620"/>
            <a:ext cx="7315200" cy="185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343A"/>
                </a:solidFill>
              </a:rPr>
              <a:t>Nandakumar</a:t>
            </a:r>
            <a:r>
              <a:rPr lang="en-US" sz="1600" b="1" dirty="0">
                <a:solidFill>
                  <a:srgbClr val="17343A"/>
                </a:solidFill>
              </a:rPr>
              <a:t> </a:t>
            </a:r>
            <a:r>
              <a:rPr lang="en-US" b="1" dirty="0">
                <a:solidFill>
                  <a:srgbClr val="17343A"/>
                </a:solidFill>
              </a:rPr>
              <a:t>Raghavan</a:t>
            </a:r>
            <a:r>
              <a:rPr lang="en-US" sz="1600" b="1" dirty="0">
                <a:solidFill>
                  <a:srgbClr val="17343A"/>
                </a:solidFill>
              </a:rPr>
              <a:t> &lt;</a:t>
            </a:r>
            <a:r>
              <a:rPr lang="en-US" sz="1600" b="1" dirty="0">
                <a:solidFill>
                  <a:srgbClr val="17343A"/>
                </a:solidFill>
                <a:hlinkClick r:id="rId3"/>
              </a:rPr>
              <a:t>naraghavan@linux.microsoft.com</a:t>
            </a:r>
            <a:r>
              <a:rPr lang="en-US" sz="1600" b="1" dirty="0">
                <a:solidFill>
                  <a:srgbClr val="17343A"/>
                </a:solidFill>
              </a:rPr>
              <a:t>&gt;</a:t>
            </a:r>
          </a:p>
          <a:p>
            <a:pPr marL="0" indent="0">
              <a:buNone/>
            </a:pPr>
            <a:endParaRPr lang="en-US" b="1" dirty="0">
              <a:solidFill>
                <a:srgbClr val="17343A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17343A"/>
                </a:solidFill>
              </a:rPr>
              <a:t>Linux Systems Group, Microsoft</a:t>
            </a:r>
          </a:p>
          <a:p>
            <a:pPr marL="0" indent="0">
              <a:buNone/>
            </a:pPr>
            <a:endParaRPr lang="en-US" sz="1600" b="1" dirty="0">
              <a:solidFill>
                <a:srgbClr val="17343A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Linux Plumbers Conference 2026</a:t>
            </a:r>
            <a:endParaRPr lang="en-US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7F77"/>
                </a:solidFill>
              </a:rPr>
              <a:t>Problem: The Mechanism Exists, the Workflow Does Not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6"/>
                </a:solidFill>
              </a:rPr>
              <a:t>Today, three integration areas are assembled with platform-specific glue.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429000" cy="4480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43A"/>
                </a:solidFill>
              </a:rPr>
              <a:t>Provisioning handoff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221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repart creates and encrypts volume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8680" y="3044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3026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Post-step discovers enrolled keyslot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8680" y="3849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8313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cryptsetup imports provider token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8680" y="4654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636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Deployment handles partial completion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89120" y="1325880"/>
            <a:ext cx="3429000" cy="4480560"/>
          </a:xfrm>
          <a:prstGeom prst="roundRect">
            <a:avLst/>
          </a:prstGeom>
          <a:solidFill>
            <a:srgbClr val="EFF6F5"/>
          </a:solidFill>
          <a:ln w="1651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43A"/>
                </a:solidFill>
              </a:rPr>
              <a:t>Early-boot assembly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1772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221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systemd-cryptsetup + libcryptsetup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17720" y="3044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026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Plugin, libraries and evidence support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617720" y="3849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8313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Trust material, network and DNS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617720" y="4654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636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Verifier / KBS communication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8138160" y="1325880"/>
            <a:ext cx="3429000" cy="44805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321040" y="157276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43A"/>
                </a:solidFill>
              </a:rPr>
              <a:t>Failure and recovery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66760" y="22402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0" y="22219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Rejection differs from outage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366760" y="30449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0" y="30266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Missing handler differs from bad metadata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366760" y="384962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0" y="383133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Wrong secret differs from no decision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366760" y="46542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F77"/>
                </a:solidFill>
              </a:rPr>
              <a:t>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686800" y="463600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9454B"/>
                </a:solidFill>
              </a:rPr>
              <a:t>Retry / fail / recovery is deployment-specific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7F77"/>
                </a:solidFill>
              </a:rPr>
              <a:t>The missing piece is the contract across provisioning, boot dependencies, result propagation, and recovery.</a:t>
            </a:r>
            <a:endParaRPr lang="en-US" sz="15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7F77"/>
                </a:solidFill>
              </a:rPr>
              <a:t>Proposal: A Common Linux Storage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6"/>
                </a:solidFill>
              </a:rPr>
              <a:t>Provider-neutral above the plugin boundary; provider-specific below it.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7F77"/>
                </a:solidFill>
              </a:rPr>
              <a:t>PROVISIONING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3154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systemd-repart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19568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454B"/>
                </a:solidFill>
              </a:rPr>
              <a:t>Create encrypted volume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59352" y="1801368"/>
            <a:ext cx="356616" cy="320040"/>
          </a:xfrm>
          <a:prstGeom prst="chevron">
            <a:avLst/>
          </a:prstGeom>
          <a:solidFill>
            <a:srgbClr val="087F77"/>
          </a:solidFill>
          <a:ln w="1270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389120" y="1481328"/>
            <a:ext cx="31546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0560" y="1645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Keyslot enrollment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80560" y="19568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454B"/>
                </a:solidFill>
              </a:rPr>
              <a:t>Receive actual slot number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16952" y="1801368"/>
            <a:ext cx="356616" cy="320040"/>
          </a:xfrm>
          <a:prstGeom prst="chevron">
            <a:avLst/>
          </a:prstGeom>
          <a:solidFill>
            <a:srgbClr val="087F77"/>
          </a:solidFill>
          <a:ln w="1270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046720" y="1481328"/>
            <a:ext cx="3154680" cy="960120"/>
          </a:xfrm>
          <a:prstGeom prst="roundRect">
            <a:avLst/>
          </a:prstGeom>
          <a:solidFill>
            <a:srgbClr val="E7F2F0"/>
          </a:solidFill>
          <a:ln w="1524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38160" y="16459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LUKS2 token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38160" y="195681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29454B"/>
                </a:solidFill>
              </a:rPr>
              <a:t>Register metadata against slot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0080" y="3090672"/>
            <a:ext cx="10881360" cy="1"/>
          </a:xfrm>
          <a:prstGeom prst="line">
            <a:avLst/>
          </a:prstGeom>
          <a:noFill/>
          <a:ln w="25400">
            <a:solidFill>
              <a:srgbClr val="C5523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097280" y="2871216"/>
            <a:ext cx="9966960" cy="384048"/>
          </a:xfrm>
          <a:prstGeom prst="rect">
            <a:avLst/>
          </a:prstGeom>
          <a:solidFill>
            <a:srgbClr val="F7FAF9"/>
          </a:solidFill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C5523F"/>
                </a:solidFill>
              </a:rPr>
              <a:t>Plugin boundary: storage lifecycle above; evidence, verifier/KBS protocol and authorization below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" y="3611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87F77"/>
                </a:solidFill>
              </a:rPr>
              <a:t>EARLY BOOT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02920" y="3913632"/>
            <a:ext cx="2468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94360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systemd-cryptsetup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454B"/>
                </a:solidFill>
              </a:rPr>
              <a:t>Request selected token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44952" y="4233672"/>
            <a:ext cx="246888" cy="320040"/>
          </a:xfrm>
          <a:prstGeom prst="chevron">
            <a:avLst/>
          </a:prstGeom>
          <a:solidFill>
            <a:srgbClr val="087F77"/>
          </a:solidFill>
          <a:ln w="1270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364992" y="3913632"/>
            <a:ext cx="2468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56432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libcryptsetup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456432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454B"/>
                </a:solidFill>
              </a:rPr>
              <a:t>Dispatch handler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07024" y="4233672"/>
            <a:ext cx="246888" cy="320040"/>
          </a:xfrm>
          <a:prstGeom prst="chevron">
            <a:avLst/>
          </a:prstGeom>
          <a:solidFill>
            <a:srgbClr val="087F77"/>
          </a:solidFill>
          <a:ln w="1270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227064" y="3913632"/>
            <a:ext cx="2468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18504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Provider plugin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318504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454B"/>
                </a:solidFill>
              </a:rPr>
              <a:t>Attest + retrieve secret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769096" y="4233672"/>
            <a:ext cx="246888" cy="320040"/>
          </a:xfrm>
          <a:prstGeom prst="chevron">
            <a:avLst/>
          </a:prstGeom>
          <a:solidFill>
            <a:srgbClr val="087F77"/>
          </a:solidFill>
          <a:ln w="1270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9089136" y="3913632"/>
            <a:ext cx="2468880" cy="960120"/>
          </a:xfrm>
          <a:prstGeom prst="roundRect">
            <a:avLst/>
          </a:prstGeom>
          <a:solidFill>
            <a:srgbClr val="E7F2F0"/>
          </a:solidFill>
          <a:ln w="15240">
            <a:solidFill>
              <a:srgbClr val="087F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9180576" y="407822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7343A"/>
                </a:solidFill>
              </a:rPr>
              <a:t>LUKS2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180576" y="43891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9454B"/>
                </a:solidFill>
              </a:rPr>
              <a:t>Activate keyslot</a:t>
            </a:r>
            <a:endParaRPr lang="en-US" sz="16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7F77"/>
                </a:solidFill>
              </a:rPr>
              <a:t>Three Gaps Blocking the Common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6"/>
                </a:solidFill>
              </a:rPr>
              <a:t>Each gap belongs to a different lifecycle stage, and this is scoped to providers beyond TPM2, FIDO2 and PKCS11 which already work end to end today.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63072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Gap 1 | Provisioning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389888"/>
            <a:ext cx="7818120" cy="11795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Register custom token metadata with keyslot enrollment.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Bind to the actual keyslot at creation; a crashed run must recreate the partition.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>
                <a:solidFill>
                  <a:srgbClr val="29454B"/>
                </a:solidFill>
              </a:rPr>
              <a:t>PR: </a:t>
            </a:r>
            <a:r>
              <a:rPr lang="en-US" sz="1600" dirty="0">
                <a:solidFill>
                  <a:srgbClr val="29454B"/>
                </a:solidFill>
              </a:rPr>
              <a:t>EncryptAddToken= / </a:t>
            </a:r>
            <a:r>
              <a:rPr lang="en-US" sz="1600" dirty="0">
                <a:solidFill>
                  <a:srgbClr val="29454B"/>
                </a:solidFill>
                <a:hlinkClick r:id="rId3"/>
              </a:rPr>
              <a:t>PR #42089</a:t>
            </a:r>
            <a:r>
              <a:rPr lang="en-US" sz="1600" dirty="0">
                <a:solidFill>
                  <a:srgbClr val="29454B"/>
                </a:solidFill>
              </a:rPr>
              <a:t> (merged).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52344"/>
            <a:ext cx="10863072" cy="987552"/>
          </a:xfrm>
          <a:prstGeom prst="roundRect">
            <a:avLst/>
          </a:prstGeom>
          <a:solidFill>
            <a:srgbClr val="EFF6F5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3026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7343A"/>
                </a:solidFill>
              </a:rPr>
              <a:t>Gap 2 | Token Failure 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2843784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Classify token activation </a:t>
            </a:r>
            <a:r>
              <a:rPr lang="en-US" sz="1600" dirty="0" err="1">
                <a:solidFill>
                  <a:srgbClr val="29454B"/>
                </a:solidFill>
              </a:rPr>
              <a:t>failuresin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Distinguish rejection, outage, missing handler, bad metadata and wrong secret.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877056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40142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Gap 3 | </a:t>
            </a:r>
            <a:r>
              <a:rPr lang="en-US" sz="1600" b="1" dirty="0" err="1">
                <a:solidFill>
                  <a:srgbClr val="17343A"/>
                </a:solidFill>
              </a:rPr>
              <a:t>initrd</a:t>
            </a:r>
            <a:r>
              <a:rPr lang="en-US" sz="1600" b="1" dirty="0">
                <a:solidFill>
                  <a:srgbClr val="17343A"/>
                </a:solidFill>
              </a:rPr>
              <a:t> integration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968496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Package plugin, dependencies, trust, evidence support, network and diagnostics.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Define bounded behavior and explicit recovery.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7F77"/>
                </a:solidFill>
              </a:rPr>
              <a:t>Gap 1: Provisioning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6"/>
                </a:solidFill>
              </a:rPr>
              <a:t>Merge token provisioning with the keyslot lifecycle.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Current risk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389888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A post-step script must rediscover the device and enrolled keyslot.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Split durable updates create partial-completion and repair problems.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10863072" cy="987552"/>
          </a:xfrm>
          <a:prstGeom prst="roundRect">
            <a:avLst/>
          </a:prstGeom>
          <a:solidFill>
            <a:srgbClr val="EFF6F5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Required invariant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Token metadata must reference the keyslot holding the matching secret.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Never assume keyslot 0 and never store the unlock secret in token JSON.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547872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Safe ordering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639312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Enroll secret → obtain actual keyslot → construct metadata → register token.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Preserves existing tokens; skips (does not repair) an already-existing partition.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672584"/>
            <a:ext cx="108630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809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PR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4764024"/>
            <a:ext cx="78181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Issue #41565 and merged </a:t>
            </a:r>
            <a:r>
              <a:rPr lang="en-US" sz="1600" dirty="0">
                <a:solidFill>
                  <a:srgbClr val="29454B"/>
                </a:solidFill>
                <a:hlinkClick r:id="rId3"/>
              </a:rPr>
              <a:t>PR #42089 </a:t>
            </a:r>
            <a:r>
              <a:rPr lang="en-US" sz="1600" dirty="0">
                <a:solidFill>
                  <a:srgbClr val="29454B"/>
                </a:solidFill>
              </a:rPr>
              <a:t>add </a:t>
            </a:r>
            <a:r>
              <a:rPr lang="en-US" sz="1600" dirty="0" err="1">
                <a:solidFill>
                  <a:srgbClr val="29454B"/>
                </a:solidFill>
              </a:rPr>
              <a:t>EncryptAddToken</a:t>
            </a:r>
            <a:r>
              <a:rPr lang="en-US" sz="1600" dirty="0">
                <a:solidFill>
                  <a:srgbClr val="29454B"/>
                </a:solidFill>
              </a:rPr>
              <a:t>=: option to register custom LUKS2 token during provisioning time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087F77"/>
                </a:solidFill>
              </a:rPr>
              <a:t>Gap 2: Classify Token Failures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Behavior varies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389888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Explicit token selection and CRYPT_ANY_TOKEN can follow different paths.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Caller behavior depends on the propagated result and configured alternatives.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10863072" cy="987552"/>
          </a:xfrm>
          <a:prstGeom prst="roundRect">
            <a:avLst/>
          </a:prstGeom>
          <a:solidFill>
            <a:srgbClr val="EFF6F5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Test matrix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Success, policy denial, outage, missing handler, malformed metadata, and wrong secret.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Observe plugin → libcryptsetup → systemd → user-visible diagnostic.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547872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Decision rule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639312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Use existing token APIs if policy-relevant distinctions survive.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Change API/ABI only if a required distinction is demonstrably lost.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672584"/>
            <a:ext cx="108630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809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Author's prototype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4764024"/>
            <a:ext cx="78181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Proposed: an opt-in token-policy option in systemd-</a:t>
            </a:r>
            <a:r>
              <a:rPr lang="en-US" sz="1600" dirty="0" err="1">
                <a:solidFill>
                  <a:srgbClr val="29454B"/>
                </a:solidFill>
              </a:rPr>
              <a:t>cryptsetup</a:t>
            </a:r>
            <a:r>
              <a:rPr lang="en-US" sz="1600" dirty="0">
                <a:solidFill>
                  <a:srgbClr val="29454B"/>
                </a:solidFill>
              </a:rPr>
              <a:t> (EAGAIN retry / EPERM deny); default unchanged unless set. Not yet implemented.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7F77"/>
                </a:solidFill>
              </a:rPr>
              <a:t>Ownership boundaries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Storage-owned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389888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Token envelope, keyslot binding, registration, selection and activation.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Generic tooling does not interpret provider protocols.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10863072" cy="987552"/>
          </a:xfrm>
          <a:prstGeom prst="roundRect">
            <a:avLst/>
          </a:prstGeom>
          <a:solidFill>
            <a:srgbClr val="EFF6F5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Provider-owned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Evidence collection, verifier/KBS authentication and secret retrieval.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Provider-private metadata remains opaque and versioned.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547872"/>
            <a:ext cx="108630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Distribution-owned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639312"/>
            <a:ext cx="78181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Initrd packaging, trust material, device access, network, diagnostics and recovery.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343400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Trust rule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4434840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Disk metadata may identify a resource; trusted policy authorizes it.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The unlock secret is returned through the authenticated plugin path, never stored in JSON.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7F77"/>
                </a:solidFill>
              </a:rPr>
              <a:t>Gap 3: </a:t>
            </a:r>
            <a:r>
              <a:rPr lang="en-US" sz="2600" b="1" dirty="0" err="1">
                <a:solidFill>
                  <a:srgbClr val="087F77"/>
                </a:solidFill>
              </a:rPr>
              <a:t>Initrd</a:t>
            </a:r>
            <a:r>
              <a:rPr lang="en-US" sz="2600" b="1" dirty="0">
                <a:solidFill>
                  <a:srgbClr val="087F77"/>
                </a:solidFill>
              </a:rPr>
              <a:t> Integration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12648" y="868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076"/>
                </a:solidFill>
              </a:rPr>
              <a:t>A plugin that works after boot may fail for root-volume activation.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10863072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Required contents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389888"/>
            <a:ext cx="781812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Plugin, libraries, evidence helper/device access, trust roots and configuration.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093976"/>
            <a:ext cx="10863072" cy="987552"/>
          </a:xfrm>
          <a:prstGeom prst="roundRect">
            <a:avLst/>
          </a:prstGeom>
          <a:solidFill>
            <a:srgbClr val="EFF6F5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Connectivity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2185416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Network and DNS must work before unlock.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network-online does not prove verifier/KBS reachability.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218688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Bounded behavior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310128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Provider requests must terminate predictably for unattended boot.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Do not assume systemd can cancel an arbitrary blocking plugin call.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343400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Recovery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4434840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Provide actionable diagnostics and explicit recovery.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Required-attestation policy must not silently degrade into bypass.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7F77"/>
                </a:solidFill>
              </a:rPr>
              <a:t>Security Claims and Non-Claims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333182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435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Claim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29000" y="1389888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A verifier/KBS can condition release on evidence and policy.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Token binding connects the returned secret to a specific keyslot.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423160"/>
            <a:ext cx="10863072" cy="987552"/>
          </a:xfrm>
          <a:prstGeom prst="roundRect">
            <a:avLst/>
          </a:prstGeom>
          <a:solidFill>
            <a:srgbClr val="EFF6F5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Non-claims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29000" y="2514600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Attestation alone does not protect plaintext after unlock.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It does not automatically provide rollback protection or runtime integrity.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547872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685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Assumptions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3639312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Fresh evidence, authenticated verifier/KBS, protected trust roots and recipient/session binding.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A suitable execution boundary protects the delivered secret.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672584"/>
            <a:ext cx="1086307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CD1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8680" y="4809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43A"/>
                </a:solidFill>
              </a:rPr>
              <a:t>Scope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29000" y="4764024"/>
            <a:ext cx="781812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Storage integration, activation semantics and early-boot contract.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9454B"/>
                </a:solidFill>
              </a:rPr>
              <a:t>Not a new attestation protocol or universal broker implementation.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47471"/>
            <a:ext cx="10972800" cy="5915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87F77"/>
                </a:solidFill>
              </a:rPr>
              <a:t>Thank you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836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38589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861</Words>
  <Application>Microsoft Office PowerPoint</Application>
  <PresentationFormat>Widescreen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Attestation-Based Storage Provisioning for Linux</dc:title>
  <dc:subject>PptxGenJS Presentation</dc:subject>
  <dc:creator>Nandakumar Raghavan</dc:creator>
  <cp:lastModifiedBy>Nandakumar Raghavan</cp:lastModifiedBy>
  <cp:revision>15</cp:revision>
  <dcterms:created xsi:type="dcterms:W3CDTF">2026-09-29T15:30:46Z</dcterms:created>
  <dcterms:modified xsi:type="dcterms:W3CDTF">2026-10-05T12:59:34Z</dcterms:modified>
</cp:coreProperties>
</file>