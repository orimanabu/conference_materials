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6"/>
  </p:notesMasterIdLst>
  <p:handoutMasterIdLst>
    <p:handoutMasterId r:id="rId7"/>
  </p:handoutMasterIdLst>
  <p:sldIdLst>
    <p:sldId id="283" r:id="rId3"/>
    <p:sldId id="285" r:id="rId4"/>
    <p:sldId id="27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A4A3A4"/>
          </p15:clr>
        </p15:guide>
        <p15:guide id="2" orient="horz" pos="2099">
          <p15:clr>
            <a:srgbClr val="A4A3A4"/>
          </p15:clr>
        </p15:guide>
        <p15:guide id="3" orient="horz" pos="2779">
          <p15:clr>
            <a:srgbClr val="A4A3A4"/>
          </p15:clr>
        </p15:guide>
        <p15:guide id="4" pos="2111">
          <p15:clr>
            <a:srgbClr val="A4A3A4"/>
          </p15:clr>
        </p15:guide>
        <p15:guide id="5" pos="300">
          <p15:clr>
            <a:srgbClr val="A4A3A4"/>
          </p15:clr>
        </p15:guide>
        <p15:guide id="6" pos="3768">
          <p15:clr>
            <a:srgbClr val="A4A3A4"/>
          </p15:clr>
        </p15:guide>
        <p15:guide id="7" pos="5484">
          <p15:clr>
            <a:srgbClr val="A4A3A4"/>
          </p15:clr>
        </p15:guide>
        <p15:guide id="8" pos="34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0276" autoAdjust="0"/>
  </p:normalViewPr>
  <p:slideViewPr>
    <p:cSldViewPr snapToGrid="0" showGuides="1">
      <p:cViewPr>
        <p:scale>
          <a:sx n="90" d="100"/>
          <a:sy n="90" d="100"/>
        </p:scale>
        <p:origin x="1470" y="168"/>
      </p:cViewPr>
      <p:guideLst>
        <p:guide orient="horz" pos="590"/>
        <p:guide orient="horz" pos="2099"/>
        <p:guide orient="horz" pos="2779"/>
        <p:guide pos="2111"/>
        <p:guide pos="300"/>
        <p:guide pos="3768"/>
        <p:guide pos="5484"/>
        <p:guide pos="34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9882A-2956-4046-B275-292CBB7BEF29}" type="datetimeFigureOut">
              <a:rPr lang="en-US" smtClean="0"/>
              <a:t>2/14/2015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3EED0-A72B-436E-977E-FC0055A24A8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l"/>
          <p:cNvSpPr txBox="1"/>
          <p:nvPr/>
        </p:nvSpPr>
        <p:spPr>
          <a:xfrm>
            <a:off x="0" y="8950960"/>
            <a:ext cx="685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850" b="1">
              <a:solidFill>
                <a:srgbClr val="7F7F7F"/>
              </a:solidFill>
              <a:latin typeface="museo sans for dell"/>
            </a:endParaRPr>
          </a:p>
        </p:txBody>
      </p:sp>
    </p:spTree>
    <p:extLst>
      <p:ext uri="{BB962C8B-B14F-4D97-AF65-F5344CB8AC3E}">
        <p14:creationId xmlns:p14="http://schemas.microsoft.com/office/powerpoint/2010/main" val="605389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F227E-DF61-40CB-8116-E09292ADBCD5}" type="datetimeFigureOut">
              <a:rPr lang="en-US" smtClean="0"/>
              <a:t>2/14/2015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26137-8F1E-4646-B908-A803271DB78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l"/>
          <p:cNvSpPr txBox="1"/>
          <p:nvPr/>
        </p:nvSpPr>
        <p:spPr>
          <a:xfrm>
            <a:off x="0" y="8950960"/>
            <a:ext cx="685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1" i="0" u="none" baseline="0">
              <a:solidFill>
                <a:srgbClr val="7F7F7F"/>
              </a:solidFill>
              <a:latin typeface="museo sans for dell"/>
            </a:endParaRPr>
          </a:p>
        </p:txBody>
      </p:sp>
    </p:spTree>
    <p:extLst>
      <p:ext uri="{BB962C8B-B14F-4D97-AF65-F5344CB8AC3E}">
        <p14:creationId xmlns:p14="http://schemas.microsoft.com/office/powerpoint/2010/main" val="3684882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04BB6B-BEDE-48E4-970F-8DFC0D4B5AE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831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26137-8F1E-4646-B908-A803271DB7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99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457200" y="2660253"/>
            <a:ext cx="5962650" cy="1025922"/>
          </a:xfrm>
        </p:spPr>
        <p:txBody>
          <a:bodyPr anchor="b" anchorCtr="0">
            <a:spAutoFit/>
          </a:bodyPr>
          <a:lstStyle>
            <a:lvl1pPr algn="l">
              <a:lnSpc>
                <a:spcPts val="4000"/>
              </a:lnSpc>
              <a:defRPr sz="36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457200" y="4165390"/>
            <a:ext cx="5953125" cy="276999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/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 smtClean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" y="1781175"/>
            <a:ext cx="824865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" y="5076825"/>
            <a:ext cx="824865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 bwMode="gray">
          <a:xfrm>
            <a:off x="0" y="6362700"/>
            <a:ext cx="1000125" cy="495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hidden">
          <a:xfrm>
            <a:off x="0" y="6362700"/>
            <a:ext cx="1000125" cy="495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hidden">
          <a:xfrm>
            <a:off x="0" y="6362700"/>
            <a:ext cx="1000125" cy="495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rebuchet MS" pitchFamily="34" charset="0"/>
            </a:endParaRPr>
          </a:p>
        </p:txBody>
      </p:sp>
      <p:pic>
        <p:nvPicPr>
          <p:cNvPr id="11" name="Picture 10" descr="dell_blue_lrg_log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265289" y="2651760"/>
            <a:ext cx="1487427" cy="148742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80160"/>
            <a:ext cx="8229600" cy="1261884"/>
          </a:xfrm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Museo Sans For Dell" pitchFamily="2" charset="0"/>
              </a:defRPr>
            </a:lvl1pPr>
            <a:lvl2pPr marL="573088" indent="-231775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Museo Sans For Dell" pitchFamily="2" charset="0"/>
              <a:buChar char="–"/>
              <a:defRPr sz="1800">
                <a:solidFill>
                  <a:schemeClr val="tx1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+Sub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38150" y="800100"/>
            <a:ext cx="8248650" cy="33239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80160"/>
            <a:ext cx="8229600" cy="1261884"/>
          </a:xfrm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Museo Sans For Dell" pitchFamily="2" charset="0"/>
              </a:defRPr>
            </a:lvl1pPr>
            <a:lvl2pPr marL="573088" indent="-231775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Museo Sans For Dell" pitchFamily="2" charset="0"/>
              <a:buChar char="–"/>
              <a:defRPr sz="1800">
                <a:solidFill>
                  <a:schemeClr val="tx1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Line_Title+Sub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38150" y="1188720"/>
            <a:ext cx="8248650" cy="33239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61562"/>
            <a:ext cx="8248650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br>
              <a:rPr lang="en-US" dirty="0" smtClean="0"/>
            </a:br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09928"/>
            <a:ext cx="8229600" cy="1261884"/>
          </a:xfrm>
        </p:spPr>
        <p:txBody>
          <a:bodyPr wrap="square"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Museo Sans For Dell" pitchFamily="2" charset="0"/>
              </a:defRPr>
            </a:lvl1pPr>
            <a:lvl2pPr marL="573088" indent="-231775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Museo Sans For Dell" pitchFamily="2" charset="0"/>
              <a:buChar char="–"/>
              <a:defRPr sz="1800">
                <a:solidFill>
                  <a:schemeClr val="tx1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726236" y="1280161"/>
            <a:ext cx="3950370" cy="824841"/>
          </a:xfrm>
        </p:spPr>
        <p:txBody>
          <a:bodyPr wrap="square"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Museo Sans For Dell" pitchFamily="2" charset="0"/>
              </a:defRPr>
            </a:lvl1pPr>
            <a:lvl2pPr marL="574675" indent="-231775">
              <a:spcBef>
                <a:spcPts val="30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defRPr sz="1600" b="0">
                <a:solidFill>
                  <a:schemeClr val="tx1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65269" y="1280160"/>
            <a:ext cx="3941478" cy="824841"/>
          </a:xfrm>
        </p:spPr>
        <p:txBody>
          <a:bodyPr wrap="square"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Museo Sans For Dell" pitchFamily="2" charset="0"/>
              </a:defRPr>
            </a:lvl1pPr>
            <a:lvl2pPr marL="574675" indent="-231775">
              <a:spcBef>
                <a:spcPts val="300"/>
              </a:spcBef>
              <a:spcAft>
                <a:spcPts val="0"/>
              </a:spcAft>
              <a:defRPr sz="18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defRPr sz="16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ithout_Bottom 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_Bottom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3657600" cy="3657600"/>
          </a:xfrm>
          <a:prstGeom prst="roundRect">
            <a:avLst>
              <a:gd name="adj" fmla="val 275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228600" tIns="228600" rIns="228600" bIns="228600" anchor="t" anchorCtr="0">
            <a:normAutofit/>
          </a:bodyPr>
          <a:lstStyle>
            <a:lvl1pPr>
              <a:defRPr sz="3200" b="0">
                <a:solidFill>
                  <a:schemeClr val="tx2"/>
                </a:solidFill>
                <a:latin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3657600" cy="3657600"/>
          </a:xfrm>
          <a:prstGeom prst="roundRect">
            <a:avLst>
              <a:gd name="adj" fmla="val 275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228600" tIns="228600" rIns="228600" bIns="228600" anchor="t" anchorCtr="0">
            <a:normAutofit/>
          </a:bodyPr>
          <a:lstStyle>
            <a:lvl1pPr>
              <a:defRPr sz="3200" b="0">
                <a:solidFill>
                  <a:schemeClr val="tx2"/>
                </a:solidFill>
                <a:latin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Yellow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3657600" cy="3657600"/>
          </a:xfrm>
          <a:prstGeom prst="roundRect">
            <a:avLst>
              <a:gd name="adj" fmla="val 275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228600" tIns="228600" rIns="228600" bIns="228600" anchor="t" anchorCtr="0">
            <a:normAutofit/>
          </a:bodyPr>
          <a:lstStyle>
            <a:lvl1pPr>
              <a:defRPr sz="3200" b="0">
                <a:solidFill>
                  <a:schemeClr val="tx2"/>
                </a:solidFill>
                <a:latin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3657600" cy="3657600"/>
          </a:xfrm>
          <a:prstGeom prst="roundRect">
            <a:avLst>
              <a:gd name="adj" fmla="val 27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228600" tIns="228600" rIns="228600" bIns="228600" anchor="t" anchorCtr="0">
            <a:normAutofit/>
          </a:bodyPr>
          <a:lstStyle>
            <a:lvl1pPr>
              <a:defRPr sz="3200" b="0">
                <a:solidFill>
                  <a:schemeClr val="tx2"/>
                </a:solidFill>
                <a:latin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3657600" cy="3657600"/>
          </a:xfrm>
          <a:prstGeom prst="roundRect">
            <a:avLst>
              <a:gd name="adj" fmla="val 275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228600" tIns="228600" rIns="228600" bIns="228600" anchor="t" anchorCtr="0">
            <a:normAutofit/>
          </a:bodyPr>
          <a:lstStyle>
            <a:lvl1pPr>
              <a:defRPr sz="3200" b="0">
                <a:solidFill>
                  <a:schemeClr val="tx2"/>
                </a:solidFill>
                <a:latin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_Blue_Backgrou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80160"/>
            <a:ext cx="8229600" cy="1274708"/>
          </a:xfrm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defRPr sz="2000">
                <a:solidFill>
                  <a:schemeClr val="tx2"/>
                </a:solidFill>
                <a:latin typeface="Museo Sans For Dell" pitchFamily="2" charset="0"/>
              </a:defRPr>
            </a:lvl1pPr>
            <a:lvl2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buFont typeface="Museo For Dell 300" pitchFamily="50" charset="0"/>
              <a:buChar char="–"/>
              <a:defRPr sz="1800">
                <a:solidFill>
                  <a:schemeClr val="tx2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defRPr sz="1600">
                <a:solidFill>
                  <a:schemeClr val="tx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defRPr sz="1400">
                <a:solidFill>
                  <a:schemeClr val="tx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defRPr sz="1200">
                <a:solidFill>
                  <a:schemeClr val="tx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_and_Content_Blue_Backgrou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80160"/>
            <a:ext cx="8229600" cy="1274708"/>
          </a:xfrm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defRPr sz="2000">
                <a:solidFill>
                  <a:schemeClr val="tx2"/>
                </a:solidFill>
                <a:latin typeface="Museo Sans For Dell" pitchFamily="2" charset="0"/>
              </a:defRPr>
            </a:lvl1pPr>
            <a:lvl2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buFont typeface="Museo For Dell 300" pitchFamily="50" charset="0"/>
              <a:buChar char="–"/>
              <a:defRPr sz="1800">
                <a:solidFill>
                  <a:schemeClr val="tx2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defRPr sz="1600">
                <a:solidFill>
                  <a:schemeClr val="tx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defRPr sz="1400">
                <a:solidFill>
                  <a:schemeClr val="tx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defRPr sz="1200">
                <a:solidFill>
                  <a:schemeClr val="tx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</p:cxnSp>
      <p:sp>
        <p:nvSpPr>
          <p:cNvPr id="5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38150" y="800100"/>
            <a:ext cx="8248650" cy="33239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Line_Title+Sub_and_Content_Blue_Backgrou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265176"/>
            <a:ext cx="8239125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 </a:t>
            </a:r>
            <a:br>
              <a:rPr lang="en-US" dirty="0" smtClean="0"/>
            </a:br>
            <a:r>
              <a:rPr lang="en-US" dirty="0" smtClean="0"/>
              <a:t>Click to edit title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</p:cxnSp>
      <p:sp>
        <p:nvSpPr>
          <p:cNvPr id="8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38150" y="1188720"/>
            <a:ext cx="8248650" cy="33239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09928"/>
            <a:ext cx="8229600" cy="1261884"/>
          </a:xfrm>
        </p:spPr>
        <p:txBody>
          <a:bodyPr wrap="square" lIns="0" tIns="0" rIns="0" bIns="0">
            <a:spAutoFit/>
          </a:bodyPr>
          <a:lstStyle>
            <a:lvl1pPr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 sz="2000">
                <a:solidFill>
                  <a:schemeClr val="tx2"/>
                </a:solidFill>
                <a:latin typeface="Museo Sans For Dell" pitchFamily="2" charset="0"/>
              </a:defRPr>
            </a:lvl1pPr>
            <a:lvl2pPr marL="573088" indent="-231775">
              <a:spcBef>
                <a:spcPts val="300"/>
              </a:spcBef>
              <a:spcAft>
                <a:spcPts val="0"/>
              </a:spcAft>
              <a:buFont typeface="Museo Sans For Dell" pitchFamily="2" charset="0"/>
              <a:buChar char="–"/>
              <a:defRPr sz="1800">
                <a:solidFill>
                  <a:schemeClr val="tx2"/>
                </a:solidFill>
                <a:latin typeface="Museo Sans For Dell" pitchFamily="2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defRPr sz="1600">
                <a:solidFill>
                  <a:schemeClr val="tx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defRPr sz="1400" baseline="0">
                <a:solidFill>
                  <a:schemeClr val="tx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defRPr sz="1200">
                <a:solidFill>
                  <a:schemeClr val="tx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ue_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Blu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Blue_Backgrou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3657600" cy="3657600"/>
          </a:xfrm>
          <a:prstGeom prst="roundRect">
            <a:avLst>
              <a:gd name="adj" fmla="val 275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228600" tIns="228600" rIns="228600" bIns="228600" anchor="t">
            <a:normAutofit/>
          </a:bodyPr>
          <a:lstStyle>
            <a:lvl1pPr>
              <a:defRPr sz="3200" b="0">
                <a:solidFill>
                  <a:schemeClr val="accent1"/>
                </a:solidFill>
                <a:latin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lide_Blu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/>
          <p:nvPr userDrawn="1"/>
        </p:nvGrpSpPr>
        <p:grpSpPr>
          <a:xfrm>
            <a:off x="474663" y="1781175"/>
            <a:ext cx="8217849" cy="3295650"/>
            <a:chOff x="280033" y="1781175"/>
            <a:chExt cx="8412480" cy="329565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280033" y="1781175"/>
              <a:ext cx="84124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80033" y="5076825"/>
              <a:ext cx="84124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2" name="Picture 9" descr="white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326396" y="2681959"/>
            <a:ext cx="1371487" cy="13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457200" y="3173214"/>
            <a:ext cx="5962650" cy="512961"/>
          </a:xfrm>
        </p:spPr>
        <p:txBody>
          <a:bodyPr anchor="b" anchorCtr="0"/>
          <a:lstStyle>
            <a:lvl1pPr algn="l">
              <a:lnSpc>
                <a:spcPts val="4000"/>
              </a:lnSpc>
              <a:defRPr sz="3600" b="0" i="0" smtClean="0">
                <a:solidFill>
                  <a:schemeClr val="tx2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 smtClean="0"/>
              <a:t>Click to edit title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466724" y="4165390"/>
            <a:ext cx="5953125" cy="276999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tx2"/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 dirty="0" smtClean="0"/>
              <a:t>Click to edit text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438150" y="261562"/>
            <a:ext cx="8248650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73969"/>
            <a:ext cx="8248650" cy="10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pic>
        <p:nvPicPr>
          <p:cNvPr id="6" name="Picture 5" descr="dell_gray_logo.png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8193024" y="6226683"/>
            <a:ext cx="573025" cy="573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0237" y="6457435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 err="1" smtClean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5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2/14/2015</a:t>
            </a:fld>
            <a:endParaRPr lang="en-US" sz="900" dirty="0" smtClean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5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2/14/2015</a:t>
            </a:fld>
            <a:endParaRPr lang="en-US" sz="900" dirty="0" smtClean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 bwMode="black">
          <a:xfrm>
            <a:off x="5350331" y="6437366"/>
            <a:ext cx="2743200" cy="153888"/>
          </a:xfrm>
          <a:prstGeom prst="rect">
            <a:avLst/>
          </a:prstGeom>
          <a:noFill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000" dirty="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t>Global Solutions Marketing &amp; Messaging</a:t>
            </a:r>
            <a:endParaRPr lang="en-US" sz="10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2475" y="6447622"/>
            <a:ext cx="93345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r>
              <a:rPr lang="en-US" sz="1000" kern="1200" dirty="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2" name="fl"/>
          <p:cNvSpPr txBox="1"/>
          <p:nvPr userDrawn="1"/>
        </p:nvSpPr>
        <p:spPr>
          <a:xfrm>
            <a:off x="0" y="6677914"/>
            <a:ext cx="184731" cy="21005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endParaRPr lang="en-US" sz="850" b="1" i="0" u="none" baseline="0" dirty="0" err="1" smtClean="0">
              <a:solidFill>
                <a:srgbClr val="7F7F7F"/>
              </a:solidFill>
              <a:latin typeface="museo sans for dell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cap="none" baseline="0">
          <a:solidFill>
            <a:schemeClr val="bg1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200"/>
        </a:spcBef>
        <a:spcAft>
          <a:spcPts val="0"/>
        </a:spcAft>
        <a:buClr>
          <a:schemeClr val="bg1"/>
        </a:buClr>
        <a:buFont typeface="Arial" pitchFamily="34" charset="0"/>
        <a:buChar char="•"/>
        <a:defRPr sz="2000">
          <a:solidFill>
            <a:schemeClr val="tx1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chemeClr val="bg1"/>
        </a:buClr>
        <a:buFont typeface="Museo Sans For Dell" pitchFamily="2" charset="0"/>
        <a:buChar char="–"/>
        <a:defRPr sz="1800" baseline="0">
          <a:solidFill>
            <a:schemeClr val="tx1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chemeClr val="bg1"/>
        </a:buClr>
        <a:buFont typeface="Museo Sans For Dell" pitchFamily="2" charset="0"/>
        <a:buChar char="–"/>
        <a:defRPr sz="1600" baseline="0">
          <a:solidFill>
            <a:schemeClr val="tx1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chemeClr val="bg1"/>
        </a:buClr>
        <a:buFont typeface="Museo For Dell 300" pitchFamily="50" charset="0"/>
        <a:buChar char="–"/>
        <a:defRPr sz="1400">
          <a:solidFill>
            <a:schemeClr val="tx1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438150" y="265176"/>
            <a:ext cx="8239125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80160"/>
            <a:ext cx="8239125" cy="82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title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pic>
        <p:nvPicPr>
          <p:cNvPr id="5" name="Picture 4" descr="dell_white_logo.pn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8193024" y="6226683"/>
            <a:ext cx="573025" cy="573025"/>
          </a:xfrm>
          <a:prstGeom prst="rect">
            <a:avLst/>
          </a:prstGeom>
        </p:spPr>
      </p:pic>
      <p:sp>
        <p:nvSpPr>
          <p:cNvPr id="15" name="TextBox 14" hidden="1"/>
          <p:cNvSpPr txBox="1"/>
          <p:nvPr/>
        </p:nvSpPr>
        <p:spPr>
          <a:xfrm>
            <a:off x="1895475" y="6454879"/>
            <a:ext cx="649537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B8D0290F-9E23-41BA-BCF9-EF3BA4816832}" type="datetime1">
              <a:rPr lang="en-US" sz="1000" smtClean="0">
                <a:solidFill>
                  <a:schemeClr val="tx2"/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2/14/2015</a:t>
            </a:fld>
            <a:endParaRPr lang="en-US" sz="1000" dirty="0" smtClean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0237" y="6457435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 err="1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 bwMode="black">
          <a:xfrm>
            <a:off x="5350331" y="6437366"/>
            <a:ext cx="2743200" cy="153888"/>
          </a:xfrm>
          <a:prstGeom prst="rect">
            <a:avLst/>
          </a:prstGeom>
          <a:noFill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000" dirty="0" smtClean="0">
                <a:solidFill>
                  <a:schemeClr val="tx2"/>
                </a:solidFill>
                <a:latin typeface="+mn-lt"/>
              </a:rPr>
              <a:t>Global Marketing</a:t>
            </a:r>
            <a:endParaRPr lang="en-US" sz="1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2475" y="6447622"/>
            <a:ext cx="93345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r>
              <a:rPr lang="en-US" sz="1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2" name="fl"/>
          <p:cNvSpPr txBox="1"/>
          <p:nvPr userDrawn="1"/>
        </p:nvSpPr>
        <p:spPr>
          <a:xfrm>
            <a:off x="0" y="6677914"/>
            <a:ext cx="9144000" cy="2100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 err="1" smtClean="0">
              <a:solidFill>
                <a:srgbClr val="7F7F7F"/>
              </a:solidFill>
              <a:latin typeface="museo sans for dell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ransition spd="med">
    <p:wipe dir="r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cap="none" baseline="0">
          <a:solidFill>
            <a:schemeClr val="tx2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2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2000">
          <a:solidFill>
            <a:schemeClr val="tx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23838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chemeClr val="tx2"/>
        </a:buClr>
        <a:buSzPct val="100000"/>
        <a:buFont typeface="Museo Sans For Dell" pitchFamily="2" charset="0"/>
        <a:buChar char="–"/>
        <a:defRPr sz="1800" baseline="0">
          <a:solidFill>
            <a:schemeClr val="tx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chemeClr val="tx2"/>
        </a:buClr>
        <a:buFont typeface="Museo Sans For Dell" pitchFamily="2" charset="0"/>
        <a:buChar char="›"/>
        <a:defRPr sz="1600">
          <a:solidFill>
            <a:schemeClr val="tx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omputeproject/OCP-Networking-Project-Community-Contributions/tree/master/sai/in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173214"/>
            <a:ext cx="7010400" cy="512961"/>
          </a:xfrm>
        </p:spPr>
        <p:txBody>
          <a:bodyPr/>
          <a:lstStyle/>
          <a:p>
            <a:r>
              <a:rPr lang="en-US" dirty="0" smtClean="0"/>
              <a:t>OCP </a:t>
            </a:r>
            <a:r>
              <a:rPr lang="en-US" dirty="0" smtClean="0"/>
              <a:t>SAI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5390"/>
            <a:ext cx="6832600" cy="276999"/>
          </a:xfrm>
        </p:spPr>
        <p:txBody>
          <a:bodyPr/>
          <a:lstStyle/>
          <a:p>
            <a:r>
              <a:rPr lang="en-US" dirty="0" smtClean="0"/>
              <a:t>Sanjay Sane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29618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1"/>
          </p:cNvSpPr>
          <p:nvPr>
            <p:ph type="title"/>
          </p:nvPr>
        </p:nvSpPr>
        <p:spPr>
          <a:xfrm>
            <a:off x="172518" y="0"/>
            <a:ext cx="8787264" cy="443198"/>
          </a:xfrm>
        </p:spPr>
        <p:txBody>
          <a:bodyPr/>
          <a:lstStyle/>
          <a:p>
            <a:r>
              <a:rPr lang="en-US" dirty="0" smtClean="0"/>
              <a:t>OCP SAI</a:t>
            </a:r>
            <a:endParaRPr lang="en-US" dirty="0"/>
          </a:p>
        </p:txBody>
      </p:sp>
      <p:sp>
        <p:nvSpPr>
          <p:cNvPr id="69" name="Rounded Rectangle 68"/>
          <p:cNvSpPr/>
          <p:nvPr/>
        </p:nvSpPr>
        <p:spPr>
          <a:xfrm>
            <a:off x="8303" y="315607"/>
            <a:ext cx="9115694" cy="5960577"/>
          </a:xfrm>
          <a:prstGeom prst="round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Switching ASICs (SDKs) do not have any common API.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Same feature (for e.g. Routing Table) has different styles.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Same underlying construct (for e.g. ACL) has different semantics. </a:t>
            </a:r>
          </a:p>
          <a:p>
            <a:endParaRPr lang="en-US" sz="1600" dirty="0" smtClean="0">
              <a:solidFill>
                <a:schemeClr val="bg2"/>
              </a:solidFill>
              <a:latin typeface="Book Antiqua" panose="02040602050305030304" pitchFamily="18" charset="0"/>
            </a:endParaRPr>
          </a:p>
          <a:p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SAI addresses above issue, and offers a C API that’s common across ASICs. </a:t>
            </a:r>
          </a:p>
          <a:p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Identifies the switching abstraction, express it as {object, </a:t>
            </a:r>
            <a:r>
              <a:rPr lang="en-US" sz="1600" dirty="0" err="1" smtClean="0">
                <a:solidFill>
                  <a:schemeClr val="bg2"/>
                </a:solidFill>
                <a:latin typeface="Book Antiqua" panose="02040602050305030304" pitchFamily="18" charset="0"/>
              </a:rPr>
              <a:t>attribute:value</a:t>
            </a: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}</a:t>
            </a:r>
          </a:p>
          <a:p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Open API, is extensible for newer abstractions and programmable ASICs. </a:t>
            </a:r>
          </a:p>
          <a:p>
            <a:endParaRPr lang="en-US" sz="1600" dirty="0">
              <a:solidFill>
                <a:schemeClr val="bg2"/>
              </a:solidFill>
              <a:latin typeface="Book Antiqua" panose="02040602050305030304" pitchFamily="18" charset="0"/>
            </a:endParaRPr>
          </a:p>
          <a:p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SAI does not deal with specifying user-APIs or defining user-models.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Note that many of these user-APIs end up using overlapping hardware abstractions. </a:t>
            </a:r>
          </a:p>
          <a:p>
            <a:endParaRPr lang="en-US" sz="1600" dirty="0">
              <a:solidFill>
                <a:schemeClr val="bg2"/>
              </a:solidFill>
              <a:latin typeface="Book Antiqua" panose="02040602050305030304" pitchFamily="18" charset="0"/>
            </a:endParaRPr>
          </a:p>
          <a:p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Thus, SAI is a way to express hardware/ASIC constructs in an abstracted fashion, and provide a unified API across plethora of </a:t>
            </a:r>
            <a:r>
              <a:rPr lang="en-US" sz="1600" dirty="0" err="1" smtClean="0">
                <a:solidFill>
                  <a:schemeClr val="bg2"/>
                </a:solidFill>
                <a:latin typeface="Book Antiqua" panose="02040602050305030304" pitchFamily="18" charset="0"/>
              </a:rPr>
              <a:t>silicons</a:t>
            </a: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/platforms. </a:t>
            </a:r>
          </a:p>
          <a:p>
            <a:endParaRPr lang="en-US" sz="1600" dirty="0">
              <a:solidFill>
                <a:schemeClr val="bg2"/>
              </a:solidFill>
              <a:latin typeface="Book Antiqua" panose="02040602050305030304" pitchFamily="18" charset="0"/>
            </a:endParaRPr>
          </a:p>
          <a:p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SAI </a:t>
            </a: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is an open </a:t>
            </a: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initiative (</a:t>
            </a:r>
            <a:r>
              <a:rPr lang="en-US" sz="1600" dirty="0">
                <a:solidFill>
                  <a:schemeClr val="bg2"/>
                </a:solidFill>
                <a:latin typeface="Book Antiqua" panose="02040602050305030304" pitchFamily="18" charset="0"/>
                <a:hlinkClick r:id="rId3"/>
              </a:rPr>
              <a:t>https://</a:t>
            </a: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  <a:hlinkClick r:id="rId3"/>
              </a:rPr>
              <a:t>github.com/opencomputeproject/OCP-Networking-Project-Community-Contributions/tree/master/sai/inc</a:t>
            </a:r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 ). </a:t>
            </a:r>
          </a:p>
          <a:p>
            <a:endParaRPr lang="en-US" sz="1600" dirty="0" smtClean="0">
              <a:solidFill>
                <a:schemeClr val="bg2"/>
              </a:solidFill>
              <a:latin typeface="Book Antiqua" panose="02040602050305030304" pitchFamily="18" charset="0"/>
            </a:endParaRPr>
          </a:p>
          <a:p>
            <a:r>
              <a:rPr lang="en-US" sz="1600" dirty="0" smtClean="0">
                <a:solidFill>
                  <a:schemeClr val="bg2"/>
                </a:solidFill>
                <a:latin typeface="Book Antiqua" panose="02040602050305030304" pitchFamily="18" charset="0"/>
              </a:rPr>
              <a:t>OCP-compliant platform will have SAI driver. </a:t>
            </a:r>
          </a:p>
          <a:p>
            <a:endParaRPr lang="en-US" sz="1600" dirty="0" smtClean="0">
              <a:solidFill>
                <a:schemeClr val="bg2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62749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2623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Dell 2010">
      <a:dk1>
        <a:srgbClr val="000000"/>
      </a:dk1>
      <a:lt1>
        <a:srgbClr val="444444"/>
      </a:lt1>
      <a:dk2>
        <a:srgbClr val="0085C3"/>
      </a:dk2>
      <a:lt2>
        <a:srgbClr val="FFFFFF"/>
      </a:lt2>
      <a:accent1>
        <a:srgbClr val="0085C3"/>
      </a:accent1>
      <a:accent2>
        <a:srgbClr val="7AB800"/>
      </a:accent2>
      <a:accent3>
        <a:srgbClr val="F2AF00"/>
      </a:accent3>
      <a:accent4>
        <a:srgbClr val="DC5034"/>
      </a:accent4>
      <a:accent5>
        <a:srgbClr val="5482AB"/>
      </a:accent5>
      <a:accent6>
        <a:srgbClr val="6E2585"/>
      </a:accent6>
      <a:hlink>
        <a:srgbClr val="009BBB"/>
      </a:hlink>
      <a:folHlink>
        <a:srgbClr val="6E2585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2000" dirty="0" err="1" smtClean="0"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ue_Background_Master">
  <a:themeElements>
    <a:clrScheme name="Dell 2010">
      <a:dk1>
        <a:srgbClr val="000000"/>
      </a:dk1>
      <a:lt1>
        <a:srgbClr val="444444"/>
      </a:lt1>
      <a:dk2>
        <a:srgbClr val="0085C3"/>
      </a:dk2>
      <a:lt2>
        <a:srgbClr val="FFFFFF"/>
      </a:lt2>
      <a:accent1>
        <a:srgbClr val="0085C3"/>
      </a:accent1>
      <a:accent2>
        <a:srgbClr val="7AB800"/>
      </a:accent2>
      <a:accent3>
        <a:srgbClr val="F2AF00"/>
      </a:accent3>
      <a:accent4>
        <a:srgbClr val="DC5034"/>
      </a:accent4>
      <a:accent5>
        <a:srgbClr val="5482AB"/>
      </a:accent5>
      <a:accent6>
        <a:srgbClr val="6E2585"/>
      </a:accent6>
      <a:hlink>
        <a:srgbClr val="B7295A"/>
      </a:hlink>
      <a:folHlink>
        <a:srgbClr val="009BBB"/>
      </a:folHlink>
    </a:clrScheme>
    <a:fontScheme name="Dell TTF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100"/>
          </a:spcBef>
          <a:spcAft>
            <a:spcPts val="10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B7295A"/>
        </a:accent1>
        <a:accent2>
          <a:srgbClr val="F2AF00"/>
        </a:accent2>
        <a:accent3>
          <a:srgbClr val="7AB800"/>
        </a:accent3>
        <a:accent4>
          <a:srgbClr val="AAAAAA"/>
        </a:accent4>
        <a:accent5>
          <a:srgbClr val="6E2585"/>
        </a:accent5>
        <a:accent6>
          <a:srgbClr val="3084B6"/>
        </a:accent6>
        <a:hlink>
          <a:srgbClr val="DC5034"/>
        </a:hlink>
        <a:folHlink>
          <a:srgbClr val="D42E1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4526</TotalTime>
  <Words>154</Words>
  <Application>Microsoft Office PowerPoint</Application>
  <PresentationFormat>On-screen Show (4:3)</PresentationFormat>
  <Paragraphs>22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Museo For Dell 300</vt:lpstr>
      <vt:lpstr>Arial</vt:lpstr>
      <vt:lpstr>Arial Black</vt:lpstr>
      <vt:lpstr>Book Antiqua</vt:lpstr>
      <vt:lpstr>Calibri</vt:lpstr>
      <vt:lpstr>Museo Sans For Dell</vt:lpstr>
      <vt:lpstr>Museo Sans For Dell</vt:lpstr>
      <vt:lpstr>Trebuchet MS</vt:lpstr>
      <vt:lpstr>Wingdings</vt:lpstr>
      <vt:lpstr>Theme1</vt:lpstr>
      <vt:lpstr>Blue_Background_Master</vt:lpstr>
      <vt:lpstr>OCP SAI</vt:lpstr>
      <vt:lpstr>OCP SAI</vt:lpstr>
      <vt:lpstr>Thank you</vt:lpstr>
    </vt:vector>
  </TitlesOfParts>
  <Company>Dell Inc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 Your Slides</dc:title>
  <dc:creator>Eve-Marie Lanza</dc:creator>
  <cp:keywords>No Restrictions</cp:keywords>
  <cp:lastModifiedBy>Sane, Sanjay</cp:lastModifiedBy>
  <cp:revision>127</cp:revision>
  <dcterms:created xsi:type="dcterms:W3CDTF">2013-06-14T22:22:45Z</dcterms:created>
  <dcterms:modified xsi:type="dcterms:W3CDTF">2015-02-15T22:52:31Z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d949ec61-fafa-4f4c-904c-4e3a535c455b</vt:lpwstr>
  </property>
  <property fmtid="{D5CDD505-2E9C-101B-9397-08002B2CF9AE}" pid="3" name="DellClassification">
    <vt:lpwstr>No Restrictions</vt:lpwstr>
  </property>
  <property fmtid="{D5CDD505-2E9C-101B-9397-08002B2CF9AE}" pid="4" name="DellSubLabels">
    <vt:lpwstr/>
  </property>
</Properties>
</file>