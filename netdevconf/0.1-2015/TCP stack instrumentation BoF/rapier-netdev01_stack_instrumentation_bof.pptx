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98" r:id="rId1"/>
  </p:sldMasterIdLst>
  <p:notesMasterIdLst>
    <p:notesMasterId r:id="rId9"/>
  </p:notesMasterIdLst>
  <p:handoutMasterIdLst>
    <p:handoutMasterId r:id="rId10"/>
  </p:handout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A0"/>
    <a:srgbClr val="FFD000"/>
    <a:srgbClr val="FFCE33"/>
    <a:srgbClr val="FFDA3F"/>
    <a:srgbClr val="782FAF"/>
    <a:srgbClr val="E47225"/>
    <a:srgbClr val="197AAB"/>
    <a:srgbClr val="E492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72" d="100"/>
          <a:sy n="72" d="100"/>
        </p:scale>
        <p:origin x="-155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46" tIns="46423" rIns="92846" bIns="46423" numCol="1" anchor="t" anchorCtr="0" compatLnSpc="1">
            <a:prstTxWarp prst="textNoShape">
              <a:avLst/>
            </a:prstTxWarp>
          </a:bodyPr>
          <a:lstStyle>
            <a:lvl1pPr defTabSz="928688" eaLnBrk="1" hangingPunct="1">
              <a:defRPr sz="1200" b="0">
                <a:latin typeface="Arial Unicode MS" pitchFamily="34" charset="-128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46" tIns="46423" rIns="92846" bIns="46423" numCol="1" anchor="t" anchorCtr="0" compatLnSpc="1">
            <a:prstTxWarp prst="textNoShape">
              <a:avLst/>
            </a:prstTxWarp>
          </a:bodyPr>
          <a:lstStyle>
            <a:lvl1pPr algn="r" defTabSz="928688" eaLnBrk="1" hangingPunct="1">
              <a:defRPr sz="1200" b="0">
                <a:latin typeface="Arial Unicode MS" pitchFamily="34" charset="-128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46" tIns="46423" rIns="92846" bIns="46423" numCol="1" anchor="b" anchorCtr="0" compatLnSpc="1">
            <a:prstTxWarp prst="textNoShape">
              <a:avLst/>
            </a:prstTxWarp>
          </a:bodyPr>
          <a:lstStyle>
            <a:lvl1pPr defTabSz="928688" eaLnBrk="1" hangingPunct="1">
              <a:defRPr sz="1200" b="0">
                <a:latin typeface="Arial Unicode MS" pitchFamily="34" charset="-128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46" tIns="46423" rIns="92846" bIns="46423" numCol="1" anchor="b" anchorCtr="0" compatLnSpc="1">
            <a:prstTxWarp prst="textNoShape">
              <a:avLst/>
            </a:prstTxWarp>
          </a:bodyPr>
          <a:lstStyle>
            <a:lvl1pPr algn="r" defTabSz="928688" eaLnBrk="1" hangingPunct="1">
              <a:defRPr sz="1200" b="0">
                <a:latin typeface="Arial Unicode MS" charset="0"/>
              </a:defRPr>
            </a:lvl1pPr>
          </a:lstStyle>
          <a:p>
            <a:fld id="{C669055E-7ADD-7641-AF48-1C248D6B98C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38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6" tIns="46579" rIns="93156" bIns="4657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300" b="0">
                <a:latin typeface="Arial Unicode MS" pitchFamily="34" charset="-128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6" tIns="46579" rIns="93156" bIns="4657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300" b="0">
                <a:latin typeface="Arial Unicode MS" pitchFamily="34" charset="-128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6425"/>
            <a:ext cx="56102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6" tIns="46579" rIns="93156" bIns="465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6" tIns="46579" rIns="93156" bIns="4657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300" b="0">
                <a:latin typeface="Arial Unicode MS" pitchFamily="34" charset="-128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31263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56" tIns="46579" rIns="93156" bIns="4657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300" b="0">
                <a:latin typeface="Arial Unicode MS" charset="0"/>
              </a:defRPr>
            </a:lvl1pPr>
          </a:lstStyle>
          <a:p>
            <a:fld id="{03C11995-CD13-5240-AD82-899E3C700D0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92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Unicode MS" pitchFamily="34" charset="-128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Unicode MS" pitchFamily="34" charset="-128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Unicode MS" pitchFamily="34" charset="-128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Unicode MS" pitchFamily="34" charset="-128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Unicode MS" pitchFamily="34" charset="-128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Arial Unicode M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31863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3E4C9B1-F67E-724E-88A4-D1A7295F7A8E}" type="slidenum">
              <a:rPr lang="en-US" sz="1300" b="0">
                <a:latin typeface="Arial Unicode MS" charset="0"/>
              </a:rPr>
              <a:pPr/>
              <a:t>1</a:t>
            </a:fld>
            <a:endParaRPr lang="en-US" sz="1300" b="0">
              <a:latin typeface="Arial Unicode MS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POWERPT_ex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130"/>
          <a:stretch>
            <a:fillRect/>
          </a:stretch>
        </p:blipFill>
        <p:spPr bwMode="auto">
          <a:xfrm>
            <a:off x="0" y="2209800"/>
            <a:ext cx="9144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52400" y="6477000"/>
            <a:ext cx="21336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800" b="0" i="1">
                <a:solidFill>
                  <a:srgbClr val="197AAB"/>
                </a:solidFill>
              </a:rPr>
              <a:t>© 2010 Pittsburgh Supercomputing Center</a:t>
            </a:r>
          </a:p>
        </p:txBody>
      </p:sp>
      <p:pic>
        <p:nvPicPr>
          <p:cNvPr id="6" name="Picture 11" descr="PSClogo_seconda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155700"/>
            <a:ext cx="28956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5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66800" y="2209800"/>
            <a:ext cx="7010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600200" y="3810000"/>
            <a:ext cx="61722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651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312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7483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524000"/>
            <a:ext cx="36957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81500" y="1524000"/>
            <a:ext cx="36957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33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8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6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245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674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8901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17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228600"/>
            <a:ext cx="190500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56260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87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 descr="POWERPT_ex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130"/>
          <a:stretch>
            <a:fillRect/>
          </a:stretch>
        </p:blipFill>
        <p:spPr bwMode="auto">
          <a:xfrm>
            <a:off x="0" y="6096000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40" name="Rectangle 8"/>
          <p:cNvSpPr>
            <a:spLocks noChangeArrowheads="1"/>
          </p:cNvSpPr>
          <p:nvPr/>
        </p:nvSpPr>
        <p:spPr bwMode="auto">
          <a:xfrm>
            <a:off x="152400" y="6477000"/>
            <a:ext cx="21336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800" b="0" i="1">
                <a:solidFill>
                  <a:srgbClr val="197AAB"/>
                </a:solidFill>
              </a:rPr>
              <a:t>© 2010 Pittsburgh Supercomputing Center</a:t>
            </a:r>
          </a:p>
        </p:txBody>
      </p:sp>
      <p:sp>
        <p:nvSpPr>
          <p:cNvPr id="102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620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524000"/>
            <a:ext cx="7543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1030" name="Picture 11" descr="PSClogo_secondary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6324600"/>
            <a:ext cx="144780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197AAB"/>
          </a:solidFill>
          <a:latin typeface="+mj-lt"/>
          <a:ea typeface="+mj-ea"/>
          <a:cs typeface="ＭＳ Ｐゴシック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197AAB"/>
          </a:solidFill>
          <a:latin typeface="Arial" charset="0"/>
          <a:ea typeface="ＭＳ Ｐゴシック" pitchFamily="1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197AAB"/>
          </a:solidFill>
          <a:latin typeface="Arial" charset="0"/>
          <a:ea typeface="ＭＳ Ｐゴシック" pitchFamily="1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197AAB"/>
          </a:solidFill>
          <a:latin typeface="Arial" charset="0"/>
          <a:ea typeface="ＭＳ Ｐゴシック" pitchFamily="1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197AAB"/>
          </a:solidFill>
          <a:latin typeface="Arial" charset="0"/>
          <a:ea typeface="ＭＳ Ｐゴシック" pitchFamily="1" charset="-128"/>
          <a:cs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197AAB"/>
          </a:solidFill>
          <a:latin typeface="Arial" charset="0"/>
          <a:ea typeface="ＭＳ Ｐゴシック" pitchFamily="1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197AAB"/>
          </a:solidFill>
          <a:latin typeface="Arial" charset="0"/>
          <a:ea typeface="ＭＳ Ｐゴシック" pitchFamily="1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197AAB"/>
          </a:solidFill>
          <a:latin typeface="Arial" charset="0"/>
          <a:ea typeface="ＭＳ Ｐゴシック" pitchFamily="1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197AAB"/>
          </a:solidFill>
          <a:latin typeface="Arial" charset="0"/>
          <a:ea typeface="ＭＳ Ｐゴシック" pitchFamily="1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rgbClr val="197AAB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rgbClr val="197AAB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197AAB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197AAB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197AAB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197AAB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197AAB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197AAB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rgbClr val="197AAB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>
                <a:latin typeface="Arial" charset="0"/>
                <a:ea typeface="ＭＳ Ｐゴシック" charset="0"/>
                <a:cs typeface="ＭＳ Ｐゴシック" charset="0"/>
              </a:rPr>
              <a:t>NetDev</a:t>
            </a:r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 0.1	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536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  <a:t>TCP Stack Instrumentation</a:t>
            </a:r>
            <a:br>
              <a:rPr lang="en-US" dirty="0" smtClean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US" dirty="0" err="1" smtClean="0">
                <a:latin typeface="Arial" charset="0"/>
                <a:ea typeface="ＭＳ Ｐゴシック" charset="0"/>
                <a:cs typeface="ＭＳ Ｐゴシック" charset="0"/>
              </a:rPr>
              <a:t>BoF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PLEASE SIGN IN!</a:t>
            </a:r>
          </a:p>
          <a:p>
            <a:r>
              <a:rPr lang="en-US" dirty="0" smtClean="0"/>
              <a:t>Who Am I?</a:t>
            </a:r>
          </a:p>
          <a:p>
            <a:r>
              <a:rPr lang="en-US" dirty="0" smtClean="0"/>
              <a:t>What Is Stack Instrumentation</a:t>
            </a:r>
          </a:p>
          <a:p>
            <a:r>
              <a:rPr lang="en-US" dirty="0" smtClean="0"/>
              <a:t>Use Cases</a:t>
            </a:r>
          </a:p>
          <a:p>
            <a:r>
              <a:rPr lang="en-US" dirty="0" smtClean="0"/>
              <a:t>Implementation Questions</a:t>
            </a:r>
          </a:p>
          <a:p>
            <a:r>
              <a:rPr lang="en-US" dirty="0" smtClean="0"/>
              <a:t>Where do we go from here?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0691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Am I?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Chris Rapier</a:t>
            </a:r>
          </a:p>
          <a:p>
            <a:pPr lvl="1"/>
            <a:r>
              <a:rPr lang="en-US" dirty="0" smtClean="0"/>
              <a:t>Pittsburgh Supercomputing Center</a:t>
            </a:r>
          </a:p>
          <a:p>
            <a:pPr lvl="1"/>
            <a:r>
              <a:rPr lang="en-US" dirty="0" smtClean="0"/>
              <a:t>Supporting scientific users from many fields</a:t>
            </a:r>
          </a:p>
          <a:p>
            <a:pPr lvl="1"/>
            <a:r>
              <a:rPr lang="en-US" dirty="0" smtClean="0"/>
              <a:t>Provides storage and compute resources</a:t>
            </a:r>
          </a:p>
          <a:p>
            <a:r>
              <a:rPr lang="en-US" dirty="0" smtClean="0"/>
              <a:t>Primary work in network performance and diagnostics</a:t>
            </a:r>
          </a:p>
          <a:p>
            <a:r>
              <a:rPr lang="en-US" dirty="0" smtClean="0"/>
              <a:t>Associated with HPN-SSH and Web10g</a:t>
            </a:r>
          </a:p>
          <a:p>
            <a:pPr lvl="1"/>
            <a:r>
              <a:rPr lang="en-US" dirty="0" smtClean="0"/>
              <a:t>Web10g implements RFC 4898 providing a wide range instruments</a:t>
            </a:r>
          </a:p>
        </p:txBody>
      </p:sp>
    </p:spTree>
    <p:extLst>
      <p:ext uri="{BB962C8B-B14F-4D97-AF65-F5344CB8AC3E}">
        <p14:creationId xmlns:p14="http://schemas.microsoft.com/office/powerpoint/2010/main" val="14254591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instrumentation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do we mean by instruments?</a:t>
            </a:r>
            <a:endParaRPr lang="en-US" dirty="0"/>
          </a:p>
          <a:p>
            <a:pPr lvl="1"/>
            <a:r>
              <a:rPr lang="en-US" dirty="0" smtClean="0"/>
              <a:t>A method of collecting data regarding per flow characteristics not normally revealed by the stack.</a:t>
            </a:r>
          </a:p>
          <a:p>
            <a:pPr lvl="1"/>
            <a:r>
              <a:rPr lang="en-US" dirty="0" smtClean="0"/>
              <a:t>Collected metrics must be revealed to userland</a:t>
            </a:r>
          </a:p>
          <a:p>
            <a:pPr lvl="1"/>
            <a:r>
              <a:rPr lang="en-US" dirty="0" smtClean="0"/>
              <a:t>Provides real and quantifiable value to some set of users (engineers, diagnostics, research, </a:t>
            </a:r>
            <a:r>
              <a:rPr lang="en-US" dirty="0" err="1" smtClean="0"/>
              <a:t>etc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How to validate the instruments</a:t>
            </a:r>
          </a:p>
          <a:p>
            <a:pPr lvl="2"/>
            <a:r>
              <a:rPr lang="en-US" dirty="0" smtClean="0"/>
              <a:t>Quantification of impact on performance</a:t>
            </a:r>
          </a:p>
        </p:txBody>
      </p:sp>
    </p:spTree>
    <p:extLst>
      <p:ext uri="{BB962C8B-B14F-4D97-AF65-F5344CB8AC3E}">
        <p14:creationId xmlns:p14="http://schemas.microsoft.com/office/powerpoint/2010/main" val="15734439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My community wants real world data to enable flow analysis and diagnostics</a:t>
            </a:r>
          </a:p>
          <a:p>
            <a:r>
              <a:rPr lang="en-US" dirty="0" smtClean="0"/>
              <a:t>What else? Which instruments?</a:t>
            </a:r>
          </a:p>
          <a:p>
            <a:pPr lvl="1"/>
            <a:r>
              <a:rPr lang="en-US" sz="1800" dirty="0" err="1" smtClean="0"/>
              <a:t>Eg</a:t>
            </a:r>
            <a:r>
              <a:rPr lang="en-US" sz="1800" dirty="0" smtClean="0"/>
              <a:t>: Twitter wants to know </a:t>
            </a:r>
            <a:r>
              <a:rPr lang="en-US" sz="1800" dirty="0" err="1" smtClean="0"/>
              <a:t>whats</a:t>
            </a:r>
            <a:r>
              <a:rPr lang="en-US" sz="1800" dirty="0" smtClean="0"/>
              <a:t> happening between containers (with their own stacks) when their jobs interfere with each other. They want </a:t>
            </a:r>
            <a:r>
              <a:rPr lang="en-US" sz="1800" dirty="0" err="1" smtClean="0"/>
              <a:t>pkt</a:t>
            </a:r>
            <a:r>
              <a:rPr lang="en-US" sz="1800" dirty="0" smtClean="0"/>
              <a:t>/byte stats, congestion metrics, RTT, queue lengths.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927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to implement the instruments</a:t>
            </a:r>
          </a:p>
          <a:p>
            <a:r>
              <a:rPr lang="en-US" dirty="0" smtClean="0"/>
              <a:t>How to provide the data to userland</a:t>
            </a:r>
          </a:p>
          <a:p>
            <a:pPr lvl="1"/>
            <a:r>
              <a:rPr lang="en-US" dirty="0" smtClean="0"/>
              <a:t>TCP_INFO</a:t>
            </a:r>
          </a:p>
          <a:p>
            <a:pPr lvl="2"/>
            <a:r>
              <a:rPr lang="en-US" dirty="0" smtClean="0"/>
              <a:t>Obvious choice</a:t>
            </a:r>
          </a:p>
          <a:p>
            <a:pPr lvl="1"/>
            <a:r>
              <a:rPr lang="en-US" dirty="0" smtClean="0"/>
              <a:t>NETLINK</a:t>
            </a:r>
          </a:p>
          <a:p>
            <a:pPr lvl="1"/>
            <a:r>
              <a:rPr lang="en-US" dirty="0" smtClean="0"/>
              <a:t>Something else?</a:t>
            </a:r>
          </a:p>
          <a:p>
            <a:r>
              <a:rPr lang="en-US" dirty="0" smtClean="0"/>
              <a:t>Do we even need to address this question now?</a:t>
            </a:r>
          </a:p>
        </p:txBody>
      </p:sp>
    </p:spTree>
    <p:extLst>
      <p:ext uri="{BB962C8B-B14F-4D97-AF65-F5344CB8AC3E}">
        <p14:creationId xmlns:p14="http://schemas.microsoft.com/office/powerpoint/2010/main" val="205623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do we go from here?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Mailing list</a:t>
            </a:r>
          </a:p>
          <a:p>
            <a:r>
              <a:rPr lang="en-US" dirty="0" smtClean="0"/>
              <a:t>Working group</a:t>
            </a:r>
          </a:p>
          <a:p>
            <a:r>
              <a:rPr lang="en-US" dirty="0" smtClean="0"/>
              <a:t>Future conference meet ups</a:t>
            </a:r>
          </a:p>
          <a:p>
            <a:r>
              <a:rPr lang="en-US" dirty="0" smtClean="0"/>
              <a:t>Coordinated effort</a:t>
            </a:r>
          </a:p>
          <a:p>
            <a:pPr lvl="1"/>
            <a:r>
              <a:rPr lang="en-US" dirty="0" smtClean="0"/>
              <a:t>What are the shared goals?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5887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SCPresentationTemplate2010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tx1">
              <a:gamma/>
              <a:shade val="60000"/>
              <a:invGamma/>
            </a:schemeClr>
          </a:prst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tx1">
              <a:gamma/>
              <a:shade val="60000"/>
              <a:invGamma/>
            </a:schemeClr>
          </a:prst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PSCPresentationTemplate2010.potx</Template>
  <TotalTime>796</TotalTime>
  <Words>247</Words>
  <Application>Microsoft Macintosh PowerPoint</Application>
  <PresentationFormat>On-screen Show (4:3)</PresentationFormat>
  <Paragraphs>43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PSCPresentationTemplate2010</vt:lpstr>
      <vt:lpstr>NetDev 0.1 </vt:lpstr>
      <vt:lpstr>Agenda </vt:lpstr>
      <vt:lpstr>Who Am I? </vt:lpstr>
      <vt:lpstr>What is instrumentation </vt:lpstr>
      <vt:lpstr>Use Cases</vt:lpstr>
      <vt:lpstr>Implementation </vt:lpstr>
      <vt:lpstr>Where do we go from here? </vt:lpstr>
    </vt:vector>
  </TitlesOfParts>
  <Company>Pittsburgh Supercomputing Center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Beth Albert</dc:creator>
  <cp:lastModifiedBy>Chris Rapier</cp:lastModifiedBy>
  <cp:revision>6</cp:revision>
  <dcterms:created xsi:type="dcterms:W3CDTF">2010-01-28T17:13:42Z</dcterms:created>
  <dcterms:modified xsi:type="dcterms:W3CDTF">2015-02-15T18:39:56Z</dcterms:modified>
</cp:coreProperties>
</file>