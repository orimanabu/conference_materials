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sldIdLst>
    <p:sldId id="536" r:id="rId5"/>
    <p:sldId id="544" r:id="rId6"/>
    <p:sldId id="542" r:id="rId7"/>
    <p:sldId id="569" r:id="rId8"/>
    <p:sldId id="571" r:id="rId9"/>
    <p:sldId id="552" r:id="rId10"/>
    <p:sldId id="562" r:id="rId11"/>
    <p:sldId id="570" r:id="rId12"/>
    <p:sldId id="563" r:id="rId13"/>
    <p:sldId id="567" r:id="rId14"/>
    <p:sldId id="564" r:id="rId15"/>
    <p:sldId id="568" r:id="rId16"/>
    <p:sldId id="591" r:id="rId17"/>
    <p:sldId id="586" r:id="rId18"/>
    <p:sldId id="565" r:id="rId19"/>
    <p:sldId id="589" r:id="rId20"/>
    <p:sldId id="587" r:id="rId21"/>
    <p:sldId id="590" r:id="rId22"/>
    <p:sldId id="551" r:id="rId23"/>
    <p:sldId id="554" r:id="rId24"/>
    <p:sldId id="592" r:id="rId25"/>
    <p:sldId id="582" r:id="rId26"/>
    <p:sldId id="555" r:id="rId27"/>
    <p:sldId id="574" r:id="rId28"/>
    <p:sldId id="578" r:id="rId29"/>
    <p:sldId id="575" r:id="rId30"/>
    <p:sldId id="579" r:id="rId31"/>
    <p:sldId id="556" r:id="rId32"/>
    <p:sldId id="573" r:id="rId33"/>
    <p:sldId id="557" r:id="rId34"/>
    <p:sldId id="558" r:id="rId35"/>
    <p:sldId id="559" r:id="rId36"/>
    <p:sldId id="560" r:id="rId37"/>
    <p:sldId id="572" r:id="rId38"/>
    <p:sldId id="535" r:id="rId39"/>
  </p:sldIdLst>
  <p:sldSz cx="14630400" cy="8229600"/>
  <p:notesSz cx="9144000" cy="6858000"/>
  <p:defaultTextStyle>
    <a:defPPr>
      <a:defRPr lang="en-US"/>
    </a:defPPr>
    <a:lvl1pPr marL="0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1157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2321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3481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4641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5777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6925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8084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9275" algn="l" defTabSz="1302321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3AB"/>
    <a:srgbClr val="005AAB"/>
    <a:srgbClr val="1C1F5A"/>
    <a:srgbClr val="005AAC"/>
    <a:srgbClr val="B7C035"/>
    <a:srgbClr val="B7BF36"/>
    <a:srgbClr val="F18E2B"/>
    <a:srgbClr val="3283AB"/>
    <a:srgbClr val="808000"/>
    <a:srgbClr val="0178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1" autoAdjust="0"/>
    <p:restoredTop sz="91035" autoAdjust="0"/>
  </p:normalViewPr>
  <p:slideViewPr>
    <p:cSldViewPr snapToGrid="0">
      <p:cViewPr varScale="1">
        <p:scale>
          <a:sx n="60" d="100"/>
          <a:sy n="60" d="100"/>
        </p:scale>
        <p:origin x="108" y="90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XDP_DROP</a:t>
            </a:r>
            <a:r>
              <a:rPr lang="en-US" sz="2400" baseline="0" dirty="0"/>
              <a:t> </a:t>
            </a:r>
            <a:r>
              <a:rPr lang="en-US" sz="2400" dirty="0"/>
              <a:t>packet rate (</a:t>
            </a:r>
            <a:r>
              <a:rPr lang="en-US" sz="2400" dirty="0" err="1"/>
              <a:t>Mpps</a:t>
            </a:r>
            <a:r>
              <a:rPr lang="en-US" sz="240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packet rate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3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Sheet2!$B$2:$B$3</c:f>
              <c:numCache>
                <c:formatCode>General</c:formatCode>
                <c:ptCount val="2"/>
                <c:pt idx="0">
                  <c:v>83</c:v>
                </c:pt>
                <c:pt idx="1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D1-4438-9E5C-8CAE90849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339340592"/>
        <c:axId val="461884936"/>
        <c:axId val="0"/>
      </c:bar3DChart>
      <c:catAx>
        <c:axId val="33934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884936"/>
        <c:crosses val="autoZero"/>
        <c:auto val="1"/>
        <c:lblAlgn val="ctr"/>
        <c:lblOffset val="100"/>
        <c:noMultiLvlLbl val="0"/>
      </c:catAx>
      <c:valAx>
        <c:axId val="461884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34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XDP_TX packet rate (</a:t>
            </a:r>
            <a:r>
              <a:rPr lang="en-US" sz="2400" dirty="0" err="1"/>
              <a:t>Mpps</a:t>
            </a:r>
            <a:r>
              <a:rPr lang="en-US" sz="240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Sheet2!$B$7</c:f>
              <c:strCache>
                <c:ptCount val="1"/>
                <c:pt idx="0">
                  <c:v>xdp_tx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Sheet2!$A$8:$A$9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Sheet2!$B$8:$B$9</c:f>
              <c:numCache>
                <c:formatCode>General</c:formatCode>
                <c:ptCount val="2"/>
                <c:pt idx="0">
                  <c:v>70</c:v>
                </c:pt>
                <c:pt idx="1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F0-4482-BB83-C2E6A1D0C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339340592"/>
        <c:axId val="461884936"/>
        <c:axId val="0"/>
      </c:bar3DChart>
      <c:catAx>
        <c:axId val="33934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884936"/>
        <c:crosses val="autoZero"/>
        <c:auto val="1"/>
        <c:lblAlgn val="ctr"/>
        <c:lblOffset val="100"/>
        <c:noMultiLvlLbl val="0"/>
      </c:catAx>
      <c:valAx>
        <c:axId val="461884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34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XDP_REDIRECT packet rate (</a:t>
            </a:r>
            <a:r>
              <a:rPr lang="en-US" sz="2400" dirty="0" err="1"/>
              <a:t>Mpps</a:t>
            </a:r>
            <a:r>
              <a:rPr lang="en-US" sz="2400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Sheet2!$C$7</c:f>
              <c:strCache>
                <c:ptCount val="1"/>
                <c:pt idx="0">
                  <c:v>xdp_redirect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accent6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6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Sheet2!$A$8:$A$9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Sheet2!$C$8:$C$9</c:f>
              <c:numCache>
                <c:formatCode>General</c:formatCode>
                <c:ptCount val="2"/>
                <c:pt idx="0">
                  <c:v>64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C-43EF-8F6F-A4B1C17DB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339340592"/>
        <c:axId val="461884936"/>
        <c:axId val="0"/>
      </c:bar3DChart>
      <c:catAx>
        <c:axId val="33934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1884936"/>
        <c:crosses val="autoZero"/>
        <c:auto val="1"/>
        <c:lblAlgn val="ctr"/>
        <c:lblOffset val="100"/>
        <c:noMultiLvlLbl val="0"/>
      </c:catAx>
      <c:valAx>
        <c:axId val="461884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34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9F104-CBB3-4818-9385-E613E85691A6}" type="datetimeFigureOut">
              <a:rPr lang="en-US" smtClean="0"/>
              <a:t>3/17/2019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9BDF6-799E-414E-B06B-D41DDC57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2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51157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302321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53481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604641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255777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06925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58084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09275" algn="l" defTabSz="130232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1898" y="577629"/>
            <a:ext cx="11092513" cy="6387883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91613" y="5929182"/>
            <a:ext cx="9381490" cy="389254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l">
              <a:lnSpc>
                <a:spcPts val="3000"/>
              </a:lnSpc>
              <a:buClr>
                <a:schemeClr val="accent1"/>
              </a:buClr>
              <a:buNone/>
              <a:defRPr sz="3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Sub Title Slide Name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00219" y="6360242"/>
            <a:ext cx="4848226" cy="3338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Month</a:t>
            </a:r>
            <a:r>
              <a:rPr lang="he-IL" dirty="0"/>
              <a:t> </a:t>
            </a:r>
            <a:r>
              <a:rPr lang="he-IL" dirty="0" err="1"/>
              <a:t>Y</a:t>
            </a:r>
            <a:r>
              <a:rPr lang="en-US" dirty="0"/>
              <a:t>ear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473325" y="4303988"/>
            <a:ext cx="6161155" cy="1545881"/>
          </a:xfrm>
          <a:prstGeom prst="rect">
            <a:avLst/>
          </a:prstGeom>
        </p:spPr>
        <p:txBody>
          <a:bodyPr anchor="b"/>
          <a:lstStyle>
            <a:lvl1pPr>
              <a:lnSpc>
                <a:spcPts val="5800"/>
              </a:lnSpc>
              <a:defRPr sz="60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Name Here</a:t>
            </a:r>
          </a:p>
        </p:txBody>
      </p:sp>
      <p:sp>
        <p:nvSpPr>
          <p:cNvPr id="20" name="Rectangle 19"/>
          <p:cNvSpPr/>
          <p:nvPr userDrawn="1"/>
        </p:nvSpPr>
        <p:spPr bwMode="auto">
          <a:xfrm>
            <a:off x="568563" y="6749875"/>
            <a:ext cx="634692" cy="634692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 userDrawn="1"/>
        </p:nvSpPr>
        <p:spPr bwMode="auto">
          <a:xfrm>
            <a:off x="568563" y="7440021"/>
            <a:ext cx="284877" cy="284877"/>
          </a:xfrm>
          <a:prstGeom prst="rect">
            <a:avLst/>
          </a:prstGeom>
          <a:solidFill>
            <a:srgbClr val="31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23AE0-2C1D-BE4F-AFF5-289BB27A08F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1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73325" y="3289844"/>
            <a:ext cx="7101182" cy="173638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5800"/>
              </a:lnSpc>
              <a:defRPr sz="60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Name Here </a:t>
            </a: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568563" y="5026231"/>
            <a:ext cx="634692" cy="634692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568563" y="5716377"/>
            <a:ext cx="284877" cy="284877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672D2-C8BE-F74E-B004-8E59391F72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73325" y="2903537"/>
            <a:ext cx="7101182" cy="173638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5800"/>
              </a:lnSpc>
              <a:defRPr sz="60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Name Here </a:t>
            </a: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568563" y="5026231"/>
            <a:ext cx="634692" cy="634692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568563" y="5716377"/>
            <a:ext cx="284877" cy="284877"/>
          </a:xfrm>
          <a:prstGeom prst="rect">
            <a:avLst/>
          </a:prstGeom>
          <a:solidFill>
            <a:srgbClr val="31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FA0895-107B-ED49-AC10-14C4AD710DB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91613" y="4636977"/>
            <a:ext cx="9381490" cy="389254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l">
              <a:lnSpc>
                <a:spcPts val="3000"/>
              </a:lnSpc>
              <a:buClr>
                <a:schemeClr val="accent1"/>
              </a:buClr>
              <a:buNone/>
              <a:defRPr sz="3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Sub Title Slide Name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63DF2-79DA-8142-A275-DF563D67CD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2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08718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13436600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32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7F845-067A-A44A-A14A-8AA7A126E5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6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68327" y="1267822"/>
            <a:ext cx="13436949" cy="439954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3000"/>
              </a:lnSpc>
              <a:buFont typeface="Wingdings" charset="2"/>
              <a:buNone/>
              <a:defRPr sz="3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21244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13436600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9014C-065E-4B48-B7C8-59F5637E41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32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plit-v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33770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13436600" cy="2765311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568325" y="4959323"/>
            <a:ext cx="13436600" cy="2765311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256A65-780F-4248-BEC1-2B3FDE6BA1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7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plit-v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21244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13436600" cy="2765311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568325" y="4959323"/>
            <a:ext cx="13436600" cy="2765311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68327" y="1267822"/>
            <a:ext cx="13436949" cy="439954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3000"/>
              </a:lnSpc>
              <a:buFont typeface="Wingdings" charset="2"/>
              <a:buNone/>
              <a:defRPr sz="3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A7FE6-39DA-D44A-868D-F6A23F9DD5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60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plit2-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33770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5914362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7173842" y="1849438"/>
            <a:ext cx="5914362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46C45-7BAA-8144-89B0-E18158097A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8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plit-o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21244" cy="65472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849438"/>
            <a:ext cx="5914362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7173842" y="1849438"/>
            <a:ext cx="5914362" cy="579120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68327" y="1267822"/>
            <a:ext cx="13436949" cy="439954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3000"/>
              </a:lnSpc>
              <a:buFont typeface="Wingdings" charset="2"/>
              <a:buNone/>
              <a:defRPr sz="3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6F014-0325-1648-A941-84851D6626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2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68328" y="1267821"/>
            <a:ext cx="12609790" cy="453403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2600"/>
              </a:lnSpc>
              <a:buFont typeface="Wingdings" charset="2"/>
              <a:buNone/>
              <a:defRPr sz="2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21244" cy="668370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568328" y="4522818"/>
            <a:ext cx="12609790" cy="453403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2600"/>
              </a:lnSpc>
              <a:buFont typeface="Wingdings" charset="2"/>
              <a:buNone/>
              <a:defRPr sz="2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5" y="1762167"/>
            <a:ext cx="13436600" cy="2492225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568325" y="5003518"/>
            <a:ext cx="13436600" cy="2461810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6B211-A1F3-6E42-B9DA-2B7A436597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68328" y="1267821"/>
            <a:ext cx="12609790" cy="453403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2600"/>
              </a:lnSpc>
              <a:buFont typeface="Wingdings" charset="2"/>
              <a:buNone/>
              <a:defRPr sz="2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21244" cy="668370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568328" y="3483829"/>
            <a:ext cx="12609790" cy="453403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2600"/>
              </a:lnSpc>
              <a:buFont typeface="Wingdings" charset="2"/>
              <a:buNone/>
              <a:defRPr sz="2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68328" y="5696997"/>
            <a:ext cx="12609790" cy="453403"/>
          </a:xfrm>
          <a:prstGeom prst="rect">
            <a:avLst/>
          </a:prstGeom>
          <a:solidFill>
            <a:srgbClr val="1C1F5A"/>
          </a:solidFill>
        </p:spPr>
        <p:txBody>
          <a:bodyPr anchor="ctr" anchorCtr="0"/>
          <a:lstStyle>
            <a:lvl1pPr marL="0" indent="0">
              <a:lnSpc>
                <a:spcPts val="2600"/>
              </a:lnSpc>
              <a:buFont typeface="Wingdings" charset="2"/>
              <a:buNone/>
              <a:defRPr sz="2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568328" y="1721223"/>
            <a:ext cx="13436600" cy="1648099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ts val="22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ts val="22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568328" y="3942124"/>
            <a:ext cx="13436600" cy="1638313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ts val="22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ts val="22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568328" y="6150400"/>
            <a:ext cx="13436600" cy="1648098"/>
          </a:xfrm>
          <a:prstGeom prst="rect">
            <a:avLst/>
          </a:prstGeom>
        </p:spPr>
        <p:txBody>
          <a:bodyPr/>
          <a:lstStyle>
            <a:lvl1pPr marL="227903" indent="-246126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>
              <a:lnSpc>
                <a:spcPts val="22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>
              <a:lnSpc>
                <a:spcPts val="22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260E4-A4C4-024A-9A95-E4C404A56D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908718" cy="788470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96BC3-8C03-A94B-BBBC-5B14DADBC5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090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rot="10800000">
            <a:off x="1033281" y="3459413"/>
            <a:ext cx="4402578" cy="4419654"/>
            <a:chOff x="8876201" y="2009795"/>
            <a:chExt cx="3150551" cy="31627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 userDrawn="1"/>
        </p:nvGrpSpPr>
        <p:grpSpPr>
          <a:xfrm>
            <a:off x="8913916" y="972583"/>
            <a:ext cx="4402578" cy="4419654"/>
            <a:chOff x="8876201" y="2009795"/>
            <a:chExt cx="3150551" cy="31627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564966" y="4083555"/>
            <a:ext cx="3030394" cy="590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Font typeface="Wingdings" charset="2"/>
              <a:buNone/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768983" indent="-457200">
              <a:lnSpc>
                <a:spcPts val="280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038103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77622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60226" indent="-457200">
              <a:lnSpc>
                <a:spcPts val="2200"/>
              </a:lnSpc>
              <a:buClr>
                <a:srgbClr val="B7BF36"/>
              </a:buClr>
              <a:buSzPct val="90000"/>
              <a:buFontTx/>
              <a:buBlip>
                <a:blip r:embed="rId6"/>
              </a:buBlip>
              <a:defRPr sz="22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Visual</a:t>
            </a:r>
            <a:endParaRPr lang="en-US" dirty="0"/>
          </a:p>
        </p:txBody>
      </p:sp>
      <p:sp>
        <p:nvSpPr>
          <p:cNvPr id="11" name="Title 2"/>
          <p:cNvSpPr>
            <a:spLocks noGrp="1"/>
          </p:cNvSpPr>
          <p:nvPr>
            <p:ph type="title" hasCustomPrompt="1"/>
          </p:nvPr>
        </p:nvSpPr>
        <p:spPr>
          <a:xfrm>
            <a:off x="554679" y="491691"/>
            <a:ext cx="11896192" cy="788470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440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FFB44-3371-554A-8655-60421E2CCB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4F552D-B162-AD4E-8F14-F38C0B6B10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922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568563" y="6568118"/>
            <a:ext cx="634692" cy="634692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 userDrawn="1"/>
        </p:nvSpPr>
        <p:spPr bwMode="auto">
          <a:xfrm>
            <a:off x="568563" y="7258264"/>
            <a:ext cx="284877" cy="284877"/>
          </a:xfrm>
          <a:prstGeom prst="rect">
            <a:avLst/>
          </a:prstGeom>
          <a:solidFill>
            <a:srgbClr val="31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1898" y="1159709"/>
            <a:ext cx="11092513" cy="6387883"/>
          </a:xfrm>
          <a:prstGeom prst="rect">
            <a:avLst/>
          </a:prstGeom>
        </p:spPr>
      </p:pic>
      <p:sp>
        <p:nvSpPr>
          <p:cNvPr id="24" name="Title 3"/>
          <p:cNvSpPr txBox="1">
            <a:spLocks/>
          </p:cNvSpPr>
          <p:nvPr userDrawn="1"/>
        </p:nvSpPr>
        <p:spPr>
          <a:xfrm>
            <a:off x="479134" y="5703798"/>
            <a:ext cx="4875658" cy="85135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3100" b="0" baseline="0">
                <a:solidFill>
                  <a:schemeClr val="bg1"/>
                </a:solidFill>
                <a:latin typeface="+mj-lt"/>
                <a:ea typeface="Arial" pitchFamily="34" charset="0"/>
                <a:cs typeface="Arial" pitchFamily="34" charset="0"/>
              </a:defRPr>
            </a:lvl1pPr>
            <a:lvl2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2pPr>
            <a:lvl3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3pPr>
            <a:lvl4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4pPr>
            <a:lvl5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5pPr>
            <a:lvl6pPr marL="651093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1302191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953287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2604378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defTabSz="914400">
              <a:lnSpc>
                <a:spcPts val="5700"/>
              </a:lnSpc>
            </a:pPr>
            <a:r>
              <a:rPr lang="en-US" sz="60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Thank You</a:t>
            </a:r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  <a:alpha val="70000"/>
              </a:schemeClr>
            </a:gs>
            <a:gs pos="100000">
              <a:schemeClr val="bg1">
                <a:lumMod val="85000"/>
                <a:alpha val="66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DF21D0-2DBF-3E44-8D9B-E9AEB830EF27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E5F08F-CEB2-C44C-A1B4-22947092FD5A}"/>
              </a:ext>
            </a:extLst>
          </p:cNvPr>
          <p:cNvSpPr/>
          <p:nvPr userDrawn="1"/>
        </p:nvSpPr>
        <p:spPr>
          <a:xfrm>
            <a:off x="11988735" y="7867845"/>
            <a:ext cx="19816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 Light" panose="020F0302020204030204" pitchFamily="34" charset="0"/>
                <a:cs typeface="Arial" charset="0"/>
              </a:rPr>
              <a:t>© 2019 Mellanox Technologies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900D4-1FC6-DD4E-8E79-600BC369E8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842181" y="7824982"/>
            <a:ext cx="531095" cy="34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614" tIns="65309" rIns="130614" bIns="65309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400" b="1" i="0">
                <a:solidFill>
                  <a:srgbClr val="3183AB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1400" b="1" i="0" dirty="0">
              <a:solidFill>
                <a:srgbClr val="3183AB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0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82" r:id="rId3"/>
    <p:sldLayoutId id="2147483679" r:id="rId4"/>
    <p:sldLayoutId id="2147483662" r:id="rId5"/>
    <p:sldLayoutId id="2147483680" r:id="rId6"/>
    <p:sldLayoutId id="2147483677" r:id="rId7"/>
    <p:sldLayoutId id="2147483681" r:id="rId8"/>
    <p:sldLayoutId id="2147483676" r:id="rId9"/>
    <p:sldLayoutId id="2147483674" r:id="rId10"/>
    <p:sldLayoutId id="2147483678" r:id="rId11"/>
    <p:sldLayoutId id="2147483668" r:id="rId12"/>
    <p:sldLayoutId id="2147483673" r:id="rId13"/>
    <p:sldLayoutId id="2147483669" r:id="rId14"/>
    <p:sldLayoutId id="2147483672" r:id="rId15"/>
  </p:sldLayoutIdLst>
  <p:hf sldNum="0" hdr="0" ftr="0" dt="0"/>
  <p:txStyles>
    <p:titleStyle>
      <a:lvl1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3100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651093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6pPr>
      <a:lvl7pPr marL="1302191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7pPr>
      <a:lvl8pPr marL="195328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8pPr>
      <a:lvl9pPr marL="2604378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27903" indent="-246126" algn="l" rtl="0" eaLnBrk="1" fontAlgn="base" hangingPunct="1">
        <a:spcBef>
          <a:spcPts val="600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24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566587" indent="-254804" algn="l" rtl="0" eaLnBrk="1" fontAlgn="base" hangingPunct="1">
        <a:spcBef>
          <a:spcPts val="42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21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819885" indent="-238982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9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1093927" indent="-273505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9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1312727" indent="-209701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14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3580951" indent="-325522" algn="l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cs typeface="+mn-cs"/>
        </a:defRPr>
      </a:lvl6pPr>
      <a:lvl7pPr marL="4232077" indent="-325522" algn="l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cs typeface="+mn-cs"/>
        </a:defRPr>
      </a:lvl7pPr>
      <a:lvl8pPr marL="4883164" indent="-325522" algn="l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cs typeface="+mn-cs"/>
        </a:defRPr>
      </a:lvl8pPr>
      <a:lvl9pPr marL="5534259" indent="-325522" algn="l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1093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2191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3287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4378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5452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6535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7626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8755" algn="l" defTabSz="130219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dp-project/xdp-project/blob/master/areas/mem/page_pool01_evolving_API.org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dp-project/xdp-project/blob/master/areas/mem/page_pool02_SKB_return_callback.org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ronlu/linux/tree/zone_lock_rfc_v3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500219" y="5840468"/>
            <a:ext cx="9381490" cy="519774"/>
          </a:xfrm>
        </p:spPr>
        <p:txBody>
          <a:bodyPr/>
          <a:lstStyle/>
          <a:p>
            <a:r>
              <a:rPr lang="en-US" sz="4000" dirty="0"/>
              <a:t>Tariq Toukan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>
          <a:xfrm>
            <a:off x="500219" y="6360242"/>
            <a:ext cx="8483360" cy="389254"/>
          </a:xfrm>
        </p:spPr>
        <p:txBody>
          <a:bodyPr/>
          <a:lstStyle/>
          <a:p>
            <a:r>
              <a:rPr lang="en-US" sz="2800" dirty="0"/>
              <a:t>Netdev 0x13, March 2019, Prague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0219" y="4114800"/>
            <a:ext cx="9127875" cy="1545881"/>
          </a:xfrm>
        </p:spPr>
        <p:txBody>
          <a:bodyPr/>
          <a:lstStyle/>
          <a:p>
            <a:r>
              <a:rPr lang="en-US" dirty="0"/>
              <a:t>Bottlenecks in</a:t>
            </a:r>
            <a:br>
              <a:rPr lang="en-US" dirty="0"/>
            </a:br>
            <a:r>
              <a:rPr lang="en-US" dirty="0"/>
              <a:t>increasing network speeds</a:t>
            </a:r>
          </a:p>
        </p:txBody>
      </p:sp>
    </p:spTree>
    <p:extLst>
      <p:ext uri="{BB962C8B-B14F-4D97-AF65-F5344CB8AC3E}">
        <p14:creationId xmlns:p14="http://schemas.microsoft.com/office/powerpoint/2010/main" val="119224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3200" dirty="0"/>
              <a:t>Motivation</a:t>
            </a:r>
          </a:p>
          <a:p>
            <a:endParaRPr lang="en-US" sz="3200" dirty="0"/>
          </a:p>
          <a:p>
            <a:r>
              <a:rPr lang="en-US" sz="3200" dirty="0"/>
              <a:t>PCI bottleneck:</a:t>
            </a:r>
          </a:p>
          <a:p>
            <a:pPr lvl="1"/>
            <a:r>
              <a:rPr lang="en-US" sz="2800" dirty="0"/>
              <a:t>Bottleneck description</a:t>
            </a:r>
          </a:p>
          <a:p>
            <a:pPr lvl="1"/>
            <a:r>
              <a:rPr lang="en-US" sz="2800" dirty="0"/>
              <a:t>HW features for improved PCI utilization:</a:t>
            </a:r>
          </a:p>
          <a:p>
            <a:pPr lvl="2"/>
            <a:r>
              <a:rPr lang="en-US" sz="2400" dirty="0"/>
              <a:t>RX completion descriptors compression</a:t>
            </a:r>
          </a:p>
          <a:p>
            <a:pPr lvl="2"/>
            <a:r>
              <a:rPr lang="en-US" sz="2400" dirty="0"/>
              <a:t>TX descriptors bulking</a:t>
            </a:r>
          </a:p>
          <a:p>
            <a:pPr lvl="1"/>
            <a:endParaRPr lang="en-US" sz="2800" dirty="0"/>
          </a:p>
          <a:p>
            <a:r>
              <a:rPr lang="en-US" sz="3200" dirty="0"/>
              <a:t>CPU bottleneck:</a:t>
            </a:r>
          </a:p>
          <a:p>
            <a:pPr lvl="1"/>
            <a:r>
              <a:rPr lang="en-US" sz="2800" dirty="0"/>
              <a:t>Page allocator review</a:t>
            </a:r>
          </a:p>
          <a:p>
            <a:pPr lvl="1"/>
            <a:r>
              <a:rPr lang="en-US" sz="2800" dirty="0"/>
              <a:t>Bottleneck description</a:t>
            </a:r>
          </a:p>
          <a:p>
            <a:pPr lvl="1"/>
            <a:r>
              <a:rPr lang="en-US" sz="2800" dirty="0"/>
              <a:t>Ideas and solutions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957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67244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Motivation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NIC speeds are getting really high:</a:t>
            </a:r>
          </a:p>
          <a:p>
            <a:pPr lvl="1"/>
            <a:r>
              <a:rPr lang="en-US" dirty="0"/>
              <a:t>NIC speed of 100Gbps is out there for a few years…</a:t>
            </a:r>
          </a:p>
          <a:p>
            <a:pPr lvl="1"/>
            <a:r>
              <a:rPr lang="en-US" dirty="0"/>
              <a:t>Current state-of-the-art speed is 200Gbps</a:t>
            </a:r>
          </a:p>
          <a:p>
            <a:pPr lvl="1"/>
            <a:r>
              <a:rPr lang="en-US" dirty="0"/>
              <a:t>Next generation NICs are going to be 400Gbps</a:t>
            </a:r>
          </a:p>
          <a:p>
            <a:endParaRPr lang="en-US" dirty="0"/>
          </a:p>
          <a:p>
            <a:r>
              <a:rPr lang="en-US" dirty="0"/>
              <a:t>Higher packet rate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less time to spend processing a packet</a:t>
            </a:r>
          </a:p>
          <a:p>
            <a:r>
              <a:rPr lang="en-US" dirty="0"/>
              <a:t>The stack needs to be on par with such processing rates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88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These high NIC speeds come with a variety of new challenges</a:t>
            </a:r>
            <a:br>
              <a:rPr lang="en-US" dirty="0"/>
            </a:br>
            <a:r>
              <a:rPr lang="en-US" dirty="0"/>
              <a:t>and expose </a:t>
            </a:r>
            <a:r>
              <a:rPr lang="en-US" b="1" dirty="0"/>
              <a:t>bottlenecks </a:t>
            </a:r>
            <a:r>
              <a:rPr lang="en-US" dirty="0"/>
              <a:t>in several components</a:t>
            </a:r>
          </a:p>
          <a:p>
            <a:endParaRPr lang="en-US" dirty="0"/>
          </a:p>
          <a:p>
            <a:r>
              <a:rPr lang="en-US" dirty="0"/>
              <a:t>A network’s performance is limited by its weaker SW/HW layer or component</a:t>
            </a:r>
          </a:p>
          <a:p>
            <a:r>
              <a:rPr lang="en-US" dirty="0"/>
              <a:t>Hence, </a:t>
            </a:r>
            <a:r>
              <a:rPr lang="en-US" b="1" dirty="0"/>
              <a:t>bottleneck analysis </a:t>
            </a:r>
            <a:r>
              <a:rPr lang="en-US" dirty="0"/>
              <a:t>and </a:t>
            </a:r>
            <a:r>
              <a:rPr lang="en-US" b="1" dirty="0"/>
              <a:t>addressing</a:t>
            </a:r>
            <a:r>
              <a:rPr lang="en-US" dirty="0"/>
              <a:t> is essential to fully utilize the NICs linerate</a:t>
            </a:r>
          </a:p>
          <a:p>
            <a:endParaRPr lang="en-US" dirty="0"/>
          </a:p>
          <a:p>
            <a:r>
              <a:rPr lang="en-US" dirty="0"/>
              <a:t>Important:</a:t>
            </a:r>
          </a:p>
          <a:p>
            <a:pPr lvl="1"/>
            <a:r>
              <a:rPr lang="en-US" dirty="0"/>
              <a:t>Do not wait until you hit the bottleneck</a:t>
            </a:r>
          </a:p>
          <a:p>
            <a:pPr lvl="1"/>
            <a:r>
              <a:rPr lang="en-US" dirty="0"/>
              <a:t>Prepare in advance</a:t>
            </a:r>
          </a:p>
          <a:p>
            <a:endParaRPr lang="en-US" dirty="0"/>
          </a:p>
          <a:p>
            <a:r>
              <a:rPr lang="en-US" dirty="0"/>
              <a:t>Bottleneck analysis is the key stage that leads to deep discussions</a:t>
            </a:r>
          </a:p>
          <a:p>
            <a:r>
              <a:rPr lang="en-US" dirty="0"/>
              <a:t>end up with plans / tasks / roadmap of innovative features.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9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 bottleneck</a:t>
            </a:r>
          </a:p>
        </p:txBody>
      </p:sp>
    </p:spTree>
    <p:extLst>
      <p:ext uri="{BB962C8B-B14F-4D97-AF65-F5344CB8AC3E}">
        <p14:creationId xmlns:p14="http://schemas.microsoft.com/office/powerpoint/2010/main" val="365509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 generations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Supported speeds and encoding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49836"/>
              </p:ext>
            </p:extLst>
          </p:nvPr>
        </p:nvGraphicFramePr>
        <p:xfrm>
          <a:off x="810322" y="2357863"/>
          <a:ext cx="11431946" cy="3423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Gen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Introduced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Encoding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Speed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Throughput</a:t>
                      </a:r>
                      <a:r>
                        <a:rPr lang="en-US" sz="2600" baseline="0" dirty="0">
                          <a:latin typeface="+mn-lt"/>
                        </a:rPr>
                        <a:t> (per Width) [Gb/s]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X16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2.5GT/s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5GT/s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128/130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8GT/s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b="1" i="0" u="sng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126.03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128/130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16GT/s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126.03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252.06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TBA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128/130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n-lt"/>
                        </a:rPr>
                        <a:t>32GT/s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126.03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252.06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504.12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149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 bottleneck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PCI Express 3.0 x16 width link throughput is ~126Gbps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PCI data transfer overhead:</a:t>
            </a:r>
          </a:p>
          <a:p>
            <a:r>
              <a:rPr lang="en-US" dirty="0"/>
              <a:t>Symbol encoding: 128/130, ~</a:t>
            </a:r>
            <a:r>
              <a:rPr lang="en-US" dirty="0">
                <a:sym typeface="Wingdings" panose="05000000000000000000" pitchFamily="2" charset="2"/>
              </a:rPr>
              <a:t>1.5% overhead</a:t>
            </a:r>
            <a:endParaRPr lang="en-US" dirty="0"/>
          </a:p>
          <a:p>
            <a:r>
              <a:rPr lang="en-US" dirty="0"/>
              <a:t>Headers, </a:t>
            </a:r>
            <a:r>
              <a:rPr lang="en-US" dirty="0">
                <a:sym typeface="Wingdings" panose="05000000000000000000" pitchFamily="2" charset="2"/>
              </a:rPr>
              <a:t>Error correction protocols</a:t>
            </a:r>
          </a:p>
          <a:p>
            <a:r>
              <a:rPr lang="en-US" dirty="0">
                <a:sym typeface="Wingdings" panose="05000000000000000000" pitchFamily="2" charset="2"/>
              </a:rPr>
              <a:t>MPS (</a:t>
            </a:r>
            <a:r>
              <a:rPr lang="en-US" dirty="0" err="1"/>
              <a:t>Max_Payload_Size</a:t>
            </a:r>
            <a:r>
              <a:rPr lang="en-US" dirty="0"/>
              <a:t>) is relatively small= 256 bytes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46A321-B0B4-414D-B974-478A8234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74" y="5268913"/>
            <a:ext cx="79248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5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 bottleneck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No enough room for a 100Gbps NIC to reach linerate</a:t>
            </a:r>
            <a:br>
              <a:rPr lang="en-US" dirty="0"/>
            </a:br>
            <a:r>
              <a:rPr lang="en-US" dirty="0"/>
              <a:t>with the typical layout of datapath descriptors</a:t>
            </a:r>
          </a:p>
          <a:p>
            <a:pPr lvl="1"/>
            <a:r>
              <a:rPr lang="en-US" dirty="0"/>
              <a:t>RX descriptors</a:t>
            </a:r>
          </a:p>
          <a:p>
            <a:pPr lvl="1"/>
            <a:r>
              <a:rPr lang="en-US" dirty="0"/>
              <a:t>TX descriptors</a:t>
            </a:r>
          </a:p>
          <a:p>
            <a:pPr lvl="1"/>
            <a:r>
              <a:rPr lang="en-US" dirty="0"/>
              <a:t>Completion descriptors</a:t>
            </a:r>
          </a:p>
          <a:p>
            <a:endParaRPr lang="en-US" dirty="0"/>
          </a:p>
          <a:p>
            <a:r>
              <a:rPr lang="en-US" dirty="0"/>
              <a:t>The smaller the packets size, the higher the descriptors overhead</a:t>
            </a:r>
          </a:p>
          <a:p>
            <a:endParaRPr lang="en-US" dirty="0"/>
          </a:p>
          <a:p>
            <a:r>
              <a:rPr lang="en-US" dirty="0"/>
              <a:t>This demands new, innovative, bits-economic layout for the descriptors.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0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325" y="3289844"/>
            <a:ext cx="7945118" cy="1736387"/>
          </a:xfrm>
        </p:spPr>
        <p:txBody>
          <a:bodyPr/>
          <a:lstStyle/>
          <a:p>
            <a:r>
              <a:rPr lang="en-US" dirty="0"/>
              <a:t>HW features for improved PCI utilization</a:t>
            </a:r>
          </a:p>
        </p:txBody>
      </p:sp>
    </p:spTree>
    <p:extLst>
      <p:ext uri="{BB962C8B-B14F-4D97-AF65-F5344CB8AC3E}">
        <p14:creationId xmlns:p14="http://schemas.microsoft.com/office/powerpoint/2010/main" val="208036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idea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HEART of the features is the following idea:</a:t>
            </a:r>
          </a:p>
          <a:p>
            <a:pPr marL="0" indent="0">
              <a:buNone/>
            </a:pPr>
            <a:endParaRPr lang="en-US" dirty="0"/>
          </a:p>
          <a:p>
            <a:pPr marL="311783" lvl="1" indent="0">
              <a:buNone/>
            </a:pPr>
            <a:r>
              <a:rPr lang="en-US" sz="3600" dirty="0"/>
              <a:t>You already use some </a:t>
            </a:r>
            <a:r>
              <a:rPr lang="en-US" sz="3600" b="1" u="sng" dirty="0"/>
              <a:t>moderation</a:t>
            </a:r>
            <a:r>
              <a:rPr lang="en-US" sz="3600" b="1" dirty="0"/>
              <a:t> </a:t>
            </a:r>
            <a:r>
              <a:rPr lang="en-US" sz="3600" dirty="0"/>
              <a:t>and do operations in </a:t>
            </a:r>
            <a:r>
              <a:rPr lang="en-US" sz="3600" b="1" u="sng" dirty="0"/>
              <a:t>bulks</a:t>
            </a:r>
            <a:r>
              <a:rPr lang="en-US" sz="3600" dirty="0"/>
              <a:t>,</a:t>
            </a:r>
            <a:br>
              <a:rPr lang="en-US" sz="3600" dirty="0"/>
            </a:br>
            <a:r>
              <a:rPr lang="en-US" sz="3600" dirty="0"/>
              <a:t>take advantage of this and </a:t>
            </a:r>
            <a:r>
              <a:rPr lang="en-US" sz="3600" b="1" u="sng" dirty="0"/>
              <a:t>reduce overhead </a:t>
            </a:r>
            <a:r>
              <a:rPr lang="en-US" sz="3600" dirty="0"/>
              <a:t>of the descriptors!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HW Features:</a:t>
            </a:r>
          </a:p>
          <a:p>
            <a:pPr marL="496127" indent="-514350">
              <a:buFont typeface="+mj-lt"/>
              <a:buAutoNum type="arabicPeriod"/>
            </a:pPr>
            <a:r>
              <a:rPr lang="en-US" dirty="0"/>
              <a:t>RX completion descriptors compression</a:t>
            </a:r>
          </a:p>
          <a:p>
            <a:pPr marL="496127" indent="-514350">
              <a:buFont typeface="+mj-lt"/>
              <a:buAutoNum type="arabicPeriod"/>
            </a:pPr>
            <a:r>
              <a:rPr lang="en-US" dirty="0"/>
              <a:t>TX descriptors bulking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RX completion descriptors compression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Reduce RX PCI overhead by reducing the data to completions ratio.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it works:</a:t>
            </a:r>
          </a:p>
          <a:p>
            <a:r>
              <a:rPr lang="en-US" dirty="0"/>
              <a:t>A compression session: </a:t>
            </a:r>
            <a:r>
              <a:rPr lang="en-US" b="1" dirty="0"/>
              <a:t>Multiple almost identical completions are merged and compressed</a:t>
            </a:r>
            <a:r>
              <a:rPr lang="en-US" dirty="0"/>
              <a:t>.</a:t>
            </a:r>
          </a:p>
          <a:p>
            <a:r>
              <a:rPr lang="en-US" dirty="0"/>
              <a:t>Per a compression session, information that is shared between the completions is written only once.</a:t>
            </a:r>
          </a:p>
          <a:p>
            <a:r>
              <a:rPr lang="en-US" dirty="0"/>
              <a:t>Only the unique information (small) is written per completion (mini-completion).</a:t>
            </a:r>
          </a:p>
          <a:p>
            <a:endParaRPr lang="en-US" dirty="0"/>
          </a:p>
          <a:p>
            <a:r>
              <a:rPr lang="en-US" dirty="0"/>
              <a:t>Successful compressing improves message rate, especially for small packet traffic.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1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54679" y="491691"/>
            <a:ext cx="11908718" cy="654721"/>
          </a:xfrm>
        </p:spPr>
        <p:txBody>
          <a:bodyPr/>
          <a:lstStyle/>
          <a:p>
            <a:r>
              <a:rPr lang="en-US" dirty="0"/>
              <a:t>RX completion descriptors compression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10A012D-2469-4452-82B2-B1B48DAAD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43117"/>
              </p:ext>
            </p:extLst>
          </p:nvPr>
        </p:nvGraphicFramePr>
        <p:xfrm>
          <a:off x="9601966" y="2164179"/>
          <a:ext cx="1945837" cy="5827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837">
                  <a:extLst>
                    <a:ext uri="{9D8B030D-6E8A-4147-A177-3AD203B41FA5}">
                      <a16:colId xmlns:a16="http://schemas.microsoft.com/office/drawing/2014/main" val="141521121"/>
                    </a:ext>
                  </a:extLst>
                </a:gridCol>
              </a:tblGrid>
              <a:tr h="2900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Shared completion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028981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mini-comp #1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110771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01017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355361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714855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844551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851610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mini-comp #7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063522"/>
                  </a:ext>
                </a:extLst>
              </a:tr>
              <a:tr h="3371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mini-comp #8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55150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4C63AB1-E445-438F-BC10-E8E931E80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43930"/>
              </p:ext>
            </p:extLst>
          </p:nvPr>
        </p:nvGraphicFramePr>
        <p:xfrm>
          <a:off x="3286835" y="2166486"/>
          <a:ext cx="1945837" cy="5824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837">
                  <a:extLst>
                    <a:ext uri="{9D8B030D-6E8A-4147-A177-3AD203B41FA5}">
                      <a16:colId xmlns:a16="http://schemas.microsoft.com/office/drawing/2014/main" val="141521121"/>
                    </a:ext>
                  </a:extLst>
                </a:gridCol>
              </a:tblGrid>
              <a:tr h="29258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Completion #1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028981"/>
                  </a:ext>
                </a:extLst>
              </a:tr>
              <a:tr h="28988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Completion #2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110771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45B64862-05C0-4A42-ACB8-756869CB3CFF}"/>
              </a:ext>
            </a:extLst>
          </p:cNvPr>
          <p:cNvGrpSpPr/>
          <p:nvPr/>
        </p:nvGrpSpPr>
        <p:grpSpPr>
          <a:xfrm>
            <a:off x="1229153" y="2286000"/>
            <a:ext cx="1779481" cy="2617076"/>
            <a:chOff x="1229153" y="2164179"/>
            <a:chExt cx="1779481" cy="2865021"/>
          </a:xfrm>
        </p:grpSpPr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1EA1D23D-8D8E-45DF-BD16-1CBD413AF873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7654FE-77EE-4353-BFE3-D8519831B3F4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CBFB61-E587-4C5B-8DDD-C85464D1755F}"/>
              </a:ext>
            </a:extLst>
          </p:cNvPr>
          <p:cNvGrpSpPr/>
          <p:nvPr/>
        </p:nvGrpSpPr>
        <p:grpSpPr>
          <a:xfrm>
            <a:off x="1229153" y="5157840"/>
            <a:ext cx="1779481" cy="2833373"/>
            <a:chOff x="1229153" y="2164179"/>
            <a:chExt cx="1779481" cy="2865021"/>
          </a:xfrm>
        </p:grpSpPr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A3E96DC7-A396-4D24-AC3A-36057BB67EE1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DCF471-ECE6-4884-9E47-A7B9FB899B55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052C98-89FF-4ACD-A8ED-0322E376CD0D}"/>
              </a:ext>
            </a:extLst>
          </p:cNvPr>
          <p:cNvGrpSpPr/>
          <p:nvPr/>
        </p:nvGrpSpPr>
        <p:grpSpPr>
          <a:xfrm>
            <a:off x="7618249" y="2286000"/>
            <a:ext cx="1779481" cy="2617076"/>
            <a:chOff x="1229153" y="2164179"/>
            <a:chExt cx="1779481" cy="2865021"/>
          </a:xfrm>
        </p:grpSpPr>
        <p:sp>
          <p:nvSpPr>
            <p:cNvPr id="36" name="Left Brace 35">
              <a:extLst>
                <a:ext uri="{FF2B5EF4-FFF2-40B4-BE49-F238E27FC236}">
                  <a16:creationId xmlns:a16="http://schemas.microsoft.com/office/drawing/2014/main" id="{539986A8-54E3-4C98-80A7-34D6E0A52E3B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E549310-1CB3-4ADA-B86D-24BBCDBCEAB6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541949-D094-4839-A72B-B8189CBC5978}"/>
              </a:ext>
            </a:extLst>
          </p:cNvPr>
          <p:cNvGrpSpPr/>
          <p:nvPr/>
        </p:nvGrpSpPr>
        <p:grpSpPr>
          <a:xfrm>
            <a:off x="7618249" y="5157840"/>
            <a:ext cx="1779481" cy="2833373"/>
            <a:chOff x="1229153" y="2164179"/>
            <a:chExt cx="1779481" cy="2865021"/>
          </a:xfrm>
        </p:grpSpPr>
        <p:sp>
          <p:nvSpPr>
            <p:cNvPr id="39" name="Left Brace 38">
              <a:extLst>
                <a:ext uri="{FF2B5EF4-FFF2-40B4-BE49-F238E27FC236}">
                  <a16:creationId xmlns:a16="http://schemas.microsoft.com/office/drawing/2014/main" id="{CBD52D01-116A-4A21-891E-5E2822900A17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2430B99-C7AD-4DE6-BB1A-60841DCEE0DC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66EE40E-BFBE-48BE-8E4B-CBEF9C17B9E0}"/>
              </a:ext>
            </a:extLst>
          </p:cNvPr>
          <p:cNvSpPr txBox="1"/>
          <p:nvPr/>
        </p:nvSpPr>
        <p:spPr>
          <a:xfrm>
            <a:off x="3286835" y="1357723"/>
            <a:ext cx="1945837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3600" b="0" dirty="0"/>
              <a:t>Before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8A573D-6F46-4140-B277-5FB944E65D67}"/>
              </a:ext>
            </a:extLst>
          </p:cNvPr>
          <p:cNvSpPr txBox="1"/>
          <p:nvPr/>
        </p:nvSpPr>
        <p:spPr>
          <a:xfrm>
            <a:off x="9601965" y="1357723"/>
            <a:ext cx="1945837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3600" b="0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98898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RX completion descriptors compression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411705"/>
            <a:ext cx="13436600" cy="62289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Packet rate test:</a:t>
            </a:r>
          </a:p>
          <a:p>
            <a:r>
              <a:rPr lang="en-US" dirty="0"/>
              <a:t>Client: Small (64Bytes) UDP </a:t>
            </a:r>
            <a:r>
              <a:rPr lang="en-US" dirty="0" err="1"/>
              <a:t>multistream</a:t>
            </a:r>
            <a:endParaRPr lang="en-US" dirty="0"/>
          </a:p>
          <a:p>
            <a:r>
              <a:rPr lang="en-US" dirty="0"/>
              <a:t>Server: XDP_DROP (xdp1)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Before:   83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After:   130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	+47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Mpps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, +57%</a:t>
            </a:r>
          </a:p>
          <a:p>
            <a:endParaRPr lang="en-US" dirty="0"/>
          </a:p>
          <a:p>
            <a:r>
              <a:rPr lang="en-US" sz="2800" dirty="0"/>
              <a:t>Introduced (way back…) in kernel v4.7.</a:t>
            </a:r>
          </a:p>
          <a:p>
            <a:r>
              <a:rPr lang="en-US" sz="2800" dirty="0"/>
              <a:t>Recently gained extra significance,</a:t>
            </a:r>
            <a:br>
              <a:rPr lang="en-US" sz="2800" dirty="0"/>
            </a:br>
            <a:r>
              <a:rPr lang="en-US" sz="2800" dirty="0"/>
              <a:t>with the packet rate XDP allows.</a:t>
            </a:r>
          </a:p>
          <a:p>
            <a:endParaRPr lang="en-US" dirty="0"/>
          </a:p>
          <a:p>
            <a:r>
              <a:rPr lang="en-US" sz="2800" dirty="0"/>
              <a:t>Today, controlled via </a:t>
            </a:r>
            <a:r>
              <a:rPr lang="en-US" sz="2800" dirty="0" err="1"/>
              <a:t>ethtool</a:t>
            </a:r>
            <a:r>
              <a:rPr lang="en-US" sz="2800" dirty="0"/>
              <a:t> private flags: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ethtool</a:t>
            </a:r>
            <a:r>
              <a:rPr lang="en-US" sz="2000" dirty="0">
                <a:latin typeface="Consolas" panose="020B0609020204030204" pitchFamily="49" charset="0"/>
              </a:rPr>
              <a:t> --set-</a:t>
            </a:r>
            <a:r>
              <a:rPr lang="en-US" sz="2000" dirty="0" err="1">
                <a:latin typeface="Consolas" panose="020B0609020204030204" pitchFamily="49" charset="0"/>
              </a:rPr>
              <a:t>priv</a:t>
            </a:r>
            <a:r>
              <a:rPr lang="en-US" sz="2000" dirty="0">
                <a:latin typeface="Consolas" panose="020B0609020204030204" pitchFamily="49" charset="0"/>
              </a:rPr>
              <a:t>-flags eth0 </a:t>
            </a:r>
            <a:r>
              <a:rPr lang="en-US" sz="2000" dirty="0" err="1">
                <a:latin typeface="Consolas" panose="020B0609020204030204" pitchFamily="49" charset="0"/>
              </a:rPr>
              <a:t>rx_cqe_compress</a:t>
            </a:r>
            <a:r>
              <a:rPr lang="en-US" sz="2000" dirty="0">
                <a:latin typeface="Consolas" panose="020B0609020204030204" pitchFamily="49" charset="0"/>
              </a:rPr>
              <a:t> on</a:t>
            </a:r>
          </a:p>
          <a:p>
            <a:r>
              <a:rPr lang="en-US" sz="2800" dirty="0"/>
              <a:t>Ideally, API is standardized within a tool: </a:t>
            </a:r>
            <a:r>
              <a:rPr lang="en-US" sz="2800" dirty="0" err="1"/>
              <a:t>ethtool</a:t>
            </a:r>
            <a:r>
              <a:rPr lang="en-US" sz="2800" dirty="0"/>
              <a:t>? </a:t>
            </a:r>
            <a:r>
              <a:rPr lang="en-US" sz="2800" dirty="0" err="1"/>
              <a:t>devlink</a:t>
            </a:r>
            <a:r>
              <a:rPr lang="en-US" sz="2800" dirty="0"/>
              <a:t>?</a:t>
            </a:r>
          </a:p>
          <a:p>
            <a:pPr lvl="1"/>
            <a:endParaRPr lang="en-US" sz="1600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80593D3-E47A-48F5-ADAC-994287AD6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550465"/>
              </p:ext>
            </p:extLst>
          </p:nvPr>
        </p:nvGraphicFramePr>
        <p:xfrm>
          <a:off x="7661276" y="1411705"/>
          <a:ext cx="6400799" cy="5220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766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TX descriptor bulking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427747"/>
            <a:ext cx="13436600" cy="6641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Reduce PCI overhead in TX by combining transmit descriptors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it works?</a:t>
            </a:r>
          </a:p>
          <a:p>
            <a:r>
              <a:rPr lang="en-US" dirty="0"/>
              <a:t>Enable sending multiple packets using a single TX descriptor</a:t>
            </a:r>
          </a:p>
          <a:p>
            <a:r>
              <a:rPr lang="en-US" dirty="0"/>
              <a:t>The new TX descriptor has two parts:</a:t>
            </a:r>
          </a:p>
          <a:p>
            <a:pPr marL="826133" lvl="1" indent="-514350">
              <a:buFont typeface="+mj-lt"/>
              <a:buAutoNum type="arabicPeriod"/>
            </a:pPr>
            <a:r>
              <a:rPr lang="en-US" dirty="0"/>
              <a:t>A shared control segment</a:t>
            </a:r>
          </a:p>
          <a:p>
            <a:pPr marL="826133" lvl="1" indent="-514350">
              <a:buFont typeface="+mj-lt"/>
              <a:buAutoNum type="arabicPeriod"/>
            </a:pPr>
            <a:r>
              <a:rPr lang="en-US" dirty="0"/>
              <a:t>Multiple data segments, one per packet, containing packet-specific info:</a:t>
            </a:r>
          </a:p>
          <a:p>
            <a:pPr marL="1079431" lvl="2" indent="-514350"/>
            <a:r>
              <a:rPr lang="en-US" dirty="0" err="1"/>
              <a:t>dma_addr</a:t>
            </a:r>
            <a:r>
              <a:rPr lang="en-US" dirty="0"/>
              <a:t>, size.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Very significant when transmission is requested in bulks</a:t>
            </a:r>
          </a:p>
          <a:p>
            <a:pPr lvl="1"/>
            <a:r>
              <a:rPr lang="en-US" dirty="0"/>
              <a:t>XDP_REDIRECT: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#define DEV_MAP_BULK_SIZE 16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#define CPU_MAP_BULK_SIZE 8</a:t>
            </a:r>
            <a:endParaRPr lang="en-US" dirty="0"/>
          </a:p>
          <a:p>
            <a:pPr lvl="1"/>
            <a:r>
              <a:rPr lang="en-US" dirty="0"/>
              <a:t>XDP_TX: bulk up to a NAPI budget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3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TX descriptor bulking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Supported by Mellanox NICs ConnectX-5 and newer.</a:t>
            </a:r>
          </a:p>
          <a:p>
            <a:r>
              <a:rPr lang="en-US" dirty="0"/>
              <a:t>Starting from kernel v5.0.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F5268E-E03D-4A23-B506-DE5EB7016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0618"/>
              </p:ext>
            </p:extLst>
          </p:nvPr>
        </p:nvGraphicFramePr>
        <p:xfrm>
          <a:off x="3862091" y="2419684"/>
          <a:ext cx="2646947" cy="292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947">
                  <a:extLst>
                    <a:ext uri="{9D8B030D-6E8A-4147-A177-3AD203B41FA5}">
                      <a16:colId xmlns:a16="http://schemas.microsoft.com/office/drawing/2014/main" val="237607365"/>
                    </a:ext>
                  </a:extLst>
                </a:gridCol>
              </a:tblGrid>
              <a:tr h="72890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180770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Data segment #1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460284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Alignment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514141"/>
                  </a:ext>
                </a:extLst>
              </a:tr>
              <a:tr h="72890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79341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r>
                        <a:rPr lang="en-US" sz="1800" dirty="0"/>
                        <a:t> #2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69031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Alignment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2168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4F66CE-89BF-43FB-A183-B5801451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232215"/>
              </p:ext>
            </p:extLst>
          </p:nvPr>
        </p:nvGraphicFramePr>
        <p:xfrm>
          <a:off x="8933508" y="2419684"/>
          <a:ext cx="2646947" cy="2923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947">
                  <a:extLst>
                    <a:ext uri="{9D8B030D-6E8A-4147-A177-3AD203B41FA5}">
                      <a16:colId xmlns:a16="http://schemas.microsoft.com/office/drawing/2014/main" val="237607365"/>
                    </a:ext>
                  </a:extLst>
                </a:gridCol>
              </a:tblGrid>
              <a:tr h="72890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Control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180770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#1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460284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marL="0" marR="0" lvl="0" indent="0" algn="ctr" defTabSz="13021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#2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514141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#3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79341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#4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894174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#5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69031"/>
                  </a:ext>
                </a:extLst>
              </a:tr>
              <a:tr h="3644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segment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#6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216859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C408D29-0E18-4E10-B4DB-AC0FF52F6899}"/>
              </a:ext>
            </a:extLst>
          </p:cNvPr>
          <p:cNvGrpSpPr/>
          <p:nvPr/>
        </p:nvGrpSpPr>
        <p:grpSpPr>
          <a:xfrm>
            <a:off x="1690971" y="2419684"/>
            <a:ext cx="1917771" cy="1382295"/>
            <a:chOff x="1229153" y="2164179"/>
            <a:chExt cx="1779481" cy="2865021"/>
          </a:xfrm>
        </p:grpSpPr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79902489-CA2C-4A51-8E48-3C3D03912D87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C338FD-1AE8-4829-B400-EB6D33D37269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C33214-EAA6-45DA-A68E-555D9B84BE9C}"/>
              </a:ext>
            </a:extLst>
          </p:cNvPr>
          <p:cNvGrpSpPr/>
          <p:nvPr/>
        </p:nvGrpSpPr>
        <p:grpSpPr>
          <a:xfrm>
            <a:off x="1690971" y="3917802"/>
            <a:ext cx="1917771" cy="1382295"/>
            <a:chOff x="1229153" y="2164179"/>
            <a:chExt cx="1779481" cy="2865021"/>
          </a:xfrm>
        </p:grpSpPr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4600E332-6463-4F5F-BBD8-519AB53187F4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DD5443-8916-4B20-B593-2AA25FEAE006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6F06B6-6E04-4AF8-9DE0-6589BDE3C0AB}"/>
              </a:ext>
            </a:extLst>
          </p:cNvPr>
          <p:cNvGrpSpPr/>
          <p:nvPr/>
        </p:nvGrpSpPr>
        <p:grpSpPr>
          <a:xfrm>
            <a:off x="6762387" y="2424542"/>
            <a:ext cx="1917771" cy="1382295"/>
            <a:chOff x="1229153" y="2164179"/>
            <a:chExt cx="1779481" cy="2865021"/>
          </a:xfrm>
        </p:grpSpPr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2A079CD6-756B-4C54-A357-85FEC6F2B286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8959EF-1FDA-4489-A3D3-0D359C096B4A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D3D669-BF16-4471-890F-3BD95BE51BEA}"/>
              </a:ext>
            </a:extLst>
          </p:cNvPr>
          <p:cNvGrpSpPr/>
          <p:nvPr/>
        </p:nvGrpSpPr>
        <p:grpSpPr>
          <a:xfrm>
            <a:off x="6762387" y="3922660"/>
            <a:ext cx="1917771" cy="1382295"/>
            <a:chOff x="1229153" y="2164179"/>
            <a:chExt cx="1779481" cy="2865021"/>
          </a:xfrm>
        </p:grpSpPr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33F64F89-D808-4590-8485-230B652FB005}"/>
                </a:ext>
              </a:extLst>
            </p:cNvPr>
            <p:cNvSpPr/>
            <p:nvPr/>
          </p:nvSpPr>
          <p:spPr bwMode="auto">
            <a:xfrm>
              <a:off x="2517389" y="2164179"/>
              <a:ext cx="491245" cy="2865021"/>
            </a:xfrm>
            <a:prstGeom prst="leftBrace">
              <a:avLst>
                <a:gd name="adj1" fmla="val 85356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EC286F-425A-4C24-A0C5-0EED2F3AC792}"/>
                </a:ext>
              </a:extLst>
            </p:cNvPr>
            <p:cNvSpPr txBox="1"/>
            <p:nvPr/>
          </p:nvSpPr>
          <p:spPr>
            <a:xfrm>
              <a:off x="1229153" y="3381245"/>
              <a:ext cx="114913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800" b="0" dirty="0"/>
                <a:t>64bytes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172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TX descriptor bulking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Packet rate test:</a:t>
            </a:r>
          </a:p>
          <a:p>
            <a:r>
              <a:rPr lang="en-US" dirty="0"/>
              <a:t>Client: Small (64Bytes) UDP </a:t>
            </a:r>
            <a:r>
              <a:rPr lang="en-US" dirty="0" err="1"/>
              <a:t>multistream</a:t>
            </a:r>
            <a:endParaRPr lang="en-US" dirty="0"/>
          </a:p>
          <a:p>
            <a:r>
              <a:rPr lang="en-US" dirty="0"/>
              <a:t>Server: XDP_TX (xdp2)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Before:   70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After:   116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	+46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Mpps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, +66%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9131C10-4AF0-4A32-9940-863D4CBD7B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3281999"/>
              </p:ext>
            </p:extLst>
          </p:nvPr>
        </p:nvGraphicFramePr>
        <p:xfrm>
          <a:off x="7661276" y="1849438"/>
          <a:ext cx="6400799" cy="5220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1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TX descriptor bulking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Packet rate test:</a:t>
            </a:r>
          </a:p>
          <a:p>
            <a:r>
              <a:rPr lang="en-US" dirty="0"/>
              <a:t>Client: Small (64Bytes) UDP </a:t>
            </a:r>
            <a:r>
              <a:rPr lang="en-US" dirty="0" err="1"/>
              <a:t>multistream</a:t>
            </a:r>
            <a:endParaRPr lang="en-US" dirty="0"/>
          </a:p>
          <a:p>
            <a:r>
              <a:rPr lang="en-US" dirty="0"/>
              <a:t>Server: XDP_REDIRECT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Before:   64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After:    92 </a:t>
            </a:r>
            <a:r>
              <a:rPr lang="en-US" dirty="0" err="1">
                <a:latin typeface="Consolas" panose="020B0609020204030204" pitchFamily="49" charset="0"/>
              </a:rPr>
              <a:t>Mpps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	+28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Mpps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, +44%</a:t>
            </a:r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120DD41-1D0E-4E48-B85D-D00A4C9837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627282"/>
              </p:ext>
            </p:extLst>
          </p:nvPr>
        </p:nvGraphicFramePr>
        <p:xfrm>
          <a:off x="7661276" y="1849438"/>
          <a:ext cx="6400799" cy="5220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083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324" y="3289844"/>
            <a:ext cx="8654633" cy="1736387"/>
          </a:xfrm>
        </p:spPr>
        <p:txBody>
          <a:bodyPr/>
          <a:lstStyle/>
          <a:p>
            <a:r>
              <a:rPr lang="en-US" dirty="0"/>
              <a:t>CPU bottleneck:</a:t>
            </a:r>
            <a:br>
              <a:rPr lang="en-US" dirty="0"/>
            </a:br>
            <a:r>
              <a:rPr lang="en-US" dirty="0"/>
              <a:t>The Linux Page allocator</a:t>
            </a:r>
          </a:p>
        </p:txBody>
      </p:sp>
    </p:spTree>
    <p:extLst>
      <p:ext uri="{BB962C8B-B14F-4D97-AF65-F5344CB8AC3E}">
        <p14:creationId xmlns:p14="http://schemas.microsoft.com/office/powerpoint/2010/main" val="2763716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page allocator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556084"/>
            <a:ext cx="13436600" cy="6181826"/>
          </a:xfrm>
        </p:spPr>
        <p:txBody>
          <a:bodyPr/>
          <a:lstStyle/>
          <a:p>
            <a:r>
              <a:rPr lang="en-US" dirty="0"/>
              <a:t>General component, serves all subsystems.</a:t>
            </a:r>
          </a:p>
          <a:p>
            <a:r>
              <a:rPr lang="en-US" dirty="0"/>
              <a:t>The kernel often needs contiguous memory areas that span multiple page frames,  so when serving memory allocation requests,  it must minimize external fragmentation.</a:t>
            </a:r>
          </a:p>
          <a:p>
            <a:r>
              <a:rPr lang="en-US" dirty="0"/>
              <a:t>This is the task of the </a:t>
            </a:r>
            <a:r>
              <a:rPr lang="en-US" b="1" dirty="0"/>
              <a:t>buddy allocator</a:t>
            </a:r>
            <a:r>
              <a:rPr lang="en-US" dirty="0"/>
              <a:t>.</a:t>
            </a:r>
          </a:p>
          <a:p>
            <a:r>
              <a:rPr lang="en-US" dirty="0"/>
              <a:t>Concurrent accesses are synced by a zone spinlock: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struct zone {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/* Primarily protects </a:t>
            </a:r>
            <a:r>
              <a:rPr lang="en-US" sz="2800" dirty="0" err="1">
                <a:latin typeface="Consolas" panose="020B0609020204030204" pitchFamily="49" charset="0"/>
              </a:rPr>
              <a:t>free_area</a:t>
            </a:r>
            <a:r>
              <a:rPr lang="en-US" sz="2800" dirty="0"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b="1" dirty="0" err="1">
                <a:latin typeface="Consolas" panose="020B0609020204030204" pitchFamily="49" charset="0"/>
              </a:rPr>
              <a:t>spinlock_t</a:t>
            </a:r>
            <a:r>
              <a:rPr lang="en-US" sz="2800" b="1" dirty="0">
                <a:latin typeface="Consolas" panose="020B0609020204030204" pitchFamily="49" charset="0"/>
              </a:rPr>
              <a:t> lock;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};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28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page allocator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267325"/>
            <a:ext cx="13436600" cy="6849979"/>
          </a:xfrm>
        </p:spPr>
        <p:txBody>
          <a:bodyPr/>
          <a:lstStyle/>
          <a:p>
            <a:r>
              <a:rPr lang="en-US" dirty="0"/>
              <a:t>Need to reduce the frequency of accesses to the zone-&gt;lock.</a:t>
            </a:r>
          </a:p>
          <a:p>
            <a:r>
              <a:rPr lang="en-US" dirty="0"/>
              <a:t>Kernel provides a layer of local, per-CPU, page list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PCP: Per-CPU </a:t>
            </a:r>
            <a:r>
              <a:rPr lang="en-US" b="1" dirty="0" err="1">
                <a:latin typeface="Consolas" panose="020B0609020204030204" pitchFamily="49" charset="0"/>
              </a:rPr>
              <a:t>Pagelists</a:t>
            </a:r>
            <a:endParaRPr lang="en-US" b="1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Page </a:t>
            </a:r>
            <a:r>
              <a:rPr lang="en-US" dirty="0" err="1"/>
              <a:t>alloc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Kernel asks the local PCP for a page</a:t>
            </a:r>
          </a:p>
          <a:p>
            <a:pPr lvl="1"/>
            <a:r>
              <a:rPr lang="en-US" dirty="0"/>
              <a:t>If no page is available, the PCP asks for a batch of pages from the buddy system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Under zone-&gt;lock</a:t>
            </a:r>
          </a:p>
          <a:p>
            <a:r>
              <a:rPr lang="en-US" dirty="0"/>
              <a:t>Page free: Symmetric</a:t>
            </a:r>
          </a:p>
          <a:p>
            <a:pPr lvl="1"/>
            <a:r>
              <a:rPr lang="en-US" dirty="0"/>
              <a:t>Kernel releases the page to the local PCP</a:t>
            </a:r>
          </a:p>
          <a:p>
            <a:pPr lvl="1"/>
            <a:r>
              <a:rPr lang="en-US" dirty="0"/>
              <a:t>If PCP is full: free a batch of pages back to the buddy system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Under zone-&gt;lock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10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Linux page allocator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095758-0714-4E29-8D0D-ADA527057E36}"/>
              </a:ext>
            </a:extLst>
          </p:cNvPr>
          <p:cNvSpPr/>
          <p:nvPr/>
        </p:nvSpPr>
        <p:spPr bwMode="auto">
          <a:xfrm>
            <a:off x="1719471" y="3255858"/>
            <a:ext cx="10446026" cy="10237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8BCBB6-2E2A-4EB4-8D2E-D18F4A80DFDA}"/>
              </a:ext>
            </a:extLst>
          </p:cNvPr>
          <p:cNvGrpSpPr/>
          <p:nvPr/>
        </p:nvGrpSpPr>
        <p:grpSpPr>
          <a:xfrm>
            <a:off x="1918253" y="4279588"/>
            <a:ext cx="894521" cy="2091395"/>
            <a:chOff x="1679714" y="3146527"/>
            <a:chExt cx="894521" cy="209139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E8E5783-A101-4B5D-B18A-D4C4717DC0F6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0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2014D2C7-45B8-4A28-8764-35834F00A39B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81B964-ABAF-41C9-A136-823879CD9680}"/>
              </a:ext>
            </a:extLst>
          </p:cNvPr>
          <p:cNvGrpSpPr/>
          <p:nvPr/>
        </p:nvGrpSpPr>
        <p:grpSpPr>
          <a:xfrm>
            <a:off x="3662018" y="4279588"/>
            <a:ext cx="894521" cy="2091395"/>
            <a:chOff x="1679714" y="3146527"/>
            <a:chExt cx="894521" cy="209139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28981EF-3749-4ABE-8348-4C77C938B2A9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1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Arrow: Up-Down 18">
              <a:extLst>
                <a:ext uri="{FF2B5EF4-FFF2-40B4-BE49-F238E27FC236}">
                  <a16:creationId xmlns:a16="http://schemas.microsoft.com/office/drawing/2014/main" id="{B6692738-F928-4929-9513-1991E083704E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CA7C6F-20D3-4555-BCB7-CCF250321412}"/>
              </a:ext>
            </a:extLst>
          </p:cNvPr>
          <p:cNvGrpSpPr/>
          <p:nvPr/>
        </p:nvGrpSpPr>
        <p:grpSpPr>
          <a:xfrm>
            <a:off x="5405783" y="4279588"/>
            <a:ext cx="894521" cy="2091395"/>
            <a:chOff x="1679714" y="3146527"/>
            <a:chExt cx="894521" cy="209139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1773BE2-F7D6-4EE6-ABFB-9EEA0FD80680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2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Arrow: Up-Down 21">
              <a:extLst>
                <a:ext uri="{FF2B5EF4-FFF2-40B4-BE49-F238E27FC236}">
                  <a16:creationId xmlns:a16="http://schemas.microsoft.com/office/drawing/2014/main" id="{59F4792C-B1DE-4457-9962-768DADBE6155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A114F8-FD07-495A-B88E-B8C0A62DF1B1}"/>
              </a:ext>
            </a:extLst>
          </p:cNvPr>
          <p:cNvGrpSpPr/>
          <p:nvPr/>
        </p:nvGrpSpPr>
        <p:grpSpPr>
          <a:xfrm>
            <a:off x="7149549" y="4279588"/>
            <a:ext cx="894521" cy="2091395"/>
            <a:chOff x="1679714" y="3146527"/>
            <a:chExt cx="894521" cy="209139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DCF57EA-7D5E-4E94-AC6F-AFA2901821AF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3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Arrow: Up-Down 24">
              <a:extLst>
                <a:ext uri="{FF2B5EF4-FFF2-40B4-BE49-F238E27FC236}">
                  <a16:creationId xmlns:a16="http://schemas.microsoft.com/office/drawing/2014/main" id="{556BFF1A-D600-4B58-87F9-E6D8713AB44B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11B7C6-9C99-4773-96BA-C49EFF2738FC}"/>
              </a:ext>
            </a:extLst>
          </p:cNvPr>
          <p:cNvGrpSpPr/>
          <p:nvPr/>
        </p:nvGrpSpPr>
        <p:grpSpPr>
          <a:xfrm>
            <a:off x="10998199" y="4279588"/>
            <a:ext cx="894521" cy="2091395"/>
            <a:chOff x="1679714" y="3146527"/>
            <a:chExt cx="894521" cy="209139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1B85F15-237D-4728-9ECC-D702D01C922D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n-1</a:t>
              </a:r>
            </a:p>
          </p:txBody>
        </p:sp>
        <p:sp>
          <p:nvSpPr>
            <p:cNvPr id="28" name="Arrow: Up-Down 27">
              <a:extLst>
                <a:ext uri="{FF2B5EF4-FFF2-40B4-BE49-F238E27FC236}">
                  <a16:creationId xmlns:a16="http://schemas.microsoft.com/office/drawing/2014/main" id="{D13EE3BE-EEA7-40B8-8348-021491F81E6B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94B2438-588D-43AE-93CC-859BEF4D1AC0}"/>
              </a:ext>
            </a:extLst>
          </p:cNvPr>
          <p:cNvSpPr txBox="1"/>
          <p:nvPr/>
        </p:nvSpPr>
        <p:spPr>
          <a:xfrm>
            <a:off x="8468139" y="5662137"/>
            <a:ext cx="1943651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3600" b="1" dirty="0"/>
              <a:t>. . . . 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A97ADB-DCD9-4C1A-9672-5963E800744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139" y="1856153"/>
            <a:ext cx="2328626" cy="3024191"/>
          </a:xfrm>
        </p:spPr>
      </p:pic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62DA97EE-B06B-446F-995B-AEAE18C9D4B0}"/>
              </a:ext>
            </a:extLst>
          </p:cNvPr>
          <p:cNvSpPr txBox="1">
            <a:spLocks/>
          </p:cNvSpPr>
          <p:nvPr/>
        </p:nvSpPr>
        <p:spPr>
          <a:xfrm>
            <a:off x="568325" y="1242391"/>
            <a:ext cx="7147753" cy="7099504"/>
          </a:xfrm>
          <a:prstGeom prst="rect">
            <a:avLst/>
          </a:prstGeom>
        </p:spPr>
        <p:txBody>
          <a:bodyPr/>
          <a:lstStyle>
            <a:lvl1pPr marL="227903" indent="-246126" algn="l" rtl="0" eaLnBrk="1" fontAlgn="base" hangingPunct="1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24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66587" indent="-254804" algn="l" rtl="0" eaLnBrk="1" fontAlgn="base" hangingPunct="1">
              <a:lnSpc>
                <a:spcPct val="80000"/>
              </a:lnSpc>
              <a:spcBef>
                <a:spcPts val="426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19885" indent="-238982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093927" indent="-273505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312727" indent="-209701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3580951" indent="-325522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+mj-lt"/>
                <a:cs typeface="+mn-cs"/>
              </a:defRPr>
            </a:lvl6pPr>
            <a:lvl7pPr marL="4232077" indent="-325522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+mj-lt"/>
                <a:cs typeface="+mn-cs"/>
              </a:defRPr>
            </a:lvl7pPr>
            <a:lvl8pPr marL="4883164" indent="-325522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+mj-lt"/>
                <a:cs typeface="+mn-cs"/>
              </a:defRPr>
            </a:lvl8pPr>
            <a:lvl9pPr marL="5534259" indent="-325522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00">
                <a:solidFill>
                  <a:schemeClr val="tx1"/>
                </a:solidFill>
                <a:latin typeface="+mj-lt"/>
                <a:cs typeface="+mn-cs"/>
              </a:defRPr>
            </a:lvl9pPr>
          </a:lstStyle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struct zone {</a:t>
            </a:r>
          </a:p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	...</a:t>
            </a:r>
          </a:p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	/* Primarily protects </a:t>
            </a:r>
            <a:r>
              <a:rPr lang="en-US" kern="0" dirty="0" err="1">
                <a:latin typeface="Consolas" panose="020B0609020204030204" pitchFamily="49" charset="0"/>
              </a:rPr>
              <a:t>free_area</a:t>
            </a:r>
            <a:r>
              <a:rPr lang="en-US" kern="0" dirty="0">
                <a:latin typeface="Consolas" panose="020B0609020204030204" pitchFamily="49" charset="0"/>
              </a:rPr>
              <a:t> */</a:t>
            </a:r>
          </a:p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	</a:t>
            </a:r>
            <a:r>
              <a:rPr lang="en-US" b="1" kern="0" dirty="0" err="1">
                <a:latin typeface="Consolas" panose="020B0609020204030204" pitchFamily="49" charset="0"/>
              </a:rPr>
              <a:t>spinlock_t</a:t>
            </a:r>
            <a:r>
              <a:rPr lang="en-US" b="1" kern="0" dirty="0">
                <a:latin typeface="Consolas" panose="020B0609020204030204" pitchFamily="49" charset="0"/>
              </a:rPr>
              <a:t> lock;</a:t>
            </a:r>
          </a:p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	...</a:t>
            </a:r>
          </a:p>
          <a:p>
            <a:pPr marL="0" indent="0" defTabSz="914400">
              <a:buFont typeface="Wingdings" charset="2"/>
              <a:buNone/>
            </a:pPr>
            <a:r>
              <a:rPr lang="en-US" kern="0" dirty="0">
                <a:latin typeface="Consolas" panose="020B0609020204030204" pitchFamily="49" charset="0"/>
              </a:rPr>
              <a:t>};</a:t>
            </a:r>
          </a:p>
          <a:p>
            <a:pPr defTabSz="914400"/>
            <a:endParaRPr lang="en-US" kern="0" dirty="0"/>
          </a:p>
          <a:p>
            <a:pPr defTabSz="914400"/>
            <a:endParaRPr lang="en-US" kern="0" dirty="0"/>
          </a:p>
          <a:p>
            <a:pPr defTabSz="914400"/>
            <a:endParaRPr lang="en-US" kern="0" dirty="0"/>
          </a:p>
          <a:p>
            <a:pPr defTabSz="914400"/>
            <a:endParaRPr lang="en-US" kern="0" dirty="0"/>
          </a:p>
          <a:p>
            <a:pPr defTabSz="914400"/>
            <a:endParaRPr lang="en-US" kern="0" dirty="0"/>
          </a:p>
          <a:p>
            <a:pPr defTabSz="914400"/>
            <a:endParaRPr lang="en-US" kern="0" dirty="0"/>
          </a:p>
          <a:p>
            <a:pPr marL="0" indent="0" defTabSz="914400">
              <a:buNone/>
            </a:pPr>
            <a:br>
              <a:rPr lang="en-US" kern="0" dirty="0"/>
            </a:br>
            <a:endParaRPr lang="en-US" kern="0" dirty="0"/>
          </a:p>
          <a:p>
            <a:pPr marL="0" indent="0" defTabSz="914400">
              <a:buNone/>
            </a:pPr>
            <a:endParaRPr lang="en-US" kern="0" dirty="0"/>
          </a:p>
          <a:p>
            <a:r>
              <a:rPr lang="en-US" sz="2800" dirty="0"/>
              <a:t>When PCPs satisfy the local page </a:t>
            </a:r>
            <a:r>
              <a:rPr lang="en-US" sz="2800" dirty="0" err="1"/>
              <a:t>alloc</a:t>
            </a:r>
            <a:r>
              <a:rPr lang="en-US" sz="2800" dirty="0"/>
              <a:t>/free requests, no zone-&gt;lock contention.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BUT… is that always the case?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691141-E752-419B-A720-EAEBB859145D}"/>
              </a:ext>
            </a:extLst>
          </p:cNvPr>
          <p:cNvSpPr/>
          <p:nvPr/>
        </p:nvSpPr>
        <p:spPr bwMode="auto">
          <a:xfrm>
            <a:off x="9297684" y="6805433"/>
            <a:ext cx="2137835" cy="69468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PCP =</a:t>
            </a:r>
            <a:b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Per-CPU </a:t>
            </a:r>
            <a:r>
              <a:rPr lang="en-US" sz="1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Pagelists</a:t>
            </a: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92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analysis: Typical network flow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Per receive ring, device driver allocates pages (from the local PCP)</a:t>
            </a:r>
          </a:p>
          <a:p>
            <a:r>
              <a:rPr lang="en-US" sz="2400" dirty="0"/>
              <a:t>SKBs created and passed to the network stack</a:t>
            </a:r>
          </a:p>
          <a:p>
            <a:r>
              <a:rPr lang="en-US" sz="2400" dirty="0"/>
              <a:t>Once done, SKB’s pages are released (to the local PCP)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However…</a:t>
            </a:r>
          </a:p>
          <a:p>
            <a:r>
              <a:rPr lang="en-US" sz="2400" dirty="0"/>
              <a:t>Stack processing contains several </a:t>
            </a:r>
            <a:r>
              <a:rPr lang="en-US" sz="2400" b="1" dirty="0"/>
              <a:t>scheduling points</a:t>
            </a:r>
          </a:p>
          <a:p>
            <a:r>
              <a:rPr lang="en-US" sz="2400" dirty="0"/>
              <a:t>SKB handling and release can be completed </a:t>
            </a:r>
            <a:r>
              <a:rPr lang="en-US" sz="2400" b="1" dirty="0"/>
              <a:t>on a different core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repeated pattern causes PCPs imbalance:</a:t>
            </a:r>
          </a:p>
          <a:p>
            <a:r>
              <a:rPr lang="en-US" sz="2400" dirty="0"/>
              <a:t>PCP X gets empty: keeps asking the buddy system for more pages</a:t>
            </a:r>
          </a:p>
          <a:p>
            <a:r>
              <a:rPr lang="en-US" sz="2400" dirty="0"/>
              <a:t>PCP Y gets full: keeps returning pages to the buddy system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High zone-&gt;lock contention</a:t>
            </a:r>
          </a:p>
          <a:p>
            <a:endParaRPr lang="en-US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7376CA-7282-4E29-8671-0E51DD0E7610}"/>
              </a:ext>
            </a:extLst>
          </p:cNvPr>
          <p:cNvSpPr/>
          <p:nvPr/>
        </p:nvSpPr>
        <p:spPr bwMode="auto">
          <a:xfrm>
            <a:off x="9874643" y="2043746"/>
            <a:ext cx="3033282" cy="10237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49B343-9C98-41A4-B300-8A499FE4CE68}"/>
              </a:ext>
            </a:extLst>
          </p:cNvPr>
          <p:cNvGrpSpPr/>
          <p:nvPr/>
        </p:nvGrpSpPr>
        <p:grpSpPr>
          <a:xfrm>
            <a:off x="10073425" y="3067476"/>
            <a:ext cx="894521" cy="2091395"/>
            <a:chOff x="1679714" y="3146527"/>
            <a:chExt cx="894521" cy="209139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FD26657-560A-410C-9098-F1B03DE3D989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X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Arrow: Up-Down 25">
              <a:extLst>
                <a:ext uri="{FF2B5EF4-FFF2-40B4-BE49-F238E27FC236}">
                  <a16:creationId xmlns:a16="http://schemas.microsoft.com/office/drawing/2014/main" id="{34A14CE4-87E3-4489-B60F-CD4CDA0A084E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A5742F6-5EEB-41B5-9AAA-39B01F084525}"/>
              </a:ext>
            </a:extLst>
          </p:cNvPr>
          <p:cNvGrpSpPr/>
          <p:nvPr/>
        </p:nvGrpSpPr>
        <p:grpSpPr>
          <a:xfrm>
            <a:off x="11817190" y="3067476"/>
            <a:ext cx="894521" cy="2091395"/>
            <a:chOff x="1679714" y="3146527"/>
            <a:chExt cx="894521" cy="209139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7143494-D534-44A0-8540-21E974D007E2}"/>
                </a:ext>
              </a:extLst>
            </p:cNvPr>
            <p:cNvSpPr/>
            <p:nvPr/>
          </p:nvSpPr>
          <p:spPr bwMode="auto">
            <a:xfrm>
              <a:off x="1679714" y="4462670"/>
              <a:ext cx="894521" cy="7752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PCP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core Y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Arrow: Up-Down 28">
              <a:extLst>
                <a:ext uri="{FF2B5EF4-FFF2-40B4-BE49-F238E27FC236}">
                  <a16:creationId xmlns:a16="http://schemas.microsoft.com/office/drawing/2014/main" id="{AC526249-29A2-4E62-AA76-543387644043}"/>
                </a:ext>
              </a:extLst>
            </p:cNvPr>
            <p:cNvSpPr/>
            <p:nvPr/>
          </p:nvSpPr>
          <p:spPr bwMode="auto">
            <a:xfrm>
              <a:off x="1987826" y="3146527"/>
              <a:ext cx="258417" cy="1316143"/>
            </a:xfrm>
            <a:prstGeom prst="up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Callout: Up Arrow 2">
            <a:extLst>
              <a:ext uri="{FF2B5EF4-FFF2-40B4-BE49-F238E27FC236}">
                <a16:creationId xmlns:a16="http://schemas.microsoft.com/office/drawing/2014/main" id="{0E9E6F64-AEE2-45CA-A247-8AE3D4CF5402}"/>
              </a:ext>
            </a:extLst>
          </p:cNvPr>
          <p:cNvSpPr/>
          <p:nvPr/>
        </p:nvSpPr>
        <p:spPr bwMode="auto">
          <a:xfrm>
            <a:off x="9983971" y="5216658"/>
            <a:ext cx="1148317" cy="1258356"/>
          </a:xfrm>
          <a:prstGeom prst="upArrowCallout">
            <a:avLst>
              <a:gd name="adj1" fmla="val 10186"/>
              <a:gd name="adj2" fmla="val 13889"/>
              <a:gd name="adj3" fmla="val 17593"/>
              <a:gd name="adj4" fmla="val 4732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page allocate</a:t>
            </a:r>
          </a:p>
        </p:txBody>
      </p:sp>
      <p:sp>
        <p:nvSpPr>
          <p:cNvPr id="41" name="Callout: Up Arrow 40">
            <a:extLst>
              <a:ext uri="{FF2B5EF4-FFF2-40B4-BE49-F238E27FC236}">
                <a16:creationId xmlns:a16="http://schemas.microsoft.com/office/drawing/2014/main" id="{1583B575-2674-4583-8D5C-3DCF938A83FD}"/>
              </a:ext>
            </a:extLst>
          </p:cNvPr>
          <p:cNvSpPr/>
          <p:nvPr/>
        </p:nvSpPr>
        <p:spPr bwMode="auto">
          <a:xfrm>
            <a:off x="11690291" y="5232719"/>
            <a:ext cx="1148317" cy="1258356"/>
          </a:xfrm>
          <a:prstGeom prst="upArrowCallout">
            <a:avLst>
              <a:gd name="adj1" fmla="val 10186"/>
              <a:gd name="adj2" fmla="val 13889"/>
              <a:gd name="adj3" fmla="val 17593"/>
              <a:gd name="adj4" fmla="val 4732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page release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70DAED-5A1D-4215-9617-0061DB9365C2}"/>
              </a:ext>
            </a:extLst>
          </p:cNvPr>
          <p:cNvSpPr txBox="1"/>
          <p:nvPr/>
        </p:nvSpPr>
        <p:spPr>
          <a:xfrm rot="20244459">
            <a:off x="9633881" y="4141166"/>
            <a:ext cx="1848497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imbalance!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0040DC-F0B6-4A58-BD87-E3F1FB3CC2E2}"/>
              </a:ext>
            </a:extLst>
          </p:cNvPr>
          <p:cNvSpPr txBox="1"/>
          <p:nvPr/>
        </p:nvSpPr>
        <p:spPr>
          <a:xfrm rot="20244459">
            <a:off x="11267972" y="4141167"/>
            <a:ext cx="1848497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imbalance!</a:t>
            </a:r>
          </a:p>
        </p:txBody>
      </p:sp>
      <p:pic>
        <p:nvPicPr>
          <p:cNvPr id="45" name="Content Placeholder 6">
            <a:extLst>
              <a:ext uri="{FF2B5EF4-FFF2-40B4-BE49-F238E27FC236}">
                <a16:creationId xmlns:a16="http://schemas.microsoft.com/office/drawing/2014/main" id="{00A9784C-4933-4D8C-8CEE-32C6787ED5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9777" y="2043746"/>
            <a:ext cx="642672" cy="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2000" fill="hold"/>
                                        <p:tgtEl>
                                          <p:spTgt spid="4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3" grpId="0" animBg="1"/>
      <p:bldP spid="3" grpId="0" animBg="1"/>
      <p:bldP spid="41" grpId="0" animBg="1"/>
      <p:bldP spid="43" grpId="0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analysis: Test and monitor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427747"/>
            <a:ext cx="13436600" cy="6310162"/>
          </a:xfrm>
        </p:spPr>
        <p:txBody>
          <a:bodyPr/>
          <a:lstStyle/>
          <a:p>
            <a:r>
              <a:rPr lang="en-US" dirty="0"/>
              <a:t>Setup:</a:t>
            </a:r>
          </a:p>
          <a:p>
            <a:pPr lvl="1"/>
            <a:r>
              <a:rPr lang="en-US" dirty="0"/>
              <a:t>NIC: ConnectX-5 100Gbps, back-to-back</a:t>
            </a:r>
          </a:p>
          <a:p>
            <a:pPr lvl="1"/>
            <a:r>
              <a:rPr lang="en-US" dirty="0"/>
              <a:t>CPU: </a:t>
            </a:r>
            <a:r>
              <a:rPr lang="pt-BR" dirty="0"/>
              <a:t>Intel(R) Xeon(R) CPU E5-2680 v3 @ 2.50GHz</a:t>
            </a:r>
            <a:endParaRPr lang="en-US" dirty="0"/>
          </a:p>
          <a:p>
            <a:pPr lvl="1"/>
            <a:r>
              <a:rPr lang="en-US" dirty="0"/>
              <a:t>48 cores</a:t>
            </a:r>
          </a:p>
          <a:p>
            <a:pPr lvl="1"/>
            <a:r>
              <a:rPr lang="en-US" dirty="0"/>
              <a:t>12 receive rings</a:t>
            </a:r>
          </a:p>
          <a:p>
            <a:pPr lvl="1"/>
            <a:r>
              <a:rPr lang="en-US" dirty="0"/>
              <a:t>Traffic: 240 </a:t>
            </a:r>
            <a:r>
              <a:rPr lang="en-US" dirty="0" err="1"/>
              <a:t>netperf</a:t>
            </a:r>
            <a:r>
              <a:rPr lang="en-US" dirty="0"/>
              <a:t> instances, TCP stream</a:t>
            </a:r>
          </a:p>
          <a:p>
            <a:pPr lvl="1"/>
            <a:r>
              <a:rPr lang="en-US" dirty="0"/>
              <a:t>Kernel 5.0.0-rc3+</a:t>
            </a:r>
          </a:p>
          <a:p>
            <a:pPr lvl="2"/>
            <a:r>
              <a:rPr lang="en-US" dirty="0"/>
              <a:t>modified mlx5e driver: disabled page-allocation optimizations</a:t>
            </a:r>
          </a:p>
          <a:p>
            <a:pPr lvl="1"/>
            <a:r>
              <a:rPr lang="en-US" dirty="0"/>
              <a:t>MTU = 750B  </a:t>
            </a:r>
            <a:r>
              <a:rPr lang="en-US" dirty="0">
                <a:sym typeface="Wingdings" panose="05000000000000000000" pitchFamily="2" charset="2"/>
              </a:rPr>
              <a:t> simulates the packet rate of a 200Gbps NIC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Observation: Two types of cores</a:t>
            </a:r>
          </a:p>
          <a:p>
            <a:pPr marL="670505" lvl="1" indent="-3429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NAPI + </a:t>
            </a:r>
            <a:r>
              <a:rPr lang="en-US" dirty="0" err="1">
                <a:latin typeface="Consolas" panose="020B0609020204030204" pitchFamily="49" charset="0"/>
              </a:rPr>
              <a:t>netserver</a:t>
            </a:r>
            <a:r>
              <a:rPr lang="en-US" dirty="0">
                <a:latin typeface="Consolas" panose="020B0609020204030204" pitchFamily="49" charset="0"/>
              </a:rPr>
              <a:t>:	page allocate + page release</a:t>
            </a:r>
          </a:p>
          <a:p>
            <a:pPr marL="670505" lvl="1" indent="-34290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netserver</a:t>
            </a:r>
            <a:r>
              <a:rPr lang="en-US" dirty="0">
                <a:latin typeface="Consolas" panose="020B0609020204030204" pitchFamily="49" charset="0"/>
              </a:rPr>
              <a:t> only:	page release</a:t>
            </a:r>
          </a:p>
          <a:p>
            <a:pPr lvl="1"/>
            <a:endParaRPr lang="en-US" dirty="0"/>
          </a:p>
          <a:p>
            <a:r>
              <a:rPr lang="en-US" dirty="0"/>
              <a:t>Bandwidth: 40 Gbps, too 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1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analysis: Test and monitor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620077"/>
            <a:ext cx="13436600" cy="641073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# </a:t>
            </a:r>
            <a:r>
              <a:rPr lang="en-US" sz="2000" b="1" dirty="0" err="1">
                <a:latin typeface="Consolas" panose="020B0609020204030204" pitchFamily="49" charset="0"/>
              </a:rPr>
              <a:t>sudo</a:t>
            </a:r>
            <a:r>
              <a:rPr lang="en-US" sz="2000" b="1" dirty="0">
                <a:latin typeface="Consolas" panose="020B0609020204030204" pitchFamily="49" charset="0"/>
              </a:rPr>
              <a:t> perf stat -a -r 10 -e </a:t>
            </a:r>
            <a:r>
              <a:rPr lang="en-US" sz="2000" b="1" dirty="0" err="1">
                <a:latin typeface="Consolas" panose="020B0609020204030204" pitchFamily="49" charset="0"/>
              </a:rPr>
              <a:t>kmem:mm_page_alloc</a:t>
            </a:r>
            <a:r>
              <a:rPr lang="en-US" sz="2000" b="1" dirty="0">
                <a:latin typeface="Consolas" panose="020B0609020204030204" pitchFamily="49" charset="0"/>
              </a:rPr>
              <a:t> -e </a:t>
            </a:r>
            <a:r>
              <a:rPr lang="en-US" sz="2000" b="1" dirty="0" err="1">
                <a:latin typeface="Consolas" panose="020B0609020204030204" pitchFamily="49" charset="0"/>
              </a:rPr>
              <a:t>kmem:mm_page_free</a:t>
            </a:r>
            <a:r>
              <a:rPr lang="en-US" sz="2000" b="1" dirty="0">
                <a:latin typeface="Consolas" panose="020B0609020204030204" pitchFamily="49" charset="0"/>
              </a:rPr>
              <a:t> sleep 1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Performance counter stats for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'system wide'</a:t>
            </a:r>
            <a:r>
              <a:rPr lang="en-US" sz="2000" dirty="0">
                <a:latin typeface="Consolas" panose="020B0609020204030204" pitchFamily="49" charset="0"/>
              </a:rPr>
              <a:t> (10 runs):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7025086      </a:t>
            </a:r>
            <a:r>
              <a:rPr lang="en-US" sz="2000" dirty="0" err="1">
                <a:latin typeface="Consolas" panose="020B0609020204030204" pitchFamily="49" charset="0"/>
              </a:rPr>
              <a:t>kmem:mm_page_alloc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7143334      </a:t>
            </a:r>
            <a:r>
              <a:rPr lang="en-US" sz="2000" dirty="0" err="1">
                <a:latin typeface="Consolas" panose="020B0609020204030204" pitchFamily="49" charset="0"/>
              </a:rPr>
              <a:t>kmem:mm_page_free</a:t>
            </a:r>
            <a:endParaRPr lang="en-US" sz="20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# </a:t>
            </a:r>
            <a:r>
              <a:rPr lang="en-US" sz="2000" b="1" dirty="0" err="1">
                <a:latin typeface="Consolas" panose="020B0609020204030204" pitchFamily="49" charset="0"/>
              </a:rPr>
              <a:t>sudo</a:t>
            </a:r>
            <a:r>
              <a:rPr lang="en-US" sz="2000" b="1" dirty="0">
                <a:latin typeface="Consolas" panose="020B0609020204030204" pitchFamily="49" charset="0"/>
              </a:rPr>
              <a:t> perf stat -C 1 -r 10 -e </a:t>
            </a:r>
            <a:r>
              <a:rPr lang="en-US" sz="2000" b="1" dirty="0" err="1">
                <a:latin typeface="Consolas" panose="020B0609020204030204" pitchFamily="49" charset="0"/>
              </a:rPr>
              <a:t>kmem:mm_page_alloc</a:t>
            </a:r>
            <a:r>
              <a:rPr lang="en-US" sz="2000" b="1" dirty="0">
                <a:latin typeface="Consolas" panose="020B0609020204030204" pitchFamily="49" charset="0"/>
              </a:rPr>
              <a:t> -e </a:t>
            </a:r>
            <a:r>
              <a:rPr lang="en-US" sz="2000" b="1" dirty="0" err="1">
                <a:latin typeface="Consolas" panose="020B0609020204030204" pitchFamily="49" charset="0"/>
              </a:rPr>
              <a:t>kmem:mm_page_free</a:t>
            </a:r>
            <a:r>
              <a:rPr lang="en-US" sz="2000" b="1" dirty="0">
                <a:latin typeface="Consolas" panose="020B0609020204030204" pitchFamily="49" charset="0"/>
              </a:rPr>
              <a:t> sleep 1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Performance counter stats for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'CPU(s) 1'</a:t>
            </a:r>
            <a:r>
              <a:rPr lang="en-US" sz="2000" dirty="0">
                <a:latin typeface="Consolas" panose="020B0609020204030204" pitchFamily="49" charset="0"/>
              </a:rPr>
              <a:t> (10 runs):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586712      </a:t>
            </a:r>
            <a:r>
              <a:rPr lang="en-US" sz="2000" dirty="0" err="1">
                <a:latin typeface="Consolas" panose="020B0609020204030204" pitchFamily="49" charset="0"/>
              </a:rPr>
              <a:t>kmem:mm_page_alloc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10071      </a:t>
            </a:r>
            <a:r>
              <a:rPr lang="en-US" sz="2000" dirty="0" err="1">
                <a:latin typeface="Consolas" panose="020B0609020204030204" pitchFamily="49" charset="0"/>
              </a:rPr>
              <a:t>kmem:mm_page_free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# </a:t>
            </a:r>
            <a:r>
              <a:rPr lang="en-US" sz="2000" b="1" dirty="0" err="1">
                <a:latin typeface="Consolas" panose="020B0609020204030204" pitchFamily="49" charset="0"/>
              </a:rPr>
              <a:t>sudo</a:t>
            </a:r>
            <a:r>
              <a:rPr lang="en-US" sz="2000" b="1" dirty="0">
                <a:latin typeface="Consolas" panose="020B0609020204030204" pitchFamily="49" charset="0"/>
              </a:rPr>
              <a:t> perf stat -C 25 -r 10 -e </a:t>
            </a:r>
            <a:r>
              <a:rPr lang="en-US" sz="2000" b="1" dirty="0" err="1">
                <a:latin typeface="Consolas" panose="020B0609020204030204" pitchFamily="49" charset="0"/>
              </a:rPr>
              <a:t>kmem:mm_page_alloc</a:t>
            </a:r>
            <a:r>
              <a:rPr lang="en-US" sz="2000" b="1" dirty="0">
                <a:latin typeface="Consolas" panose="020B0609020204030204" pitchFamily="49" charset="0"/>
              </a:rPr>
              <a:t> -e </a:t>
            </a:r>
            <a:r>
              <a:rPr lang="en-US" sz="2000" b="1" dirty="0" err="1">
                <a:latin typeface="Consolas" panose="020B0609020204030204" pitchFamily="49" charset="0"/>
              </a:rPr>
              <a:t>kmem:mm_page_free</a:t>
            </a:r>
            <a:r>
              <a:rPr lang="en-US" sz="2000" b="1" dirty="0">
                <a:latin typeface="Consolas" panose="020B0609020204030204" pitchFamily="49" charset="0"/>
              </a:rPr>
              <a:t> sleep 1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Performance counter stats for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'CPU(s) 25'</a:t>
            </a:r>
            <a:r>
              <a:rPr lang="en-US" sz="2000" dirty="0">
                <a:latin typeface="Consolas" panose="020B0609020204030204" pitchFamily="49" charset="0"/>
              </a:rPr>
              <a:t> (10 runs):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    1      </a:t>
            </a:r>
            <a:r>
              <a:rPr lang="en-US" sz="2000" dirty="0" err="1">
                <a:latin typeface="Consolas" panose="020B0609020204030204" pitchFamily="49" charset="0"/>
              </a:rPr>
              <a:t>kmem:mm_page_alloc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224068      </a:t>
            </a:r>
            <a:r>
              <a:rPr lang="en-US" sz="2000" dirty="0" err="1">
                <a:latin typeface="Consolas" panose="020B0609020204030204" pitchFamily="49" charset="0"/>
              </a:rPr>
              <a:t>kmem:mm_page_free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FD2CFB11-8C58-4FB3-93FC-3708F262690C}"/>
              </a:ext>
            </a:extLst>
          </p:cNvPr>
          <p:cNvSpPr/>
          <p:nvPr/>
        </p:nvSpPr>
        <p:spPr bwMode="auto">
          <a:xfrm>
            <a:off x="7484166" y="4383157"/>
            <a:ext cx="2902226" cy="596347"/>
          </a:xfrm>
          <a:prstGeom prst="cloudCallout">
            <a:avLst>
              <a:gd name="adj1" fmla="val -83017"/>
              <a:gd name="adj2" fmla="val 30081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Imbalanced PCP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FD9DEDB7-BC72-4D3A-8BC6-CA5072542D66}"/>
              </a:ext>
            </a:extLst>
          </p:cNvPr>
          <p:cNvSpPr/>
          <p:nvPr/>
        </p:nvSpPr>
        <p:spPr bwMode="auto">
          <a:xfrm>
            <a:off x="7484166" y="6311349"/>
            <a:ext cx="2902226" cy="596347"/>
          </a:xfrm>
          <a:prstGeom prst="cloudCallout">
            <a:avLst>
              <a:gd name="adj1" fmla="val -83017"/>
              <a:gd name="adj2" fmla="val 30081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Imbalanced PCP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89D5EE0E-8CC7-4EED-81FF-0096AC11E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056" y="4114800"/>
            <a:ext cx="642672" cy="834639"/>
          </a:xfrm>
          <a:prstGeom prst="rect">
            <a:avLst/>
          </a:prstGeo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DE1BDAF8-E630-4A32-A582-54311B9142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056" y="6073057"/>
            <a:ext cx="642672" cy="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2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analysis: Test and monitor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7131B4-6A61-4342-B5A2-A613B69FF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9" y="1146412"/>
            <a:ext cx="13030973" cy="703432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FF749FF-D199-4073-9D62-7C7CFB1B82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325" y="1849438"/>
            <a:ext cx="13436600" cy="5791200"/>
          </a:xfrm>
        </p:spPr>
        <p:txBody>
          <a:bodyPr/>
          <a:lstStyle/>
          <a:p>
            <a:r>
              <a:rPr lang="en-US" dirty="0"/>
              <a:t>System-wide, all cores</a:t>
            </a:r>
          </a:p>
          <a:p>
            <a:r>
              <a:rPr lang="en-US" dirty="0"/>
              <a:t>spinlock: ~55% of samples</a:t>
            </a:r>
          </a:p>
        </p:txBody>
      </p:sp>
    </p:spTree>
    <p:extLst>
      <p:ext uri="{BB962C8B-B14F-4D97-AF65-F5344CB8AC3E}">
        <p14:creationId xmlns:p14="http://schemas.microsoft.com/office/powerpoint/2010/main" val="3111624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analysis: Test and monitor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7131B4-6A61-4342-B5A2-A613B69FF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9" y="1200682"/>
            <a:ext cx="13030973" cy="692578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FF749FF-D199-4073-9D62-7C7CFB1B82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325" y="1849438"/>
            <a:ext cx="13436600" cy="5791200"/>
          </a:xfrm>
        </p:spPr>
        <p:txBody>
          <a:bodyPr/>
          <a:lstStyle/>
          <a:p>
            <a:r>
              <a:rPr lang="en-US" dirty="0"/>
              <a:t>NAPI processing</a:t>
            </a:r>
          </a:p>
          <a:p>
            <a:r>
              <a:rPr lang="en-US" dirty="0"/>
              <a:t>spinlock: ~77% of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41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page allocator bottleneck:</a:t>
            </a:r>
            <a:br>
              <a:rPr lang="en-US" dirty="0"/>
            </a:br>
            <a:r>
              <a:rPr lang="en-US" dirty="0"/>
              <a:t>Ideas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791990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Intro: </a:t>
            </a:r>
            <a:r>
              <a:rPr lang="en-US" dirty="0" err="1">
                <a:latin typeface="Consolas" panose="020B0609020204030204" pitchFamily="49" charset="0"/>
              </a:rPr>
              <a:t>page_pool</a:t>
            </a:r>
            <a:r>
              <a:rPr lang="en-US" dirty="0"/>
              <a:t> API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395663"/>
            <a:ext cx="13436600" cy="6593305"/>
          </a:xfrm>
        </p:spPr>
        <p:txBody>
          <a:bodyPr/>
          <a:lstStyle/>
          <a:p>
            <a:r>
              <a:rPr lang="en-US" dirty="0"/>
              <a:t>By Jesper Dangaard Brouer: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https://github.com/xdp-project/xdp-project/blob/master/areas/mem/page_pool01_evolving_API.org</a:t>
            </a:r>
            <a:r>
              <a:rPr lang="en-US" sz="2400" dirty="0"/>
              <a:t> </a:t>
            </a:r>
          </a:p>
          <a:p>
            <a:endParaRPr lang="en-US" dirty="0"/>
          </a:p>
          <a:p>
            <a:r>
              <a:rPr lang="en-US" dirty="0"/>
              <a:t>Under net subsystem</a:t>
            </a:r>
          </a:p>
          <a:p>
            <a:r>
              <a:rPr lang="en-US" dirty="0"/>
              <a:t>Introduced in kernel v4.18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Goals:</a:t>
            </a:r>
          </a:p>
          <a:p>
            <a:pPr marL="438977" indent="-457200">
              <a:buFont typeface="+mj-lt"/>
              <a:buAutoNum type="arabicPeriod"/>
            </a:pPr>
            <a:r>
              <a:rPr lang="en-US" dirty="0"/>
              <a:t>Keep pages DMA-mapped (driver only use DMA-sync where needed)</a:t>
            </a:r>
          </a:p>
          <a:p>
            <a:pPr marL="438977" indent="-457200">
              <a:buFont typeface="+mj-lt"/>
              <a:buAutoNum type="arabicPeriod"/>
            </a:pPr>
            <a:r>
              <a:rPr lang="en-US" dirty="0"/>
              <a:t>Faster recycle API than page-allocator </a:t>
            </a:r>
          </a:p>
          <a:p>
            <a:pPr marL="438977" indent="-457200">
              <a:buFont typeface="+mj-lt"/>
              <a:buAutoNum type="arabicPeriod"/>
            </a:pPr>
            <a:r>
              <a:rPr lang="en-US" dirty="0"/>
              <a:t>Common allocator API for simplifying NIC drivers</a:t>
            </a:r>
          </a:p>
          <a:p>
            <a:pPr marL="438977" indent="-457200">
              <a:buFont typeface="+mj-lt"/>
              <a:buAutoNum type="arabicPeriod"/>
            </a:pPr>
            <a:r>
              <a:rPr lang="en-US" dirty="0"/>
              <a:t>Better integration with network stack, not just XDP usage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of the ideas in the following slides are to be integrated in the </a:t>
            </a:r>
            <a:r>
              <a:rPr lang="en-US" dirty="0" err="1">
                <a:latin typeface="Consolas" panose="020B0609020204030204" pitchFamily="49" charset="0"/>
              </a:rPr>
              <a:t>page_pool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2689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reuse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In-driver feature, achieves better page utilization</a:t>
            </a:r>
          </a:p>
          <a:p>
            <a:r>
              <a:rPr lang="en-US" dirty="0"/>
              <a:t>A fundamental and easy technique to reduce the page allocation rate</a:t>
            </a:r>
          </a:p>
          <a:p>
            <a:r>
              <a:rPr lang="en-US" dirty="0"/>
              <a:t>Use the 4KB page for two MTU packets</a:t>
            </a:r>
          </a:p>
          <a:p>
            <a:pPr lvl="1"/>
            <a:r>
              <a:rPr lang="en-US" dirty="0"/>
              <a:t>For default MTU of 1500B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Striding RQ:</a:t>
            </a:r>
          </a:p>
          <a:p>
            <a:r>
              <a:rPr lang="en-US" dirty="0"/>
              <a:t>An advanced and powerful HW feature supported since ConnectX-4 LX</a:t>
            </a:r>
          </a:p>
          <a:p>
            <a:r>
              <a:rPr lang="en-US" dirty="0"/>
              <a:t>Improves both memory and PCI utilization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recycle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443789"/>
            <a:ext cx="13436600" cy="6577264"/>
          </a:xfrm>
        </p:spPr>
        <p:txBody>
          <a:bodyPr/>
          <a:lstStyle/>
          <a:p>
            <a:r>
              <a:rPr lang="en-US" dirty="0"/>
              <a:t>Maintain a waiting queue of the allocated pages</a:t>
            </a:r>
          </a:p>
          <a:p>
            <a:r>
              <a:rPr lang="en-US" dirty="0"/>
              <a:t>When a new page is needed, first check internally for an available one</a:t>
            </a:r>
          </a:p>
          <a:p>
            <a:r>
              <a:rPr lang="en-US" dirty="0"/>
              <a:t>Usually done by elevating the page reference counter</a:t>
            </a:r>
          </a:p>
          <a:p>
            <a:r>
              <a:rPr lang="en-US" dirty="0"/>
              <a:t>The page is available for recycle when its </a:t>
            </a:r>
            <a:r>
              <a:rPr lang="en-US" dirty="0" err="1"/>
              <a:t>refcount</a:t>
            </a:r>
            <a:r>
              <a:rPr lang="en-US" dirty="0"/>
              <a:t> gets back to 1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Issues:</a:t>
            </a:r>
          </a:p>
          <a:p>
            <a:r>
              <a:rPr lang="en-US" dirty="0"/>
              <a:t>No signaling/callback mechanism:</a:t>
            </a:r>
          </a:p>
          <a:p>
            <a:pPr lvl="1"/>
            <a:r>
              <a:rPr lang="en-US" dirty="0"/>
              <a:t>must keep observing the </a:t>
            </a:r>
            <a:r>
              <a:rPr lang="en-US" dirty="0" err="1"/>
              <a:t>refcount</a:t>
            </a:r>
            <a:r>
              <a:rPr lang="en-US" dirty="0"/>
              <a:t> upon allocations</a:t>
            </a:r>
          </a:p>
          <a:p>
            <a:r>
              <a:rPr lang="en-US" dirty="0"/>
              <a:t>Head-of-the-queue blocks:</a:t>
            </a:r>
          </a:p>
          <a:p>
            <a:pPr lvl="1"/>
            <a:r>
              <a:rPr lang="en-US" dirty="0"/>
              <a:t>Might be caused for several reasons. No clear policy to deal with it.</a:t>
            </a:r>
          </a:p>
          <a:p>
            <a:pPr lvl="1"/>
            <a:endParaRPr lang="en-US" dirty="0"/>
          </a:p>
          <a:p>
            <a:r>
              <a:rPr lang="en-US" dirty="0"/>
              <a:t>Still helpful: when traffic pattern and processing times are known/expectable,</a:t>
            </a:r>
            <a:br>
              <a:rPr lang="en-US" dirty="0"/>
            </a:br>
            <a:r>
              <a:rPr lang="en-US" dirty="0"/>
              <a:t>tune the recycle-queue size to get high recycle rate.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37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remote release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299411"/>
            <a:ext cx="13436600" cy="6689557"/>
          </a:xfrm>
        </p:spPr>
        <p:txBody>
          <a:bodyPr/>
          <a:lstStyle/>
          <a:p>
            <a:r>
              <a:rPr lang="en-US" dirty="0"/>
              <a:t>An intriguing idea focuses on preventing the PCP imbalances</a:t>
            </a:r>
          </a:p>
          <a:p>
            <a:pPr lvl="1"/>
            <a:r>
              <a:rPr lang="en-US" dirty="0"/>
              <a:t>Suggested by Eric Dumazet</a:t>
            </a:r>
          </a:p>
          <a:p>
            <a:r>
              <a:rPr lang="en-US" dirty="0"/>
              <a:t>Idea: use a page-return hook to directly release the page back </a:t>
            </a:r>
            <a:r>
              <a:rPr lang="en-US" b="1" dirty="0"/>
              <a:t>to where it originates</a:t>
            </a:r>
          </a:p>
          <a:p>
            <a:r>
              <a:rPr lang="en-US" dirty="0"/>
              <a:t>Save minimal amount of metadata (the originating core number) within the SKB structure</a:t>
            </a:r>
          </a:p>
          <a:p>
            <a:r>
              <a:rPr lang="en-US" dirty="0"/>
              <a:t>Use it upon SKB release</a:t>
            </a:r>
          </a:p>
          <a:p>
            <a:endParaRPr lang="en-US" dirty="0"/>
          </a:p>
          <a:p>
            <a:r>
              <a:rPr lang="en-US" dirty="0"/>
              <a:t>Recent direction is to integrate the idea into the </a:t>
            </a:r>
            <a:r>
              <a:rPr lang="en-US" dirty="0" err="1"/>
              <a:t>page_pool</a:t>
            </a:r>
            <a:r>
              <a:rPr lang="en-US" dirty="0"/>
              <a:t> API instead.</a:t>
            </a:r>
          </a:p>
          <a:p>
            <a:r>
              <a:rPr lang="en-US" dirty="0"/>
              <a:t>Save a pointer to the originating </a:t>
            </a:r>
            <a:r>
              <a:rPr lang="en-US" dirty="0" err="1"/>
              <a:t>page_pool</a:t>
            </a:r>
            <a:r>
              <a:rPr lang="en-US" dirty="0"/>
              <a:t> structure, instead of core id.</a:t>
            </a:r>
          </a:p>
          <a:p>
            <a:endParaRPr lang="en-US" dirty="0"/>
          </a:p>
          <a:p>
            <a:r>
              <a:rPr lang="en-US" dirty="0"/>
              <a:t>Two proposed places for the page return hook:</a:t>
            </a:r>
          </a:p>
          <a:p>
            <a:pPr lvl="1"/>
            <a:r>
              <a:rPr lang="en-US" dirty="0"/>
              <a:t>Page allocator layer via </a:t>
            </a:r>
            <a:r>
              <a:rPr lang="en-US" dirty="0" err="1"/>
              <a:t>put_page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Network stack layer via </a:t>
            </a:r>
            <a:r>
              <a:rPr lang="en-US" dirty="0" err="1"/>
              <a:t>kfree_skb</a:t>
            </a:r>
            <a:r>
              <a:rPr lang="en-US" dirty="0"/>
              <a:t>()</a:t>
            </a:r>
          </a:p>
          <a:p>
            <a:pPr marL="311783" lvl="1" indent="0">
              <a:buNone/>
            </a:pPr>
            <a:r>
              <a:rPr lang="en-US" sz="2200" dirty="0">
                <a:hlinkClick r:id="rId2"/>
              </a:rPr>
              <a:t>https://github.com/xdp-project/xdp-project/blob/master/areas/mem/page_pool02_SKB_return_callback.org</a:t>
            </a:r>
            <a:r>
              <a:rPr lang="en-US" sz="22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361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zone lock critical section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68325" y="1540042"/>
            <a:ext cx="13436600" cy="6416842"/>
          </a:xfrm>
        </p:spPr>
        <p:txBody>
          <a:bodyPr/>
          <a:lstStyle/>
          <a:p>
            <a:r>
              <a:rPr lang="en-US" dirty="0"/>
              <a:t>Orthogonal effort in the Memory Management (MM) subsystem.</a:t>
            </a:r>
          </a:p>
          <a:p>
            <a:endParaRPr lang="en-US" dirty="0"/>
          </a:p>
          <a:p>
            <a:r>
              <a:rPr lang="en-US" dirty="0"/>
              <a:t>RFC by Aaron Lu:</a:t>
            </a:r>
          </a:p>
          <a:p>
            <a:pPr lvl="1"/>
            <a:r>
              <a:rPr lang="en-US" dirty="0">
                <a:hlinkClick r:id="rId2"/>
              </a:rPr>
              <a:t>https://github.com/aaronlu/linux/tree/zone_lock_rfc_v3</a:t>
            </a:r>
            <a:endParaRPr lang="en-US" dirty="0"/>
          </a:p>
          <a:p>
            <a:endParaRPr lang="en-US" dirty="0"/>
          </a:p>
          <a:p>
            <a:r>
              <a:rPr lang="en-US" sz="2800" dirty="0"/>
              <a:t>The key idea is to avoid touching pages struct page under the global zone lock</a:t>
            </a:r>
          </a:p>
          <a:p>
            <a:pPr lvl="1"/>
            <a:r>
              <a:rPr lang="en-US" sz="2400" dirty="0"/>
              <a:t>because cache miss on the struct is the most time consuming part under the lock.</a:t>
            </a:r>
          </a:p>
          <a:p>
            <a:r>
              <a:rPr lang="en-US" sz="2800" dirty="0"/>
              <a:t>Suggestion is, don’t do merge operations on free path</a:t>
            </a:r>
          </a:p>
          <a:p>
            <a:pPr lvl="1"/>
            <a:r>
              <a:rPr lang="en-US" sz="2400" dirty="0"/>
              <a:t>as it causes multiple struct page's to be fetched under the zone lock.</a:t>
            </a:r>
          </a:p>
          <a:p>
            <a:r>
              <a:rPr lang="en-US" sz="2800" dirty="0"/>
              <a:t>This opens the opportunity of doing cluster allocation on allocation path</a:t>
            </a:r>
          </a:p>
          <a:p>
            <a:pPr lvl="1"/>
            <a:r>
              <a:rPr lang="en-US" sz="2400" dirty="0"/>
              <a:t>allocate a batch of pages under zone lock without needing to touch every single struct page of them.</a:t>
            </a:r>
          </a:p>
          <a:p>
            <a:endParaRPr lang="en-US" dirty="0"/>
          </a:p>
          <a:p>
            <a:r>
              <a:rPr lang="en-US" dirty="0"/>
              <a:t>This makes the system favor order-0 </a:t>
            </a:r>
            <a:r>
              <a:rPr lang="en-US" dirty="0" err="1"/>
              <a:t>alloc</a:t>
            </a:r>
            <a:r>
              <a:rPr lang="en-US" dirty="0"/>
              <a:t>/free</a:t>
            </a:r>
          </a:p>
          <a:p>
            <a:r>
              <a:rPr lang="en-US" dirty="0"/>
              <a:t>Perfectly matches the standard buffer size used in the networking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368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zone lock critical section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Accepted patches: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Improvements (v4.17)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97334162e4d7 mm/</a:t>
            </a:r>
            <a:r>
              <a:rPr lang="en-US" sz="2200" dirty="0" err="1">
                <a:latin typeface="Consolas" panose="020B0609020204030204" pitchFamily="49" charset="0"/>
              </a:rPr>
              <a:t>free_pcppages_bulk</a:t>
            </a:r>
            <a:r>
              <a:rPr lang="en-US" sz="2200" dirty="0">
                <a:latin typeface="Consolas" panose="020B0609020204030204" pitchFamily="49" charset="0"/>
              </a:rPr>
              <a:t>: prefetch buddy while not holding lock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0a5f4e5b4562 mm/</a:t>
            </a:r>
            <a:r>
              <a:rPr lang="en-US" sz="2200" dirty="0" err="1">
                <a:latin typeface="Consolas" panose="020B0609020204030204" pitchFamily="49" charset="0"/>
              </a:rPr>
              <a:t>free_pcppages_bulk</a:t>
            </a:r>
            <a:r>
              <a:rPr lang="en-US" sz="2200" dirty="0">
                <a:latin typeface="Consolas" panose="020B0609020204030204" pitchFamily="49" charset="0"/>
              </a:rPr>
              <a:t>: do not hold lock when picking pages to free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Fix (v5.0-rc1)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65895b67ad27 mm/</a:t>
            </a:r>
            <a:r>
              <a:rPr lang="en-US" sz="2200" dirty="0" err="1">
                <a:latin typeface="Consolas" panose="020B0609020204030204" pitchFamily="49" charset="0"/>
              </a:rPr>
              <a:t>page_alloc.c</a:t>
            </a:r>
            <a:r>
              <a:rPr lang="en-US" sz="2200" dirty="0">
                <a:latin typeface="Consolas" panose="020B0609020204030204" pitchFamily="49" charset="0"/>
              </a:rPr>
              <a:t>: free order-0 pages through PCP in </a:t>
            </a:r>
            <a:r>
              <a:rPr lang="en-US" sz="2200" dirty="0" err="1">
                <a:latin typeface="Consolas" panose="020B0609020204030204" pitchFamily="49" charset="0"/>
              </a:rPr>
              <a:t>page_frag_free</a:t>
            </a:r>
            <a:r>
              <a:rPr lang="en-US" sz="2200" dirty="0">
                <a:latin typeface="Consolas" panose="020B0609020204030204" pitchFamily="49" charset="0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21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59885"/>
      </p:ext>
    </p:extLst>
  </p:cSld>
  <p:clrMapOvr>
    <a:masterClrMapping/>
  </p:clrMapOvr>
</p:sld>
</file>

<file path=ppt/theme/theme1.xml><?xml version="1.0" encoding="utf-8"?>
<a:theme xmlns:a="http://schemas.openxmlformats.org/drawingml/2006/main" name="MellanoxTheme">
  <a:themeElements>
    <a:clrScheme name="mellanox2018_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B7BF35"/>
      </a:accent1>
      <a:accent2>
        <a:srgbClr val="0059AB"/>
      </a:accent2>
      <a:accent3>
        <a:srgbClr val="3282AA"/>
      </a:accent3>
      <a:accent4>
        <a:srgbClr val="D8D8D8"/>
      </a:accent4>
      <a:accent5>
        <a:srgbClr val="F8921F"/>
      </a:accent5>
      <a:accent6>
        <a:srgbClr val="5F80C2"/>
      </a:accent6>
      <a:hlink>
        <a:srgbClr val="2D68B4"/>
      </a:hlink>
      <a:folHlink>
        <a:srgbClr val="005AA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ellanox Template JAN2018 (004)" id="{2C78E2E4-B16E-4044-AE9F-393874944357}" vid="{17C8F753-5DA9-44BD-AC67-F68F5D42F9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lternateThumbnailUrl xmlns="http://schemas.microsoft.com/sharepoint/v3">
      <Url xsi:nil="true"/>
      <Description xsi:nil="true"/>
    </AlternateThumbnailUrl>
    <asset_x002d_description xmlns="b953bbcf-20e8-45fb-807d-4b948cfbeafb" xsi:nil="true"/>
    <tagtext xmlns="b953bbcf-20e8-45fb-807d-4b948cfbeafb" xsi:nil="true"/>
    <TagWords xmlns="b953bbcf-20e8-45fb-807d-4b948cfbeafb" xsi:nil="true"/>
    <ImageCreateDate xmlns="http://schemas.microsoft.com/sharepoint/v3" xsi:nil="true"/>
    <_x0023_ xmlns="b953bbcf-20e8-45fb-807d-4b948cfbeafb" xsi:nil="true"/>
    <AssetKeyWords xmlns="6a6a4bbb-c2f9-439a-be6a-43779983aaea" xsi:nil="true"/>
    <Description xmlns="http://schemas.microsoft.com/sharepoint/v3" xsi:nil="true"/>
    <SharedWithUsers xmlns="6a6a4bbb-c2f9-439a-be6a-43779983aaea">
      <UserInfo>
        <DisplayName>Tamara Shefa</DisplayName>
        <AccountId>395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icture" ma:contentTypeID="0x01010200DD0C12EF093A384C8B699087CEB59945" ma:contentTypeVersion="14" ma:contentTypeDescription="Upload an image or a photograph." ma:contentTypeScope="" ma:versionID="7bec33487809414ae96515eeb9bb4472">
  <xsd:schema xmlns:xsd="http://www.w3.org/2001/XMLSchema" xmlns:xs="http://www.w3.org/2001/XMLSchema" xmlns:p="http://schemas.microsoft.com/office/2006/metadata/properties" xmlns:ns1="http://schemas.microsoft.com/sharepoint/v3" xmlns:ns2="b953bbcf-20e8-45fb-807d-4b948cfbeafb" xmlns:ns3="6a6a4bbb-c2f9-439a-be6a-43779983aaea" targetNamespace="http://schemas.microsoft.com/office/2006/metadata/properties" ma:root="true" ma:fieldsID="97f89d155953251f3c287d5fae63357b" ns1:_="" ns2:_="" ns3:_="">
    <xsd:import namespace="http://schemas.microsoft.com/sharepoint/v3"/>
    <xsd:import namespace="b953bbcf-20e8-45fb-807d-4b948cfbeafb"/>
    <xsd:import namespace="6a6a4bbb-c2f9-439a-be6a-43779983aaea"/>
    <xsd:element name="properties">
      <xsd:complexType>
        <xsd:sequence>
          <xsd:element name="documentManagement">
            <xsd:complexType>
              <xsd:all>
                <xsd:element ref="ns1:ImageWidth" minOccurs="0"/>
                <xsd:element ref="ns1:ImageHeight" minOccurs="0"/>
                <xsd:element ref="ns1:ImageCreateDate" minOccurs="0"/>
                <xsd:element ref="ns1:Description" minOccurs="0"/>
                <xsd:element ref="ns1:ThumbnailExists" minOccurs="0"/>
                <xsd:element ref="ns1:PreviewExists" minOccurs="0"/>
                <xsd:element ref="ns1:AlternateThumbnailUrl" minOccurs="0"/>
                <xsd:element ref="ns2:tagtext" minOccurs="0"/>
                <xsd:element ref="ns2:asset_x002d_description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TagWords" minOccurs="0"/>
                <xsd:element ref="ns2:MediaServiceOCR" minOccurs="0"/>
                <xsd:element ref="ns3:AssetKeyWords" minOccurs="0"/>
                <xsd:element ref="ns2:_x0023_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geWidth" ma:index="11" nillable="true" ma:displayName="Picture Width" ma:internalName="ImageWidth" ma:readOnly="true">
      <xsd:simpleType>
        <xsd:restriction base="dms:Unknown"/>
      </xsd:simpleType>
    </xsd:element>
    <xsd:element name="ImageHeight" ma:index="12" nillable="true" ma:displayName="Picture Height" ma:internalName="ImageHeight" ma:readOnly="true">
      <xsd:simpleType>
        <xsd:restriction base="dms:Unknown"/>
      </xsd:simpleType>
    </xsd:element>
    <xsd:element name="ImageCreateDate" ma:index="13" nillable="true" ma:displayName="Date Picture Taken" ma:format="DateTime" ma:hidden="true" ma:internalName="ImageCreateDate">
      <xsd:simpleType>
        <xsd:restriction base="dms:DateTime"/>
      </xsd:simpleType>
    </xsd:element>
    <xsd:element name="Description" ma:index="14" nillable="true" ma:displayName="Description" ma:description="Used as alternative text for the picture." ma:hidden="true" ma:internalName="Description">
      <xsd:simpleType>
        <xsd:restriction base="dms:Note">
          <xsd:maxLength value="255"/>
        </xsd:restriction>
      </xsd:simpleType>
    </xsd:element>
    <xsd:element name="ThumbnailExists" ma:index="23" nillable="true" ma:displayName="Thumbnail Exists" ma:default="FALSE" ma:hidden="true" ma:internalName="ThumbnailExists" ma:readOnly="true">
      <xsd:simpleType>
        <xsd:restriction base="dms:Boolean"/>
      </xsd:simpleType>
    </xsd:element>
    <xsd:element name="PreviewExists" ma:index="24" nillable="true" ma:displayName="Preview Exists" ma:default="FALSE" ma:hidden="true" ma:internalName="PreviewExists" ma:readOnly="true">
      <xsd:simpleType>
        <xsd:restriction base="dms:Boolean"/>
      </xsd:simpleType>
    </xsd:element>
    <xsd:element name="AlternateThumbnailUrl" ma:index="25" nillable="true" ma:displayName="Preview Image URL" ma:format="Image" ma:hidden="true" ma:internalName="AlternateThumbnail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3bbcf-20e8-45fb-807d-4b948cfbeafb" elementFormDefault="qualified">
    <xsd:import namespace="http://schemas.microsoft.com/office/2006/documentManagement/types"/>
    <xsd:import namespace="http://schemas.microsoft.com/office/infopath/2007/PartnerControls"/>
    <xsd:element name="tagtext" ma:index="26" nillable="true" ma:displayName="tagtext" ma:internalName="tagtext">
      <xsd:simpleType>
        <xsd:restriction base="dms:Text">
          <xsd:maxLength value="255"/>
        </xsd:restriction>
      </xsd:simpleType>
    </xsd:element>
    <xsd:element name="asset_x002d_description" ma:index="27" nillable="true" ma:displayName="asset-description" ma:internalName="asset_x002d_description">
      <xsd:simpleType>
        <xsd:restriction base="dms:Text">
          <xsd:maxLength value="255"/>
        </xsd:restriction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31" nillable="true" ma:displayName="MediaServiceDateTaken" ma:hidden="true" ma:internalName="MediaServiceDateTaken" ma:readOnly="true">
      <xsd:simpleType>
        <xsd:restriction base="dms:Text"/>
      </xsd:simpleType>
    </xsd:element>
    <xsd:element name="TagWords" ma:index="32" nillable="true" ma:displayName="TagWords" ma:internalName="TagWords">
      <xsd:simpleType>
        <xsd:restriction base="dms:Note"/>
      </xsd:simpleType>
    </xsd:element>
    <xsd:element name="MediaServiceOCR" ma:index="3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023_" ma:index="35" nillable="true" ma:displayName="#" ma:internalName="_x0023_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6a4bbb-c2f9-439a-be6a-43779983aaea" elementFormDefault="qualified">
    <xsd:import namespace="http://schemas.microsoft.com/office/2006/documentManagement/types"/>
    <xsd:import namespace="http://schemas.microsoft.com/office/infopath/2007/PartnerControls"/>
    <xsd:element name="AssetKeyWords" ma:index="34" nillable="true" ma:displayName="Asset Key Words" ma:description="For example: scenery, mountains, trees, nature" ma:internalName="AssetKeyWords">
      <xsd:simpleType>
        <xsd:restriction base="dms:Note">
          <xsd:maxLength value="255"/>
        </xsd:restriction>
      </xsd:simpleType>
    </xsd:element>
    <xsd:element name="SharedWithUsers" ma:index="3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8" ma:displayName="Title"/>
        <xsd:element ref="dc:subject" minOccurs="0" maxOccurs="1"/>
        <xsd:element ref="dc:description" minOccurs="0" maxOccurs="1"/>
        <xsd:element name="keywords" minOccurs="0" maxOccurs="1" type="xsd:string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DA09B2-F123-413D-A331-6DF0604607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6DB132-C097-49C5-9A27-7FB5D713CD07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6a6a4bbb-c2f9-439a-be6a-43779983aaea"/>
    <ds:schemaRef ds:uri="b953bbcf-20e8-45fb-807d-4b948cfbeaf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B4798E7-82D4-489D-A0FB-A5E43E721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953bbcf-20e8-45fb-807d-4b948cfbeafb"/>
    <ds:schemaRef ds:uri="6a6a4bbb-c2f9-439a-be6a-43779983aa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180101 Mellanox Template Confidential</Template>
  <TotalTime>26535</TotalTime>
  <Words>1858</Words>
  <Application>Microsoft Office PowerPoint</Application>
  <PresentationFormat>Custom</PresentationFormat>
  <Paragraphs>435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MS PGothic</vt:lpstr>
      <vt:lpstr>Arial</vt:lpstr>
      <vt:lpstr>Arial Narrow Bold</vt:lpstr>
      <vt:lpstr>Calibri</vt:lpstr>
      <vt:lpstr>Calibri Light</vt:lpstr>
      <vt:lpstr>Consolas</vt:lpstr>
      <vt:lpstr>Lucida Grande</vt:lpstr>
      <vt:lpstr>Wingdings</vt:lpstr>
      <vt:lpstr>MellanoxTheme</vt:lpstr>
      <vt:lpstr>Bottlenecks in increasing network speeds</vt:lpstr>
      <vt:lpstr>Agenda</vt:lpstr>
      <vt:lpstr>Motivation</vt:lpstr>
      <vt:lpstr> Motivation</vt:lpstr>
      <vt:lpstr>Motivation</vt:lpstr>
      <vt:lpstr>PCI bottleneck</vt:lpstr>
      <vt:lpstr>PCI generations</vt:lpstr>
      <vt:lpstr>PCI bottleneck</vt:lpstr>
      <vt:lpstr>PCI bottleneck</vt:lpstr>
      <vt:lpstr>HW features for improved PCI utilization</vt:lpstr>
      <vt:lpstr>The key idea</vt:lpstr>
      <vt:lpstr>RX completion descriptors compression</vt:lpstr>
      <vt:lpstr>RX completion descriptors compression</vt:lpstr>
      <vt:lpstr>RX completion descriptors compression</vt:lpstr>
      <vt:lpstr>TX descriptor bulking</vt:lpstr>
      <vt:lpstr>TX descriptor bulking</vt:lpstr>
      <vt:lpstr>TX descriptor bulking</vt:lpstr>
      <vt:lpstr>TX descriptor bulking</vt:lpstr>
      <vt:lpstr>CPU bottleneck: The Linux Page allocator</vt:lpstr>
      <vt:lpstr>The Linux page allocator</vt:lpstr>
      <vt:lpstr>The Linux page allocator</vt:lpstr>
      <vt:lpstr>The Linux page allocator</vt:lpstr>
      <vt:lpstr>Bottleneck analysis: Typical network flow</vt:lpstr>
      <vt:lpstr>Bottleneck analysis: Test and monitor</vt:lpstr>
      <vt:lpstr>Bottleneck analysis: Test and monitor</vt:lpstr>
      <vt:lpstr>Bottleneck analysis: Test and monitor</vt:lpstr>
      <vt:lpstr>Bottleneck analysis: Test and monitor</vt:lpstr>
      <vt:lpstr>The page allocator bottleneck: Ideas and solutions</vt:lpstr>
      <vt:lpstr>Intro: page_pool API</vt:lpstr>
      <vt:lpstr>Page reuse</vt:lpstr>
      <vt:lpstr>Page recycle</vt:lpstr>
      <vt:lpstr>Page remote release</vt:lpstr>
      <vt:lpstr>Optimize zone lock critical section</vt:lpstr>
      <vt:lpstr>Optimize zone lock critical section</vt:lpstr>
      <vt:lpstr>PowerPoint Presentation</vt:lpstr>
    </vt:vector>
  </TitlesOfParts>
  <Company>Mellanox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Gilad Shainer</dc:creator>
  <cp:lastModifiedBy>Tariq Toukan</cp:lastModifiedBy>
  <cp:revision>123</cp:revision>
  <dcterms:created xsi:type="dcterms:W3CDTF">2018-01-01T14:39:35Z</dcterms:created>
  <dcterms:modified xsi:type="dcterms:W3CDTF">2019-03-22T16:35:25Z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cf54f5d3-2bb2-4e59-a2bf-ca559c45d02c</vt:lpwstr>
  </property>
  <property fmtid="{D5CDD505-2E9C-101B-9397-08002B2CF9AE}" pid="3" name="ContentTypeId">
    <vt:lpwstr>0x01010200DD0C12EF093A384C8B699087CEB59945</vt:lpwstr>
  </property>
</Properties>
</file>