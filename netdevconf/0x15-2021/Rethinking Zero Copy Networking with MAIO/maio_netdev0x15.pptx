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10" r:id="rId1"/>
  </p:sldMasterIdLst>
  <p:notesMasterIdLst>
    <p:notesMasterId r:id="rId35"/>
  </p:notesMasterIdLst>
  <p:sldIdLst>
    <p:sldId id="256" r:id="rId2"/>
    <p:sldId id="257" r:id="rId3"/>
    <p:sldId id="258" r:id="rId4"/>
    <p:sldId id="259" r:id="rId5"/>
    <p:sldId id="260" r:id="rId6"/>
    <p:sldId id="261" r:id="rId7"/>
    <p:sldId id="262" r:id="rId8"/>
    <p:sldId id="263" r:id="rId9"/>
    <p:sldId id="269" r:id="rId10"/>
    <p:sldId id="268" r:id="rId11"/>
    <p:sldId id="282" r:id="rId12"/>
    <p:sldId id="281" r:id="rId13"/>
    <p:sldId id="283" r:id="rId14"/>
    <p:sldId id="285" r:id="rId15"/>
    <p:sldId id="286" r:id="rId16"/>
    <p:sldId id="287" r:id="rId17"/>
    <p:sldId id="288" r:id="rId18"/>
    <p:sldId id="284" r:id="rId19"/>
    <p:sldId id="280" r:id="rId20"/>
    <p:sldId id="270" r:id="rId21"/>
    <p:sldId id="271" r:id="rId22"/>
    <p:sldId id="272" r:id="rId23"/>
    <p:sldId id="273" r:id="rId24"/>
    <p:sldId id="274" r:id="rId25"/>
    <p:sldId id="275" r:id="rId26"/>
    <p:sldId id="276" r:id="rId27"/>
    <p:sldId id="277" r:id="rId28"/>
    <p:sldId id="278" r:id="rId29"/>
    <p:sldId id="279" r:id="rId30"/>
    <p:sldId id="265" r:id="rId31"/>
    <p:sldId id="267" r:id="rId32"/>
    <p:sldId id="266" r:id="rId33"/>
    <p:sldId id="264" r:id="rId34"/>
  </p:sldIdLst>
  <p:sldSz cx="121793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C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717074"/>
        </a:fontRef>
        <a:srgbClr val="71707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CEF"/>
          </a:solidFill>
        </a:fill>
      </a:tcStyle>
    </a:wholeTbl>
    <a:band2H>
      <a:tcTxStyle/>
      <a:tcStyle>
        <a:tcBdr/>
        <a:fill>
          <a:solidFill>
            <a:srgbClr val="E6EEF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717074"/>
        </a:fontRef>
        <a:srgbClr val="71707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D3DB"/>
          </a:solidFill>
        </a:fill>
      </a:tcStyle>
    </a:wholeTbl>
    <a:band2H>
      <a:tcTxStyle/>
      <a:tcStyle>
        <a:tcBdr/>
        <a:fill>
          <a:solidFill>
            <a:srgbClr val="E6EAEE"/>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717074"/>
        </a:fontRef>
        <a:srgbClr val="71707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CD6CB"/>
          </a:solidFill>
        </a:fill>
      </a:tcStyle>
    </a:wholeTbl>
    <a:band2H>
      <a:tcTxStyle/>
      <a:tcStyle>
        <a:tcBdr/>
        <a:fill>
          <a:solidFill>
            <a:srgbClr val="E7ECE7"/>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717074"/>
        </a:fontRef>
        <a:srgbClr val="717074"/>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BEBEB"/>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717074"/>
        </a:fontRef>
        <a:srgbClr val="717074"/>
      </a:tcTxStyle>
      <a:tcStyle>
        <a:tcBdr>
          <a:left>
            <a:ln w="12700" cap="flat">
              <a:noFill/>
              <a:miter lim="400000"/>
            </a:ln>
          </a:left>
          <a:right>
            <a:ln w="12700" cap="flat">
              <a:noFill/>
              <a:miter lim="400000"/>
            </a:ln>
          </a:right>
          <a:top>
            <a:ln w="50800" cap="flat">
              <a:solidFill>
                <a:srgbClr val="717074"/>
              </a:solidFill>
              <a:prstDash val="solid"/>
              <a:round/>
            </a:ln>
          </a:top>
          <a:bottom>
            <a:ln w="25400" cap="flat">
              <a:solidFill>
                <a:srgbClr val="717074"/>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717074"/>
              </a:solidFill>
              <a:prstDash val="solid"/>
              <a:round/>
            </a:ln>
          </a:top>
          <a:bottom>
            <a:ln w="25400" cap="flat">
              <a:solidFill>
                <a:srgbClr val="717074"/>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717074"/>
        </a:fontRef>
        <a:srgbClr val="717074"/>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D4D5"/>
          </a:solidFill>
        </a:fill>
      </a:tcStyle>
    </a:wholeTbl>
    <a:band2H>
      <a:tcTxStyle/>
      <a:tcStyle>
        <a:tcBdr/>
        <a:fill>
          <a:solidFill>
            <a:srgbClr val="EBEBEB"/>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717074"/>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717074"/>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717074"/>
          </a:solidFill>
        </a:fill>
      </a:tcStyle>
    </a:firstRow>
  </a:tblStyle>
  <a:tblStyle styleId="{2708684C-4D16-4618-839F-0558EEFCDFE6}" styleName="">
    <a:tblBg/>
    <a:wholeTbl>
      <a:tcTxStyle b="off" i="off">
        <a:fontRef idx="minor">
          <a:srgbClr val="717074"/>
        </a:fontRef>
        <a:srgbClr val="717074"/>
      </a:tcTxStyle>
      <a:tcStyle>
        <a:tcBdr>
          <a:left>
            <a:ln w="12700" cap="flat">
              <a:solidFill>
                <a:srgbClr val="717074"/>
              </a:solidFill>
              <a:prstDash val="solid"/>
              <a:round/>
            </a:ln>
          </a:left>
          <a:right>
            <a:ln w="12700" cap="flat">
              <a:solidFill>
                <a:srgbClr val="717074"/>
              </a:solidFill>
              <a:prstDash val="solid"/>
              <a:round/>
            </a:ln>
          </a:right>
          <a:top>
            <a:ln w="12700" cap="flat">
              <a:solidFill>
                <a:srgbClr val="717074"/>
              </a:solidFill>
              <a:prstDash val="solid"/>
              <a:round/>
            </a:ln>
          </a:top>
          <a:bottom>
            <a:ln w="12700" cap="flat">
              <a:solidFill>
                <a:srgbClr val="717074"/>
              </a:solidFill>
              <a:prstDash val="solid"/>
              <a:round/>
            </a:ln>
          </a:bottom>
          <a:insideH>
            <a:ln w="12700" cap="flat">
              <a:solidFill>
                <a:srgbClr val="717074"/>
              </a:solidFill>
              <a:prstDash val="solid"/>
              <a:round/>
            </a:ln>
          </a:insideH>
          <a:insideV>
            <a:ln w="12700" cap="flat">
              <a:solidFill>
                <a:srgbClr val="717074"/>
              </a:solidFill>
              <a:prstDash val="solid"/>
              <a:round/>
            </a:ln>
          </a:insideV>
        </a:tcBdr>
        <a:fill>
          <a:solidFill>
            <a:srgbClr val="717074">
              <a:alpha val="20000"/>
            </a:srgbClr>
          </a:solidFill>
        </a:fill>
      </a:tcStyle>
    </a:wholeTbl>
    <a:band2H>
      <a:tcTxStyle/>
      <a:tcStyle>
        <a:tcBdr/>
        <a:fill>
          <a:solidFill>
            <a:srgbClr val="FFFFFF"/>
          </a:solidFill>
        </a:fill>
      </a:tcStyle>
    </a:band2H>
    <a:firstCol>
      <a:tcTxStyle b="on" i="off">
        <a:fontRef idx="minor">
          <a:srgbClr val="717074"/>
        </a:fontRef>
        <a:srgbClr val="717074"/>
      </a:tcTxStyle>
      <a:tcStyle>
        <a:tcBdr>
          <a:left>
            <a:ln w="12700" cap="flat">
              <a:solidFill>
                <a:srgbClr val="717074"/>
              </a:solidFill>
              <a:prstDash val="solid"/>
              <a:round/>
            </a:ln>
          </a:left>
          <a:right>
            <a:ln w="12700" cap="flat">
              <a:solidFill>
                <a:srgbClr val="717074"/>
              </a:solidFill>
              <a:prstDash val="solid"/>
              <a:round/>
            </a:ln>
          </a:right>
          <a:top>
            <a:ln w="12700" cap="flat">
              <a:solidFill>
                <a:srgbClr val="717074"/>
              </a:solidFill>
              <a:prstDash val="solid"/>
              <a:round/>
            </a:ln>
          </a:top>
          <a:bottom>
            <a:ln w="12700" cap="flat">
              <a:solidFill>
                <a:srgbClr val="717074"/>
              </a:solidFill>
              <a:prstDash val="solid"/>
              <a:round/>
            </a:ln>
          </a:bottom>
          <a:insideH>
            <a:ln w="12700" cap="flat">
              <a:solidFill>
                <a:srgbClr val="717074"/>
              </a:solidFill>
              <a:prstDash val="solid"/>
              <a:round/>
            </a:ln>
          </a:insideH>
          <a:insideV>
            <a:ln w="12700" cap="flat">
              <a:solidFill>
                <a:srgbClr val="717074"/>
              </a:solidFill>
              <a:prstDash val="solid"/>
              <a:round/>
            </a:ln>
          </a:insideV>
        </a:tcBdr>
        <a:fill>
          <a:solidFill>
            <a:srgbClr val="717074">
              <a:alpha val="20000"/>
            </a:srgbClr>
          </a:solidFill>
        </a:fill>
      </a:tcStyle>
    </a:firstCol>
    <a:lastRow>
      <a:tcTxStyle b="on" i="off">
        <a:fontRef idx="minor">
          <a:srgbClr val="717074"/>
        </a:fontRef>
        <a:srgbClr val="717074"/>
      </a:tcTxStyle>
      <a:tcStyle>
        <a:tcBdr>
          <a:left>
            <a:ln w="12700" cap="flat">
              <a:solidFill>
                <a:srgbClr val="717074"/>
              </a:solidFill>
              <a:prstDash val="solid"/>
              <a:round/>
            </a:ln>
          </a:left>
          <a:right>
            <a:ln w="12700" cap="flat">
              <a:solidFill>
                <a:srgbClr val="717074"/>
              </a:solidFill>
              <a:prstDash val="solid"/>
              <a:round/>
            </a:ln>
          </a:right>
          <a:top>
            <a:ln w="50800" cap="flat">
              <a:solidFill>
                <a:srgbClr val="717074"/>
              </a:solidFill>
              <a:prstDash val="solid"/>
              <a:round/>
            </a:ln>
          </a:top>
          <a:bottom>
            <a:ln w="12700" cap="flat">
              <a:solidFill>
                <a:srgbClr val="717074"/>
              </a:solidFill>
              <a:prstDash val="solid"/>
              <a:round/>
            </a:ln>
          </a:bottom>
          <a:insideH>
            <a:ln w="12700" cap="flat">
              <a:solidFill>
                <a:srgbClr val="717074"/>
              </a:solidFill>
              <a:prstDash val="solid"/>
              <a:round/>
            </a:ln>
          </a:insideH>
          <a:insideV>
            <a:ln w="12700" cap="flat">
              <a:solidFill>
                <a:srgbClr val="717074"/>
              </a:solidFill>
              <a:prstDash val="solid"/>
              <a:round/>
            </a:ln>
          </a:insideV>
        </a:tcBdr>
        <a:fill>
          <a:noFill/>
        </a:fill>
      </a:tcStyle>
    </a:lastRow>
    <a:firstRow>
      <a:tcTxStyle b="on" i="off">
        <a:fontRef idx="minor">
          <a:srgbClr val="717074"/>
        </a:fontRef>
        <a:srgbClr val="717074"/>
      </a:tcTxStyle>
      <a:tcStyle>
        <a:tcBdr>
          <a:left>
            <a:ln w="12700" cap="flat">
              <a:solidFill>
                <a:srgbClr val="717074"/>
              </a:solidFill>
              <a:prstDash val="solid"/>
              <a:round/>
            </a:ln>
          </a:left>
          <a:right>
            <a:ln w="12700" cap="flat">
              <a:solidFill>
                <a:srgbClr val="717074"/>
              </a:solidFill>
              <a:prstDash val="solid"/>
              <a:round/>
            </a:ln>
          </a:right>
          <a:top>
            <a:ln w="12700" cap="flat">
              <a:solidFill>
                <a:srgbClr val="717074"/>
              </a:solidFill>
              <a:prstDash val="solid"/>
              <a:round/>
            </a:ln>
          </a:top>
          <a:bottom>
            <a:ln w="25400" cap="flat">
              <a:solidFill>
                <a:srgbClr val="717074"/>
              </a:solidFill>
              <a:prstDash val="solid"/>
              <a:round/>
            </a:ln>
          </a:bottom>
          <a:insideH>
            <a:ln w="12700" cap="flat">
              <a:solidFill>
                <a:srgbClr val="717074"/>
              </a:solidFill>
              <a:prstDash val="solid"/>
              <a:round/>
            </a:ln>
          </a:insideH>
          <a:insideV>
            <a:ln w="12700" cap="flat">
              <a:solidFill>
                <a:srgbClr val="717074"/>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9" d="100"/>
          <a:sy n="109" d="100"/>
        </p:scale>
        <p:origin x="132" y="12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5" name="Shape 1025"/>
          <p:cNvSpPr>
            <a:spLocks noGrp="1" noRot="1" noChangeAspect="1"/>
          </p:cNvSpPr>
          <p:nvPr>
            <p:ph type="sldImg"/>
          </p:nvPr>
        </p:nvSpPr>
        <p:spPr>
          <a:xfrm>
            <a:off x="1143000" y="685800"/>
            <a:ext cx="4572000" cy="3429000"/>
          </a:xfrm>
          <a:prstGeom prst="rect">
            <a:avLst/>
          </a:prstGeom>
        </p:spPr>
        <p:txBody>
          <a:bodyPr/>
          <a:lstStyle/>
          <a:p>
            <a:endParaRPr/>
          </a:p>
        </p:txBody>
      </p:sp>
      <p:sp>
        <p:nvSpPr>
          <p:cNvPr id="1026" name="Shape 102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solidFill>
          <a:srgbClr val="717074"/>
        </a:solidFill>
        <a:latin typeface="+mn-lt"/>
        <a:ea typeface="+mn-ea"/>
        <a:cs typeface="+mn-cs"/>
        <a:sym typeface="Helvetica"/>
      </a:defRPr>
    </a:lvl1pPr>
    <a:lvl2pPr indent="228600" latinLnBrk="0">
      <a:defRPr sz="1200">
        <a:solidFill>
          <a:srgbClr val="717074"/>
        </a:solidFill>
        <a:latin typeface="+mn-lt"/>
        <a:ea typeface="+mn-ea"/>
        <a:cs typeface="+mn-cs"/>
        <a:sym typeface="Helvetica"/>
      </a:defRPr>
    </a:lvl2pPr>
    <a:lvl3pPr indent="457200" latinLnBrk="0">
      <a:defRPr sz="1200">
        <a:solidFill>
          <a:srgbClr val="717074"/>
        </a:solidFill>
        <a:latin typeface="+mn-lt"/>
        <a:ea typeface="+mn-ea"/>
        <a:cs typeface="+mn-cs"/>
        <a:sym typeface="Helvetica"/>
      </a:defRPr>
    </a:lvl3pPr>
    <a:lvl4pPr indent="685800" latinLnBrk="0">
      <a:defRPr sz="1200">
        <a:solidFill>
          <a:srgbClr val="717074"/>
        </a:solidFill>
        <a:latin typeface="+mn-lt"/>
        <a:ea typeface="+mn-ea"/>
        <a:cs typeface="+mn-cs"/>
        <a:sym typeface="Helvetica"/>
      </a:defRPr>
    </a:lvl4pPr>
    <a:lvl5pPr indent="914400" latinLnBrk="0">
      <a:defRPr sz="1200">
        <a:solidFill>
          <a:srgbClr val="717074"/>
        </a:solidFill>
        <a:latin typeface="+mn-lt"/>
        <a:ea typeface="+mn-ea"/>
        <a:cs typeface="+mn-cs"/>
        <a:sym typeface="Helvetica"/>
      </a:defRPr>
    </a:lvl5pPr>
    <a:lvl6pPr indent="1143000" latinLnBrk="0">
      <a:defRPr sz="1200">
        <a:solidFill>
          <a:srgbClr val="717074"/>
        </a:solidFill>
        <a:latin typeface="+mn-lt"/>
        <a:ea typeface="+mn-ea"/>
        <a:cs typeface="+mn-cs"/>
        <a:sym typeface="Helvetica"/>
      </a:defRPr>
    </a:lvl6pPr>
    <a:lvl7pPr indent="1371600" latinLnBrk="0">
      <a:defRPr sz="1200">
        <a:solidFill>
          <a:srgbClr val="717074"/>
        </a:solidFill>
        <a:latin typeface="+mn-lt"/>
        <a:ea typeface="+mn-ea"/>
        <a:cs typeface="+mn-cs"/>
        <a:sym typeface="Helvetica"/>
      </a:defRPr>
    </a:lvl7pPr>
    <a:lvl8pPr indent="1600200" latinLnBrk="0">
      <a:defRPr sz="1200">
        <a:solidFill>
          <a:srgbClr val="717074"/>
        </a:solidFill>
        <a:latin typeface="+mn-lt"/>
        <a:ea typeface="+mn-ea"/>
        <a:cs typeface="+mn-cs"/>
        <a:sym typeface="Helvetica"/>
      </a:defRPr>
    </a:lvl8pPr>
    <a:lvl9pPr indent="1828800" latinLnBrk="0">
      <a:defRPr sz="1200">
        <a:solidFill>
          <a:srgbClr val="717074"/>
        </a:solidFill>
        <a:latin typeface="+mn-lt"/>
        <a:ea typeface="+mn-ea"/>
        <a:cs typeface="+mn-cs"/>
        <a:sym typeface="Helvetica"/>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Shape 1033"/>
          <p:cNvSpPr>
            <a:spLocks noGrp="1" noRot="1" noChangeAspect="1"/>
          </p:cNvSpPr>
          <p:nvPr>
            <p:ph type="sldImg"/>
          </p:nvPr>
        </p:nvSpPr>
        <p:spPr>
          <a:xfrm>
            <a:off x="384175" y="685800"/>
            <a:ext cx="6089650" cy="3429000"/>
          </a:xfrm>
          <a:prstGeom prst="rect">
            <a:avLst/>
          </a:prstGeom>
        </p:spPr>
        <p:txBody>
          <a:bodyPr/>
          <a:lstStyle/>
          <a:p>
            <a:endParaRPr/>
          </a:p>
        </p:txBody>
      </p:sp>
      <p:sp>
        <p:nvSpPr>
          <p:cNvPr id="1034" name="Shape 1034"/>
          <p:cNvSpPr>
            <a:spLocks noGrp="1"/>
          </p:cNvSpPr>
          <p:nvPr>
            <p:ph type="body" sz="quarter" idx="1"/>
          </p:nvPr>
        </p:nvSpPr>
        <p:spPr>
          <a:prstGeom prst="rect">
            <a:avLst/>
          </a:prstGeom>
        </p:spPr>
        <p:txBody>
          <a:bodyPr/>
          <a:lstStyle/>
          <a:p>
            <a:r>
              <a:rPr dirty="0"/>
              <a:t>Hi, all thank you for joining. Today I will be talking about project MAIO and zero-copy networking.</a:t>
            </a:r>
            <a:endParaRPr lang="en-US" dirty="0"/>
          </a:p>
          <a:p>
            <a:r>
              <a:rPr lang="en-US" dirty="0"/>
              <a:t>This is a moonshot talk so many things I will discuss are experimental and up to change.</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 name="Shape 1051"/>
          <p:cNvSpPr>
            <a:spLocks noGrp="1" noRot="1" noChangeAspect="1"/>
          </p:cNvSpPr>
          <p:nvPr>
            <p:ph type="sldImg"/>
          </p:nvPr>
        </p:nvSpPr>
        <p:spPr>
          <a:xfrm>
            <a:off x="384175" y="685800"/>
            <a:ext cx="6089650" cy="3429000"/>
          </a:xfrm>
          <a:prstGeom prst="rect">
            <a:avLst/>
          </a:prstGeom>
        </p:spPr>
        <p:txBody>
          <a:bodyPr/>
          <a:lstStyle/>
          <a:p>
            <a:endParaRPr/>
          </a:p>
        </p:txBody>
      </p:sp>
      <p:sp>
        <p:nvSpPr>
          <p:cNvPr id="1052" name="Shape 1052"/>
          <p:cNvSpPr>
            <a:spLocks noGrp="1"/>
          </p:cNvSpPr>
          <p:nvPr>
            <p:ph type="body" sz="quarter" idx="1"/>
          </p:nvPr>
        </p:nvSpPr>
        <p:spPr>
          <a:prstGeom prst="rect">
            <a:avLst/>
          </a:prstGeom>
        </p:spPr>
        <p:txBody>
          <a:bodyPr/>
          <a:lstStyle/>
          <a:p>
            <a:r>
              <a:rPr dirty="0"/>
              <a:t>When building a network facing application there are essentially two choices. Either use ubiquitous sockets. (+) Which </a:t>
            </a:r>
            <a:r>
              <a:rPr lang="en-US" dirty="0"/>
              <a:t>is </a:t>
            </a:r>
            <a:r>
              <a:rPr dirty="0"/>
              <a:t>as simple as importing a librarian and creating a socket, (+) connecting (+) and sending your I/O.</a:t>
            </a:r>
          </a:p>
          <a:p>
            <a:r>
              <a:rPr dirty="0"/>
              <a:t>You get all the robust Kernel infrastructure of Routing, address resolution and transport protocols like TCP. And on the other hand (+) you can hire a team of engineers to maintain a volatile kernel bypass implementation(+)</a:t>
            </a:r>
            <a:r>
              <a:rPr lang="en-US" dirty="0"/>
              <a:t>.</a:t>
            </a:r>
          </a:p>
          <a:p>
            <a:endParaRPr dirty="0"/>
          </a:p>
          <a:p>
            <a:r>
              <a:rPr dirty="0"/>
              <a:t>And you make this choice because one is (+)fast and the other is slow.</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1" name="Shape 1061"/>
          <p:cNvSpPr>
            <a:spLocks noGrp="1" noRot="1" noChangeAspect="1"/>
          </p:cNvSpPr>
          <p:nvPr>
            <p:ph type="sldImg"/>
          </p:nvPr>
        </p:nvSpPr>
        <p:spPr>
          <a:xfrm>
            <a:off x="384175" y="685800"/>
            <a:ext cx="6089650" cy="3429000"/>
          </a:xfrm>
          <a:prstGeom prst="rect">
            <a:avLst/>
          </a:prstGeom>
        </p:spPr>
        <p:txBody>
          <a:bodyPr/>
          <a:lstStyle/>
          <a:p>
            <a:endParaRPr/>
          </a:p>
        </p:txBody>
      </p:sp>
      <p:sp>
        <p:nvSpPr>
          <p:cNvPr id="1062" name="Shape 1062"/>
          <p:cNvSpPr>
            <a:spLocks noGrp="1"/>
          </p:cNvSpPr>
          <p:nvPr>
            <p:ph type="body" sz="quarter" idx="1"/>
          </p:nvPr>
        </p:nvSpPr>
        <p:spPr>
          <a:prstGeom prst="rect">
            <a:avLst/>
          </a:prstGeom>
        </p:spPr>
        <p:txBody>
          <a:bodyPr/>
          <a:lstStyle/>
          <a:p>
            <a:r>
              <a:rPr dirty="0"/>
              <a:t>In order to bridge the performance gap we need zero-copy. Because every I/O operation with sockets copies the data between the kernel and the application. </a:t>
            </a:r>
          </a:p>
          <a:p>
            <a:r>
              <a:rPr dirty="0"/>
              <a:t>When </a:t>
            </a:r>
            <a:r>
              <a:rPr lang="en-US" dirty="0"/>
              <a:t>network </a:t>
            </a:r>
            <a:r>
              <a:rPr dirty="0"/>
              <a:t>speeds </a:t>
            </a:r>
            <a:r>
              <a:rPr lang="en-US" dirty="0"/>
              <a:t>soar</a:t>
            </a:r>
            <a:r>
              <a:rPr dirty="0"/>
              <a:t> the application can spend (+)70% of its </a:t>
            </a:r>
            <a:r>
              <a:rPr dirty="0" err="1"/>
              <a:t>cpu</a:t>
            </a:r>
            <a:r>
              <a:rPr dirty="0"/>
              <a:t> cycle on moving bytes(+). This shuffling of bytes also hurts the </a:t>
            </a:r>
            <a:r>
              <a:rPr lang="en-US" dirty="0"/>
              <a:t>application performance, because the </a:t>
            </a:r>
            <a:r>
              <a:rPr dirty="0"/>
              <a:t>CPU cache evicts cache lines in order to accommodate the copy operations.</a:t>
            </a:r>
          </a:p>
          <a:p>
            <a:r>
              <a:rPr dirty="0"/>
              <a:t>(+)Furthermore all these evictions and </a:t>
            </a:r>
            <a:r>
              <a:rPr lang="en-US" dirty="0"/>
              <a:t>moving </a:t>
            </a:r>
            <a:r>
              <a:rPr dirty="0"/>
              <a:t>bytes moving can stress the memory controller and hurt the performance of the application even farther. </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8" name="Shape 1068"/>
          <p:cNvSpPr>
            <a:spLocks noGrp="1" noRot="1" noChangeAspect="1"/>
          </p:cNvSpPr>
          <p:nvPr>
            <p:ph type="sldImg"/>
          </p:nvPr>
        </p:nvSpPr>
        <p:spPr>
          <a:xfrm>
            <a:off x="384175" y="685800"/>
            <a:ext cx="6089650" cy="3429000"/>
          </a:xfrm>
          <a:prstGeom prst="rect">
            <a:avLst/>
          </a:prstGeom>
        </p:spPr>
        <p:txBody>
          <a:bodyPr/>
          <a:lstStyle/>
          <a:p>
            <a:endParaRPr/>
          </a:p>
        </p:txBody>
      </p:sp>
      <p:sp>
        <p:nvSpPr>
          <p:cNvPr id="1069" name="Shape 1069"/>
          <p:cNvSpPr>
            <a:spLocks noGrp="1"/>
          </p:cNvSpPr>
          <p:nvPr>
            <p:ph type="body" sz="quarter" idx="1"/>
          </p:nvPr>
        </p:nvSpPr>
        <p:spPr>
          <a:prstGeom prst="rect">
            <a:avLst/>
          </a:prstGeom>
        </p:spPr>
        <p:txBody>
          <a:bodyPr/>
          <a:lstStyle/>
          <a:p>
            <a:r>
              <a:rPr dirty="0"/>
              <a:t>Well you might ask yourself why Zero-Copy is such a problem. </a:t>
            </a:r>
          </a:p>
          <a:p>
            <a:r>
              <a:rPr dirty="0"/>
              <a:t>In networking the + packet arrival order is random, in the sense that you don’t know when the next packet will arrive and where is it going.</a:t>
            </a:r>
          </a:p>
          <a:p>
            <a:r>
              <a:rPr dirty="0"/>
              <a:t>Accordingly the receive process is as following. + &lt;&gt; then + &lt;&gt; and then + ().</a:t>
            </a:r>
          </a:p>
          <a:p>
            <a:r>
              <a:rPr dirty="0"/>
              <a:t>With storage devices GPUs and other devices he order of I/O operations is known. </a:t>
            </a:r>
          </a:p>
          <a:p>
            <a:r>
              <a:rPr dirty="0"/>
              <a:t>First + &lt;&gt;…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8" name="Shape 1078"/>
          <p:cNvSpPr>
            <a:spLocks noGrp="1" noRot="1" noChangeAspect="1"/>
          </p:cNvSpPr>
          <p:nvPr>
            <p:ph type="sldImg"/>
          </p:nvPr>
        </p:nvSpPr>
        <p:spPr>
          <a:xfrm>
            <a:off x="384175" y="685800"/>
            <a:ext cx="6089650" cy="3429000"/>
          </a:xfrm>
          <a:prstGeom prst="rect">
            <a:avLst/>
          </a:prstGeom>
        </p:spPr>
        <p:txBody>
          <a:bodyPr/>
          <a:lstStyle/>
          <a:p>
            <a:endParaRPr/>
          </a:p>
        </p:txBody>
      </p:sp>
      <p:sp>
        <p:nvSpPr>
          <p:cNvPr id="1079" name="Shape 1079"/>
          <p:cNvSpPr>
            <a:spLocks noGrp="1"/>
          </p:cNvSpPr>
          <p:nvPr>
            <p:ph type="body" sz="quarter" idx="1"/>
          </p:nvPr>
        </p:nvSpPr>
        <p:spPr>
          <a:prstGeom prst="rect">
            <a:avLst/>
          </a:prstGeom>
        </p:spPr>
        <p:txBody>
          <a:bodyPr/>
          <a:lstStyle/>
          <a:p>
            <a:r>
              <a:t>Simply sharing memory between the kernel and the user. is infeasible because + u can’t give the user access to kernels memory its simply not secure. + And even with I/O pages you should not allow the user the option of modifying packet headers while its traversing the network stack.</a:t>
            </a:r>
          </a:p>
          <a:p>
            <a:r>
              <a:t>And Finally we need to isolate the users from each other.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 name="Shape 1085"/>
          <p:cNvSpPr>
            <a:spLocks noGrp="1" noRot="1" noChangeAspect="1"/>
          </p:cNvSpPr>
          <p:nvPr>
            <p:ph type="sldImg"/>
          </p:nvPr>
        </p:nvSpPr>
        <p:spPr>
          <a:xfrm>
            <a:off x="384175" y="685800"/>
            <a:ext cx="6089650" cy="3429000"/>
          </a:xfrm>
          <a:prstGeom prst="rect">
            <a:avLst/>
          </a:prstGeom>
        </p:spPr>
        <p:txBody>
          <a:bodyPr/>
          <a:lstStyle/>
          <a:p>
            <a:endParaRPr/>
          </a:p>
        </p:txBody>
      </p:sp>
      <p:sp>
        <p:nvSpPr>
          <p:cNvPr id="1086" name="Shape 1086"/>
          <p:cNvSpPr>
            <a:spLocks noGrp="1"/>
          </p:cNvSpPr>
          <p:nvPr>
            <p:ph type="body" sz="quarter" idx="1"/>
          </p:nvPr>
        </p:nvSpPr>
        <p:spPr>
          <a:prstGeom prst="rect">
            <a:avLst/>
          </a:prstGeom>
        </p:spPr>
        <p:txBody>
          <a:bodyPr/>
          <a:lstStyle/>
          <a:p>
            <a:r>
              <a:t>There were numerous attempts for achieving zero-copy. And they all fall into 5 categories. + Dynamic remapping which implies modifying the page-tables in data path, in recent years Google have gone by this path.</a:t>
            </a:r>
          </a:p>
          <a:p>
            <a:r>
              <a:t>+ Kernel bypass, like DPDK - which is used by Velocloud, NSX-T and others in VMware. There are limited use case system calls, which can alleviate some of the pain in some of the time.+  Specialised HW witch implements Remote DMA protocols and their apis, this is most often seen in HPC environments. + And lastly there were a couple of shared memory based proposals that are better left forgotten.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2" name="Shape 1092"/>
          <p:cNvSpPr>
            <a:spLocks noGrp="1" noRot="1" noChangeAspect="1"/>
          </p:cNvSpPr>
          <p:nvPr>
            <p:ph type="sldImg"/>
          </p:nvPr>
        </p:nvSpPr>
        <p:spPr>
          <a:xfrm>
            <a:off x="384175" y="685800"/>
            <a:ext cx="6089650" cy="3429000"/>
          </a:xfrm>
          <a:prstGeom prst="rect">
            <a:avLst/>
          </a:prstGeom>
        </p:spPr>
        <p:txBody>
          <a:bodyPr/>
          <a:lstStyle/>
          <a:p>
            <a:endParaRPr/>
          </a:p>
        </p:txBody>
      </p:sp>
      <p:sp>
        <p:nvSpPr>
          <p:cNvPr id="1093" name="Shape 1093"/>
          <p:cNvSpPr>
            <a:spLocks noGrp="1"/>
          </p:cNvSpPr>
          <p:nvPr>
            <p:ph type="body" sz="quarter" idx="1"/>
          </p:nvPr>
        </p:nvSpPr>
        <p:spPr>
          <a:prstGeom prst="rect">
            <a:avLst/>
          </a:prstGeom>
        </p:spPr>
        <p:txBody>
          <a:bodyPr/>
          <a:lstStyle/>
          <a:p>
            <a:r>
              <a:t>Looking at this the solution was obvious. We have to do shared memory right. </a:t>
            </a:r>
          </a:p>
          <a:p>
            <a:r>
              <a:t>We create e third type of memory its not User and not kernel but I/O memory, each user can have its own. In this case + &lt;&gt;.</a:t>
            </a:r>
          </a:p>
          <a:p>
            <a:r>
              <a:t>+ So how does this solve the problems that we mentioned?</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Shape 1099"/>
          <p:cNvSpPr>
            <a:spLocks noGrp="1" noRot="1" noChangeAspect="1"/>
          </p:cNvSpPr>
          <p:nvPr>
            <p:ph type="sldImg"/>
          </p:nvPr>
        </p:nvSpPr>
        <p:spPr>
          <a:xfrm>
            <a:off x="384175" y="685800"/>
            <a:ext cx="6089650" cy="3429000"/>
          </a:xfrm>
          <a:prstGeom prst="rect">
            <a:avLst/>
          </a:prstGeom>
        </p:spPr>
        <p:txBody>
          <a:bodyPr/>
          <a:lstStyle/>
          <a:p>
            <a:endParaRPr/>
          </a:p>
        </p:txBody>
      </p:sp>
      <p:sp>
        <p:nvSpPr>
          <p:cNvPr id="1100" name="Shape 1100"/>
          <p:cNvSpPr>
            <a:spLocks noGrp="1"/>
          </p:cNvSpPr>
          <p:nvPr>
            <p:ph type="body" sz="quarter" idx="1"/>
          </p:nvPr>
        </p:nvSpPr>
        <p:spPr>
          <a:prstGeom prst="rect">
            <a:avLst/>
          </a:prstGeom>
        </p:spPr>
        <p:txBody>
          <a:bodyPr/>
          <a:lstStyle/>
          <a:p>
            <a:r>
              <a:t>The limitations are that zero-copy semantics are inherently different. When transmitting the sent buffer no longer belongs to the user and must not be accessed. On RX the received buffers are usually scatter gather lists of MTU sized buffers and the  alignment is provided by the driver. </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 name="Shape 1051"/>
          <p:cNvSpPr>
            <a:spLocks noGrp="1" noRot="1" noChangeAspect="1"/>
          </p:cNvSpPr>
          <p:nvPr>
            <p:ph type="sldImg"/>
          </p:nvPr>
        </p:nvSpPr>
        <p:spPr>
          <a:xfrm>
            <a:off x="384175" y="685800"/>
            <a:ext cx="6089650" cy="3429000"/>
          </a:xfrm>
          <a:prstGeom prst="rect">
            <a:avLst/>
          </a:prstGeom>
        </p:spPr>
        <p:txBody>
          <a:bodyPr/>
          <a:lstStyle/>
          <a:p>
            <a:endParaRPr/>
          </a:p>
        </p:txBody>
      </p:sp>
      <p:sp>
        <p:nvSpPr>
          <p:cNvPr id="1052" name="Shape 1052"/>
          <p:cNvSpPr>
            <a:spLocks noGrp="1"/>
          </p:cNvSpPr>
          <p:nvPr>
            <p:ph type="body" sz="quarter" idx="1"/>
          </p:nvPr>
        </p:nvSpPr>
        <p:spPr>
          <a:prstGeom prst="rect">
            <a:avLst/>
          </a:prstGeom>
        </p:spPr>
        <p:txBody>
          <a:bodyPr/>
          <a:lstStyle/>
          <a:p>
            <a:r>
              <a:rPr lang="en-US" dirty="0"/>
              <a:t>* New option MAIO socket</a:t>
            </a:r>
            <a:endParaRPr dirty="0"/>
          </a:p>
        </p:txBody>
      </p:sp>
    </p:spTree>
    <p:extLst>
      <p:ext uri="{BB962C8B-B14F-4D97-AF65-F5344CB8AC3E}">
        <p14:creationId xmlns:p14="http://schemas.microsoft.com/office/powerpoint/2010/main" val="129390743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1" name="Shape 1051"/>
          <p:cNvSpPr>
            <a:spLocks noGrp="1" noRot="1" noChangeAspect="1"/>
          </p:cNvSpPr>
          <p:nvPr>
            <p:ph type="sldImg"/>
          </p:nvPr>
        </p:nvSpPr>
        <p:spPr>
          <a:xfrm>
            <a:off x="384175" y="685800"/>
            <a:ext cx="6089650" cy="3429000"/>
          </a:xfrm>
          <a:prstGeom prst="rect">
            <a:avLst/>
          </a:prstGeom>
        </p:spPr>
        <p:txBody>
          <a:bodyPr/>
          <a:lstStyle/>
          <a:p>
            <a:endParaRPr/>
          </a:p>
        </p:txBody>
      </p:sp>
      <p:sp>
        <p:nvSpPr>
          <p:cNvPr id="1052" name="Shape 1052"/>
          <p:cNvSpPr>
            <a:spLocks noGrp="1"/>
          </p:cNvSpPr>
          <p:nvPr>
            <p:ph type="body" sz="quarter" idx="1"/>
          </p:nvPr>
        </p:nvSpPr>
        <p:spPr>
          <a:prstGeom prst="rect">
            <a:avLst/>
          </a:prstGeom>
        </p:spPr>
        <p:txBody>
          <a:bodyPr/>
          <a:lstStyle/>
          <a:p>
            <a:pPr marL="171450" indent="-171450">
              <a:buFont typeface="Arial" panose="020B0604020202020204" pitchFamily="34" charset="0"/>
              <a:buChar char="•"/>
            </a:pPr>
            <a:r>
              <a:rPr lang="en-US" dirty="0"/>
              <a:t>API under the hood next.</a:t>
            </a:r>
          </a:p>
          <a:p>
            <a:pPr marL="171450" indent="-171450">
              <a:buFont typeface="Arial" panose="020B0604020202020204" pitchFamily="34" charset="0"/>
              <a:buChar char="•"/>
            </a:pPr>
            <a:r>
              <a:rPr lang="en-US" dirty="0"/>
              <a:t>Init </a:t>
            </a:r>
            <a:r>
              <a:rPr lang="en-US" dirty="0" err="1"/>
              <a:t>memoy</a:t>
            </a:r>
            <a:r>
              <a:rPr lang="en-US" dirty="0"/>
              <a:t> – 1. dedicated memory management for I/O 2.our choice  Huge pages for performance and more metadata.</a:t>
            </a:r>
          </a:p>
          <a:p>
            <a:pPr marL="171450" indent="-171450">
              <a:buFont typeface="Arial" panose="020B0604020202020204" pitchFamily="34" charset="0"/>
              <a:buChar char="•"/>
            </a:pPr>
            <a:r>
              <a:rPr lang="en-US" dirty="0"/>
              <a:t>Create and connect flags are default. 1) kernel socket 2) and connect 3) </a:t>
            </a:r>
            <a:r>
              <a:rPr lang="en-US" dirty="0" err="1"/>
              <a:t>idx</a:t>
            </a:r>
            <a:r>
              <a:rPr lang="en-US" dirty="0"/>
              <a:t> is not a </a:t>
            </a:r>
            <a:r>
              <a:rPr lang="en-US" dirty="0" err="1"/>
              <a:t>fd</a:t>
            </a:r>
            <a:r>
              <a:rPr lang="en-US" dirty="0"/>
              <a:t> it’s a MAIO.</a:t>
            </a:r>
          </a:p>
          <a:p>
            <a:pPr marL="171450" indent="-171450">
              <a:buFont typeface="Arial" panose="020B0604020202020204" pitchFamily="34" charset="0"/>
              <a:buChar char="•"/>
            </a:pPr>
            <a:r>
              <a:rPr lang="en-US" dirty="0"/>
              <a:t>Use cache to get MAIO page</a:t>
            </a:r>
          </a:p>
          <a:p>
            <a:pPr marL="171450" indent="-171450">
              <a:buFont typeface="Arial" panose="020B0604020202020204" pitchFamily="34" charset="0"/>
              <a:buChar char="•"/>
            </a:pPr>
            <a:r>
              <a:rPr lang="en-US" dirty="0"/>
              <a:t>Create async I/O ring – 1.) </a:t>
            </a:r>
            <a:r>
              <a:rPr lang="en-US" dirty="0" err="1"/>
              <a:t>io_uring</a:t>
            </a:r>
            <a:r>
              <a:rPr lang="en-US" dirty="0"/>
              <a:t> 2.) creates a kern thread  that uses kern socket.</a:t>
            </a:r>
          </a:p>
          <a:p>
            <a:pPr marL="171450" indent="-171450">
              <a:buFont typeface="Arial" panose="020B0604020202020204" pitchFamily="34" charset="0"/>
              <a:buChar char="•"/>
            </a:pPr>
            <a:r>
              <a:rPr lang="en-US" dirty="0"/>
              <a:t>Send : 1.) post a user buffer on the ring.</a:t>
            </a:r>
          </a:p>
          <a:p>
            <a:pPr marL="171450" indent="-171450">
              <a:buFont typeface="Arial" panose="020B0604020202020204" pitchFamily="34" charset="0"/>
              <a:buChar char="•"/>
            </a:pPr>
            <a:r>
              <a:rPr lang="en-US" dirty="0"/>
              <a:t>Check the page ownership after some time.</a:t>
            </a:r>
            <a:endParaRPr dirty="0"/>
          </a:p>
        </p:txBody>
      </p:sp>
    </p:spTree>
    <p:extLst>
      <p:ext uri="{BB962C8B-B14F-4D97-AF65-F5344CB8AC3E}">
        <p14:creationId xmlns:p14="http://schemas.microsoft.com/office/powerpoint/2010/main" val="11857270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8010490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19609826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r>
              <a:rPr lang="en-US" dirty="0"/>
              <a:t>Setup info.</a:t>
            </a:r>
          </a:p>
          <a:p>
            <a:r>
              <a:rPr lang="en-US" dirty="0"/>
              <a:t>Naïve limited by BW and you often get weird </a:t>
            </a:r>
            <a:r>
              <a:rPr lang="en-US" dirty="0" err="1"/>
              <a:t>hickups</a:t>
            </a:r>
            <a:r>
              <a:rPr lang="en-US" dirty="0"/>
              <a:t> in performance. </a:t>
            </a:r>
          </a:p>
          <a:p>
            <a:r>
              <a:rPr lang="en-US" dirty="0"/>
              <a:t>better comparison is cycles/byte. </a:t>
            </a:r>
          </a:p>
          <a:p>
            <a:r>
              <a:rPr lang="en-US" dirty="0"/>
              <a:t>We measure the overall system </a:t>
            </a:r>
            <a:r>
              <a:rPr lang="en-US" dirty="0" err="1"/>
              <a:t>cpu</a:t>
            </a:r>
            <a:r>
              <a:rPr lang="en-US" dirty="0"/>
              <a:t> – idle ticks /proc/stat and the overall bytes sent.</a:t>
            </a:r>
          </a:p>
          <a:p>
            <a:r>
              <a:rPr lang="en-US" dirty="0"/>
              <a:t>+ introduce one by one</a:t>
            </a:r>
          </a:p>
          <a:p>
            <a:r>
              <a:rPr lang="en-US" dirty="0"/>
              <a:t>+ why only 8%  send page vs </a:t>
            </a:r>
            <a:r>
              <a:rPr lang="en-US" dirty="0" err="1"/>
              <a:t>send_msg</a:t>
            </a:r>
            <a:endParaRPr lang="en-US" dirty="0"/>
          </a:p>
          <a:p>
            <a:pPr marL="228600" indent="-228600">
              <a:buAutoNum type="arabicPeriod"/>
            </a:pPr>
            <a:r>
              <a:rPr lang="en-US" dirty="0"/>
              <a:t>No sure can handle bigger buffers</a:t>
            </a:r>
          </a:p>
          <a:p>
            <a:pPr marL="228600" indent="-228600">
              <a:buAutoNum type="arabicPeriod"/>
            </a:pPr>
            <a:r>
              <a:rPr lang="en-US" dirty="0" err="1"/>
              <a:t>Send_msg</a:t>
            </a:r>
            <a:r>
              <a:rPr lang="en-US" dirty="0"/>
              <a:t> already has zero-copy which is </a:t>
            </a:r>
            <a:r>
              <a:rPr lang="en-US" dirty="0" err="1"/>
              <a:t>incomnpatible</a:t>
            </a:r>
            <a:r>
              <a:rPr lang="en-US" dirty="0"/>
              <a:t>.</a:t>
            </a:r>
          </a:p>
        </p:txBody>
      </p:sp>
    </p:spTree>
    <p:extLst>
      <p:ext uri="{BB962C8B-B14F-4D97-AF65-F5344CB8AC3E}">
        <p14:creationId xmlns:p14="http://schemas.microsoft.com/office/powerpoint/2010/main" val="19723040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r>
              <a:rPr lang="en-US" dirty="0"/>
              <a:t>We see here the perf breakdown – and indeed </a:t>
            </a:r>
            <a:r>
              <a:rPr lang="en-US" dirty="0" err="1"/>
              <a:t>do_tcp_sendpages</a:t>
            </a:r>
            <a:r>
              <a:rPr lang="en-US" dirty="0"/>
              <a:t> is the heaviest hitter.</a:t>
            </a:r>
          </a:p>
          <a:p>
            <a:r>
              <a:rPr lang="en-US" dirty="0"/>
              <a:t>Most of the work is on the async thread.</a:t>
            </a:r>
          </a:p>
          <a:p>
            <a:r>
              <a:rPr lang="en-US" dirty="0"/>
              <a:t>User barely does any work. – When Q is full it sleeps.</a:t>
            </a:r>
          </a:p>
        </p:txBody>
      </p:sp>
    </p:spTree>
    <p:extLst>
      <p:ext uri="{BB962C8B-B14F-4D97-AF65-F5344CB8AC3E}">
        <p14:creationId xmlns:p14="http://schemas.microsoft.com/office/powerpoint/2010/main" val="3894096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0604667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r>
              <a:rPr lang="en-US" dirty="0"/>
              <a:t>Copy uses lots of copying. Could be worse if we did double of LLC.</a:t>
            </a:r>
          </a:p>
        </p:txBody>
      </p:sp>
    </p:spTree>
    <p:extLst>
      <p:ext uri="{BB962C8B-B14F-4D97-AF65-F5344CB8AC3E}">
        <p14:creationId xmlns:p14="http://schemas.microsoft.com/office/powerpoint/2010/main" val="342379662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r>
              <a:rPr lang="en-US" dirty="0"/>
              <a:t>Copy uses lots of copying. Could be worse if we did double of LLC.</a:t>
            </a:r>
          </a:p>
        </p:txBody>
      </p:sp>
    </p:spTree>
    <p:extLst>
      <p:ext uri="{BB962C8B-B14F-4D97-AF65-F5344CB8AC3E}">
        <p14:creationId xmlns:p14="http://schemas.microsoft.com/office/powerpoint/2010/main" val="11037195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2972479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Kernel support memory segmentation.</a:t>
            </a:r>
          </a:p>
          <a:p>
            <a:pPr marL="171450" indent="-171450">
              <a:buFont typeface="Arial" panose="020B0604020202020204" pitchFamily="34" charset="0"/>
              <a:buChar char="•"/>
            </a:pPr>
            <a:r>
              <a:rPr lang="en-US" dirty="0"/>
              <a:t>In kernel</a:t>
            </a:r>
          </a:p>
          <a:p>
            <a:pPr marL="171450" indent="-171450">
              <a:buFont typeface="Arial" panose="020B0604020202020204" pitchFamily="34" charset="0"/>
              <a:buChar char="•"/>
            </a:pPr>
            <a:r>
              <a:rPr lang="en-US" dirty="0"/>
              <a:t>Dedicated allocator a cache</a:t>
            </a:r>
          </a:p>
          <a:p>
            <a:pPr marL="171450" indent="-171450">
              <a:buFont typeface="Arial" panose="020B0604020202020204" pitchFamily="34" charset="0"/>
              <a:buChar char="•"/>
            </a:pPr>
            <a:r>
              <a:rPr lang="en-US" dirty="0"/>
              <a:t>But free and ref counting are standard. </a:t>
            </a:r>
          </a:p>
          <a:p>
            <a:pPr marL="171450" indent="-171450">
              <a:buFont typeface="Arial" panose="020B0604020202020204" pitchFamily="34" charset="0"/>
              <a:buChar char="•"/>
            </a:pPr>
            <a:r>
              <a:rPr lang="en-US" dirty="0"/>
              <a:t>Need to get back to MAIO </a:t>
            </a:r>
            <a:r>
              <a:rPr lang="en-US" dirty="0" err="1"/>
              <a:t>alloc</a:t>
            </a:r>
            <a:r>
              <a:rPr lang="en-US" dirty="0"/>
              <a:t>.</a:t>
            </a:r>
          </a:p>
          <a:p>
            <a:pPr marL="171450" indent="-171450">
              <a:buFont typeface="Arial" panose="020B0604020202020204" pitchFamily="34" charset="0"/>
              <a:buChar char="•"/>
            </a:pPr>
            <a:r>
              <a:rPr lang="en-US" dirty="0"/>
              <a:t>Struct page -1. exactly 64B for each 4K. 2) HP 2MB are a contig array of 512 pages. Where the first is head rest are tail 3) can hide additional MD.</a:t>
            </a:r>
          </a:p>
          <a:p>
            <a:pPr marL="171450" indent="-171450">
              <a:buFont typeface="Arial" panose="020B0604020202020204" pitchFamily="34" charset="0"/>
              <a:buChar char="•"/>
            </a:pPr>
            <a:r>
              <a:rPr lang="en-US" dirty="0"/>
              <a:t>API you need is 1. get/put 2. compound head 3. </a:t>
            </a:r>
            <a:r>
              <a:rPr lang="en-US" dirty="0" err="1"/>
              <a:t>page_ref_inc</a:t>
            </a:r>
            <a:r>
              <a:rPr lang="en-US" dirty="0"/>
              <a:t> will cause bugs.</a:t>
            </a:r>
          </a:p>
        </p:txBody>
      </p:sp>
    </p:spTree>
    <p:extLst>
      <p:ext uri="{BB962C8B-B14F-4D97-AF65-F5344CB8AC3E}">
        <p14:creationId xmlns:p14="http://schemas.microsoft.com/office/powerpoint/2010/main" val="9889852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err="1"/>
              <a:t>Actualy</a:t>
            </a:r>
            <a:r>
              <a:rPr lang="en-US" dirty="0"/>
              <a:t> we already have one example DEV_PAGEMAP </a:t>
            </a:r>
          </a:p>
          <a:p>
            <a:pPr marL="171450" indent="-171450">
              <a:buFont typeface="Arial" panose="020B0604020202020204" pitchFamily="34" charset="0"/>
              <a:buChar char="•"/>
            </a:pPr>
            <a:r>
              <a:rPr lang="en-US" dirty="0"/>
              <a:t>In put page we have dedicated handling.</a:t>
            </a:r>
          </a:p>
          <a:p>
            <a:pPr marL="171450" indent="-171450">
              <a:buFont typeface="Arial" panose="020B0604020202020204" pitchFamily="34" charset="0"/>
              <a:buChar char="•"/>
            </a:pPr>
            <a:r>
              <a:rPr lang="en-US" dirty="0"/>
              <a:t>MAIO with HP is different because unions of tail page and </a:t>
            </a:r>
            <a:r>
              <a:rPr lang="en-US" dirty="0" err="1"/>
              <a:t>devmap</a:t>
            </a:r>
            <a:r>
              <a:rPr lang="en-US" dirty="0"/>
              <a:t> overlap. Mixing is  </a:t>
            </a:r>
            <a:r>
              <a:rPr lang="en-US" dirty="0" err="1"/>
              <a:t>aquestion</a:t>
            </a:r>
            <a:r>
              <a:rPr lang="en-US" dirty="0"/>
              <a:t>. </a:t>
            </a:r>
          </a:p>
        </p:txBody>
      </p:sp>
    </p:spTree>
    <p:extLst>
      <p:ext uri="{BB962C8B-B14F-4D97-AF65-F5344CB8AC3E}">
        <p14:creationId xmlns:p14="http://schemas.microsoft.com/office/powerpoint/2010/main" val="379057811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use 2MB HP and compound.</a:t>
            </a:r>
          </a:p>
          <a:p>
            <a:pPr marL="171450" indent="-171450">
              <a:buFont typeface="Arial" panose="020B0604020202020204" pitchFamily="34" charset="0"/>
              <a:buChar char="•"/>
            </a:pPr>
            <a:r>
              <a:rPr lang="en-US" dirty="0"/>
              <a:t>In union for first tail page </a:t>
            </a:r>
          </a:p>
          <a:p>
            <a:pPr marL="171450" indent="-171450">
              <a:buFont typeface="Arial" panose="020B0604020202020204" pitchFamily="34" charset="0"/>
              <a:buChar char="•"/>
            </a:pPr>
            <a:r>
              <a:rPr lang="en-US" dirty="0"/>
              <a:t>We hide </a:t>
            </a:r>
            <a:r>
              <a:rPr lang="en-US" dirty="0" err="1"/>
              <a:t>uaddr</a:t>
            </a:r>
            <a:r>
              <a:rPr lang="en-US" dirty="0"/>
              <a:t> kernel cant use user address in I/O</a:t>
            </a:r>
          </a:p>
          <a:p>
            <a:pPr marL="171450" indent="-171450">
              <a:buFont typeface="Arial" panose="020B0604020202020204" pitchFamily="34" charset="0"/>
              <a:buChar char="•"/>
            </a:pPr>
            <a:r>
              <a:rPr lang="en-US" dirty="0"/>
              <a:t>Identifies </a:t>
            </a:r>
            <a:r>
              <a:rPr lang="en-US" dirty="0" err="1"/>
              <a:t>maio</a:t>
            </a:r>
            <a:r>
              <a:rPr lang="en-US" dirty="0"/>
              <a:t> page. 1.) API works on each page rather than on the head. 2) head is out of I/O 3) tail is usually </a:t>
            </a:r>
            <a:r>
              <a:rPr lang="en-US" dirty="0" err="1"/>
              <a:t>rc</a:t>
            </a:r>
            <a:r>
              <a:rPr lang="en-US" dirty="0"/>
              <a:t>=0</a:t>
            </a:r>
          </a:p>
          <a:p>
            <a:pPr marL="171450" indent="-171450">
              <a:buFont typeface="Arial" panose="020B0604020202020204" pitchFamily="34" charset="0"/>
              <a:buChar char="•"/>
            </a:pPr>
            <a:r>
              <a:rPr lang="en-US" dirty="0"/>
              <a:t>And </a:t>
            </a:r>
            <a:r>
              <a:rPr lang="en-US" dirty="0" err="1"/>
              <a:t>elem</a:t>
            </a:r>
            <a:r>
              <a:rPr lang="en-US" dirty="0"/>
              <a:t> order for potential – sub compounding. </a:t>
            </a:r>
          </a:p>
          <a:p>
            <a:pPr marL="171450" indent="-1714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5097312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9373374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r>
              <a:rPr lang="en-US" dirty="0"/>
              <a:t>Once we have memory segmentation. The rest is simple.</a:t>
            </a:r>
          </a:p>
          <a:p>
            <a:pPr marL="171450" indent="-171450">
              <a:buFont typeface="Arial" panose="020B0604020202020204" pitchFamily="34" charset="0"/>
              <a:buChar char="•"/>
            </a:pPr>
            <a:r>
              <a:rPr lang="en-US" dirty="0"/>
              <a:t>Kernel sockets</a:t>
            </a:r>
          </a:p>
          <a:p>
            <a:pPr marL="0" indent="0">
              <a:buFont typeface="Arial" panose="020B0604020202020204" pitchFamily="34" charset="0"/>
              <a:buNone/>
            </a:pPr>
            <a:endParaRPr lang="en-US" dirty="0"/>
          </a:p>
        </p:txBody>
      </p:sp>
    </p:spTree>
    <p:extLst>
      <p:ext uri="{BB962C8B-B14F-4D97-AF65-F5344CB8AC3E}">
        <p14:creationId xmlns:p14="http://schemas.microsoft.com/office/powerpoint/2010/main" val="1235283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r>
              <a:rPr lang="en-US" dirty="0"/>
              <a:t>Async TX ring is not a new concept but useful.</a:t>
            </a:r>
          </a:p>
          <a:p>
            <a:r>
              <a:rPr lang="en-US" dirty="0"/>
              <a:t>1. </a:t>
            </a:r>
            <a:r>
              <a:rPr lang="en-US" dirty="0" err="1"/>
              <a:t>Alloc</a:t>
            </a:r>
            <a:r>
              <a:rPr lang="en-US" dirty="0"/>
              <a:t> ring from shared mem using cache.</a:t>
            </a:r>
          </a:p>
          <a:p>
            <a:pPr marL="228600" indent="-228600">
              <a:buAutoNum type="arabicPeriod"/>
            </a:pPr>
            <a:r>
              <a:rPr lang="en-US" dirty="0"/>
              <a:t>Create Kernel thread</a:t>
            </a:r>
          </a:p>
          <a:p>
            <a:pPr marL="228600" indent="-228600">
              <a:buAutoNum type="arabicPeriod"/>
            </a:pPr>
            <a:r>
              <a:rPr lang="en-US" dirty="0"/>
              <a:t>Affiliate the kernel socket and kernel thread.</a:t>
            </a:r>
          </a:p>
          <a:p>
            <a:pPr marL="228600" indent="-228600">
              <a:buAutoNum type="arabicPeriod"/>
            </a:pPr>
            <a:endParaRPr lang="en-US" dirty="0"/>
          </a:p>
        </p:txBody>
      </p:sp>
    </p:spTree>
    <p:extLst>
      <p:ext uri="{BB962C8B-B14F-4D97-AF65-F5344CB8AC3E}">
        <p14:creationId xmlns:p14="http://schemas.microsoft.com/office/powerpoint/2010/main" val="32253957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r>
              <a:rPr lang="en-US" dirty="0"/>
              <a:t>Post buffer and wake up thread.</a:t>
            </a:r>
          </a:p>
          <a:p>
            <a:r>
              <a:rPr lang="en-US" dirty="0"/>
              <a:t>1. Allow batching.</a:t>
            </a:r>
          </a:p>
        </p:txBody>
      </p:sp>
    </p:spTree>
    <p:extLst>
      <p:ext uri="{BB962C8B-B14F-4D97-AF65-F5344CB8AC3E}">
        <p14:creationId xmlns:p14="http://schemas.microsoft.com/office/powerpoint/2010/main" val="399921714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r>
              <a:rPr lang="en-US" dirty="0"/>
              <a:t>The question of ownership, you can’t modify until kernel is done.</a:t>
            </a:r>
          </a:p>
          <a:p>
            <a:r>
              <a:rPr lang="en-US" dirty="0"/>
              <a:t>On each send the page </a:t>
            </a:r>
            <a:r>
              <a:rPr lang="en-US" dirty="0" err="1"/>
              <a:t>rc</a:t>
            </a:r>
            <a:r>
              <a:rPr lang="en-US" dirty="0"/>
              <a:t> is increased. </a:t>
            </a:r>
          </a:p>
          <a:p>
            <a:r>
              <a:rPr lang="en-US" dirty="0"/>
              <a:t>This is wrong + yes get page</a:t>
            </a:r>
          </a:p>
          <a:p>
            <a:r>
              <a:rPr lang="en-US" dirty="0"/>
              <a:t>Couple of options, </a:t>
            </a:r>
          </a:p>
          <a:p>
            <a:pPr marL="228600" indent="-228600">
              <a:buAutoNum type="arabicPeriod"/>
            </a:pPr>
            <a:r>
              <a:rPr lang="en-US" dirty="0" err="1"/>
              <a:t>msg_zerocopy</a:t>
            </a:r>
            <a:r>
              <a:rPr lang="en-US" dirty="0"/>
              <a:t> </a:t>
            </a:r>
            <a:r>
              <a:rPr lang="en-US" dirty="0" err="1"/>
              <a:t>cb</a:t>
            </a:r>
            <a:r>
              <a:rPr lang="en-US" dirty="0"/>
              <a:t> and </a:t>
            </a:r>
            <a:r>
              <a:rPr lang="en-US" dirty="0" err="1"/>
              <a:t>ubuf</a:t>
            </a:r>
            <a:r>
              <a:rPr lang="en-US" dirty="0"/>
              <a:t> in general</a:t>
            </a:r>
          </a:p>
          <a:p>
            <a:pPr marL="228600" indent="-228600">
              <a:buAutoNum type="arabicPeriod"/>
            </a:pPr>
            <a:r>
              <a:rPr lang="en-US" dirty="0" err="1"/>
              <a:t>Oprtunistic</a:t>
            </a:r>
            <a:r>
              <a:rPr lang="en-US" dirty="0"/>
              <a:t> management using head page on 1-0 transition. Have 8B per 4K page – subject to race. New TX with free.</a:t>
            </a:r>
          </a:p>
          <a:p>
            <a:pPr marL="228600" indent="-228600">
              <a:buAutoNum type="arabicPeriod"/>
            </a:pPr>
            <a:r>
              <a:rPr lang="en-US" dirty="0"/>
              <a:t>Sys call to get Page RC.</a:t>
            </a:r>
          </a:p>
        </p:txBody>
      </p:sp>
    </p:spTree>
    <p:extLst>
      <p:ext uri="{BB962C8B-B14F-4D97-AF65-F5344CB8AC3E}">
        <p14:creationId xmlns:p14="http://schemas.microsoft.com/office/powerpoint/2010/main" val="19779452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4175" y="685800"/>
            <a:ext cx="608965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8492943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2" y="6400800"/>
            <a:ext cx="1217612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76128"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6137" y="758952"/>
            <a:ext cx="10047923" cy="3566160"/>
          </a:xfrm>
        </p:spPr>
        <p:txBody>
          <a:bodyPr anchor="b">
            <a:normAutofit/>
          </a:bodyPr>
          <a:lstStyle>
            <a:lvl1pPr algn="l">
              <a:lnSpc>
                <a:spcPct val="85000"/>
              </a:lnSpc>
              <a:defRPr sz="7992"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098905" y="4455620"/>
            <a:ext cx="10047923" cy="1143000"/>
          </a:xfrm>
        </p:spPr>
        <p:txBody>
          <a:bodyPr lIns="91440" rIns="91440">
            <a:normAutofit/>
          </a:bodyPr>
          <a:lstStyle>
            <a:lvl1pPr marL="0" indent="0" algn="l">
              <a:buNone/>
              <a:defRPr sz="2398" cap="all" spc="200" baseline="0">
                <a:solidFill>
                  <a:schemeClr val="tx2"/>
                </a:solidFill>
                <a:latin typeface="+mj-lt"/>
              </a:defRPr>
            </a:lvl1pPr>
            <a:lvl2pPr marL="456743" indent="0" algn="ctr">
              <a:buNone/>
              <a:defRPr sz="2398"/>
            </a:lvl2pPr>
            <a:lvl3pPr marL="913486" indent="0" algn="ctr">
              <a:buNone/>
              <a:defRPr sz="2398"/>
            </a:lvl3pPr>
            <a:lvl4pPr marL="1370228" indent="0" algn="ctr">
              <a:buNone/>
              <a:defRPr sz="1998"/>
            </a:lvl4pPr>
            <a:lvl5pPr marL="1826971" indent="0" algn="ctr">
              <a:buNone/>
              <a:defRPr sz="1998"/>
            </a:lvl5pPr>
            <a:lvl6pPr marL="2283714" indent="0" algn="ctr">
              <a:buNone/>
              <a:defRPr sz="1998"/>
            </a:lvl6pPr>
            <a:lvl7pPr marL="2740457" indent="0" algn="ctr">
              <a:buNone/>
              <a:defRPr sz="1998"/>
            </a:lvl7pPr>
            <a:lvl8pPr marL="3197200" indent="0" algn="ctr">
              <a:buNone/>
              <a:defRPr sz="1998"/>
            </a:lvl8pPr>
            <a:lvl9pPr marL="3653942" indent="0" algn="ctr">
              <a:buNone/>
              <a:defRPr sz="1998"/>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5B7024B-3421-4444-A285-976879184ECD}" type="datetimeFigureOut">
              <a:rPr lang="en-US" smtClean="0"/>
              <a:t>8/6/2021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cxnSp>
        <p:nvCxnSpPr>
          <p:cNvPr id="9" name="Straight Connector 8"/>
          <p:cNvCxnSpPr/>
          <p:nvPr/>
        </p:nvCxnSpPr>
        <p:spPr>
          <a:xfrm>
            <a:off x="1206400" y="4343400"/>
            <a:ext cx="986523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95680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7024B-3421-4444-A285-976879184ECD}" type="datetimeFigureOut">
              <a:rPr lang="en-US" smtClean="0"/>
              <a:t>8/6/2021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17446962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2" y="6400800"/>
            <a:ext cx="1217612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76128"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6137" y="758952"/>
            <a:ext cx="10047923" cy="3566160"/>
          </a:xfrm>
        </p:spPr>
        <p:txBody>
          <a:bodyPr anchor="b" anchorCtr="0">
            <a:normAutofit/>
          </a:bodyPr>
          <a:lstStyle>
            <a:lvl1pPr>
              <a:lnSpc>
                <a:spcPct val="85000"/>
              </a:lnSpc>
              <a:defRPr sz="7992"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6137" y="4453128"/>
            <a:ext cx="10047923" cy="1143000"/>
          </a:xfrm>
        </p:spPr>
        <p:txBody>
          <a:bodyPr lIns="91440" rIns="91440" anchor="t" anchorCtr="0">
            <a:normAutofit/>
          </a:bodyPr>
          <a:lstStyle>
            <a:lvl1pPr marL="0" indent="0">
              <a:buNone/>
              <a:defRPr sz="2398" cap="all" spc="200" baseline="0">
                <a:solidFill>
                  <a:schemeClr val="tx2"/>
                </a:solidFill>
                <a:latin typeface="+mj-lt"/>
              </a:defRPr>
            </a:lvl1pPr>
            <a:lvl2pPr marL="456743" indent="0">
              <a:buNone/>
              <a:defRPr sz="1798">
                <a:solidFill>
                  <a:schemeClr val="tx1">
                    <a:tint val="75000"/>
                  </a:schemeClr>
                </a:solidFill>
              </a:defRPr>
            </a:lvl2pPr>
            <a:lvl3pPr marL="913486" indent="0">
              <a:buNone/>
              <a:defRPr sz="1598">
                <a:solidFill>
                  <a:schemeClr val="tx1">
                    <a:tint val="75000"/>
                  </a:schemeClr>
                </a:solidFill>
              </a:defRPr>
            </a:lvl3pPr>
            <a:lvl4pPr marL="1370228" indent="0">
              <a:buNone/>
              <a:defRPr sz="1399">
                <a:solidFill>
                  <a:schemeClr val="tx1">
                    <a:tint val="75000"/>
                  </a:schemeClr>
                </a:solidFill>
              </a:defRPr>
            </a:lvl4pPr>
            <a:lvl5pPr marL="1826971" indent="0">
              <a:buNone/>
              <a:defRPr sz="1399">
                <a:solidFill>
                  <a:schemeClr val="tx1">
                    <a:tint val="75000"/>
                  </a:schemeClr>
                </a:solidFill>
              </a:defRPr>
            </a:lvl5pPr>
            <a:lvl6pPr marL="2283714" indent="0">
              <a:buNone/>
              <a:defRPr sz="1399">
                <a:solidFill>
                  <a:schemeClr val="tx1">
                    <a:tint val="75000"/>
                  </a:schemeClr>
                </a:solidFill>
              </a:defRPr>
            </a:lvl6pPr>
            <a:lvl7pPr marL="2740457" indent="0">
              <a:buNone/>
              <a:defRPr sz="1399">
                <a:solidFill>
                  <a:schemeClr val="tx1">
                    <a:tint val="75000"/>
                  </a:schemeClr>
                </a:solidFill>
              </a:defRPr>
            </a:lvl7pPr>
            <a:lvl8pPr marL="3197200" indent="0">
              <a:buNone/>
              <a:defRPr sz="1399">
                <a:solidFill>
                  <a:schemeClr val="tx1">
                    <a:tint val="75000"/>
                  </a:schemeClr>
                </a:solidFill>
              </a:defRPr>
            </a:lvl8pPr>
            <a:lvl9pPr marL="3653942" indent="0">
              <a:buNone/>
              <a:defRPr sz="1399">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B7024B-3421-4444-A285-976879184ECD}" type="datetimeFigureOut">
              <a:rPr lang="en-US" smtClean="0"/>
              <a:t>8/6/2021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cxnSp>
        <p:nvCxnSpPr>
          <p:cNvPr id="9" name="Straight Connector 8"/>
          <p:cNvCxnSpPr/>
          <p:nvPr/>
        </p:nvCxnSpPr>
        <p:spPr>
          <a:xfrm>
            <a:off x="1206400" y="4343400"/>
            <a:ext cx="9865233"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95297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6137" y="286604"/>
            <a:ext cx="10047923"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6136" y="1845734"/>
            <a:ext cx="4932617"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1443" y="1845735"/>
            <a:ext cx="4932617"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5B7024B-3421-4444-A285-976879184ECD}" type="datetimeFigureOut">
              <a:rPr lang="en-US" smtClean="0"/>
              <a:t>8/6/2021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3647913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6137" y="286604"/>
            <a:ext cx="10047923"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6137" y="1846052"/>
            <a:ext cx="4932617" cy="736282"/>
          </a:xfrm>
        </p:spPr>
        <p:txBody>
          <a:bodyPr lIns="91440" rIns="91440" anchor="ctr">
            <a:normAutofit/>
          </a:bodyPr>
          <a:lstStyle>
            <a:lvl1pPr marL="0" indent="0">
              <a:buNone/>
              <a:defRPr sz="1998" b="0" cap="all" baseline="0">
                <a:solidFill>
                  <a:schemeClr val="tx2"/>
                </a:solidFill>
              </a:defRPr>
            </a:lvl1pPr>
            <a:lvl2pPr marL="456743" indent="0">
              <a:buNone/>
              <a:defRPr sz="1998" b="1"/>
            </a:lvl2pPr>
            <a:lvl3pPr marL="913486" indent="0">
              <a:buNone/>
              <a:defRPr sz="1798" b="1"/>
            </a:lvl3pPr>
            <a:lvl4pPr marL="1370228" indent="0">
              <a:buNone/>
              <a:defRPr sz="1598" b="1"/>
            </a:lvl4pPr>
            <a:lvl5pPr marL="1826971" indent="0">
              <a:buNone/>
              <a:defRPr sz="1598" b="1"/>
            </a:lvl5pPr>
            <a:lvl6pPr marL="2283714" indent="0">
              <a:buNone/>
              <a:defRPr sz="1598" b="1"/>
            </a:lvl6pPr>
            <a:lvl7pPr marL="2740457" indent="0">
              <a:buNone/>
              <a:defRPr sz="1598" b="1"/>
            </a:lvl7pPr>
            <a:lvl8pPr marL="3197200" indent="0">
              <a:buNone/>
              <a:defRPr sz="1598" b="1"/>
            </a:lvl8pPr>
            <a:lvl9pPr marL="3653942" indent="0">
              <a:buNone/>
              <a:defRPr sz="1598" b="1"/>
            </a:lvl9pPr>
          </a:lstStyle>
          <a:p>
            <a:pPr lvl="0"/>
            <a:r>
              <a:rPr lang="en-US"/>
              <a:t>Click to edit Master text styles</a:t>
            </a:r>
          </a:p>
        </p:txBody>
      </p:sp>
      <p:sp>
        <p:nvSpPr>
          <p:cNvPr id="4" name="Content Placeholder 3"/>
          <p:cNvSpPr>
            <a:spLocks noGrp="1"/>
          </p:cNvSpPr>
          <p:nvPr>
            <p:ph sz="half" idx="2"/>
          </p:nvPr>
        </p:nvSpPr>
        <p:spPr>
          <a:xfrm>
            <a:off x="1096137" y="2582334"/>
            <a:ext cx="4932617"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1443" y="1846052"/>
            <a:ext cx="4932617" cy="736282"/>
          </a:xfrm>
        </p:spPr>
        <p:txBody>
          <a:bodyPr lIns="91440" rIns="91440" anchor="ctr">
            <a:normAutofit/>
          </a:bodyPr>
          <a:lstStyle>
            <a:lvl1pPr marL="0" indent="0">
              <a:buNone/>
              <a:defRPr sz="1998" b="0" cap="all" baseline="0">
                <a:solidFill>
                  <a:schemeClr val="tx2"/>
                </a:solidFill>
              </a:defRPr>
            </a:lvl1pPr>
            <a:lvl2pPr marL="456743" indent="0">
              <a:buNone/>
              <a:defRPr sz="1998" b="1"/>
            </a:lvl2pPr>
            <a:lvl3pPr marL="913486" indent="0">
              <a:buNone/>
              <a:defRPr sz="1798" b="1"/>
            </a:lvl3pPr>
            <a:lvl4pPr marL="1370228" indent="0">
              <a:buNone/>
              <a:defRPr sz="1598" b="1"/>
            </a:lvl4pPr>
            <a:lvl5pPr marL="1826971" indent="0">
              <a:buNone/>
              <a:defRPr sz="1598" b="1"/>
            </a:lvl5pPr>
            <a:lvl6pPr marL="2283714" indent="0">
              <a:buNone/>
              <a:defRPr sz="1598" b="1"/>
            </a:lvl6pPr>
            <a:lvl7pPr marL="2740457" indent="0">
              <a:buNone/>
              <a:defRPr sz="1598" b="1"/>
            </a:lvl7pPr>
            <a:lvl8pPr marL="3197200" indent="0">
              <a:buNone/>
              <a:defRPr sz="1598" b="1"/>
            </a:lvl8pPr>
            <a:lvl9pPr marL="3653942" indent="0">
              <a:buNone/>
              <a:defRPr sz="1598" b="1"/>
            </a:lvl9pPr>
          </a:lstStyle>
          <a:p>
            <a:pPr lvl="0"/>
            <a:r>
              <a:rPr lang="en-US"/>
              <a:t>Click to edit Master text styles</a:t>
            </a:r>
          </a:p>
        </p:txBody>
      </p:sp>
      <p:sp>
        <p:nvSpPr>
          <p:cNvPr id="6" name="Content Placeholder 5"/>
          <p:cNvSpPr>
            <a:spLocks noGrp="1"/>
          </p:cNvSpPr>
          <p:nvPr>
            <p:ph sz="quarter" idx="4"/>
          </p:nvPr>
        </p:nvSpPr>
        <p:spPr>
          <a:xfrm>
            <a:off x="6211443" y="2582334"/>
            <a:ext cx="4932617"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5B7024B-3421-4444-A285-976879184ECD}" type="datetimeFigureOut">
              <a:rPr lang="en-US" smtClean="0"/>
              <a:t>8/6/2021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615930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5B7024B-3421-4444-A285-976879184ECD}" type="datetimeFigureOut">
              <a:rPr lang="en-US" smtClean="0"/>
              <a:t>8/6/2021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6210869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2" y="6400800"/>
            <a:ext cx="1217612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6" y="6334316"/>
            <a:ext cx="12176128"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C5B7024B-3421-4444-A285-976879184ECD}" type="datetimeFigureOut">
              <a:rPr lang="en-US" smtClean="0"/>
              <a:t>8/6/2021</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2957734492"/>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7" y="0"/>
            <a:ext cx="404657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35863" y="0"/>
            <a:ext cx="63941"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6724" y="594359"/>
            <a:ext cx="3197066" cy="2286000"/>
          </a:xfrm>
        </p:spPr>
        <p:txBody>
          <a:bodyPr anchor="b">
            <a:normAutofit/>
          </a:bodyPr>
          <a:lstStyle>
            <a:lvl1pPr>
              <a:defRPr sz="3596"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795600" y="731520"/>
            <a:ext cx="6485477"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6724" y="2926080"/>
            <a:ext cx="3197066" cy="3379124"/>
          </a:xfrm>
        </p:spPr>
        <p:txBody>
          <a:bodyPr lIns="91440" rIns="91440">
            <a:normAutofit/>
          </a:bodyPr>
          <a:lstStyle>
            <a:lvl1pPr marL="0" indent="0">
              <a:buNone/>
              <a:defRPr sz="1499">
                <a:solidFill>
                  <a:srgbClr val="FFFFFF"/>
                </a:solidFill>
              </a:defRPr>
            </a:lvl1pPr>
            <a:lvl2pPr marL="456743" indent="0">
              <a:buNone/>
              <a:defRPr sz="1199"/>
            </a:lvl2pPr>
            <a:lvl3pPr marL="913486" indent="0">
              <a:buNone/>
              <a:defRPr sz="999"/>
            </a:lvl3pPr>
            <a:lvl4pPr marL="1370228" indent="0">
              <a:buNone/>
              <a:defRPr sz="899"/>
            </a:lvl4pPr>
            <a:lvl5pPr marL="1826971" indent="0">
              <a:buNone/>
              <a:defRPr sz="899"/>
            </a:lvl5pPr>
            <a:lvl6pPr marL="2283714" indent="0">
              <a:buNone/>
              <a:defRPr sz="899"/>
            </a:lvl6pPr>
            <a:lvl7pPr marL="2740457" indent="0">
              <a:buNone/>
              <a:defRPr sz="899"/>
            </a:lvl7pPr>
            <a:lvl8pPr marL="3197200" indent="0">
              <a:buNone/>
              <a:defRPr sz="899"/>
            </a:lvl8pPr>
            <a:lvl9pPr marL="3653942" indent="0">
              <a:buNone/>
              <a:defRPr sz="899"/>
            </a:lvl9pPr>
          </a:lstStyle>
          <a:p>
            <a:pPr lvl="0"/>
            <a:r>
              <a:rPr lang="en-US"/>
              <a:t>Click to edit Master text styles</a:t>
            </a:r>
          </a:p>
        </p:txBody>
      </p:sp>
      <p:sp>
        <p:nvSpPr>
          <p:cNvPr id="5" name="Date Placeholder 4"/>
          <p:cNvSpPr>
            <a:spLocks noGrp="1"/>
          </p:cNvSpPr>
          <p:nvPr>
            <p:ph type="dt" sz="half" idx="10"/>
          </p:nvPr>
        </p:nvSpPr>
        <p:spPr>
          <a:xfrm>
            <a:off x="465027" y="6459786"/>
            <a:ext cx="2615782" cy="365125"/>
          </a:xfrm>
        </p:spPr>
        <p:txBody>
          <a:bodyPr/>
          <a:lstStyle>
            <a:lvl1pPr algn="l">
              <a:defRPr/>
            </a:lvl1pPr>
          </a:lstStyle>
          <a:p>
            <a:fld id="{C5B7024B-3421-4444-A285-976879184ECD}" type="datetimeFigureOut">
              <a:rPr lang="en-US" smtClean="0"/>
              <a:t>8/6/2021</a:t>
            </a:fld>
            <a:endParaRPr lang="en-US"/>
          </a:p>
        </p:txBody>
      </p:sp>
      <p:sp>
        <p:nvSpPr>
          <p:cNvPr id="6" name="Footer Placeholder 5"/>
          <p:cNvSpPr>
            <a:spLocks noGrp="1"/>
          </p:cNvSpPr>
          <p:nvPr>
            <p:ph type="ftr" sz="quarter" idx="11"/>
          </p:nvPr>
        </p:nvSpPr>
        <p:spPr>
          <a:xfrm>
            <a:off x="4795599" y="6459786"/>
            <a:ext cx="4643358"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86CB4B4D-7CA3-9044-876B-883B54F8677D}" type="slidenum">
              <a:rPr lang="en-US" smtClean="0"/>
              <a:t>‹#›</a:t>
            </a:fld>
            <a:endParaRPr lang="en-US"/>
          </a:p>
        </p:txBody>
      </p:sp>
    </p:spTree>
    <p:extLst>
      <p:ext uri="{BB962C8B-B14F-4D97-AF65-F5344CB8AC3E}">
        <p14:creationId xmlns:p14="http://schemas.microsoft.com/office/powerpoint/2010/main" val="1298596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76128"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6" y="4915076"/>
            <a:ext cx="12176128"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6137" y="5074920"/>
            <a:ext cx="10102729" cy="822960"/>
          </a:xfrm>
        </p:spPr>
        <p:txBody>
          <a:bodyPr lIns="91440" tIns="0" rIns="91440" bIns="0" anchor="b">
            <a:noAutofit/>
          </a:bodyPr>
          <a:lstStyle>
            <a:lvl1pPr>
              <a:defRPr sz="3596"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79285" cy="4915076"/>
          </a:xfrm>
          <a:blipFill>
            <a:blip r:embed="rId2"/>
            <a:stretch>
              <a:fillRect/>
            </a:stretch>
          </a:blipFill>
        </p:spPr>
        <p:txBody>
          <a:bodyPr lIns="457200" tIns="457200" anchor="t"/>
          <a:lstStyle>
            <a:lvl1pPr marL="0" indent="0">
              <a:buNone/>
              <a:defRPr sz="3197">
                <a:solidFill>
                  <a:schemeClr val="bg1"/>
                </a:solidFill>
              </a:defRPr>
            </a:lvl1pPr>
            <a:lvl2pPr marL="456743" indent="0">
              <a:buNone/>
              <a:defRPr sz="2797"/>
            </a:lvl2pPr>
            <a:lvl3pPr marL="913486" indent="0">
              <a:buNone/>
              <a:defRPr sz="2398"/>
            </a:lvl3pPr>
            <a:lvl4pPr marL="1370228" indent="0">
              <a:buNone/>
              <a:defRPr sz="1998"/>
            </a:lvl4pPr>
            <a:lvl5pPr marL="1826971" indent="0">
              <a:buNone/>
              <a:defRPr sz="1998"/>
            </a:lvl5pPr>
            <a:lvl6pPr marL="2283714" indent="0">
              <a:buNone/>
              <a:defRPr sz="1998"/>
            </a:lvl6pPr>
            <a:lvl7pPr marL="2740457" indent="0">
              <a:buNone/>
              <a:defRPr sz="1998"/>
            </a:lvl7pPr>
            <a:lvl8pPr marL="3197200" indent="0">
              <a:buNone/>
              <a:defRPr sz="1998"/>
            </a:lvl8pPr>
            <a:lvl9pPr marL="3653942" indent="0">
              <a:buNone/>
              <a:defRPr sz="1998"/>
            </a:lvl9pPr>
          </a:lstStyle>
          <a:p>
            <a:r>
              <a:rPr lang="en-US"/>
              <a:t>Click icon to add picture</a:t>
            </a:r>
            <a:endParaRPr lang="en-US" dirty="0"/>
          </a:p>
        </p:txBody>
      </p:sp>
      <p:sp>
        <p:nvSpPr>
          <p:cNvPr id="4" name="Text Placeholder 3"/>
          <p:cNvSpPr>
            <a:spLocks noGrp="1"/>
          </p:cNvSpPr>
          <p:nvPr>
            <p:ph type="body" sz="half" idx="2"/>
          </p:nvPr>
        </p:nvSpPr>
        <p:spPr>
          <a:xfrm>
            <a:off x="1096137" y="5907023"/>
            <a:ext cx="10102729" cy="594360"/>
          </a:xfrm>
        </p:spPr>
        <p:txBody>
          <a:bodyPr lIns="91440" tIns="0" rIns="91440" bIns="0">
            <a:normAutofit/>
          </a:bodyPr>
          <a:lstStyle>
            <a:lvl1pPr marL="0" indent="0">
              <a:spcBef>
                <a:spcPts val="0"/>
              </a:spcBef>
              <a:spcAft>
                <a:spcPts val="599"/>
              </a:spcAft>
              <a:buNone/>
              <a:defRPr sz="1499">
                <a:solidFill>
                  <a:srgbClr val="FFFFFF"/>
                </a:solidFill>
              </a:defRPr>
            </a:lvl1pPr>
            <a:lvl2pPr marL="456743" indent="0">
              <a:buNone/>
              <a:defRPr sz="1199"/>
            </a:lvl2pPr>
            <a:lvl3pPr marL="913486" indent="0">
              <a:buNone/>
              <a:defRPr sz="999"/>
            </a:lvl3pPr>
            <a:lvl4pPr marL="1370228" indent="0">
              <a:buNone/>
              <a:defRPr sz="899"/>
            </a:lvl4pPr>
            <a:lvl5pPr marL="1826971" indent="0">
              <a:buNone/>
              <a:defRPr sz="899"/>
            </a:lvl5pPr>
            <a:lvl6pPr marL="2283714" indent="0">
              <a:buNone/>
              <a:defRPr sz="899"/>
            </a:lvl6pPr>
            <a:lvl7pPr marL="2740457" indent="0">
              <a:buNone/>
              <a:defRPr sz="899"/>
            </a:lvl7pPr>
            <a:lvl8pPr marL="3197200" indent="0">
              <a:buNone/>
              <a:defRPr sz="899"/>
            </a:lvl8pPr>
            <a:lvl9pPr marL="3653942" indent="0">
              <a:buNone/>
              <a:defRPr sz="899"/>
            </a:lvl9pPr>
          </a:lstStyle>
          <a:p>
            <a:pPr lvl="0"/>
            <a:r>
              <a:rPr lang="en-US"/>
              <a:t>Click to edit Master text styles</a:t>
            </a:r>
          </a:p>
        </p:txBody>
      </p:sp>
      <p:sp>
        <p:nvSpPr>
          <p:cNvPr id="5" name="Date Placeholder 4"/>
          <p:cNvSpPr>
            <a:spLocks noGrp="1"/>
          </p:cNvSpPr>
          <p:nvPr>
            <p:ph type="dt" sz="half" idx="10"/>
          </p:nvPr>
        </p:nvSpPr>
        <p:spPr/>
        <p:txBody>
          <a:bodyPr/>
          <a:lstStyle/>
          <a:p>
            <a:fld id="{C5B7024B-3421-4444-A285-976879184ECD}" type="datetimeFigureOut">
              <a:rPr lang="en-US" smtClean="0"/>
              <a:t>8/6/2021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3792928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7024B-3421-4444-A285-976879184ECD}" type="datetimeFigureOut">
              <a:rPr lang="en-US" smtClean="0"/>
              <a:t>8/6/2021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0435771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2" y="6400800"/>
            <a:ext cx="12176128"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6" y="6334316"/>
            <a:ext cx="12176128"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15811" y="414779"/>
            <a:ext cx="2626162"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7327" y="414778"/>
            <a:ext cx="7726243"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5B7024B-3421-4444-A285-976879184ECD}" type="datetimeFigureOut">
              <a:rPr lang="en-US" smtClean="0"/>
              <a:t>8/6/2021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6CB4B4D-7CA3-9044-876B-883B54F8677D}" type="slidenum">
              <a:rPr lang="en-US" smtClean="0"/>
              <a:t>‹#›</a:t>
            </a:fld>
            <a:endParaRPr lang="en-US"/>
          </a:p>
        </p:txBody>
      </p:sp>
    </p:spTree>
    <p:extLst>
      <p:ext uri="{BB962C8B-B14F-4D97-AF65-F5344CB8AC3E}">
        <p14:creationId xmlns:p14="http://schemas.microsoft.com/office/powerpoint/2010/main" val="37833578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1_Title Slide">
    <p:spTree>
      <p:nvGrpSpPr>
        <p:cNvPr id="1" name=""/>
        <p:cNvGrpSpPr/>
        <p:nvPr/>
      </p:nvGrpSpPr>
      <p:grpSpPr>
        <a:xfrm>
          <a:off x="0" y="0"/>
          <a:ext cx="0" cy="0"/>
          <a:chOff x="0" y="0"/>
          <a:chExt cx="0" cy="0"/>
        </a:xfrm>
      </p:grpSpPr>
      <p:sp>
        <p:nvSpPr>
          <p:cNvPr id="13" name="Click to Edit Master Title Style"/>
          <p:cNvSpPr txBox="1">
            <a:spLocks noGrp="1"/>
          </p:cNvSpPr>
          <p:nvPr>
            <p:ph type="title" hasCustomPrompt="1"/>
          </p:nvPr>
        </p:nvSpPr>
        <p:spPr>
          <a:xfrm>
            <a:off x="608012" y="1582578"/>
            <a:ext cx="4996404" cy="1234440"/>
          </a:xfrm>
          <a:prstGeom prst="rect">
            <a:avLst/>
          </a:prstGeom>
        </p:spPr>
        <p:txBody>
          <a:bodyPr>
            <a:normAutofit/>
          </a:bodyPr>
          <a:lstStyle>
            <a:lvl1pPr>
              <a:defRPr sz="4000"/>
            </a:lvl1pPr>
          </a:lstStyle>
          <a:p>
            <a:r>
              <a:t>Click to Edit Master Title Style</a:t>
            </a:r>
          </a:p>
        </p:txBody>
      </p:sp>
      <p:sp>
        <p:nvSpPr>
          <p:cNvPr id="14" name="Body Level One…"/>
          <p:cNvSpPr txBox="1">
            <a:spLocks noGrp="1"/>
          </p:cNvSpPr>
          <p:nvPr>
            <p:ph type="body" sz="quarter" idx="1" hasCustomPrompt="1"/>
          </p:nvPr>
        </p:nvSpPr>
        <p:spPr>
          <a:xfrm>
            <a:off x="608012" y="2867279"/>
            <a:ext cx="5116453" cy="416404"/>
          </a:xfrm>
          <a:prstGeom prst="rect">
            <a:avLst/>
          </a:prstGeom>
        </p:spPr>
        <p:txBody>
          <a:bodyPr>
            <a:normAutofit/>
          </a:bodyPr>
          <a:lstStyle>
            <a:lvl1pPr>
              <a:buClrTx/>
              <a:buSzTx/>
              <a:buFontTx/>
              <a:buNone/>
              <a:defRPr sz="2400">
                <a:solidFill>
                  <a:schemeClr val="accent4"/>
                </a:solidFill>
                <a:latin typeface="Helvetica Light"/>
                <a:ea typeface="Helvetica Light"/>
                <a:cs typeface="Helvetica Light"/>
                <a:sym typeface="Helvetica Light"/>
              </a:defRPr>
            </a:lvl1pPr>
            <a:lvl2pPr marL="0" indent="457200">
              <a:buClrTx/>
              <a:buSzTx/>
              <a:buFontTx/>
              <a:buNone/>
              <a:defRPr sz="2400">
                <a:solidFill>
                  <a:schemeClr val="accent4"/>
                </a:solidFill>
                <a:latin typeface="Helvetica Light"/>
                <a:ea typeface="Helvetica Light"/>
                <a:cs typeface="Helvetica Light"/>
                <a:sym typeface="Helvetica Light"/>
              </a:defRPr>
            </a:lvl2pPr>
            <a:lvl3pPr marL="0" indent="914400">
              <a:buClrTx/>
              <a:buSzTx/>
              <a:buFontTx/>
              <a:buNone/>
              <a:defRPr sz="2400">
                <a:solidFill>
                  <a:schemeClr val="accent4"/>
                </a:solidFill>
                <a:latin typeface="Helvetica Light"/>
                <a:ea typeface="Helvetica Light"/>
                <a:cs typeface="Helvetica Light"/>
                <a:sym typeface="Helvetica Light"/>
              </a:defRPr>
            </a:lvl3pPr>
            <a:lvl4pPr marL="0" indent="1371600">
              <a:buClrTx/>
              <a:buSzTx/>
              <a:buFontTx/>
              <a:buNone/>
              <a:defRPr sz="2400">
                <a:solidFill>
                  <a:schemeClr val="accent4"/>
                </a:solidFill>
                <a:latin typeface="Helvetica Light"/>
                <a:ea typeface="Helvetica Light"/>
                <a:cs typeface="Helvetica Light"/>
                <a:sym typeface="Helvetica Light"/>
              </a:defRPr>
            </a:lvl4pPr>
            <a:lvl5pPr marL="0" indent="1828800">
              <a:buClrTx/>
              <a:buSzTx/>
              <a:buFontTx/>
              <a:buNone/>
              <a:defRPr sz="2400">
                <a:solidFill>
                  <a:schemeClr val="accent4"/>
                </a:solidFill>
                <a:latin typeface="Helvetica Light"/>
                <a:ea typeface="Helvetica Light"/>
                <a:cs typeface="Helvetica Light"/>
                <a:sym typeface="Helvetica Light"/>
              </a:defRPr>
            </a:lvl5pPr>
          </a:lstStyle>
          <a:p>
            <a:r>
              <a:t>Click to edit master subtitle style</a:t>
            </a:r>
          </a:p>
          <a:p>
            <a:pPr lvl="1"/>
            <a:endParaRPr/>
          </a:p>
          <a:p>
            <a:pPr lvl="2"/>
            <a:endParaRPr/>
          </a:p>
          <a:p>
            <a:pPr lvl="3"/>
            <a:endParaRPr/>
          </a:p>
          <a:p>
            <a:pPr lvl="4"/>
            <a:endParaRPr/>
          </a:p>
        </p:txBody>
      </p:sp>
      <p:sp>
        <p:nvSpPr>
          <p:cNvPr id="15" name="Text Placeholder 6"/>
          <p:cNvSpPr>
            <a:spLocks noGrp="1"/>
          </p:cNvSpPr>
          <p:nvPr>
            <p:ph type="body" sz="quarter" idx="21" hasCustomPrompt="1"/>
          </p:nvPr>
        </p:nvSpPr>
        <p:spPr>
          <a:xfrm>
            <a:off x="608012" y="4737425"/>
            <a:ext cx="3657601" cy="355602"/>
          </a:xfrm>
          <a:prstGeom prst="rect">
            <a:avLst/>
          </a:prstGeom>
        </p:spPr>
        <p:txBody>
          <a:bodyPr anchor="b">
            <a:normAutofit/>
          </a:bodyPr>
          <a:lstStyle>
            <a:lvl1pPr>
              <a:buClrTx/>
              <a:buSzTx/>
              <a:buFontTx/>
              <a:buNone/>
              <a:defRPr sz="1600"/>
            </a:lvl1pPr>
          </a:lstStyle>
          <a:p>
            <a:r>
              <a:t>Speaker Name</a:t>
            </a:r>
          </a:p>
        </p:txBody>
      </p:sp>
      <p:sp>
        <p:nvSpPr>
          <p:cNvPr id="16" name="Text Placeholder 6"/>
          <p:cNvSpPr>
            <a:spLocks noGrp="1"/>
          </p:cNvSpPr>
          <p:nvPr>
            <p:ph type="body" sz="quarter" idx="22" hasCustomPrompt="1"/>
          </p:nvPr>
        </p:nvSpPr>
        <p:spPr>
          <a:xfrm>
            <a:off x="608012" y="5138744"/>
            <a:ext cx="3657601" cy="355602"/>
          </a:xfrm>
          <a:prstGeom prst="rect">
            <a:avLst/>
          </a:prstGeom>
        </p:spPr>
        <p:txBody>
          <a:bodyPr>
            <a:normAutofit/>
          </a:bodyPr>
          <a:lstStyle>
            <a:lvl1pPr>
              <a:buClrTx/>
              <a:buSzTx/>
              <a:buFontTx/>
              <a:buNone/>
              <a:defRPr sz="1600"/>
            </a:lvl1pPr>
          </a:lstStyle>
          <a:p>
            <a:r>
              <a:t>Role / Division at VMware</a:t>
            </a:r>
          </a:p>
        </p:txBody>
      </p:sp>
      <p:sp>
        <p:nvSpPr>
          <p:cNvPr id="17" name="Text Placeholder 6"/>
          <p:cNvSpPr>
            <a:spLocks noGrp="1"/>
          </p:cNvSpPr>
          <p:nvPr>
            <p:ph type="body" sz="quarter" idx="23" hasCustomPrompt="1"/>
          </p:nvPr>
        </p:nvSpPr>
        <p:spPr>
          <a:xfrm>
            <a:off x="608012" y="5494346"/>
            <a:ext cx="3657601" cy="267222"/>
          </a:xfrm>
          <a:prstGeom prst="rect">
            <a:avLst/>
          </a:prstGeom>
        </p:spPr>
        <p:txBody>
          <a:bodyPr>
            <a:normAutofit/>
          </a:bodyPr>
          <a:lstStyle>
            <a:lvl1pPr>
              <a:buClrTx/>
              <a:buSzTx/>
              <a:buFontTx/>
              <a:buNone/>
              <a:defRPr sz="1200"/>
            </a:lvl1pPr>
          </a:lstStyle>
          <a:p>
            <a:r>
              <a:t>Date</a:t>
            </a:r>
          </a:p>
        </p:txBody>
      </p:sp>
      <p:sp>
        <p:nvSpPr>
          <p:cNvPr id="27" name="Slide Number"/>
          <p:cNvSpPr txBox="1">
            <a:spLocks noGrp="1"/>
          </p:cNvSpPr>
          <p:nvPr>
            <p:ph type="sldNum" sz="quarter" idx="2"/>
          </p:nvPr>
        </p:nvSpPr>
        <p:spPr>
          <a:xfrm>
            <a:off x="5886661" y="6172200"/>
            <a:ext cx="2841838" cy="368301"/>
          </a:xfrm>
          <a:prstGeom prst="rect">
            <a:avLst/>
          </a:prstGeom>
        </p:spPr>
        <p:txBody>
          <a:bodyPr lIns="45719" tIns="45719" rIns="45719" bIns="45719"/>
          <a:lstStyle>
            <a:lvl1pPr>
              <a:lnSpc>
                <a:spcPct val="100000"/>
              </a:lnSpc>
              <a:defRPr sz="1200">
                <a:solidFill>
                  <a:srgbClr val="A3A3A5"/>
                </a:solidFill>
                <a:latin typeface="+mn-lt"/>
                <a:ea typeface="+mn-ea"/>
                <a:cs typeface="+mn-cs"/>
                <a:sym typeface="Helvetica"/>
              </a:defRPr>
            </a:lvl1pPr>
          </a:lstStyle>
          <a:p>
            <a:fld id="{86CB4B4D-7CA3-9044-876B-883B54F8677D}" type="slidenum">
              <a:t>‹#›</a:t>
            </a:fld>
            <a:endParaRPr/>
          </a:p>
        </p:txBody>
      </p:sp>
    </p:spTree>
    <p:extLst>
      <p:ext uri="{BB962C8B-B14F-4D97-AF65-F5344CB8AC3E}">
        <p14:creationId xmlns:p14="http://schemas.microsoft.com/office/powerpoint/2010/main" val="3436320940"/>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x">
  <p:cSld name="Title, Subtitle and Content">
    <p:spTree>
      <p:nvGrpSpPr>
        <p:cNvPr id="1" name=""/>
        <p:cNvGrpSpPr/>
        <p:nvPr/>
      </p:nvGrpSpPr>
      <p:grpSpPr>
        <a:xfrm>
          <a:off x="0" y="0"/>
          <a:ext cx="0" cy="0"/>
          <a:chOff x="0" y="0"/>
          <a:chExt cx="0" cy="0"/>
        </a:xfrm>
      </p:grpSpPr>
      <p:sp>
        <p:nvSpPr>
          <p:cNvPr id="354" name="Body Level One…"/>
          <p:cNvSpPr txBox="1">
            <a:spLocks noGrp="1"/>
          </p:cNvSpPr>
          <p:nvPr>
            <p:ph type="body" idx="1" hasCustomPrompt="1"/>
          </p:nvPr>
        </p:nvSpPr>
        <p:spPr>
          <a:xfrm>
            <a:off x="616505" y="1600200"/>
            <a:ext cx="10972801" cy="4572001"/>
          </a:xfrm>
          <a:prstGeom prst="rect">
            <a:avLst/>
          </a:prstGeom>
        </p:spPr>
        <p:txBody>
          <a:bodyPr>
            <a:normAutofit/>
          </a:bodyPr>
          <a:lstStyle>
            <a:lvl1pPr>
              <a:spcBef>
                <a:spcPts val="1500"/>
              </a:spcBef>
            </a:lvl1pPr>
            <a:lvl2pPr>
              <a:spcBef>
                <a:spcPts val="1500"/>
              </a:spcBef>
            </a:lvl2pPr>
            <a:lvl3pPr>
              <a:spcBef>
                <a:spcPts val="1500"/>
              </a:spcBef>
            </a:lvl3pPr>
            <a:lvl4pPr>
              <a:spcBef>
                <a:spcPts val="1500"/>
              </a:spcBef>
            </a:lvl4pPr>
            <a:lvl5pPr>
              <a:spcBef>
                <a:spcPts val="1500"/>
              </a:spcBef>
            </a:lvl5pPr>
          </a:lstStyle>
          <a:p>
            <a:r>
              <a:t>Click to add text</a:t>
            </a:r>
          </a:p>
          <a:p>
            <a:pPr lvl="1"/>
            <a:endParaRPr/>
          </a:p>
          <a:p>
            <a:pPr lvl="2"/>
            <a:endParaRPr/>
          </a:p>
          <a:p>
            <a:pPr lvl="3"/>
            <a:endParaRPr/>
          </a:p>
          <a:p>
            <a:pPr lvl="4"/>
            <a:endParaRPr/>
          </a:p>
        </p:txBody>
      </p:sp>
      <p:sp>
        <p:nvSpPr>
          <p:cNvPr id="3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56" name="Click to Add One Line Title"/>
          <p:cNvSpPr txBox="1">
            <a:spLocks noGrp="1"/>
          </p:cNvSpPr>
          <p:nvPr>
            <p:ph type="title" hasCustomPrompt="1"/>
          </p:nvPr>
        </p:nvSpPr>
        <p:spPr>
          <a:xfrm>
            <a:off x="579808" y="412751"/>
            <a:ext cx="11001005" cy="381001"/>
          </a:xfrm>
          <a:prstGeom prst="rect">
            <a:avLst/>
          </a:prstGeom>
        </p:spPr>
        <p:txBody>
          <a:bodyPr>
            <a:normAutofit/>
          </a:bodyPr>
          <a:lstStyle/>
          <a:p>
            <a:r>
              <a:t>Click to Add One Line Title</a:t>
            </a:r>
          </a:p>
        </p:txBody>
      </p:sp>
    </p:spTree>
    <p:extLst>
      <p:ext uri="{BB962C8B-B14F-4D97-AF65-F5344CB8AC3E}">
        <p14:creationId xmlns:p14="http://schemas.microsoft.com/office/powerpoint/2010/main" val="1758726934"/>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tx">
  <p:cSld name="Thank You / Closing">
    <p:spTree>
      <p:nvGrpSpPr>
        <p:cNvPr id="1" name=""/>
        <p:cNvGrpSpPr/>
        <p:nvPr/>
      </p:nvGrpSpPr>
      <p:grpSpPr>
        <a:xfrm>
          <a:off x="0" y="0"/>
          <a:ext cx="0" cy="0"/>
          <a:chOff x="0" y="0"/>
          <a:chExt cx="0" cy="0"/>
        </a:xfrm>
      </p:grpSpPr>
      <p:sp>
        <p:nvSpPr>
          <p:cNvPr id="891" name="Slide Number"/>
          <p:cNvSpPr txBox="1">
            <a:spLocks noGrp="1"/>
          </p:cNvSpPr>
          <p:nvPr>
            <p:ph type="sldNum" sz="quarter" idx="2"/>
          </p:nvPr>
        </p:nvSpPr>
        <p:spPr>
          <a:xfrm>
            <a:off x="5886661" y="6172200"/>
            <a:ext cx="2841838" cy="368301"/>
          </a:xfrm>
          <a:prstGeom prst="rect">
            <a:avLst/>
          </a:prstGeom>
        </p:spPr>
        <p:txBody>
          <a:bodyPr lIns="45719" tIns="45719" rIns="45719" bIns="45719"/>
          <a:lstStyle>
            <a:lvl1pPr>
              <a:lnSpc>
                <a:spcPct val="100000"/>
              </a:lnSpc>
              <a:defRPr sz="1200">
                <a:solidFill>
                  <a:srgbClr val="A3A3A5"/>
                </a:solidFill>
                <a:latin typeface="+mn-lt"/>
                <a:ea typeface="+mn-ea"/>
                <a:cs typeface="+mn-cs"/>
                <a:sym typeface="Helvetica"/>
              </a:defRPr>
            </a:lvl1pPr>
          </a:lstStyle>
          <a:p>
            <a:fld id="{86CB4B4D-7CA3-9044-876B-883B54F8677D}" type="slidenum">
              <a:t>‹#›</a:t>
            </a:fld>
            <a:endParaRPr/>
          </a:p>
        </p:txBody>
      </p:sp>
    </p:spTree>
    <p:extLst>
      <p:ext uri="{BB962C8B-B14F-4D97-AF65-F5344CB8AC3E}">
        <p14:creationId xmlns:p14="http://schemas.microsoft.com/office/powerpoint/2010/main" val="614324837"/>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793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793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6137" y="286604"/>
            <a:ext cx="10047923"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6137" y="1845734"/>
            <a:ext cx="10047923"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6137" y="6459786"/>
            <a:ext cx="2469696" cy="365125"/>
          </a:xfrm>
          <a:prstGeom prst="rect">
            <a:avLst/>
          </a:prstGeom>
        </p:spPr>
        <p:txBody>
          <a:bodyPr vert="horz" lIns="91440" tIns="45720" rIns="91440" bIns="45720" rtlCol="0" anchor="ctr"/>
          <a:lstStyle>
            <a:lvl1pPr algn="l">
              <a:defRPr sz="899">
                <a:solidFill>
                  <a:srgbClr val="FFFFFF"/>
                </a:solidFill>
              </a:defRPr>
            </a:lvl1pPr>
          </a:lstStyle>
          <a:p>
            <a:fld id="{C5B7024B-3421-4444-A285-976879184ECD}" type="datetimeFigureOut">
              <a:rPr lang="en-US" smtClean="0"/>
              <a:t>8/6/2021</a:t>
            </a:fld>
            <a:endParaRPr lang="en-US"/>
          </a:p>
        </p:txBody>
      </p:sp>
      <p:sp>
        <p:nvSpPr>
          <p:cNvPr id="5" name="Footer Placeholder 4"/>
          <p:cNvSpPr>
            <a:spLocks noGrp="1"/>
          </p:cNvSpPr>
          <p:nvPr>
            <p:ph type="ftr" sz="quarter" idx="3"/>
          </p:nvPr>
        </p:nvSpPr>
        <p:spPr>
          <a:xfrm>
            <a:off x="3682345" y="6459786"/>
            <a:ext cx="4817780" cy="365125"/>
          </a:xfrm>
          <a:prstGeom prst="rect">
            <a:avLst/>
          </a:prstGeom>
        </p:spPr>
        <p:txBody>
          <a:bodyPr vert="horz" lIns="91440" tIns="45720" rIns="91440" bIns="45720" rtlCol="0" anchor="ctr"/>
          <a:lstStyle>
            <a:lvl1pPr algn="ctr">
              <a:defRPr sz="899"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890146" y="6459786"/>
            <a:ext cx="1310658" cy="365125"/>
          </a:xfrm>
          <a:prstGeom prst="rect">
            <a:avLst/>
          </a:prstGeom>
        </p:spPr>
        <p:txBody>
          <a:bodyPr vert="horz" lIns="91440" tIns="45720" rIns="91440" bIns="45720" rtlCol="0" anchor="ctr"/>
          <a:lstStyle>
            <a:lvl1pPr algn="r">
              <a:defRPr sz="1049">
                <a:solidFill>
                  <a:srgbClr val="FFFFFF"/>
                </a:solidFill>
              </a:defRPr>
            </a:lvl1pPr>
          </a:lstStyle>
          <a:p>
            <a:fld id="{86CB4B4D-7CA3-9044-876B-883B54F8677D}" type="slidenum">
              <a:rPr lang="en-US" smtClean="0"/>
              <a:t>‹#›</a:t>
            </a:fld>
            <a:endParaRPr lang="en-US"/>
          </a:p>
        </p:txBody>
      </p:sp>
      <p:cxnSp>
        <p:nvCxnSpPr>
          <p:cNvPr id="10" name="Straight Connector 9"/>
          <p:cNvCxnSpPr/>
          <p:nvPr/>
        </p:nvCxnSpPr>
        <p:spPr>
          <a:xfrm>
            <a:off x="1192289" y="1737845"/>
            <a:ext cx="9956578"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56722316"/>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Lst>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xStyles>
    <p:titleStyle>
      <a:lvl1pPr algn="l" defTabSz="913486" rtl="0" eaLnBrk="1" latinLnBrk="0" hangingPunct="1">
        <a:lnSpc>
          <a:spcPct val="85000"/>
        </a:lnSpc>
        <a:spcBef>
          <a:spcPct val="0"/>
        </a:spcBef>
        <a:buNone/>
        <a:defRPr sz="4795" kern="1200" spc="-50" baseline="0">
          <a:solidFill>
            <a:schemeClr val="tx1">
              <a:lumMod val="75000"/>
              <a:lumOff val="25000"/>
            </a:schemeClr>
          </a:solidFill>
          <a:latin typeface="+mj-lt"/>
          <a:ea typeface="+mj-ea"/>
          <a:cs typeface="+mj-cs"/>
        </a:defRPr>
      </a:lvl1pPr>
    </p:titleStyle>
    <p:bodyStyle>
      <a:lvl1pPr marL="91349" indent="-91349" algn="l" defTabSz="913486" rtl="0" eaLnBrk="1" latinLnBrk="0" hangingPunct="1">
        <a:lnSpc>
          <a:spcPct val="90000"/>
        </a:lnSpc>
        <a:spcBef>
          <a:spcPts val="1199"/>
        </a:spcBef>
        <a:spcAft>
          <a:spcPts val="200"/>
        </a:spcAft>
        <a:buClr>
          <a:schemeClr val="accent1"/>
        </a:buClr>
        <a:buSzPct val="100000"/>
        <a:buFont typeface="Calibri" panose="020F0502020204030204" pitchFamily="34" charset="0"/>
        <a:buChar char=" "/>
        <a:defRPr sz="1998" kern="1200">
          <a:solidFill>
            <a:schemeClr val="tx1">
              <a:lumMod val="75000"/>
              <a:lumOff val="25000"/>
            </a:schemeClr>
          </a:solidFill>
          <a:latin typeface="+mn-lt"/>
          <a:ea typeface="+mn-ea"/>
          <a:cs typeface="+mn-cs"/>
        </a:defRPr>
      </a:lvl1pPr>
      <a:lvl2pPr marL="383664" indent="-182697" algn="l" defTabSz="913486" rtl="0" eaLnBrk="1" latinLnBrk="0" hangingPunct="1">
        <a:lnSpc>
          <a:spcPct val="90000"/>
        </a:lnSpc>
        <a:spcBef>
          <a:spcPts val="200"/>
        </a:spcBef>
        <a:spcAft>
          <a:spcPts val="400"/>
        </a:spcAft>
        <a:buClr>
          <a:schemeClr val="accent1"/>
        </a:buClr>
        <a:buFont typeface="Calibri" pitchFamily="34" charset="0"/>
        <a:buChar char="◦"/>
        <a:defRPr sz="1798" kern="1200">
          <a:solidFill>
            <a:schemeClr val="tx1">
              <a:lumMod val="75000"/>
              <a:lumOff val="25000"/>
            </a:schemeClr>
          </a:solidFill>
          <a:latin typeface="+mn-lt"/>
          <a:ea typeface="+mn-ea"/>
          <a:cs typeface="+mn-cs"/>
        </a:defRPr>
      </a:lvl2pPr>
      <a:lvl3pPr marL="566361" indent="-182697"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3pPr>
      <a:lvl4pPr marL="749058" indent="-182697"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4pPr>
      <a:lvl5pPr marL="931755" indent="-182697"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5pPr>
      <a:lvl6pPr marL="10989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6pPr>
      <a:lvl7pPr marL="12987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7pPr>
      <a:lvl8pPr marL="14985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8pPr>
      <a:lvl9pPr marL="16983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9pPr>
    </p:bodyStyle>
    <p:otherStyle>
      <a:defPPr>
        <a:defRPr lang="en-US"/>
      </a:defPPr>
      <a:lvl1pPr marL="0" algn="l" defTabSz="913486" rtl="0" eaLnBrk="1" latinLnBrk="0" hangingPunct="1">
        <a:defRPr sz="1798" kern="1200">
          <a:solidFill>
            <a:schemeClr val="tx1"/>
          </a:solidFill>
          <a:latin typeface="+mn-lt"/>
          <a:ea typeface="+mn-ea"/>
          <a:cs typeface="+mn-cs"/>
        </a:defRPr>
      </a:lvl1pPr>
      <a:lvl2pPr marL="456743" algn="l" defTabSz="913486" rtl="0" eaLnBrk="1" latinLnBrk="0" hangingPunct="1">
        <a:defRPr sz="1798" kern="1200">
          <a:solidFill>
            <a:schemeClr val="tx1"/>
          </a:solidFill>
          <a:latin typeface="+mn-lt"/>
          <a:ea typeface="+mn-ea"/>
          <a:cs typeface="+mn-cs"/>
        </a:defRPr>
      </a:lvl2pPr>
      <a:lvl3pPr marL="913486" algn="l" defTabSz="913486" rtl="0" eaLnBrk="1" latinLnBrk="0" hangingPunct="1">
        <a:defRPr sz="1798" kern="1200">
          <a:solidFill>
            <a:schemeClr val="tx1"/>
          </a:solidFill>
          <a:latin typeface="+mn-lt"/>
          <a:ea typeface="+mn-ea"/>
          <a:cs typeface="+mn-cs"/>
        </a:defRPr>
      </a:lvl3pPr>
      <a:lvl4pPr marL="1370228" algn="l" defTabSz="913486" rtl="0" eaLnBrk="1" latinLnBrk="0" hangingPunct="1">
        <a:defRPr sz="1798" kern="1200">
          <a:solidFill>
            <a:schemeClr val="tx1"/>
          </a:solidFill>
          <a:latin typeface="+mn-lt"/>
          <a:ea typeface="+mn-ea"/>
          <a:cs typeface="+mn-cs"/>
        </a:defRPr>
      </a:lvl4pPr>
      <a:lvl5pPr marL="1826971" algn="l" defTabSz="913486" rtl="0" eaLnBrk="1" latinLnBrk="0" hangingPunct="1">
        <a:defRPr sz="1798" kern="1200">
          <a:solidFill>
            <a:schemeClr val="tx1"/>
          </a:solidFill>
          <a:latin typeface="+mn-lt"/>
          <a:ea typeface="+mn-ea"/>
          <a:cs typeface="+mn-cs"/>
        </a:defRPr>
      </a:lvl5pPr>
      <a:lvl6pPr marL="2283714" algn="l" defTabSz="913486" rtl="0" eaLnBrk="1" latinLnBrk="0" hangingPunct="1">
        <a:defRPr sz="1798" kern="1200">
          <a:solidFill>
            <a:schemeClr val="tx1"/>
          </a:solidFill>
          <a:latin typeface="+mn-lt"/>
          <a:ea typeface="+mn-ea"/>
          <a:cs typeface="+mn-cs"/>
        </a:defRPr>
      </a:lvl6pPr>
      <a:lvl7pPr marL="2740457" algn="l" defTabSz="913486" rtl="0" eaLnBrk="1" latinLnBrk="0" hangingPunct="1">
        <a:defRPr sz="1798" kern="1200">
          <a:solidFill>
            <a:schemeClr val="tx1"/>
          </a:solidFill>
          <a:latin typeface="+mn-lt"/>
          <a:ea typeface="+mn-ea"/>
          <a:cs typeface="+mn-cs"/>
        </a:defRPr>
      </a:lvl7pPr>
      <a:lvl8pPr marL="3197200" algn="l" defTabSz="913486" rtl="0" eaLnBrk="1" latinLnBrk="0" hangingPunct="1">
        <a:defRPr sz="1798" kern="1200">
          <a:solidFill>
            <a:schemeClr val="tx1"/>
          </a:solidFill>
          <a:latin typeface="+mn-lt"/>
          <a:ea typeface="+mn-ea"/>
          <a:cs typeface="+mn-cs"/>
        </a:defRPr>
      </a:lvl8pPr>
      <a:lvl9pPr marL="3653942" algn="l" defTabSz="913486" rtl="0" eaLnBrk="1" latinLnBrk="0" hangingPunct="1">
        <a:defRPr sz="179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2" Type="http://schemas.openxmlformats.org/officeDocument/2006/relationships/hyperlink" Target="mailto:git@github.com:Markuze/maio_rfc.git" TargetMode="Externa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Title 1"/>
          <p:cNvSpPr txBox="1">
            <a:spLocks noGrp="1"/>
          </p:cNvSpPr>
          <p:nvPr>
            <p:ph type="title"/>
          </p:nvPr>
        </p:nvSpPr>
        <p:spPr>
          <a:xfrm>
            <a:off x="608011" y="1582578"/>
            <a:ext cx="4996405" cy="1234441"/>
          </a:xfrm>
          <a:prstGeom prst="rect">
            <a:avLst/>
          </a:prstGeom>
        </p:spPr>
        <p:txBody>
          <a:bodyPr/>
          <a:lstStyle>
            <a:lvl1pPr>
              <a:defRPr>
                <a:solidFill>
                  <a:srgbClr val="717074"/>
                </a:solidFill>
              </a:defRPr>
            </a:lvl1pPr>
          </a:lstStyle>
          <a:p>
            <a:r>
              <a:t>MAIO</a:t>
            </a:r>
          </a:p>
        </p:txBody>
      </p:sp>
      <p:sp>
        <p:nvSpPr>
          <p:cNvPr id="1030" name="Text Placeholder 3"/>
          <p:cNvSpPr>
            <a:spLocks noGrp="1"/>
          </p:cNvSpPr>
          <p:nvPr>
            <p:ph type="body" sz="quarter" idx="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lnSpcReduction="10000"/>
          </a:bodyPr>
          <a:lstStyle/>
          <a:p>
            <a:r>
              <a:rPr lang="en-US" dirty="0"/>
              <a:t>Rethinking Zero-Copy Networking</a:t>
            </a:r>
          </a:p>
        </p:txBody>
      </p:sp>
      <p:sp>
        <p:nvSpPr>
          <p:cNvPr id="1031" name="Text Placeholder 4"/>
          <p:cNvSpPr>
            <a:spLocks noGrp="1"/>
          </p:cNvSpPr>
          <p:nvPr>
            <p:ph type="body" sz="quarter" idx="21"/>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dirty="0"/>
              <a:t>Markuze Alex</a:t>
            </a:r>
            <a:endParaRPr dirty="0"/>
          </a:p>
        </p:txBody>
      </p:sp>
      <p:sp>
        <p:nvSpPr>
          <p:cNvPr id="1032" name="Text Placeholder 9"/>
          <p:cNvSpPr>
            <a:spLocks noGrp="1"/>
          </p:cNvSpPr>
          <p:nvPr>
            <p:ph type="body" sz="quarter" idx="2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dirty="0"/>
              <a:t>VMware</a:t>
            </a:r>
            <a:endParaRPr dirty="0"/>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 name="Content Placeholder 1"/>
          <p:cNvSpPr txBox="1">
            <a:spLocks noGrp="1"/>
          </p:cNvSpPr>
          <p:nvPr>
            <p:ph type="body" idx="1"/>
          </p:nvPr>
        </p:nvSpPr>
        <p:spPr>
          <a:xfrm>
            <a:off x="616505" y="1204545"/>
            <a:ext cx="10972801" cy="4967656"/>
          </a:xfrm>
          <a:prstGeom prst="rect">
            <a:avLst/>
          </a:prstGeom>
        </p:spPr>
        <p:txBody>
          <a:bodyPr/>
          <a:lstStyle/>
          <a:p>
            <a:r>
              <a:t>The Choice:</a:t>
            </a:r>
          </a:p>
          <a:p>
            <a:pPr marL="342900" indent="-342900"/>
            <a:r>
              <a:t>BSD Sockets</a:t>
            </a:r>
          </a:p>
          <a:p>
            <a:pPr marL="1201737" lvl="2" indent="-457200">
              <a:spcBef>
                <a:spcPts val="300"/>
              </a:spcBef>
              <a:buClr>
                <a:srgbClr val="3F3F3F"/>
              </a:buClr>
              <a:buFont typeface="Helvetica"/>
              <a:defRPr sz="1600"/>
            </a:pPr>
            <a:endParaRPr/>
          </a:p>
          <a:p>
            <a:pPr marL="1201737" lvl="2" indent="-457200">
              <a:spcBef>
                <a:spcPts val="300"/>
              </a:spcBef>
              <a:buClr>
                <a:srgbClr val="3F3F3F"/>
              </a:buClr>
              <a:buFont typeface="Helvetica"/>
              <a:defRPr sz="1600"/>
            </a:pPr>
            <a:endParaRPr/>
          </a:p>
          <a:p>
            <a:pPr marL="1201737" lvl="2" indent="-457200">
              <a:spcBef>
                <a:spcPts val="300"/>
              </a:spcBef>
              <a:buClr>
                <a:srgbClr val="3F3F3F"/>
              </a:buClr>
              <a:buFont typeface="Helvetica"/>
              <a:defRPr sz="1600"/>
            </a:pPr>
            <a:endParaRPr/>
          </a:p>
          <a:p>
            <a:pPr marL="1201737" lvl="2" indent="-457200">
              <a:spcBef>
                <a:spcPts val="300"/>
              </a:spcBef>
              <a:buClr>
                <a:srgbClr val="3F3F3F"/>
              </a:buClr>
              <a:buFont typeface="Helvetica"/>
              <a:defRPr sz="1600"/>
            </a:pPr>
            <a:endParaRPr/>
          </a:p>
          <a:p>
            <a:pPr marL="1201737" lvl="2" indent="-457200">
              <a:spcBef>
                <a:spcPts val="300"/>
              </a:spcBef>
              <a:buClr>
                <a:srgbClr val="3F3F3F"/>
              </a:buClr>
              <a:buFont typeface="Helvetica"/>
              <a:defRPr sz="1600"/>
            </a:pPr>
            <a:endParaRPr/>
          </a:p>
          <a:p>
            <a:pPr marL="0" lvl="2" indent="744537">
              <a:spcBef>
                <a:spcPts val="300"/>
              </a:spcBef>
              <a:buSzTx/>
              <a:buNone/>
              <a:defRPr sz="1600"/>
            </a:pPr>
            <a:endParaRPr/>
          </a:p>
          <a:p>
            <a:pPr marL="0" lvl="1" indent="457200">
              <a:spcBef>
                <a:spcPts val="300"/>
              </a:spcBef>
              <a:buSzTx/>
              <a:buNone/>
              <a:defRPr sz="2200"/>
            </a:pPr>
            <a:r>
              <a:t>Kernel Bypass</a:t>
            </a:r>
          </a:p>
        </p:txBody>
      </p:sp>
      <p:sp>
        <p:nvSpPr>
          <p:cNvPr id="1036" name="TextBox 8"/>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a:t>
            </a:fld>
            <a:endParaRPr/>
          </a:p>
        </p:txBody>
      </p:sp>
      <p:sp>
        <p:nvSpPr>
          <p:cNvPr id="1038" name="Title 3"/>
          <p:cNvSpPr txBox="1">
            <a:spLocks noGrp="1"/>
          </p:cNvSpPr>
          <p:nvPr>
            <p:ph type="title"/>
          </p:nvPr>
        </p:nvSpPr>
        <p:spPr>
          <a:prstGeom prst="rect">
            <a:avLst/>
          </a:prstGeom>
        </p:spPr>
        <p:txBody>
          <a:bodyPr>
            <a:noAutofit/>
          </a:bodyPr>
          <a:lstStyle>
            <a:lvl1pPr defTabSz="822959">
              <a:defRPr sz="2520"/>
            </a:lvl1pPr>
          </a:lstStyle>
          <a:p>
            <a:r>
              <a:rPr sz="2800" dirty="0"/>
              <a:t>User-space Networking</a:t>
            </a:r>
          </a:p>
        </p:txBody>
      </p:sp>
      <p:sp>
        <p:nvSpPr>
          <p:cNvPr id="1039" name="Rectangle 2"/>
          <p:cNvSpPr/>
          <p:nvPr/>
        </p:nvSpPr>
        <p:spPr>
          <a:xfrm>
            <a:off x="1337094" y="2415039"/>
            <a:ext cx="8039766" cy="984885"/>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600">
                <a:solidFill>
                  <a:srgbClr val="0077AA"/>
                </a:solidFill>
              </a:defRPr>
            </a:pPr>
            <a:r>
              <a:rPr dirty="0"/>
              <a:t>import</a:t>
            </a:r>
            <a:r>
              <a:rPr dirty="0">
                <a:solidFill>
                  <a:srgbClr val="000000"/>
                </a:solidFill>
              </a:rPr>
              <a:t> socket 					   </a:t>
            </a:r>
            <a:r>
              <a:rPr lang="en-US" dirty="0">
                <a:solidFill>
                  <a:srgbClr val="000000"/>
                </a:solidFill>
              </a:rPr>
              <a:t>				</a:t>
            </a:r>
            <a:r>
              <a:rPr dirty="0">
                <a:solidFill>
                  <a:srgbClr val="168BFF"/>
                </a:solidFill>
              </a:rPr>
              <a:t>/* Import */</a:t>
            </a:r>
          </a:p>
          <a:p>
            <a:pPr>
              <a:defRPr sz="1600">
                <a:solidFill>
                  <a:srgbClr val="000000"/>
                </a:solidFill>
              </a:defRPr>
            </a:pPr>
            <a:r>
              <a:rPr dirty="0"/>
              <a:t>s </a:t>
            </a:r>
            <a:r>
              <a:rPr dirty="0">
                <a:solidFill>
                  <a:srgbClr val="A67F59"/>
                </a:solidFill>
              </a:rPr>
              <a:t>=</a:t>
            </a:r>
            <a:r>
              <a:rPr dirty="0"/>
              <a:t> </a:t>
            </a:r>
            <a:r>
              <a:rPr dirty="0" err="1"/>
              <a:t>socket</a:t>
            </a:r>
            <a:r>
              <a:rPr dirty="0" err="1">
                <a:solidFill>
                  <a:srgbClr val="999999"/>
                </a:solidFill>
              </a:rPr>
              <a:t>.</a:t>
            </a:r>
            <a:r>
              <a:rPr dirty="0" err="1"/>
              <a:t>socket</a:t>
            </a:r>
            <a:r>
              <a:rPr dirty="0">
                <a:solidFill>
                  <a:srgbClr val="999999"/>
                </a:solidFill>
              </a:rPr>
              <a:t>(</a:t>
            </a:r>
            <a:r>
              <a:rPr dirty="0" err="1"/>
              <a:t>socket</a:t>
            </a:r>
            <a:r>
              <a:rPr dirty="0" err="1">
                <a:solidFill>
                  <a:srgbClr val="999999"/>
                </a:solidFill>
              </a:rPr>
              <a:t>.</a:t>
            </a:r>
            <a:r>
              <a:rPr dirty="0" err="1"/>
              <a:t>AF_INET</a:t>
            </a:r>
            <a:r>
              <a:rPr dirty="0" err="1">
                <a:solidFill>
                  <a:srgbClr val="999999"/>
                </a:solidFill>
              </a:rPr>
              <a:t>,</a:t>
            </a:r>
            <a:r>
              <a:rPr dirty="0" err="1"/>
              <a:t>socket</a:t>
            </a:r>
            <a:r>
              <a:rPr dirty="0" err="1">
                <a:solidFill>
                  <a:srgbClr val="999999"/>
                </a:solidFill>
              </a:rPr>
              <a:t>.</a:t>
            </a:r>
            <a:r>
              <a:rPr dirty="0" err="1"/>
              <a:t>SOCK_STREAM</a:t>
            </a:r>
            <a:r>
              <a:rPr dirty="0">
                <a:solidFill>
                  <a:srgbClr val="202020"/>
                </a:solidFill>
              </a:rPr>
              <a:t>)       </a:t>
            </a:r>
            <a:r>
              <a:rPr lang="en-US" dirty="0">
                <a:solidFill>
                  <a:srgbClr val="202020"/>
                </a:solidFill>
              </a:rPr>
              <a:t>	</a:t>
            </a:r>
            <a:r>
              <a:rPr dirty="0">
                <a:solidFill>
                  <a:srgbClr val="168BFF"/>
                </a:solidFill>
              </a:rPr>
              <a:t>/* Create */</a:t>
            </a:r>
          </a:p>
          <a:p>
            <a:pPr>
              <a:defRPr sz="1600">
                <a:solidFill>
                  <a:srgbClr val="000000"/>
                </a:solidFill>
              </a:defRPr>
            </a:pPr>
            <a:r>
              <a:rPr dirty="0" err="1"/>
              <a:t>s</a:t>
            </a:r>
            <a:r>
              <a:rPr dirty="0" err="1">
                <a:solidFill>
                  <a:srgbClr val="999999"/>
                </a:solidFill>
              </a:rPr>
              <a:t>.</a:t>
            </a:r>
            <a:r>
              <a:rPr dirty="0" err="1"/>
              <a:t>connect</a:t>
            </a:r>
            <a:r>
              <a:rPr dirty="0">
                <a:solidFill>
                  <a:srgbClr val="999999"/>
                </a:solidFill>
              </a:rPr>
              <a:t>((</a:t>
            </a:r>
            <a:r>
              <a:rPr dirty="0">
                <a:solidFill>
                  <a:srgbClr val="669900"/>
                </a:solidFill>
              </a:rPr>
              <a:t>destination</a:t>
            </a:r>
            <a:r>
              <a:rPr dirty="0">
                <a:solidFill>
                  <a:srgbClr val="999999"/>
                </a:solidFill>
              </a:rPr>
              <a:t>,</a:t>
            </a:r>
            <a:r>
              <a:rPr dirty="0"/>
              <a:t> </a:t>
            </a:r>
            <a:r>
              <a:rPr dirty="0">
                <a:solidFill>
                  <a:srgbClr val="990055"/>
                </a:solidFill>
              </a:rPr>
              <a:t>port</a:t>
            </a:r>
            <a:r>
              <a:rPr dirty="0">
                <a:solidFill>
                  <a:srgbClr val="999999"/>
                </a:solidFill>
              </a:rPr>
              <a:t>))				   </a:t>
            </a:r>
            <a:r>
              <a:rPr lang="en-US" dirty="0">
                <a:solidFill>
                  <a:srgbClr val="999999"/>
                </a:solidFill>
              </a:rPr>
              <a:t>	          </a:t>
            </a:r>
            <a:r>
              <a:rPr dirty="0">
                <a:solidFill>
                  <a:srgbClr val="168BFF"/>
                </a:solidFill>
              </a:rPr>
              <a:t>/* Connect - Routing */ </a:t>
            </a:r>
          </a:p>
          <a:p>
            <a:pPr>
              <a:defRPr sz="1600">
                <a:solidFill>
                  <a:srgbClr val="000000"/>
                </a:solidFill>
              </a:defRPr>
            </a:pPr>
            <a:r>
              <a:rPr dirty="0" err="1"/>
              <a:t>s</a:t>
            </a:r>
            <a:r>
              <a:rPr dirty="0" err="1">
                <a:solidFill>
                  <a:srgbClr val="999999"/>
                </a:solidFill>
              </a:rPr>
              <a:t>.</a:t>
            </a:r>
            <a:r>
              <a:rPr dirty="0" err="1"/>
              <a:t>sendall</a:t>
            </a:r>
            <a:r>
              <a:rPr dirty="0">
                <a:solidFill>
                  <a:srgbClr val="999999"/>
                </a:solidFill>
              </a:rPr>
              <a:t>(</a:t>
            </a:r>
            <a:r>
              <a:rPr dirty="0">
                <a:solidFill>
                  <a:srgbClr val="669900"/>
                </a:solidFill>
              </a:rPr>
              <a:t>'Hello, world’</a:t>
            </a:r>
            <a:r>
              <a:rPr dirty="0">
                <a:solidFill>
                  <a:srgbClr val="999999"/>
                </a:solidFill>
              </a:rPr>
              <a:t>)</a:t>
            </a:r>
            <a:r>
              <a:rPr dirty="0">
                <a:solidFill>
                  <a:srgbClr val="717074"/>
                </a:solidFill>
              </a:rPr>
              <a:t> 				     </a:t>
            </a:r>
            <a:r>
              <a:rPr lang="en-US" dirty="0">
                <a:solidFill>
                  <a:srgbClr val="717074"/>
                </a:solidFill>
              </a:rPr>
              <a:t>                        </a:t>
            </a:r>
            <a:r>
              <a:rPr dirty="0">
                <a:solidFill>
                  <a:srgbClr val="168BFF"/>
                </a:solidFill>
              </a:rPr>
              <a:t>/* Send      - TCP/IP  */</a:t>
            </a:r>
          </a:p>
        </p:txBody>
      </p:sp>
      <p:pic>
        <p:nvPicPr>
          <p:cNvPr id="1040" name="Graphic 10" descr="Graphic 10"/>
          <p:cNvPicPr>
            <a:picLocks noChangeAspect="1"/>
          </p:cNvPicPr>
          <p:nvPr/>
        </p:nvPicPr>
        <p:blipFill>
          <a:blip r:embed="rId3"/>
          <a:stretch>
            <a:fillRect/>
          </a:stretch>
        </p:blipFill>
        <p:spPr>
          <a:xfrm>
            <a:off x="884555" y="4236535"/>
            <a:ext cx="1198622" cy="1198623"/>
          </a:xfrm>
          <a:prstGeom prst="rect">
            <a:avLst/>
          </a:prstGeom>
          <a:ln w="12700">
            <a:miter lim="400000"/>
          </a:ln>
        </p:spPr>
      </p:pic>
      <p:pic>
        <p:nvPicPr>
          <p:cNvPr id="1041" name="Graphic 11" descr="Graphic 11"/>
          <p:cNvPicPr>
            <a:picLocks noChangeAspect="1"/>
          </p:cNvPicPr>
          <p:nvPr/>
        </p:nvPicPr>
        <p:blipFill>
          <a:blip r:embed="rId3"/>
          <a:stretch>
            <a:fillRect/>
          </a:stretch>
        </p:blipFill>
        <p:spPr>
          <a:xfrm>
            <a:off x="2143157" y="4830188"/>
            <a:ext cx="1030599" cy="1030599"/>
          </a:xfrm>
          <a:prstGeom prst="rect">
            <a:avLst/>
          </a:prstGeom>
          <a:ln w="12700">
            <a:miter lim="400000"/>
          </a:ln>
        </p:spPr>
      </p:pic>
      <p:pic>
        <p:nvPicPr>
          <p:cNvPr id="1042" name="Graphic 12" descr="Graphic 12"/>
          <p:cNvPicPr>
            <a:picLocks noChangeAspect="1"/>
          </p:cNvPicPr>
          <p:nvPr/>
        </p:nvPicPr>
        <p:blipFill>
          <a:blip r:embed="rId3"/>
          <a:stretch>
            <a:fillRect/>
          </a:stretch>
        </p:blipFill>
        <p:spPr>
          <a:xfrm>
            <a:off x="5312362" y="4068424"/>
            <a:ext cx="1366734" cy="1366734"/>
          </a:xfrm>
          <a:prstGeom prst="rect">
            <a:avLst/>
          </a:prstGeom>
          <a:ln w="12700">
            <a:miter lim="400000"/>
          </a:ln>
        </p:spPr>
      </p:pic>
      <p:pic>
        <p:nvPicPr>
          <p:cNvPr id="1043" name="Graphic 13" descr="Graphic 13"/>
          <p:cNvPicPr>
            <a:picLocks noChangeAspect="1"/>
          </p:cNvPicPr>
          <p:nvPr/>
        </p:nvPicPr>
        <p:blipFill>
          <a:blip r:embed="rId3"/>
          <a:stretch>
            <a:fillRect/>
          </a:stretch>
        </p:blipFill>
        <p:spPr>
          <a:xfrm>
            <a:off x="4363613" y="4710774"/>
            <a:ext cx="942680" cy="942680"/>
          </a:xfrm>
          <a:prstGeom prst="rect">
            <a:avLst/>
          </a:prstGeom>
          <a:ln w="12700">
            <a:miter lim="400000"/>
          </a:ln>
        </p:spPr>
      </p:pic>
      <p:pic>
        <p:nvPicPr>
          <p:cNvPr id="1044" name="Graphic 14" descr="Graphic 14"/>
          <p:cNvPicPr>
            <a:picLocks noChangeAspect="1"/>
          </p:cNvPicPr>
          <p:nvPr/>
        </p:nvPicPr>
        <p:blipFill>
          <a:blip r:embed="rId3"/>
          <a:stretch>
            <a:fillRect/>
          </a:stretch>
        </p:blipFill>
        <p:spPr>
          <a:xfrm>
            <a:off x="2976448" y="4120265"/>
            <a:ext cx="1146871" cy="1146871"/>
          </a:xfrm>
          <a:prstGeom prst="rect">
            <a:avLst/>
          </a:prstGeom>
          <a:ln w="12700">
            <a:miter lim="400000"/>
          </a:ln>
        </p:spPr>
      </p:pic>
      <p:pic>
        <p:nvPicPr>
          <p:cNvPr id="1045" name="Graphic 15" descr="Graphic 15"/>
          <p:cNvPicPr>
            <a:picLocks noChangeAspect="1"/>
          </p:cNvPicPr>
          <p:nvPr/>
        </p:nvPicPr>
        <p:blipFill>
          <a:blip r:embed="rId3"/>
          <a:stretch>
            <a:fillRect/>
          </a:stretch>
        </p:blipFill>
        <p:spPr>
          <a:xfrm>
            <a:off x="7077585" y="4710774"/>
            <a:ext cx="1030599" cy="1030599"/>
          </a:xfrm>
          <a:prstGeom prst="rect">
            <a:avLst/>
          </a:prstGeom>
          <a:ln w="12700">
            <a:miter lim="400000"/>
          </a:ln>
        </p:spPr>
      </p:pic>
      <p:pic>
        <p:nvPicPr>
          <p:cNvPr id="1046" name="Graphic 16" descr="Graphic 16"/>
          <p:cNvPicPr>
            <a:picLocks noChangeAspect="1"/>
          </p:cNvPicPr>
          <p:nvPr/>
        </p:nvPicPr>
        <p:blipFill>
          <a:blip r:embed="rId4"/>
          <a:stretch>
            <a:fillRect/>
          </a:stretch>
        </p:blipFill>
        <p:spPr>
          <a:xfrm>
            <a:off x="6426608" y="4704877"/>
            <a:ext cx="704851" cy="1104901"/>
          </a:xfrm>
          <a:prstGeom prst="rect">
            <a:avLst/>
          </a:prstGeom>
          <a:ln w="12700">
            <a:miter lim="400000"/>
          </a:ln>
        </p:spPr>
      </p:pic>
      <p:pic>
        <p:nvPicPr>
          <p:cNvPr id="1047" name="Graphic 17" descr="Graphic 17"/>
          <p:cNvPicPr>
            <a:picLocks noChangeAspect="1"/>
          </p:cNvPicPr>
          <p:nvPr/>
        </p:nvPicPr>
        <p:blipFill>
          <a:blip r:embed="rId4"/>
          <a:stretch>
            <a:fillRect/>
          </a:stretch>
        </p:blipFill>
        <p:spPr>
          <a:xfrm>
            <a:off x="3549884" y="4882707"/>
            <a:ext cx="704851" cy="1104901"/>
          </a:xfrm>
          <a:prstGeom prst="rect">
            <a:avLst/>
          </a:prstGeom>
          <a:ln w="12700">
            <a:miter lim="400000"/>
          </a:ln>
        </p:spPr>
      </p:pic>
      <p:pic>
        <p:nvPicPr>
          <p:cNvPr id="1048" name="Graphic 18" descr="Graphic 18"/>
          <p:cNvPicPr>
            <a:picLocks noChangeAspect="1"/>
          </p:cNvPicPr>
          <p:nvPr/>
        </p:nvPicPr>
        <p:blipFill>
          <a:blip r:embed="rId5"/>
          <a:stretch>
            <a:fillRect/>
          </a:stretch>
        </p:blipFill>
        <p:spPr>
          <a:xfrm>
            <a:off x="9545691" y="3429000"/>
            <a:ext cx="1103514" cy="1103513"/>
          </a:xfrm>
          <a:prstGeom prst="rect">
            <a:avLst/>
          </a:prstGeom>
          <a:ln w="12700">
            <a:miter lim="400000"/>
          </a:ln>
        </p:spPr>
      </p:pic>
      <p:sp>
        <p:nvSpPr>
          <p:cNvPr id="1050" name="Subtitle 2"/>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t>For fast networks &gt; 1 Gb/s </a:t>
            </a:r>
          </a:p>
        </p:txBody>
      </p:sp>
      <p:pic>
        <p:nvPicPr>
          <p:cNvPr id="17" name="Graphic 17" descr="Graphic 17">
            <a:extLst>
              <a:ext uri="{FF2B5EF4-FFF2-40B4-BE49-F238E27FC236}">
                <a16:creationId xmlns:a16="http://schemas.microsoft.com/office/drawing/2014/main" id="{B7F988FF-6F17-46D6-9498-C3E791C756CD}"/>
              </a:ext>
            </a:extLst>
          </p:cNvPr>
          <p:cNvPicPr>
            <a:picLocks noChangeAspect="1"/>
          </p:cNvPicPr>
          <p:nvPr/>
        </p:nvPicPr>
        <p:blipFill>
          <a:blip r:embed="rId4"/>
          <a:stretch>
            <a:fillRect/>
          </a:stretch>
        </p:blipFill>
        <p:spPr>
          <a:xfrm>
            <a:off x="4510689" y="4016694"/>
            <a:ext cx="414302" cy="649446"/>
          </a:xfrm>
          <a:prstGeom prst="rect">
            <a:avLst/>
          </a:prstGeom>
          <a:ln w="12700">
            <a:miter lim="400000"/>
          </a:ln>
        </p:spPr>
      </p:pic>
      <p:pic>
        <p:nvPicPr>
          <p:cNvPr id="18" name="Graphic 17">
            <a:extLst>
              <a:ext uri="{FF2B5EF4-FFF2-40B4-BE49-F238E27FC236}">
                <a16:creationId xmlns:a16="http://schemas.microsoft.com/office/drawing/2014/main" id="{C3968107-C916-404D-AC71-3E43688A9D1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9493907" y="1304302"/>
            <a:ext cx="1110737" cy="1110737"/>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4" fill="hold" grpId="1" nodeType="clickEffect">
                                  <p:stCondLst>
                                    <p:cond delay="0"/>
                                  </p:stCondLst>
                                  <p:iterate>
                                    <p:tmAbs val="0"/>
                                  </p:iterate>
                                  <p:childTnLst>
                                    <p:set>
                                      <p:cBhvr>
                                        <p:cTn id="6" fill="hold"/>
                                        <p:tgtEl>
                                          <p:spTgt spid="1039">
                                            <p:bg/>
                                          </p:spTgt>
                                        </p:tgtEl>
                                        <p:attrNameLst>
                                          <p:attrName>style.visibility</p:attrName>
                                        </p:attrNameLst>
                                      </p:cBhvr>
                                      <p:to>
                                        <p:strVal val="visible"/>
                                      </p:to>
                                    </p:set>
                                    <p:animEffect transition="in" filter="wipe(down)">
                                      <p:cBhvr>
                                        <p:cTn id="7" dur="250"/>
                                        <p:tgtEl>
                                          <p:spTgt spid="1039">
                                            <p:bg/>
                                          </p:spTgt>
                                        </p:tgtEl>
                                      </p:cBhvr>
                                    </p:animEffect>
                                  </p:childTnLst>
                                </p:cTn>
                              </p:par>
                              <p:par>
                                <p:cTn id="8" presetID="22" presetClass="entr" presetSubtype="4" fill="hold" grpId="1" nodeType="withEffect">
                                  <p:stCondLst>
                                    <p:cond delay="0"/>
                                  </p:stCondLst>
                                  <p:iterate>
                                    <p:tmAbs val="0"/>
                                  </p:iterate>
                                  <p:childTnLst>
                                    <p:set>
                                      <p:cBhvr>
                                        <p:cTn id="9" fill="hold"/>
                                        <p:tgtEl>
                                          <p:spTgt spid="1039">
                                            <p:txEl>
                                              <p:pRg st="0" end="0"/>
                                            </p:txEl>
                                          </p:spTgt>
                                        </p:tgtEl>
                                        <p:attrNameLst>
                                          <p:attrName>style.visibility</p:attrName>
                                        </p:attrNameLst>
                                      </p:cBhvr>
                                      <p:to>
                                        <p:strVal val="visible"/>
                                      </p:to>
                                    </p:set>
                                    <p:animEffect transition="in" filter="wipe(down)">
                                      <p:cBhvr>
                                        <p:cTn id="10" dur="250"/>
                                        <p:tgtEl>
                                          <p:spTgt spid="1039">
                                            <p:txEl>
                                              <p:pRg st="0" end="0"/>
                                            </p:txEl>
                                          </p:spTgt>
                                        </p:tgtEl>
                                      </p:cBhvr>
                                    </p:animEffect>
                                  </p:childTnLst>
                                </p:cTn>
                              </p:par>
                            </p:childTnLst>
                          </p:cTn>
                        </p:par>
                        <p:par>
                          <p:cTn id="11" fill="hold">
                            <p:stCondLst>
                              <p:cond delay="250"/>
                            </p:stCondLst>
                            <p:childTnLst>
                              <p:par>
                                <p:cTn id="12" presetID="22" presetClass="entr" presetSubtype="4" fill="hold" grpId="1" nodeType="afterEffect">
                                  <p:stCondLst>
                                    <p:cond delay="0"/>
                                  </p:stCondLst>
                                  <p:iterate>
                                    <p:tmAbs val="0"/>
                                  </p:iterate>
                                  <p:childTnLst>
                                    <p:set>
                                      <p:cBhvr>
                                        <p:cTn id="13" fill="hold"/>
                                        <p:tgtEl>
                                          <p:spTgt spid="1039">
                                            <p:txEl>
                                              <p:pRg st="1" end="1"/>
                                            </p:txEl>
                                          </p:spTgt>
                                        </p:tgtEl>
                                        <p:attrNameLst>
                                          <p:attrName>style.visibility</p:attrName>
                                        </p:attrNameLst>
                                      </p:cBhvr>
                                      <p:to>
                                        <p:strVal val="visible"/>
                                      </p:to>
                                    </p:set>
                                    <p:animEffect transition="in" filter="wipe(down)">
                                      <p:cBhvr>
                                        <p:cTn id="14" dur="250"/>
                                        <p:tgtEl>
                                          <p:spTgt spid="1039">
                                            <p:txEl>
                                              <p:pRg st="1" end="1"/>
                                            </p:txEl>
                                          </p:spTgt>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4" fill="hold" grpId="1" nodeType="clickEffect">
                                  <p:stCondLst>
                                    <p:cond delay="0"/>
                                  </p:stCondLst>
                                  <p:iterate>
                                    <p:tmAbs val="0"/>
                                  </p:iterate>
                                  <p:childTnLst>
                                    <p:set>
                                      <p:cBhvr>
                                        <p:cTn id="18" fill="hold"/>
                                        <p:tgtEl>
                                          <p:spTgt spid="1039">
                                            <p:txEl>
                                              <p:pRg st="2" end="2"/>
                                            </p:txEl>
                                          </p:spTgt>
                                        </p:tgtEl>
                                        <p:attrNameLst>
                                          <p:attrName>style.visibility</p:attrName>
                                        </p:attrNameLst>
                                      </p:cBhvr>
                                      <p:to>
                                        <p:strVal val="visible"/>
                                      </p:to>
                                    </p:set>
                                    <p:animEffect transition="in" filter="wipe(down)">
                                      <p:cBhvr>
                                        <p:cTn id="19" dur="250"/>
                                        <p:tgtEl>
                                          <p:spTgt spid="1039">
                                            <p:txEl>
                                              <p:pRg st="2" end="2"/>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1" nodeType="clickEffect">
                                  <p:stCondLst>
                                    <p:cond delay="0"/>
                                  </p:stCondLst>
                                  <p:iterate>
                                    <p:tmAbs val="0"/>
                                  </p:iterate>
                                  <p:childTnLst>
                                    <p:set>
                                      <p:cBhvr>
                                        <p:cTn id="23" fill="hold"/>
                                        <p:tgtEl>
                                          <p:spTgt spid="1039">
                                            <p:txEl>
                                              <p:pRg st="3" end="3"/>
                                            </p:txEl>
                                          </p:spTgt>
                                        </p:tgtEl>
                                        <p:attrNameLst>
                                          <p:attrName>style.visibility</p:attrName>
                                        </p:attrNameLst>
                                      </p:cBhvr>
                                      <p:to>
                                        <p:strVal val="visible"/>
                                      </p:to>
                                    </p:set>
                                    <p:animEffect transition="in" filter="wipe(down)">
                                      <p:cBhvr>
                                        <p:cTn id="24" dur="250"/>
                                        <p:tgtEl>
                                          <p:spTgt spid="1039">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2" fill="hold" grpId="2" nodeType="clickEffect">
                                  <p:stCondLst>
                                    <p:cond delay="0"/>
                                  </p:stCondLst>
                                  <p:iterate>
                                    <p:tmAbs val="0"/>
                                  </p:iterate>
                                  <p:childTnLst>
                                    <p:set>
                                      <p:cBhvr>
                                        <p:cTn id="28" fill="hold"/>
                                        <p:tgtEl>
                                          <p:spTgt spid="1045"/>
                                        </p:tgtEl>
                                        <p:attrNameLst>
                                          <p:attrName>style.visibility</p:attrName>
                                        </p:attrNameLst>
                                      </p:cBhvr>
                                      <p:to>
                                        <p:strVal val="visible"/>
                                      </p:to>
                                    </p:set>
                                    <p:anim calcmode="lin" valueType="num">
                                      <p:cBhvr>
                                        <p:cTn id="29" dur="250" fill="hold"/>
                                        <p:tgtEl>
                                          <p:spTgt spid="1045"/>
                                        </p:tgtEl>
                                        <p:attrNameLst>
                                          <p:attrName>ppt_x</p:attrName>
                                        </p:attrNameLst>
                                      </p:cBhvr>
                                      <p:tavLst>
                                        <p:tav tm="0">
                                          <p:val>
                                            <p:strVal val="1+#ppt_w/2"/>
                                          </p:val>
                                        </p:tav>
                                        <p:tav tm="100000">
                                          <p:val>
                                            <p:strVal val="#ppt_x"/>
                                          </p:val>
                                        </p:tav>
                                      </p:tavLst>
                                    </p:anim>
                                    <p:anim calcmode="lin" valueType="num">
                                      <p:cBhvr>
                                        <p:cTn id="30" dur="250" fill="hold"/>
                                        <p:tgtEl>
                                          <p:spTgt spid="1045"/>
                                        </p:tgtEl>
                                        <p:attrNameLst>
                                          <p:attrName>ppt_y</p:attrName>
                                        </p:attrNameLst>
                                      </p:cBhvr>
                                      <p:tavLst>
                                        <p:tav tm="0">
                                          <p:val>
                                            <p:strVal val="#ppt_y"/>
                                          </p:val>
                                        </p:tav>
                                        <p:tav tm="100000">
                                          <p:val>
                                            <p:strVal val="#ppt_y"/>
                                          </p:val>
                                        </p:tav>
                                      </p:tavLst>
                                    </p:anim>
                                  </p:childTnLst>
                                </p:cTn>
                              </p:par>
                            </p:childTnLst>
                          </p:cTn>
                        </p:par>
                        <p:par>
                          <p:cTn id="31" fill="hold">
                            <p:stCondLst>
                              <p:cond delay="250"/>
                            </p:stCondLst>
                            <p:childTnLst>
                              <p:par>
                                <p:cTn id="32" presetID="2" presetClass="entr" presetSubtype="2" fill="hold" grpId="3" nodeType="afterEffect">
                                  <p:stCondLst>
                                    <p:cond delay="0"/>
                                  </p:stCondLst>
                                  <p:iterate>
                                    <p:tmAbs val="0"/>
                                  </p:iterate>
                                  <p:childTnLst>
                                    <p:set>
                                      <p:cBhvr>
                                        <p:cTn id="33" fill="hold"/>
                                        <p:tgtEl>
                                          <p:spTgt spid="1042"/>
                                        </p:tgtEl>
                                        <p:attrNameLst>
                                          <p:attrName>style.visibility</p:attrName>
                                        </p:attrNameLst>
                                      </p:cBhvr>
                                      <p:to>
                                        <p:strVal val="visible"/>
                                      </p:to>
                                    </p:set>
                                    <p:anim calcmode="lin" valueType="num">
                                      <p:cBhvr>
                                        <p:cTn id="34" dur="250" fill="hold"/>
                                        <p:tgtEl>
                                          <p:spTgt spid="1042"/>
                                        </p:tgtEl>
                                        <p:attrNameLst>
                                          <p:attrName>ppt_x</p:attrName>
                                        </p:attrNameLst>
                                      </p:cBhvr>
                                      <p:tavLst>
                                        <p:tav tm="0">
                                          <p:val>
                                            <p:strVal val="1+#ppt_w/2"/>
                                          </p:val>
                                        </p:tav>
                                        <p:tav tm="100000">
                                          <p:val>
                                            <p:strVal val="#ppt_x"/>
                                          </p:val>
                                        </p:tav>
                                      </p:tavLst>
                                    </p:anim>
                                    <p:anim calcmode="lin" valueType="num">
                                      <p:cBhvr>
                                        <p:cTn id="35" dur="250" fill="hold"/>
                                        <p:tgtEl>
                                          <p:spTgt spid="1042"/>
                                        </p:tgtEl>
                                        <p:attrNameLst>
                                          <p:attrName>ppt_y</p:attrName>
                                        </p:attrNameLst>
                                      </p:cBhvr>
                                      <p:tavLst>
                                        <p:tav tm="0">
                                          <p:val>
                                            <p:strVal val="#ppt_y"/>
                                          </p:val>
                                        </p:tav>
                                        <p:tav tm="100000">
                                          <p:val>
                                            <p:strVal val="#ppt_y"/>
                                          </p:val>
                                        </p:tav>
                                      </p:tavLst>
                                    </p:anim>
                                  </p:childTnLst>
                                </p:cTn>
                              </p:par>
                            </p:childTnLst>
                          </p:cTn>
                        </p:par>
                        <p:par>
                          <p:cTn id="36" fill="hold">
                            <p:stCondLst>
                              <p:cond delay="500"/>
                            </p:stCondLst>
                            <p:childTnLst>
                              <p:par>
                                <p:cTn id="37" presetID="2" presetClass="entr" presetSubtype="2" fill="hold" grpId="4" nodeType="afterEffect">
                                  <p:stCondLst>
                                    <p:cond delay="0"/>
                                  </p:stCondLst>
                                  <p:iterate>
                                    <p:tmAbs val="0"/>
                                  </p:iterate>
                                  <p:childTnLst>
                                    <p:set>
                                      <p:cBhvr>
                                        <p:cTn id="38" fill="hold"/>
                                        <p:tgtEl>
                                          <p:spTgt spid="1043"/>
                                        </p:tgtEl>
                                        <p:attrNameLst>
                                          <p:attrName>style.visibility</p:attrName>
                                        </p:attrNameLst>
                                      </p:cBhvr>
                                      <p:to>
                                        <p:strVal val="visible"/>
                                      </p:to>
                                    </p:set>
                                    <p:anim calcmode="lin" valueType="num">
                                      <p:cBhvr>
                                        <p:cTn id="39" dur="250" fill="hold"/>
                                        <p:tgtEl>
                                          <p:spTgt spid="1043"/>
                                        </p:tgtEl>
                                        <p:attrNameLst>
                                          <p:attrName>ppt_x</p:attrName>
                                        </p:attrNameLst>
                                      </p:cBhvr>
                                      <p:tavLst>
                                        <p:tav tm="0">
                                          <p:val>
                                            <p:strVal val="1+#ppt_w/2"/>
                                          </p:val>
                                        </p:tav>
                                        <p:tav tm="100000">
                                          <p:val>
                                            <p:strVal val="#ppt_x"/>
                                          </p:val>
                                        </p:tav>
                                      </p:tavLst>
                                    </p:anim>
                                    <p:anim calcmode="lin" valueType="num">
                                      <p:cBhvr>
                                        <p:cTn id="40" dur="250" fill="hold"/>
                                        <p:tgtEl>
                                          <p:spTgt spid="1043"/>
                                        </p:tgtEl>
                                        <p:attrNameLst>
                                          <p:attrName>ppt_y</p:attrName>
                                        </p:attrNameLst>
                                      </p:cBhvr>
                                      <p:tavLst>
                                        <p:tav tm="0">
                                          <p:val>
                                            <p:strVal val="#ppt_y"/>
                                          </p:val>
                                        </p:tav>
                                        <p:tav tm="100000">
                                          <p:val>
                                            <p:strVal val="#ppt_y"/>
                                          </p:val>
                                        </p:tav>
                                      </p:tavLst>
                                    </p:anim>
                                  </p:childTnLst>
                                </p:cTn>
                              </p:par>
                            </p:childTnLst>
                          </p:cTn>
                        </p:par>
                        <p:par>
                          <p:cTn id="41" fill="hold">
                            <p:stCondLst>
                              <p:cond delay="750"/>
                            </p:stCondLst>
                            <p:childTnLst>
                              <p:par>
                                <p:cTn id="42" presetID="22" presetClass="entr" presetSubtype="4" fill="hold" grpId="5" nodeType="afterEffect">
                                  <p:stCondLst>
                                    <p:cond delay="0"/>
                                  </p:stCondLst>
                                  <p:iterate>
                                    <p:tmAbs val="0"/>
                                  </p:iterate>
                                  <p:childTnLst>
                                    <p:set>
                                      <p:cBhvr>
                                        <p:cTn id="43" fill="hold"/>
                                        <p:tgtEl>
                                          <p:spTgt spid="1046"/>
                                        </p:tgtEl>
                                        <p:attrNameLst>
                                          <p:attrName>style.visibility</p:attrName>
                                        </p:attrNameLst>
                                      </p:cBhvr>
                                      <p:to>
                                        <p:strVal val="visible"/>
                                      </p:to>
                                    </p:set>
                                    <p:animEffect transition="in" filter="wipe(down)">
                                      <p:cBhvr>
                                        <p:cTn id="44" dur="500"/>
                                        <p:tgtEl>
                                          <p:spTgt spid="1046"/>
                                        </p:tgtEl>
                                      </p:cBhvr>
                                    </p:animEffect>
                                  </p:childTnLst>
                                </p:cTn>
                              </p:par>
                            </p:childTnLst>
                          </p:cTn>
                        </p:par>
                        <p:par>
                          <p:cTn id="45" fill="hold">
                            <p:stCondLst>
                              <p:cond delay="1250"/>
                            </p:stCondLst>
                            <p:childTnLst>
                              <p:par>
                                <p:cTn id="46" presetID="2" presetClass="entr" presetSubtype="2" fill="hold" grpId="6" nodeType="afterEffect">
                                  <p:stCondLst>
                                    <p:cond delay="0"/>
                                  </p:stCondLst>
                                  <p:iterate>
                                    <p:tmAbs val="0"/>
                                  </p:iterate>
                                  <p:childTnLst>
                                    <p:set>
                                      <p:cBhvr>
                                        <p:cTn id="47" fill="hold"/>
                                        <p:tgtEl>
                                          <p:spTgt spid="1044"/>
                                        </p:tgtEl>
                                        <p:attrNameLst>
                                          <p:attrName>style.visibility</p:attrName>
                                        </p:attrNameLst>
                                      </p:cBhvr>
                                      <p:to>
                                        <p:strVal val="visible"/>
                                      </p:to>
                                    </p:set>
                                    <p:anim calcmode="lin" valueType="num">
                                      <p:cBhvr>
                                        <p:cTn id="48" dur="250" fill="hold"/>
                                        <p:tgtEl>
                                          <p:spTgt spid="1044"/>
                                        </p:tgtEl>
                                        <p:attrNameLst>
                                          <p:attrName>ppt_x</p:attrName>
                                        </p:attrNameLst>
                                      </p:cBhvr>
                                      <p:tavLst>
                                        <p:tav tm="0">
                                          <p:val>
                                            <p:strVal val="1+#ppt_w/2"/>
                                          </p:val>
                                        </p:tav>
                                        <p:tav tm="100000">
                                          <p:val>
                                            <p:strVal val="#ppt_x"/>
                                          </p:val>
                                        </p:tav>
                                      </p:tavLst>
                                    </p:anim>
                                    <p:anim calcmode="lin" valueType="num">
                                      <p:cBhvr>
                                        <p:cTn id="49" dur="250" fill="hold"/>
                                        <p:tgtEl>
                                          <p:spTgt spid="1044"/>
                                        </p:tgtEl>
                                        <p:attrNameLst>
                                          <p:attrName>ppt_y</p:attrName>
                                        </p:attrNameLst>
                                      </p:cBhvr>
                                      <p:tavLst>
                                        <p:tav tm="0">
                                          <p:val>
                                            <p:strVal val="#ppt_y"/>
                                          </p:val>
                                        </p:tav>
                                        <p:tav tm="100000">
                                          <p:val>
                                            <p:strVal val="#ppt_y"/>
                                          </p:val>
                                        </p:tav>
                                      </p:tavLst>
                                    </p:anim>
                                  </p:childTnLst>
                                </p:cTn>
                              </p:par>
                            </p:childTnLst>
                          </p:cTn>
                        </p:par>
                        <p:par>
                          <p:cTn id="50" fill="hold">
                            <p:stCondLst>
                              <p:cond delay="1500"/>
                            </p:stCondLst>
                            <p:childTnLst>
                              <p:par>
                                <p:cTn id="51" presetID="22" presetClass="entr" presetSubtype="4" fill="hold" grpId="7" nodeType="afterEffect">
                                  <p:stCondLst>
                                    <p:cond delay="0"/>
                                  </p:stCondLst>
                                  <p:iterate>
                                    <p:tmAbs val="0"/>
                                  </p:iterate>
                                  <p:childTnLst>
                                    <p:set>
                                      <p:cBhvr>
                                        <p:cTn id="52" fill="hold"/>
                                        <p:tgtEl>
                                          <p:spTgt spid="1047"/>
                                        </p:tgtEl>
                                        <p:attrNameLst>
                                          <p:attrName>style.visibility</p:attrName>
                                        </p:attrNameLst>
                                      </p:cBhvr>
                                      <p:to>
                                        <p:strVal val="visible"/>
                                      </p:to>
                                    </p:set>
                                    <p:animEffect transition="in" filter="wipe(down)">
                                      <p:cBhvr>
                                        <p:cTn id="53" dur="500"/>
                                        <p:tgtEl>
                                          <p:spTgt spid="1047"/>
                                        </p:tgtEl>
                                      </p:cBhvr>
                                    </p:animEffect>
                                  </p:childTnLst>
                                </p:cTn>
                              </p:par>
                            </p:childTnLst>
                          </p:cTn>
                        </p:par>
                        <p:par>
                          <p:cTn id="54" fill="hold">
                            <p:stCondLst>
                              <p:cond delay="2000"/>
                            </p:stCondLst>
                            <p:childTnLst>
                              <p:par>
                                <p:cTn id="55" presetID="22" presetClass="entr" presetSubtype="4" fill="hold" grpId="0" nodeType="afterEffect">
                                  <p:stCondLst>
                                    <p:cond delay="0"/>
                                  </p:stCondLst>
                                  <p:iterate>
                                    <p:tmAbs val="0"/>
                                  </p:iterate>
                                  <p:childTnLst>
                                    <p:set>
                                      <p:cBhvr>
                                        <p:cTn id="56" fill="hold"/>
                                        <p:tgtEl>
                                          <p:spTgt spid="17"/>
                                        </p:tgtEl>
                                        <p:attrNameLst>
                                          <p:attrName>style.visibility</p:attrName>
                                        </p:attrNameLst>
                                      </p:cBhvr>
                                      <p:to>
                                        <p:strVal val="visible"/>
                                      </p:to>
                                    </p:set>
                                    <p:animEffect transition="in" filter="wipe(down)">
                                      <p:cBhvr>
                                        <p:cTn id="57" dur="500"/>
                                        <p:tgtEl>
                                          <p:spTgt spid="17"/>
                                        </p:tgtEl>
                                      </p:cBhvr>
                                    </p:animEffect>
                                  </p:childTnLst>
                                </p:cTn>
                              </p:par>
                            </p:childTnLst>
                          </p:cTn>
                        </p:par>
                        <p:par>
                          <p:cTn id="58" fill="hold">
                            <p:stCondLst>
                              <p:cond delay="2500"/>
                            </p:stCondLst>
                            <p:childTnLst>
                              <p:par>
                                <p:cTn id="59" presetID="2" presetClass="entr" presetSubtype="2" fill="hold" grpId="8" nodeType="afterEffect">
                                  <p:stCondLst>
                                    <p:cond delay="0"/>
                                  </p:stCondLst>
                                  <p:iterate>
                                    <p:tmAbs val="0"/>
                                  </p:iterate>
                                  <p:childTnLst>
                                    <p:set>
                                      <p:cBhvr>
                                        <p:cTn id="60" fill="hold"/>
                                        <p:tgtEl>
                                          <p:spTgt spid="1041"/>
                                        </p:tgtEl>
                                        <p:attrNameLst>
                                          <p:attrName>style.visibility</p:attrName>
                                        </p:attrNameLst>
                                      </p:cBhvr>
                                      <p:to>
                                        <p:strVal val="visible"/>
                                      </p:to>
                                    </p:set>
                                    <p:anim calcmode="lin" valueType="num">
                                      <p:cBhvr>
                                        <p:cTn id="61" dur="250" fill="hold"/>
                                        <p:tgtEl>
                                          <p:spTgt spid="1041"/>
                                        </p:tgtEl>
                                        <p:attrNameLst>
                                          <p:attrName>ppt_x</p:attrName>
                                        </p:attrNameLst>
                                      </p:cBhvr>
                                      <p:tavLst>
                                        <p:tav tm="0">
                                          <p:val>
                                            <p:strVal val="1+#ppt_w/2"/>
                                          </p:val>
                                        </p:tav>
                                        <p:tav tm="100000">
                                          <p:val>
                                            <p:strVal val="#ppt_x"/>
                                          </p:val>
                                        </p:tav>
                                      </p:tavLst>
                                    </p:anim>
                                    <p:anim calcmode="lin" valueType="num">
                                      <p:cBhvr>
                                        <p:cTn id="62" dur="250" fill="hold"/>
                                        <p:tgtEl>
                                          <p:spTgt spid="1041"/>
                                        </p:tgtEl>
                                        <p:attrNameLst>
                                          <p:attrName>ppt_y</p:attrName>
                                        </p:attrNameLst>
                                      </p:cBhvr>
                                      <p:tavLst>
                                        <p:tav tm="0">
                                          <p:val>
                                            <p:strVal val="#ppt_y"/>
                                          </p:val>
                                        </p:tav>
                                        <p:tav tm="100000">
                                          <p:val>
                                            <p:strVal val="#ppt_y"/>
                                          </p:val>
                                        </p:tav>
                                      </p:tavLst>
                                    </p:anim>
                                  </p:childTnLst>
                                </p:cTn>
                              </p:par>
                            </p:childTnLst>
                          </p:cTn>
                        </p:par>
                        <p:par>
                          <p:cTn id="63" fill="hold">
                            <p:stCondLst>
                              <p:cond delay="2750"/>
                            </p:stCondLst>
                            <p:childTnLst>
                              <p:par>
                                <p:cTn id="64" presetID="2" presetClass="entr" presetSubtype="2" fill="hold" grpId="9" nodeType="afterEffect">
                                  <p:stCondLst>
                                    <p:cond delay="0"/>
                                  </p:stCondLst>
                                  <p:iterate>
                                    <p:tmAbs val="0"/>
                                  </p:iterate>
                                  <p:childTnLst>
                                    <p:set>
                                      <p:cBhvr>
                                        <p:cTn id="65" fill="hold"/>
                                        <p:tgtEl>
                                          <p:spTgt spid="1040"/>
                                        </p:tgtEl>
                                        <p:attrNameLst>
                                          <p:attrName>style.visibility</p:attrName>
                                        </p:attrNameLst>
                                      </p:cBhvr>
                                      <p:to>
                                        <p:strVal val="visible"/>
                                      </p:to>
                                    </p:set>
                                    <p:anim calcmode="lin" valueType="num">
                                      <p:cBhvr>
                                        <p:cTn id="66" dur="500" fill="hold"/>
                                        <p:tgtEl>
                                          <p:spTgt spid="1040"/>
                                        </p:tgtEl>
                                        <p:attrNameLst>
                                          <p:attrName>ppt_x</p:attrName>
                                        </p:attrNameLst>
                                      </p:cBhvr>
                                      <p:tavLst>
                                        <p:tav tm="0">
                                          <p:val>
                                            <p:strVal val="1+#ppt_w/2"/>
                                          </p:val>
                                        </p:tav>
                                        <p:tav tm="100000">
                                          <p:val>
                                            <p:strVal val="#ppt_x"/>
                                          </p:val>
                                        </p:tav>
                                      </p:tavLst>
                                    </p:anim>
                                    <p:anim calcmode="lin" valueType="num">
                                      <p:cBhvr>
                                        <p:cTn id="67" dur="500" fill="hold"/>
                                        <p:tgtEl>
                                          <p:spTgt spid="1040"/>
                                        </p:tgtEl>
                                        <p:attrNameLst>
                                          <p:attrName>ppt_y</p:attrName>
                                        </p:attrNameLst>
                                      </p:cBhvr>
                                      <p:tavLst>
                                        <p:tav tm="0">
                                          <p:val>
                                            <p:strVal val="#ppt_y"/>
                                          </p:val>
                                        </p:tav>
                                        <p:tav tm="100000">
                                          <p:val>
                                            <p:strVal val="#ppt_y"/>
                                          </p:val>
                                        </p:tav>
                                      </p:tavLst>
                                    </p:anim>
                                  </p:childTnLst>
                                </p:cTn>
                              </p:par>
                            </p:childTnLst>
                          </p:cTn>
                        </p:par>
                      </p:childTnLst>
                    </p:cTn>
                  </p:par>
                  <p:par>
                    <p:cTn id="68" fill="hold">
                      <p:stCondLst>
                        <p:cond delay="indefinite"/>
                      </p:stCondLst>
                      <p:childTnLst>
                        <p:par>
                          <p:cTn id="69" fill="hold">
                            <p:stCondLst>
                              <p:cond delay="0"/>
                            </p:stCondLst>
                            <p:childTnLst>
                              <p:par>
                                <p:cTn id="70" presetID="2" presetClass="entr" presetSubtype="8" fill="hold" grpId="11" nodeType="clickEffect">
                                  <p:stCondLst>
                                    <p:cond delay="0"/>
                                  </p:stCondLst>
                                  <p:iterate>
                                    <p:tmAbs val="0"/>
                                  </p:iterate>
                                  <p:childTnLst>
                                    <p:set>
                                      <p:cBhvr>
                                        <p:cTn id="71" fill="hold"/>
                                        <p:tgtEl>
                                          <p:spTgt spid="1048"/>
                                        </p:tgtEl>
                                        <p:attrNameLst>
                                          <p:attrName>style.visibility</p:attrName>
                                        </p:attrNameLst>
                                      </p:cBhvr>
                                      <p:to>
                                        <p:strVal val="visible"/>
                                      </p:to>
                                    </p:set>
                                    <p:anim calcmode="lin" valueType="num">
                                      <p:cBhvr>
                                        <p:cTn id="72" dur="250" fill="hold"/>
                                        <p:tgtEl>
                                          <p:spTgt spid="1048"/>
                                        </p:tgtEl>
                                        <p:attrNameLst>
                                          <p:attrName>ppt_x</p:attrName>
                                        </p:attrNameLst>
                                      </p:cBhvr>
                                      <p:tavLst>
                                        <p:tav tm="0">
                                          <p:val>
                                            <p:strVal val="0-#ppt_w/2"/>
                                          </p:val>
                                        </p:tav>
                                        <p:tav tm="100000">
                                          <p:val>
                                            <p:strVal val="#ppt_x"/>
                                          </p:val>
                                        </p:tav>
                                      </p:tavLst>
                                    </p:anim>
                                    <p:anim calcmode="lin" valueType="num">
                                      <p:cBhvr>
                                        <p:cTn id="73" dur="250" fill="hold"/>
                                        <p:tgtEl>
                                          <p:spTgt spid="1048"/>
                                        </p:tgtEl>
                                        <p:attrNameLst>
                                          <p:attrName>ppt_y</p:attrName>
                                        </p:attrNameLst>
                                      </p:cBhvr>
                                      <p:tavLst>
                                        <p:tav tm="0">
                                          <p:val>
                                            <p:strVal val="#ppt_y"/>
                                          </p:val>
                                        </p:tav>
                                        <p:tav tm="100000">
                                          <p:val>
                                            <p:strVal val="#ppt_y"/>
                                          </p:val>
                                        </p:tav>
                                      </p:tavLst>
                                    </p:anim>
                                  </p:childTnLst>
                                </p:cTn>
                              </p:par>
                              <p:par>
                                <p:cTn id="74" presetID="21" presetClass="entr" presetSubtype="1" fill="hold" nodeType="withEffect">
                                  <p:stCondLst>
                                    <p:cond delay="0"/>
                                  </p:stCondLst>
                                  <p:childTnLst>
                                    <p:set>
                                      <p:cBhvr>
                                        <p:cTn id="75" dur="1" fill="hold">
                                          <p:stCondLst>
                                            <p:cond delay="0"/>
                                          </p:stCondLst>
                                        </p:cTn>
                                        <p:tgtEl>
                                          <p:spTgt spid="18"/>
                                        </p:tgtEl>
                                        <p:attrNameLst>
                                          <p:attrName>style.visibility</p:attrName>
                                        </p:attrNameLst>
                                      </p:cBhvr>
                                      <p:to>
                                        <p:strVal val="visible"/>
                                      </p:to>
                                    </p:set>
                                    <p:animEffect transition="in" filter="wheel(1)">
                                      <p:cBhvr>
                                        <p:cTn id="76" dur="20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39" grpId="1" build="p" bldLvl="5" animBg="1" advAuto="0"/>
      <p:bldP spid="1040" grpId="9" animBg="1" advAuto="0"/>
      <p:bldP spid="1041" grpId="8" animBg="1" advAuto="0"/>
      <p:bldP spid="1042" grpId="3" animBg="1" advAuto="0"/>
      <p:bldP spid="1043" grpId="4" animBg="1" advAuto="0"/>
      <p:bldP spid="1044" grpId="6" animBg="1" advAuto="0"/>
      <p:bldP spid="1045" grpId="2" animBg="1" advAuto="0"/>
      <p:bldP spid="1046" grpId="5" animBg="1" advAuto="0"/>
      <p:bldP spid="1047" grpId="7" animBg="1" advAuto="0"/>
      <p:bldP spid="1048" grpId="11" animBg="1" advAuto="0"/>
      <p:bldP spid="17" grpId="0" animBg="1" advAuto="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5" name="Content Placeholder 1"/>
          <p:cNvSpPr txBox="1">
            <a:spLocks noGrp="1"/>
          </p:cNvSpPr>
          <p:nvPr>
            <p:ph type="body" idx="1"/>
          </p:nvPr>
        </p:nvSpPr>
        <p:spPr>
          <a:prstGeom prst="rect">
            <a:avLst/>
          </a:prstGeom>
        </p:spPr>
        <p:txBody>
          <a:bodyPr/>
          <a:lstStyle/>
          <a:p>
            <a:pPr>
              <a:buSzTx/>
              <a:buNone/>
            </a:pPr>
            <a:r>
              <a:rPr dirty="0"/>
              <a:t>Why Zero-Copy?</a:t>
            </a:r>
          </a:p>
          <a:p>
            <a:pPr marL="914400" lvl="1" indent="-457200">
              <a:lnSpc>
                <a:spcPct val="250000"/>
              </a:lnSpc>
              <a:spcBef>
                <a:spcPts val="300"/>
              </a:spcBef>
              <a:buClr>
                <a:srgbClr val="3F3F3F"/>
              </a:buClr>
              <a:buFontTx/>
              <a:buAutoNum type="arabicPeriod"/>
              <a:defRPr sz="1800">
                <a:solidFill>
                  <a:srgbClr val="52862F"/>
                </a:solidFill>
              </a:defRPr>
            </a:pPr>
            <a:r>
              <a:rPr dirty="0"/>
              <a:t>Performance</a:t>
            </a:r>
          </a:p>
          <a:p>
            <a:pPr marL="914400" lvl="1" indent="-457200">
              <a:lnSpc>
                <a:spcPct val="250000"/>
              </a:lnSpc>
              <a:spcBef>
                <a:spcPts val="300"/>
              </a:spcBef>
              <a:buClr>
                <a:srgbClr val="3F3F3F"/>
              </a:buClr>
              <a:buFontTx/>
              <a:buAutoNum type="arabicPeriod"/>
              <a:defRPr sz="1800">
                <a:solidFill>
                  <a:srgbClr val="52862F"/>
                </a:solidFill>
              </a:defRPr>
            </a:pPr>
            <a:r>
              <a:rPr dirty="0"/>
              <a:t>Performance</a:t>
            </a:r>
            <a:r>
              <a:rPr dirty="0">
                <a:solidFill>
                  <a:srgbClr val="3F3F3F"/>
                </a:solidFill>
              </a:rPr>
              <a:t> </a:t>
            </a:r>
          </a:p>
          <a:p>
            <a:pPr marL="914400" lvl="1" indent="-457200">
              <a:lnSpc>
                <a:spcPct val="250000"/>
              </a:lnSpc>
              <a:spcBef>
                <a:spcPts val="300"/>
              </a:spcBef>
              <a:buClr>
                <a:srgbClr val="3F3F3F"/>
              </a:buClr>
              <a:buFontTx/>
              <a:buAutoNum type="arabicPeriod"/>
              <a:defRPr sz="1800">
                <a:solidFill>
                  <a:srgbClr val="52862F"/>
                </a:solidFill>
              </a:defRPr>
            </a:pPr>
            <a:r>
              <a:rPr dirty="0"/>
              <a:t>Performance</a:t>
            </a:r>
          </a:p>
        </p:txBody>
      </p:sp>
      <p:sp>
        <p:nvSpPr>
          <p:cNvPr id="1054" name="TextBox 8"/>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
        <p:nvSpPr>
          <p:cNvPr id="1057" name="Title 3"/>
          <p:cNvSpPr txBox="1">
            <a:spLocks noGrp="1"/>
          </p:cNvSpPr>
          <p:nvPr>
            <p:ph type="title"/>
          </p:nvPr>
        </p:nvSpPr>
        <p:spPr>
          <a:prstGeom prst="rect">
            <a:avLst/>
          </a:prstGeom>
        </p:spPr>
        <p:txBody>
          <a:bodyPr>
            <a:noAutofit/>
          </a:bodyPr>
          <a:lstStyle>
            <a:lvl1pPr defTabSz="822959">
              <a:defRPr sz="2520"/>
            </a:lvl1pPr>
          </a:lstStyle>
          <a:p>
            <a:r>
              <a:rPr sz="2800" dirty="0"/>
              <a:t>Zero-Copy Network I/O</a:t>
            </a:r>
          </a:p>
        </p:txBody>
      </p:sp>
      <p:sp>
        <p:nvSpPr>
          <p:cNvPr id="1056" name="Subtitle 2"/>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t>The Holy Grail</a:t>
            </a:r>
          </a:p>
        </p:txBody>
      </p:sp>
      <p:sp>
        <p:nvSpPr>
          <p:cNvPr id="1058" name="TextBox 4"/>
          <p:cNvSpPr txBox="1"/>
          <p:nvPr/>
        </p:nvSpPr>
        <p:spPr>
          <a:xfrm>
            <a:off x="3230331" y="2626523"/>
            <a:ext cx="2829546" cy="469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spcBef>
                <a:spcPts val="600"/>
              </a:spcBef>
              <a:defRPr sz="1400"/>
            </a:lvl1pPr>
          </a:lstStyle>
          <a:p>
            <a:r>
              <a:rPr dirty="0"/>
              <a:t>70% CPU spent on copy operations</a:t>
            </a:r>
          </a:p>
        </p:txBody>
      </p:sp>
      <p:sp>
        <p:nvSpPr>
          <p:cNvPr id="1059" name="TextBox 5"/>
          <p:cNvSpPr txBox="1"/>
          <p:nvPr/>
        </p:nvSpPr>
        <p:spPr>
          <a:xfrm>
            <a:off x="3230331" y="3283949"/>
            <a:ext cx="1633650" cy="469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spcBef>
                <a:spcPts val="600"/>
              </a:spcBef>
              <a:defRPr sz="1400"/>
            </a:lvl1pPr>
          </a:lstStyle>
          <a:p>
            <a:r>
              <a:t>Cache line thrashing</a:t>
            </a:r>
          </a:p>
        </p:txBody>
      </p:sp>
      <p:sp>
        <p:nvSpPr>
          <p:cNvPr id="1060" name="TextBox 6"/>
          <p:cNvSpPr txBox="1"/>
          <p:nvPr/>
        </p:nvSpPr>
        <p:spPr>
          <a:xfrm>
            <a:off x="3279903" y="4054368"/>
            <a:ext cx="1534506" cy="469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spcBef>
                <a:spcPts val="600"/>
              </a:spcBef>
              <a:defRPr sz="1400"/>
            </a:lvl1pPr>
          </a:lstStyle>
          <a:p>
            <a:r>
              <a:t>Memory Bandwidth</a:t>
            </a: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1055">
                                            <p:txEl>
                                              <p:pRg st="1" end="1"/>
                                            </p:txEl>
                                          </p:spTgt>
                                        </p:tgtEl>
                                        <p:attrNameLst>
                                          <p:attrName>style.visibility</p:attrName>
                                        </p:attrNameLst>
                                      </p:cBhvr>
                                      <p:to>
                                        <p:strVal val="visible"/>
                                      </p:to>
                                    </p:set>
                                    <p:animEffect transition="in" filter="wipe(left)">
                                      <p:cBhvr>
                                        <p:cTn id="7" dur="250"/>
                                        <p:tgtEl>
                                          <p:spTgt spid="1055">
                                            <p:txEl>
                                              <p:pRg st="1" end="1"/>
                                            </p:txEl>
                                          </p:spTgt>
                                        </p:tgtEl>
                                      </p:cBhvr>
                                    </p:animEffect>
                                  </p:childTnLst>
                                </p:cTn>
                              </p:par>
                            </p:childTnLst>
                          </p:cTn>
                        </p:par>
                        <p:par>
                          <p:cTn id="8" fill="hold">
                            <p:stCondLst>
                              <p:cond delay="250"/>
                            </p:stCondLst>
                            <p:childTnLst>
                              <p:par>
                                <p:cTn id="9" presetID="22" presetClass="entr" presetSubtype="4" fill="hold" grpId="2" nodeType="afterEffect">
                                  <p:stCondLst>
                                    <p:cond delay="0"/>
                                  </p:stCondLst>
                                  <p:iterate>
                                    <p:tmAbs val="0"/>
                                  </p:iterate>
                                  <p:childTnLst>
                                    <p:set>
                                      <p:cBhvr>
                                        <p:cTn id="10" fill="hold"/>
                                        <p:tgtEl>
                                          <p:spTgt spid="1058"/>
                                        </p:tgtEl>
                                        <p:attrNameLst>
                                          <p:attrName>style.visibility</p:attrName>
                                        </p:attrNameLst>
                                      </p:cBhvr>
                                      <p:to>
                                        <p:strVal val="visible"/>
                                      </p:to>
                                    </p:set>
                                    <p:animEffect transition="in" filter="wipe(down)">
                                      <p:cBhvr>
                                        <p:cTn id="11" dur="500"/>
                                        <p:tgtEl>
                                          <p:spTgt spid="1058"/>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1" nodeType="clickEffect">
                                  <p:stCondLst>
                                    <p:cond delay="0"/>
                                  </p:stCondLst>
                                  <p:iterate>
                                    <p:tmAbs val="0"/>
                                  </p:iterate>
                                  <p:childTnLst>
                                    <p:set>
                                      <p:cBhvr>
                                        <p:cTn id="15" fill="hold"/>
                                        <p:tgtEl>
                                          <p:spTgt spid="1055">
                                            <p:txEl>
                                              <p:pRg st="2" end="2"/>
                                            </p:txEl>
                                          </p:spTgt>
                                        </p:tgtEl>
                                        <p:attrNameLst>
                                          <p:attrName>style.visibility</p:attrName>
                                        </p:attrNameLst>
                                      </p:cBhvr>
                                      <p:to>
                                        <p:strVal val="visible"/>
                                      </p:to>
                                    </p:set>
                                    <p:animEffect transition="in" filter="wipe(left)">
                                      <p:cBhvr>
                                        <p:cTn id="16" dur="250"/>
                                        <p:tgtEl>
                                          <p:spTgt spid="1055">
                                            <p:txEl>
                                              <p:pRg st="2" end="2"/>
                                            </p:txEl>
                                          </p:spTgt>
                                        </p:tgtEl>
                                      </p:cBhvr>
                                    </p:animEffect>
                                  </p:childTnLst>
                                </p:cTn>
                              </p:par>
                            </p:childTnLst>
                          </p:cTn>
                        </p:par>
                        <p:par>
                          <p:cTn id="17" fill="hold">
                            <p:stCondLst>
                              <p:cond delay="250"/>
                            </p:stCondLst>
                            <p:childTnLst>
                              <p:par>
                                <p:cTn id="18" presetID="22" presetClass="entr" presetSubtype="4" fill="hold" grpId="3" nodeType="afterEffect">
                                  <p:stCondLst>
                                    <p:cond delay="0"/>
                                  </p:stCondLst>
                                  <p:iterate>
                                    <p:tmAbs val="0"/>
                                  </p:iterate>
                                  <p:childTnLst>
                                    <p:set>
                                      <p:cBhvr>
                                        <p:cTn id="19" fill="hold"/>
                                        <p:tgtEl>
                                          <p:spTgt spid="1059"/>
                                        </p:tgtEl>
                                        <p:attrNameLst>
                                          <p:attrName>style.visibility</p:attrName>
                                        </p:attrNameLst>
                                      </p:cBhvr>
                                      <p:to>
                                        <p:strVal val="visible"/>
                                      </p:to>
                                    </p:set>
                                    <p:animEffect transition="in" filter="wipe(down)">
                                      <p:cBhvr>
                                        <p:cTn id="20" dur="500"/>
                                        <p:tgtEl>
                                          <p:spTgt spid="1059"/>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1" nodeType="clickEffect">
                                  <p:stCondLst>
                                    <p:cond delay="0"/>
                                  </p:stCondLst>
                                  <p:iterate>
                                    <p:tmAbs val="0"/>
                                  </p:iterate>
                                  <p:childTnLst>
                                    <p:set>
                                      <p:cBhvr>
                                        <p:cTn id="24" fill="hold"/>
                                        <p:tgtEl>
                                          <p:spTgt spid="1055">
                                            <p:txEl>
                                              <p:pRg st="3" end="3"/>
                                            </p:txEl>
                                          </p:spTgt>
                                        </p:tgtEl>
                                        <p:attrNameLst>
                                          <p:attrName>style.visibility</p:attrName>
                                        </p:attrNameLst>
                                      </p:cBhvr>
                                      <p:to>
                                        <p:strVal val="visible"/>
                                      </p:to>
                                    </p:set>
                                    <p:animEffect transition="in" filter="wipe(left)">
                                      <p:cBhvr>
                                        <p:cTn id="25" dur="250"/>
                                        <p:tgtEl>
                                          <p:spTgt spid="1055">
                                            <p:txEl>
                                              <p:pRg st="3" end="3"/>
                                            </p:txEl>
                                          </p:spTgt>
                                        </p:tgtEl>
                                      </p:cBhvr>
                                    </p:animEffect>
                                  </p:childTnLst>
                                </p:cTn>
                              </p:par>
                            </p:childTnLst>
                          </p:cTn>
                        </p:par>
                        <p:par>
                          <p:cTn id="26" fill="hold">
                            <p:stCondLst>
                              <p:cond delay="250"/>
                            </p:stCondLst>
                            <p:childTnLst>
                              <p:par>
                                <p:cTn id="27" presetID="22" presetClass="entr" presetSubtype="4" fill="hold" grpId="4" nodeType="afterEffect">
                                  <p:stCondLst>
                                    <p:cond delay="0"/>
                                  </p:stCondLst>
                                  <p:iterate>
                                    <p:tmAbs val="0"/>
                                  </p:iterate>
                                  <p:childTnLst>
                                    <p:set>
                                      <p:cBhvr>
                                        <p:cTn id="28" fill="hold"/>
                                        <p:tgtEl>
                                          <p:spTgt spid="1060"/>
                                        </p:tgtEl>
                                        <p:attrNameLst>
                                          <p:attrName>style.visibility</p:attrName>
                                        </p:attrNameLst>
                                      </p:cBhvr>
                                      <p:to>
                                        <p:strVal val="visible"/>
                                      </p:to>
                                    </p:set>
                                    <p:animEffect transition="in" filter="wipe(down)">
                                      <p:cBhvr>
                                        <p:cTn id="29" dur="500"/>
                                        <p:tgtEl>
                                          <p:spTgt spid="10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55" grpId="1" uiExpand="1" build="p" bldLvl="5" animBg="1" advAuto="0"/>
      <p:bldP spid="1058" grpId="2" animBg="1" advAuto="0"/>
      <p:bldP spid="1059" grpId="3" animBg="1" advAuto="0"/>
      <p:bldP spid="1060" grpId="4" animBg="1" advAuto="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 name="Content Placeholder 1"/>
          <p:cNvSpPr txBox="1">
            <a:spLocks noGrp="1"/>
          </p:cNvSpPr>
          <p:nvPr>
            <p:ph type="body" idx="1"/>
          </p:nvPr>
        </p:nvSpPr>
        <p:spPr>
          <a:prstGeom prst="rect">
            <a:avLst/>
          </a:prstGeom>
        </p:spPr>
        <p:txBody>
          <a:bodyPr>
            <a:normAutofit/>
          </a:bodyPr>
          <a:lstStyle/>
          <a:p>
            <a:r>
              <a:t>The Problem: </a:t>
            </a:r>
          </a:p>
          <a:p>
            <a:pPr marL="273050" lvl="1" indent="0">
              <a:buChar char="​"/>
            </a:pPr>
            <a:r>
              <a:t>Network packet arrival order is </a:t>
            </a:r>
            <a:r>
              <a:rPr u="sng">
                <a:solidFill>
                  <a:schemeClr val="accent4">
                    <a:lumOff val="-9490"/>
                  </a:schemeClr>
                </a:solidFill>
              </a:rPr>
              <a:t>random</a:t>
            </a:r>
            <a:r>
              <a:rPr>
                <a:solidFill>
                  <a:schemeClr val="accent4">
                    <a:lumOff val="-9490"/>
                  </a:schemeClr>
                </a:solidFill>
              </a:rPr>
              <a:t>!</a:t>
            </a:r>
          </a:p>
          <a:p>
            <a:pPr marL="775368" lvl="1" indent="-267368">
              <a:buClrTx/>
              <a:buSzPct val="100000"/>
              <a:buFontTx/>
              <a:buAutoNum type="arabicPeriod"/>
            </a:pPr>
            <a:r>
              <a:rPr>
                <a:solidFill>
                  <a:schemeClr val="accent4">
                    <a:lumOff val="-9490"/>
                  </a:schemeClr>
                </a:solidFill>
              </a:rPr>
              <a:t>Kernel</a:t>
            </a:r>
            <a:r>
              <a:t> provides memory for I/O</a:t>
            </a:r>
          </a:p>
          <a:p>
            <a:pPr marL="775368" lvl="1" indent="-267368">
              <a:buClrTx/>
              <a:buSzPct val="100000"/>
              <a:buFontTx/>
              <a:buAutoNum type="arabicPeriod"/>
            </a:pPr>
            <a:r>
              <a:t>Packet Arrives</a:t>
            </a:r>
          </a:p>
          <a:p>
            <a:pPr marL="775368" lvl="1" indent="-267368">
              <a:buClrTx/>
              <a:buSzPct val="100000"/>
              <a:buFontTx/>
              <a:buAutoNum type="arabicPeriod"/>
            </a:pPr>
            <a:r>
              <a:t>Data </a:t>
            </a:r>
            <a:r>
              <a:rPr i="1">
                <a:solidFill>
                  <a:schemeClr val="accent2">
                    <a:satOff val="-68894"/>
                    <a:lumOff val="38137"/>
                  </a:schemeClr>
                </a:solidFill>
              </a:rPr>
              <a:t>copied</a:t>
            </a:r>
            <a:r>
              <a:t> to correct process. </a:t>
            </a:r>
          </a:p>
          <a:p>
            <a:pPr marL="0" lvl="1" indent="228600">
              <a:buClrTx/>
              <a:buSzTx/>
              <a:buFontTx/>
              <a:buNone/>
            </a:pPr>
            <a:r>
              <a:t>Storage\GPU\etc… data arrival order is </a:t>
            </a:r>
            <a:r>
              <a:rPr u="sng">
                <a:solidFill>
                  <a:schemeClr val="accent1">
                    <a:lumOff val="-8274"/>
                  </a:schemeClr>
                </a:solidFill>
              </a:rPr>
              <a:t>known</a:t>
            </a:r>
            <a:r>
              <a:rPr>
                <a:solidFill>
                  <a:schemeClr val="accent1">
                    <a:lumOff val="-8274"/>
                  </a:schemeClr>
                </a:solidFill>
              </a:rPr>
              <a:t>.</a:t>
            </a:r>
          </a:p>
          <a:p>
            <a:pPr marL="775368" lvl="1" indent="-267368">
              <a:buClrTx/>
              <a:buSzPct val="100000"/>
              <a:buFontTx/>
              <a:buAutoNum type="arabicPeriod"/>
            </a:pPr>
            <a:r>
              <a:t>Process asks for I/O</a:t>
            </a:r>
          </a:p>
          <a:p>
            <a:pPr marL="775368" lvl="1" indent="-267368">
              <a:buClrTx/>
              <a:buSzPct val="100000"/>
              <a:buFontTx/>
              <a:buAutoNum type="arabicPeriod"/>
            </a:pPr>
            <a:r>
              <a:rPr>
                <a:solidFill>
                  <a:schemeClr val="accent1">
                    <a:lumOff val="-8274"/>
                  </a:schemeClr>
                </a:solidFill>
              </a:rPr>
              <a:t>User</a:t>
            </a:r>
            <a:r>
              <a:t> provides buffer</a:t>
            </a:r>
          </a:p>
          <a:p>
            <a:pPr marL="775368" lvl="1" indent="-267368">
              <a:buClrTx/>
              <a:buSzPct val="100000"/>
              <a:buFontTx/>
              <a:buAutoNum type="arabicPeriod"/>
            </a:pPr>
            <a:r>
              <a:t>Data arrives</a:t>
            </a:r>
          </a:p>
        </p:txBody>
      </p:sp>
      <p:sp>
        <p:nvSpPr>
          <p:cNvPr id="1064" name="TextBox 8"/>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4</a:t>
            </a:fld>
            <a:endParaRPr/>
          </a:p>
        </p:txBody>
      </p:sp>
      <p:sp>
        <p:nvSpPr>
          <p:cNvPr id="1067" name="Title 3"/>
          <p:cNvSpPr txBox="1">
            <a:spLocks noGrp="1"/>
          </p:cNvSpPr>
          <p:nvPr>
            <p:ph type="title"/>
          </p:nvPr>
        </p:nvSpPr>
        <p:spPr>
          <a:prstGeom prst="rect">
            <a:avLst/>
          </a:prstGeom>
        </p:spPr>
        <p:txBody>
          <a:bodyPr>
            <a:noAutofit/>
          </a:bodyPr>
          <a:lstStyle>
            <a:lvl1pPr defTabSz="822959">
              <a:defRPr sz="2520"/>
            </a:lvl1pPr>
          </a:lstStyle>
          <a:p>
            <a:r>
              <a:rPr sz="2800" dirty="0"/>
              <a:t>Zero-Copy Network I/O</a:t>
            </a:r>
          </a:p>
        </p:txBody>
      </p:sp>
      <p:sp>
        <p:nvSpPr>
          <p:cNvPr id="1066" name="Subtitle 2"/>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rPr lang="en-US" dirty="0"/>
              <a:t>Why copy?</a:t>
            </a:r>
            <a:endParaRPr dirty="0"/>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1065">
                                            <p:bg/>
                                          </p:spTgt>
                                        </p:tgtEl>
                                        <p:attrNameLst>
                                          <p:attrName>style.visibility</p:attrName>
                                        </p:attrNameLst>
                                      </p:cBhvr>
                                      <p:to>
                                        <p:strVal val="visible"/>
                                      </p:to>
                                    </p:set>
                                    <p:animEffect transition="in" filter="wipe(left)">
                                      <p:cBhvr>
                                        <p:cTn id="7" dur="300"/>
                                        <p:tgtEl>
                                          <p:spTgt spid="1065">
                                            <p:bg/>
                                          </p:spTgt>
                                        </p:tgtEl>
                                      </p:cBhvr>
                                    </p:animEffect>
                                  </p:childTnLst>
                                </p:cTn>
                              </p:par>
                              <p:par>
                                <p:cTn id="8" presetID="22" presetClass="entr" presetSubtype="8" fill="hold" grpId="1" nodeType="withEffect">
                                  <p:stCondLst>
                                    <p:cond delay="0"/>
                                  </p:stCondLst>
                                  <p:iterate>
                                    <p:tmAbs val="0"/>
                                  </p:iterate>
                                  <p:childTnLst>
                                    <p:set>
                                      <p:cBhvr>
                                        <p:cTn id="9" fill="hold"/>
                                        <p:tgtEl>
                                          <p:spTgt spid="1065">
                                            <p:txEl>
                                              <p:pRg st="0" end="0"/>
                                            </p:txEl>
                                          </p:spTgt>
                                        </p:tgtEl>
                                        <p:attrNameLst>
                                          <p:attrName>style.visibility</p:attrName>
                                        </p:attrNameLst>
                                      </p:cBhvr>
                                      <p:to>
                                        <p:strVal val="visible"/>
                                      </p:to>
                                    </p:set>
                                    <p:animEffect transition="in" filter="wipe(left)">
                                      <p:cBhvr>
                                        <p:cTn id="10" dur="300"/>
                                        <p:tgtEl>
                                          <p:spTgt spid="106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1" nodeType="clickEffect">
                                  <p:stCondLst>
                                    <p:cond delay="0"/>
                                  </p:stCondLst>
                                  <p:iterate>
                                    <p:tmAbs val="0"/>
                                  </p:iterate>
                                  <p:childTnLst>
                                    <p:set>
                                      <p:cBhvr>
                                        <p:cTn id="14" fill="hold"/>
                                        <p:tgtEl>
                                          <p:spTgt spid="1065">
                                            <p:txEl>
                                              <p:pRg st="1" end="1"/>
                                            </p:txEl>
                                          </p:spTgt>
                                        </p:tgtEl>
                                        <p:attrNameLst>
                                          <p:attrName>style.visibility</p:attrName>
                                        </p:attrNameLst>
                                      </p:cBhvr>
                                      <p:to>
                                        <p:strVal val="visible"/>
                                      </p:to>
                                    </p:set>
                                    <p:animEffect transition="in" filter="wipe(left)">
                                      <p:cBhvr>
                                        <p:cTn id="15" dur="300"/>
                                        <p:tgtEl>
                                          <p:spTgt spid="106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1" nodeType="clickEffect">
                                  <p:stCondLst>
                                    <p:cond delay="0"/>
                                  </p:stCondLst>
                                  <p:iterate>
                                    <p:tmAbs val="0"/>
                                  </p:iterate>
                                  <p:childTnLst>
                                    <p:set>
                                      <p:cBhvr>
                                        <p:cTn id="19" fill="hold"/>
                                        <p:tgtEl>
                                          <p:spTgt spid="1065">
                                            <p:txEl>
                                              <p:pRg st="2" end="2"/>
                                            </p:txEl>
                                          </p:spTgt>
                                        </p:tgtEl>
                                        <p:attrNameLst>
                                          <p:attrName>style.visibility</p:attrName>
                                        </p:attrNameLst>
                                      </p:cBhvr>
                                      <p:to>
                                        <p:strVal val="visible"/>
                                      </p:to>
                                    </p:set>
                                    <p:animEffect transition="in" filter="wipe(left)">
                                      <p:cBhvr>
                                        <p:cTn id="20" dur="300"/>
                                        <p:tgtEl>
                                          <p:spTgt spid="106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1" nodeType="clickEffect">
                                  <p:stCondLst>
                                    <p:cond delay="0"/>
                                  </p:stCondLst>
                                  <p:iterate>
                                    <p:tmAbs val="0"/>
                                  </p:iterate>
                                  <p:childTnLst>
                                    <p:set>
                                      <p:cBhvr>
                                        <p:cTn id="24" fill="hold"/>
                                        <p:tgtEl>
                                          <p:spTgt spid="1065">
                                            <p:txEl>
                                              <p:pRg st="3" end="3"/>
                                            </p:txEl>
                                          </p:spTgt>
                                        </p:tgtEl>
                                        <p:attrNameLst>
                                          <p:attrName>style.visibility</p:attrName>
                                        </p:attrNameLst>
                                      </p:cBhvr>
                                      <p:to>
                                        <p:strVal val="visible"/>
                                      </p:to>
                                    </p:set>
                                    <p:animEffect transition="in" filter="wipe(left)">
                                      <p:cBhvr>
                                        <p:cTn id="25" dur="300"/>
                                        <p:tgtEl>
                                          <p:spTgt spid="106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1" nodeType="clickEffect">
                                  <p:stCondLst>
                                    <p:cond delay="0"/>
                                  </p:stCondLst>
                                  <p:iterate>
                                    <p:tmAbs val="0"/>
                                  </p:iterate>
                                  <p:childTnLst>
                                    <p:set>
                                      <p:cBhvr>
                                        <p:cTn id="29" fill="hold"/>
                                        <p:tgtEl>
                                          <p:spTgt spid="1065">
                                            <p:txEl>
                                              <p:pRg st="4" end="4"/>
                                            </p:txEl>
                                          </p:spTgt>
                                        </p:tgtEl>
                                        <p:attrNameLst>
                                          <p:attrName>style.visibility</p:attrName>
                                        </p:attrNameLst>
                                      </p:cBhvr>
                                      <p:to>
                                        <p:strVal val="visible"/>
                                      </p:to>
                                    </p:set>
                                    <p:animEffect transition="in" filter="wipe(left)">
                                      <p:cBhvr>
                                        <p:cTn id="30" dur="300"/>
                                        <p:tgtEl>
                                          <p:spTgt spid="1065">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1" nodeType="clickEffect">
                                  <p:stCondLst>
                                    <p:cond delay="0"/>
                                  </p:stCondLst>
                                  <p:iterate>
                                    <p:tmAbs val="0"/>
                                  </p:iterate>
                                  <p:childTnLst>
                                    <p:set>
                                      <p:cBhvr>
                                        <p:cTn id="34" fill="hold"/>
                                        <p:tgtEl>
                                          <p:spTgt spid="1065">
                                            <p:txEl>
                                              <p:pRg st="5" end="5"/>
                                            </p:txEl>
                                          </p:spTgt>
                                        </p:tgtEl>
                                        <p:attrNameLst>
                                          <p:attrName>style.visibility</p:attrName>
                                        </p:attrNameLst>
                                      </p:cBhvr>
                                      <p:to>
                                        <p:strVal val="visible"/>
                                      </p:to>
                                    </p:set>
                                    <p:animEffect transition="in" filter="wipe(left)">
                                      <p:cBhvr>
                                        <p:cTn id="35" dur="300"/>
                                        <p:tgtEl>
                                          <p:spTgt spid="1065">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1" nodeType="clickEffect">
                                  <p:stCondLst>
                                    <p:cond delay="0"/>
                                  </p:stCondLst>
                                  <p:iterate>
                                    <p:tmAbs val="0"/>
                                  </p:iterate>
                                  <p:childTnLst>
                                    <p:set>
                                      <p:cBhvr>
                                        <p:cTn id="39" fill="hold"/>
                                        <p:tgtEl>
                                          <p:spTgt spid="1065">
                                            <p:txEl>
                                              <p:pRg st="6" end="6"/>
                                            </p:txEl>
                                          </p:spTgt>
                                        </p:tgtEl>
                                        <p:attrNameLst>
                                          <p:attrName>style.visibility</p:attrName>
                                        </p:attrNameLst>
                                      </p:cBhvr>
                                      <p:to>
                                        <p:strVal val="visible"/>
                                      </p:to>
                                    </p:set>
                                    <p:animEffect transition="in" filter="wipe(left)">
                                      <p:cBhvr>
                                        <p:cTn id="40" dur="300"/>
                                        <p:tgtEl>
                                          <p:spTgt spid="1065">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1" nodeType="clickEffect">
                                  <p:stCondLst>
                                    <p:cond delay="0"/>
                                  </p:stCondLst>
                                  <p:iterate>
                                    <p:tmAbs val="0"/>
                                  </p:iterate>
                                  <p:childTnLst>
                                    <p:set>
                                      <p:cBhvr>
                                        <p:cTn id="44" fill="hold"/>
                                        <p:tgtEl>
                                          <p:spTgt spid="1065">
                                            <p:txEl>
                                              <p:pRg st="7" end="7"/>
                                            </p:txEl>
                                          </p:spTgt>
                                        </p:tgtEl>
                                        <p:attrNameLst>
                                          <p:attrName>style.visibility</p:attrName>
                                        </p:attrNameLst>
                                      </p:cBhvr>
                                      <p:to>
                                        <p:strVal val="visible"/>
                                      </p:to>
                                    </p:set>
                                    <p:animEffect transition="in" filter="wipe(left)">
                                      <p:cBhvr>
                                        <p:cTn id="45" dur="300"/>
                                        <p:tgtEl>
                                          <p:spTgt spid="1065">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1" nodeType="clickEffect">
                                  <p:stCondLst>
                                    <p:cond delay="0"/>
                                  </p:stCondLst>
                                  <p:iterate>
                                    <p:tmAbs val="0"/>
                                  </p:iterate>
                                  <p:childTnLst>
                                    <p:set>
                                      <p:cBhvr>
                                        <p:cTn id="49" fill="hold"/>
                                        <p:tgtEl>
                                          <p:spTgt spid="1065">
                                            <p:txEl>
                                              <p:pRg st="8" end="8"/>
                                            </p:txEl>
                                          </p:spTgt>
                                        </p:tgtEl>
                                        <p:attrNameLst>
                                          <p:attrName>style.visibility</p:attrName>
                                        </p:attrNameLst>
                                      </p:cBhvr>
                                      <p:to>
                                        <p:strVal val="visible"/>
                                      </p:to>
                                    </p:set>
                                    <p:animEffect transition="in" filter="wipe(left)">
                                      <p:cBhvr>
                                        <p:cTn id="50" dur="300"/>
                                        <p:tgtEl>
                                          <p:spTgt spid="106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5" grpId="1" build="p" bldLvl="5" animBg="1" advAuto="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2" name="Content Placeholder 1"/>
          <p:cNvSpPr txBox="1">
            <a:spLocks noGrp="1"/>
          </p:cNvSpPr>
          <p:nvPr>
            <p:ph type="body" idx="1"/>
          </p:nvPr>
        </p:nvSpPr>
        <p:spPr>
          <a:prstGeom prst="rect">
            <a:avLst/>
          </a:prstGeom>
        </p:spPr>
        <p:txBody>
          <a:bodyPr/>
          <a:lstStyle/>
          <a:p>
            <a:r>
              <a:rPr lang="en-US" dirty="0"/>
              <a:t>Challenges posed</a:t>
            </a:r>
            <a:r>
              <a:rPr dirty="0"/>
              <a:t>:</a:t>
            </a:r>
          </a:p>
          <a:p>
            <a:pPr marL="914400" lvl="1" indent="-457200">
              <a:lnSpc>
                <a:spcPct val="250000"/>
              </a:lnSpc>
              <a:spcBef>
                <a:spcPts val="300"/>
              </a:spcBef>
              <a:buClr>
                <a:srgbClr val="3F3F3F"/>
              </a:buClr>
              <a:buFontTx/>
              <a:buAutoNum type="arabicPeriod"/>
              <a:defRPr sz="1800">
                <a:solidFill>
                  <a:srgbClr val="820024"/>
                </a:solidFill>
              </a:defRPr>
            </a:pPr>
            <a:r>
              <a:rPr dirty="0"/>
              <a:t>Isolation</a:t>
            </a:r>
          </a:p>
          <a:p>
            <a:pPr marL="914400" lvl="1" indent="-457200">
              <a:lnSpc>
                <a:spcPct val="250000"/>
              </a:lnSpc>
              <a:spcBef>
                <a:spcPts val="300"/>
              </a:spcBef>
              <a:buClr>
                <a:srgbClr val="3F3F3F"/>
              </a:buClr>
              <a:buFontTx/>
              <a:buAutoNum type="arabicPeriod"/>
              <a:defRPr sz="1800">
                <a:solidFill>
                  <a:srgbClr val="820024"/>
                </a:solidFill>
              </a:defRPr>
            </a:pPr>
            <a:r>
              <a:rPr dirty="0"/>
              <a:t>Isolation</a:t>
            </a:r>
          </a:p>
          <a:p>
            <a:pPr marL="914400" lvl="1" indent="-457200">
              <a:lnSpc>
                <a:spcPct val="250000"/>
              </a:lnSpc>
              <a:spcBef>
                <a:spcPts val="300"/>
              </a:spcBef>
              <a:buClr>
                <a:srgbClr val="3F3F3F"/>
              </a:buClr>
              <a:buFontTx/>
              <a:buAutoNum type="arabicPeriod"/>
              <a:defRPr sz="1800">
                <a:solidFill>
                  <a:srgbClr val="820024"/>
                </a:solidFill>
              </a:defRPr>
            </a:pPr>
            <a:r>
              <a:rPr dirty="0"/>
              <a:t>Isolation</a:t>
            </a:r>
          </a:p>
        </p:txBody>
      </p:sp>
      <p:sp>
        <p:nvSpPr>
          <p:cNvPr id="1071" name="TextBox 8"/>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1074" name="Title 3"/>
          <p:cNvSpPr txBox="1">
            <a:spLocks noGrp="1"/>
          </p:cNvSpPr>
          <p:nvPr>
            <p:ph type="title"/>
          </p:nvPr>
        </p:nvSpPr>
        <p:spPr>
          <a:prstGeom prst="rect">
            <a:avLst/>
          </a:prstGeom>
        </p:spPr>
        <p:txBody>
          <a:bodyPr>
            <a:noAutofit/>
          </a:bodyPr>
          <a:lstStyle>
            <a:lvl1pPr defTabSz="822959">
              <a:defRPr sz="2520"/>
            </a:lvl1pPr>
          </a:lstStyle>
          <a:p>
            <a:r>
              <a:rPr sz="2800" dirty="0"/>
              <a:t>Zero-Copy Network I/O</a:t>
            </a:r>
          </a:p>
        </p:txBody>
      </p:sp>
      <p:sp>
        <p:nvSpPr>
          <p:cNvPr id="1073" name="Subtitle 2"/>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t>Challenges</a:t>
            </a:r>
          </a:p>
        </p:txBody>
      </p:sp>
      <p:sp>
        <p:nvSpPr>
          <p:cNvPr id="1075" name="TextBox 4"/>
          <p:cNvSpPr txBox="1"/>
          <p:nvPr/>
        </p:nvSpPr>
        <p:spPr>
          <a:xfrm>
            <a:off x="2612815" y="2434396"/>
            <a:ext cx="2304952" cy="5588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spcBef>
                <a:spcPts val="600"/>
              </a:spcBef>
              <a:defRPr sz="1600"/>
            </a:lvl1pPr>
          </a:lstStyle>
          <a:p>
            <a:r>
              <a:rPr dirty="0"/>
              <a:t>Kernel memory from user</a:t>
            </a:r>
          </a:p>
        </p:txBody>
      </p:sp>
      <p:sp>
        <p:nvSpPr>
          <p:cNvPr id="1076" name="TextBox 5"/>
          <p:cNvSpPr txBox="1"/>
          <p:nvPr/>
        </p:nvSpPr>
        <p:spPr>
          <a:xfrm>
            <a:off x="2612815" y="3255160"/>
            <a:ext cx="2048459" cy="469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spcBef>
                <a:spcPts val="600"/>
              </a:spcBef>
              <a:defRPr sz="1400"/>
            </a:lvl1pPr>
          </a:lstStyle>
          <a:p>
            <a:r>
              <a:rPr dirty="0"/>
              <a:t>Packet headers from user</a:t>
            </a:r>
          </a:p>
        </p:txBody>
      </p:sp>
      <p:sp>
        <p:nvSpPr>
          <p:cNvPr id="1077" name="TextBox 5"/>
          <p:cNvSpPr txBox="1"/>
          <p:nvPr/>
        </p:nvSpPr>
        <p:spPr>
          <a:xfrm>
            <a:off x="2612815" y="3886200"/>
            <a:ext cx="1165710" cy="46990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a:spcBef>
                <a:spcPts val="600"/>
              </a:spcBef>
              <a:defRPr sz="1400"/>
            </a:lvl1pPr>
          </a:lstStyle>
          <a:p>
            <a:r>
              <a:rPr dirty="0"/>
              <a:t>Different users</a:t>
            </a: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072">
                                            <p:bg/>
                                          </p:spTgt>
                                        </p:tgtEl>
                                        <p:attrNameLst>
                                          <p:attrName>style.visibility</p:attrName>
                                        </p:attrNameLst>
                                      </p:cBhvr>
                                      <p:to>
                                        <p:strVal val="visible"/>
                                      </p:to>
                                    </p:set>
                                    <p:animEffect transition="in" filter="wipe(down)">
                                      <p:cBhvr>
                                        <p:cTn id="7" dur="500"/>
                                        <p:tgtEl>
                                          <p:spTgt spid="1072">
                                            <p:bg/>
                                          </p:spTgt>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1072">
                                            <p:txEl>
                                              <p:pRg st="0" end="0"/>
                                            </p:txEl>
                                          </p:spTgt>
                                        </p:tgtEl>
                                        <p:attrNameLst>
                                          <p:attrName>style.visibility</p:attrName>
                                        </p:attrNameLst>
                                      </p:cBhvr>
                                      <p:to>
                                        <p:strVal val="visible"/>
                                      </p:to>
                                    </p:set>
                                    <p:animEffect transition="in" filter="wipe(down)">
                                      <p:cBhvr>
                                        <p:cTn id="10" dur="500"/>
                                        <p:tgtEl>
                                          <p:spTgt spid="107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072">
                                            <p:txEl>
                                              <p:pRg st="1" end="1"/>
                                            </p:txEl>
                                          </p:spTgt>
                                        </p:tgtEl>
                                        <p:attrNameLst>
                                          <p:attrName>style.visibility</p:attrName>
                                        </p:attrNameLst>
                                      </p:cBhvr>
                                      <p:to>
                                        <p:strVal val="visible"/>
                                      </p:to>
                                    </p:set>
                                    <p:animEffect transition="in" filter="wipe(down)">
                                      <p:cBhvr>
                                        <p:cTn id="15" dur="500"/>
                                        <p:tgtEl>
                                          <p:spTgt spid="1072">
                                            <p:txEl>
                                              <p:pRg st="1" end="1"/>
                                            </p:txEl>
                                          </p:spTgt>
                                        </p:tgtEl>
                                      </p:cBhvr>
                                    </p:animEffect>
                                  </p:childTnLst>
                                </p:cTn>
                              </p:par>
                            </p:childTnLst>
                          </p:cTn>
                        </p:par>
                        <p:par>
                          <p:cTn id="16" fill="hold">
                            <p:stCondLst>
                              <p:cond delay="500"/>
                            </p:stCondLst>
                            <p:childTnLst>
                              <p:par>
                                <p:cTn id="17" presetID="22" presetClass="entr" presetSubtype="4" fill="hold" grpId="0" nodeType="afterEffect">
                                  <p:stCondLst>
                                    <p:cond delay="0"/>
                                  </p:stCondLst>
                                  <p:childTnLst>
                                    <p:set>
                                      <p:cBhvr>
                                        <p:cTn id="18" dur="1" fill="hold">
                                          <p:stCondLst>
                                            <p:cond delay="0"/>
                                          </p:stCondLst>
                                        </p:cTn>
                                        <p:tgtEl>
                                          <p:spTgt spid="1075"/>
                                        </p:tgtEl>
                                        <p:attrNameLst>
                                          <p:attrName>style.visibility</p:attrName>
                                        </p:attrNameLst>
                                      </p:cBhvr>
                                      <p:to>
                                        <p:strVal val="visible"/>
                                      </p:to>
                                    </p:set>
                                    <p:animEffect transition="in" filter="wipe(down)">
                                      <p:cBhvr>
                                        <p:cTn id="19" dur="500"/>
                                        <p:tgtEl>
                                          <p:spTgt spid="1075"/>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1072">
                                            <p:txEl>
                                              <p:pRg st="2" end="2"/>
                                            </p:txEl>
                                          </p:spTgt>
                                        </p:tgtEl>
                                        <p:attrNameLst>
                                          <p:attrName>style.visibility</p:attrName>
                                        </p:attrNameLst>
                                      </p:cBhvr>
                                      <p:to>
                                        <p:strVal val="visible"/>
                                      </p:to>
                                    </p:set>
                                    <p:animEffect transition="in" filter="wipe(down)">
                                      <p:cBhvr>
                                        <p:cTn id="24" dur="500"/>
                                        <p:tgtEl>
                                          <p:spTgt spid="1072">
                                            <p:txEl>
                                              <p:pRg st="2" end="2"/>
                                            </p:txEl>
                                          </p:spTgt>
                                        </p:tgtEl>
                                      </p:cBhvr>
                                    </p:animEffect>
                                  </p:childTnLst>
                                </p:cTn>
                              </p:par>
                            </p:childTnLst>
                          </p:cTn>
                        </p:par>
                        <p:par>
                          <p:cTn id="25" fill="hold">
                            <p:stCondLst>
                              <p:cond delay="500"/>
                            </p:stCondLst>
                            <p:childTnLst>
                              <p:par>
                                <p:cTn id="26" presetID="22" presetClass="entr" presetSubtype="4" fill="hold" grpId="0" nodeType="afterEffect">
                                  <p:stCondLst>
                                    <p:cond delay="0"/>
                                  </p:stCondLst>
                                  <p:childTnLst>
                                    <p:set>
                                      <p:cBhvr>
                                        <p:cTn id="27" dur="1" fill="hold">
                                          <p:stCondLst>
                                            <p:cond delay="0"/>
                                          </p:stCondLst>
                                        </p:cTn>
                                        <p:tgtEl>
                                          <p:spTgt spid="1076"/>
                                        </p:tgtEl>
                                        <p:attrNameLst>
                                          <p:attrName>style.visibility</p:attrName>
                                        </p:attrNameLst>
                                      </p:cBhvr>
                                      <p:to>
                                        <p:strVal val="visible"/>
                                      </p:to>
                                    </p:set>
                                    <p:animEffect transition="in" filter="wipe(down)">
                                      <p:cBhvr>
                                        <p:cTn id="28" dur="500"/>
                                        <p:tgtEl>
                                          <p:spTgt spid="1076"/>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1072">
                                            <p:txEl>
                                              <p:pRg st="3" end="3"/>
                                            </p:txEl>
                                          </p:spTgt>
                                        </p:tgtEl>
                                        <p:attrNameLst>
                                          <p:attrName>style.visibility</p:attrName>
                                        </p:attrNameLst>
                                      </p:cBhvr>
                                      <p:to>
                                        <p:strVal val="visible"/>
                                      </p:to>
                                    </p:set>
                                    <p:animEffect transition="in" filter="wipe(down)">
                                      <p:cBhvr>
                                        <p:cTn id="33" dur="500"/>
                                        <p:tgtEl>
                                          <p:spTgt spid="1072">
                                            <p:txEl>
                                              <p:pRg st="3" end="3"/>
                                            </p:txEl>
                                          </p:spTgt>
                                        </p:tgtEl>
                                      </p:cBhvr>
                                    </p:animEffect>
                                  </p:childTnLst>
                                </p:cTn>
                              </p:par>
                            </p:childTnLst>
                          </p:cTn>
                        </p:par>
                        <p:par>
                          <p:cTn id="34" fill="hold">
                            <p:stCondLst>
                              <p:cond delay="500"/>
                            </p:stCondLst>
                            <p:childTnLst>
                              <p:par>
                                <p:cTn id="35" presetID="22" presetClass="entr" presetSubtype="4" fill="hold" grpId="0" nodeType="afterEffect">
                                  <p:stCondLst>
                                    <p:cond delay="0"/>
                                  </p:stCondLst>
                                  <p:childTnLst>
                                    <p:set>
                                      <p:cBhvr>
                                        <p:cTn id="36" dur="1" fill="hold">
                                          <p:stCondLst>
                                            <p:cond delay="0"/>
                                          </p:stCondLst>
                                        </p:cTn>
                                        <p:tgtEl>
                                          <p:spTgt spid="1077"/>
                                        </p:tgtEl>
                                        <p:attrNameLst>
                                          <p:attrName>style.visibility</p:attrName>
                                        </p:attrNameLst>
                                      </p:cBhvr>
                                      <p:to>
                                        <p:strVal val="visible"/>
                                      </p:to>
                                    </p:set>
                                    <p:animEffect transition="in" filter="wipe(down)">
                                      <p:cBhvr>
                                        <p:cTn id="37" dur="500"/>
                                        <p:tgtEl>
                                          <p:spTgt spid="10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72" grpId="0" uiExpand="1" build="p" animBg="1"/>
      <p:bldP spid="1075" grpId="0" animBg="1"/>
      <p:bldP spid="1076" grpId="0" animBg="1"/>
      <p:bldP spid="1077"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2" name="Content Placeholder 1"/>
          <p:cNvSpPr txBox="1">
            <a:spLocks noGrp="1"/>
          </p:cNvSpPr>
          <p:nvPr>
            <p:ph type="body" idx="1"/>
          </p:nvPr>
        </p:nvSpPr>
        <p:spPr>
          <a:prstGeom prst="rect">
            <a:avLst/>
          </a:prstGeom>
        </p:spPr>
        <p:txBody>
          <a:bodyPr/>
          <a:lstStyle/>
          <a:p>
            <a:pPr marL="457200" indent="-457200">
              <a:buFontTx/>
              <a:buAutoNum type="arabicPeriod"/>
              <a:defRPr>
                <a:solidFill>
                  <a:srgbClr val="00709E"/>
                </a:solidFill>
              </a:defRPr>
            </a:pPr>
            <a:r>
              <a:rPr dirty="0"/>
              <a:t>Dynamic Remapping</a:t>
            </a:r>
            <a:br>
              <a:rPr dirty="0"/>
            </a:br>
            <a:r>
              <a:rPr dirty="0"/>
              <a:t>	</a:t>
            </a:r>
            <a:r>
              <a:rPr sz="1600" dirty="0">
                <a:solidFill>
                  <a:srgbClr val="4CCAFF"/>
                </a:solidFill>
              </a:rPr>
              <a:t>MSG_ZERO_COPY, TCP_MMAP, COW (FreeBSD)</a:t>
            </a:r>
          </a:p>
          <a:p>
            <a:pPr marL="457200" indent="-457200">
              <a:buFontTx/>
              <a:buAutoNum type="arabicPeriod"/>
              <a:defRPr>
                <a:solidFill>
                  <a:srgbClr val="00709E"/>
                </a:solidFill>
              </a:defRPr>
            </a:pPr>
            <a:r>
              <a:rPr dirty="0"/>
              <a:t>Kernel Bypass</a:t>
            </a:r>
            <a:br>
              <a:rPr dirty="0"/>
            </a:br>
            <a:r>
              <a:rPr dirty="0"/>
              <a:t>	</a:t>
            </a:r>
            <a:r>
              <a:rPr sz="1600" dirty="0">
                <a:solidFill>
                  <a:srgbClr val="4CCAFF"/>
                </a:solidFill>
              </a:rPr>
              <a:t>DPDK, </a:t>
            </a:r>
            <a:r>
              <a:rPr sz="1600" dirty="0" err="1">
                <a:solidFill>
                  <a:srgbClr val="4CCAFF"/>
                </a:solidFill>
              </a:rPr>
              <a:t>NetMap</a:t>
            </a:r>
            <a:r>
              <a:rPr sz="1600" dirty="0">
                <a:solidFill>
                  <a:srgbClr val="4CCAFF"/>
                </a:solidFill>
              </a:rPr>
              <a:t>, AF_XDP</a:t>
            </a:r>
          </a:p>
          <a:p>
            <a:pPr marL="457200" indent="-457200">
              <a:buFontTx/>
              <a:buAutoNum type="arabicPeriod"/>
              <a:defRPr>
                <a:solidFill>
                  <a:srgbClr val="00709E"/>
                </a:solidFill>
              </a:defRPr>
            </a:pPr>
            <a:r>
              <a:rPr dirty="0"/>
              <a:t>Limited use-case</a:t>
            </a:r>
            <a:br>
              <a:rPr dirty="0"/>
            </a:br>
            <a:r>
              <a:rPr dirty="0"/>
              <a:t>	</a:t>
            </a:r>
            <a:r>
              <a:rPr dirty="0">
                <a:solidFill>
                  <a:srgbClr val="4CCAFF"/>
                </a:solidFill>
              </a:rPr>
              <a:t>splice, </a:t>
            </a:r>
            <a:r>
              <a:rPr dirty="0" err="1">
                <a:solidFill>
                  <a:srgbClr val="4CCAFF"/>
                </a:solidFill>
              </a:rPr>
              <a:t>sendfile</a:t>
            </a:r>
            <a:r>
              <a:rPr dirty="0">
                <a:solidFill>
                  <a:srgbClr val="4CCAFF"/>
                </a:solidFill>
              </a:rPr>
              <a:t>, SOCKMAP</a:t>
            </a:r>
          </a:p>
          <a:p>
            <a:pPr marL="457200" indent="-457200">
              <a:buFontTx/>
              <a:buAutoNum type="arabicPeriod"/>
              <a:defRPr>
                <a:solidFill>
                  <a:srgbClr val="00709E"/>
                </a:solidFill>
              </a:defRPr>
            </a:pPr>
            <a:r>
              <a:rPr dirty="0"/>
              <a:t>Specialized HW</a:t>
            </a:r>
            <a:br>
              <a:rPr dirty="0"/>
            </a:br>
            <a:r>
              <a:rPr dirty="0"/>
              <a:t>	</a:t>
            </a:r>
            <a:r>
              <a:rPr dirty="0">
                <a:solidFill>
                  <a:srgbClr val="4CCAFF"/>
                </a:solidFill>
              </a:rPr>
              <a:t>RDMA – </a:t>
            </a:r>
            <a:r>
              <a:rPr dirty="0" err="1">
                <a:solidFill>
                  <a:srgbClr val="4CCAFF"/>
                </a:solidFill>
              </a:rPr>
              <a:t>iWARP</a:t>
            </a:r>
            <a:r>
              <a:rPr dirty="0">
                <a:solidFill>
                  <a:srgbClr val="4CCAFF"/>
                </a:solidFill>
              </a:rPr>
              <a:t>, </a:t>
            </a:r>
            <a:r>
              <a:rPr dirty="0" err="1">
                <a:solidFill>
                  <a:srgbClr val="4CCAFF"/>
                </a:solidFill>
              </a:rPr>
              <a:t>Infiniband</a:t>
            </a:r>
            <a:r>
              <a:rPr dirty="0">
                <a:solidFill>
                  <a:srgbClr val="4CCAFF"/>
                </a:solidFill>
              </a:rPr>
              <a:t>, ROCE</a:t>
            </a:r>
          </a:p>
          <a:p>
            <a:pPr marL="457200" indent="-457200">
              <a:buFontTx/>
              <a:buAutoNum type="arabicPeriod"/>
              <a:defRPr>
                <a:solidFill>
                  <a:srgbClr val="00709E"/>
                </a:solidFill>
              </a:defRPr>
            </a:pPr>
            <a:r>
              <a:rPr dirty="0"/>
              <a:t>Shared Memory</a:t>
            </a:r>
            <a:br>
              <a:rPr dirty="0"/>
            </a:br>
            <a:r>
              <a:rPr sz="1600" dirty="0">
                <a:solidFill>
                  <a:srgbClr val="C00000"/>
                </a:solidFill>
              </a:rPr>
              <a:t>	No</a:t>
            </a:r>
          </a:p>
        </p:txBody>
      </p:sp>
      <p:sp>
        <p:nvSpPr>
          <p:cNvPr id="1081" name="TextBox 8"/>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6</a:t>
            </a:fld>
            <a:endParaRPr/>
          </a:p>
        </p:txBody>
      </p:sp>
      <p:sp>
        <p:nvSpPr>
          <p:cNvPr id="1084" name="Title 3"/>
          <p:cNvSpPr txBox="1">
            <a:spLocks noGrp="1"/>
          </p:cNvSpPr>
          <p:nvPr>
            <p:ph type="title"/>
          </p:nvPr>
        </p:nvSpPr>
        <p:spPr>
          <a:prstGeom prst="rect">
            <a:avLst/>
          </a:prstGeom>
        </p:spPr>
        <p:txBody>
          <a:bodyPr>
            <a:noAutofit/>
          </a:bodyPr>
          <a:lstStyle>
            <a:lvl1pPr defTabSz="822959">
              <a:defRPr sz="2520"/>
            </a:lvl1pPr>
          </a:lstStyle>
          <a:p>
            <a:r>
              <a:rPr sz="2800" dirty="0"/>
              <a:t>Zero-Copy Approaches</a:t>
            </a:r>
          </a:p>
        </p:txBody>
      </p:sp>
      <p:sp>
        <p:nvSpPr>
          <p:cNvPr id="1083" name="Subtitle 2"/>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t>40 years of innovations</a:t>
            </a: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 presetClass="entr" presetSubtype="8" fill="hold" grpId="1" nodeType="clickEffect">
                                  <p:stCondLst>
                                    <p:cond delay="0"/>
                                  </p:stCondLst>
                                  <p:iterate>
                                    <p:tmAbs val="0"/>
                                  </p:iterate>
                                  <p:childTnLst>
                                    <p:set>
                                      <p:cBhvr>
                                        <p:cTn id="6" fill="hold"/>
                                        <p:tgtEl>
                                          <p:spTgt spid="1082">
                                            <p:bg/>
                                          </p:spTgt>
                                        </p:tgtEl>
                                        <p:attrNameLst>
                                          <p:attrName>style.visibility</p:attrName>
                                        </p:attrNameLst>
                                      </p:cBhvr>
                                      <p:to>
                                        <p:strVal val="visible"/>
                                      </p:to>
                                    </p:set>
                                    <p:anim calcmode="lin" valueType="num">
                                      <p:cBhvr>
                                        <p:cTn id="7" dur="250" fill="hold"/>
                                        <p:tgtEl>
                                          <p:spTgt spid="1082">
                                            <p:bg/>
                                          </p:spTgt>
                                        </p:tgtEl>
                                        <p:attrNameLst>
                                          <p:attrName>ppt_x</p:attrName>
                                        </p:attrNameLst>
                                      </p:cBhvr>
                                      <p:tavLst>
                                        <p:tav tm="0">
                                          <p:val>
                                            <p:strVal val="0-#ppt_w/2"/>
                                          </p:val>
                                        </p:tav>
                                        <p:tav tm="100000">
                                          <p:val>
                                            <p:strVal val="#ppt_x"/>
                                          </p:val>
                                        </p:tav>
                                      </p:tavLst>
                                    </p:anim>
                                    <p:anim calcmode="lin" valueType="num">
                                      <p:cBhvr>
                                        <p:cTn id="8" dur="250" fill="hold"/>
                                        <p:tgtEl>
                                          <p:spTgt spid="1082">
                                            <p:bg/>
                                          </p:spTgt>
                                        </p:tgtEl>
                                        <p:attrNameLst>
                                          <p:attrName>ppt_y</p:attrName>
                                        </p:attrNameLst>
                                      </p:cBhvr>
                                      <p:tavLst>
                                        <p:tav tm="0">
                                          <p:val>
                                            <p:strVal val="#ppt_y"/>
                                          </p:val>
                                        </p:tav>
                                        <p:tav tm="100000">
                                          <p:val>
                                            <p:strVal val="#ppt_y"/>
                                          </p:val>
                                        </p:tav>
                                      </p:tavLst>
                                    </p:anim>
                                  </p:childTnLst>
                                </p:cTn>
                              </p:par>
                              <p:par>
                                <p:cTn id="9" presetID="2" presetClass="entr" presetSubtype="8" fill="hold" grpId="1" nodeType="withEffect">
                                  <p:stCondLst>
                                    <p:cond delay="0"/>
                                  </p:stCondLst>
                                  <p:iterate>
                                    <p:tmAbs val="0"/>
                                  </p:iterate>
                                  <p:childTnLst>
                                    <p:set>
                                      <p:cBhvr>
                                        <p:cTn id="10" fill="hold"/>
                                        <p:tgtEl>
                                          <p:spTgt spid="1082">
                                            <p:txEl>
                                              <p:pRg st="0" end="0"/>
                                            </p:txEl>
                                          </p:spTgt>
                                        </p:tgtEl>
                                        <p:attrNameLst>
                                          <p:attrName>style.visibility</p:attrName>
                                        </p:attrNameLst>
                                      </p:cBhvr>
                                      <p:to>
                                        <p:strVal val="visible"/>
                                      </p:to>
                                    </p:set>
                                    <p:anim calcmode="lin" valueType="num">
                                      <p:cBhvr>
                                        <p:cTn id="11" dur="250" fill="hold"/>
                                        <p:tgtEl>
                                          <p:spTgt spid="1082">
                                            <p:txEl>
                                              <p:pRg st="0" end="0"/>
                                            </p:txEl>
                                          </p:spTgt>
                                        </p:tgtEl>
                                        <p:attrNameLst>
                                          <p:attrName>ppt_x</p:attrName>
                                        </p:attrNameLst>
                                      </p:cBhvr>
                                      <p:tavLst>
                                        <p:tav tm="0">
                                          <p:val>
                                            <p:strVal val="0-#ppt_w/2"/>
                                          </p:val>
                                        </p:tav>
                                        <p:tav tm="100000">
                                          <p:val>
                                            <p:strVal val="#ppt_x"/>
                                          </p:val>
                                        </p:tav>
                                      </p:tavLst>
                                    </p:anim>
                                    <p:anim calcmode="lin" valueType="num">
                                      <p:cBhvr>
                                        <p:cTn id="12" dur="250" fill="hold"/>
                                        <p:tgtEl>
                                          <p:spTgt spid="1082">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8" fill="hold" grpId="1" nodeType="clickEffect">
                                  <p:stCondLst>
                                    <p:cond delay="0"/>
                                  </p:stCondLst>
                                  <p:iterate>
                                    <p:tmAbs val="0"/>
                                  </p:iterate>
                                  <p:childTnLst>
                                    <p:set>
                                      <p:cBhvr>
                                        <p:cTn id="16" fill="hold"/>
                                        <p:tgtEl>
                                          <p:spTgt spid="1082">
                                            <p:txEl>
                                              <p:pRg st="1" end="1"/>
                                            </p:txEl>
                                          </p:spTgt>
                                        </p:tgtEl>
                                        <p:attrNameLst>
                                          <p:attrName>style.visibility</p:attrName>
                                        </p:attrNameLst>
                                      </p:cBhvr>
                                      <p:to>
                                        <p:strVal val="visible"/>
                                      </p:to>
                                    </p:set>
                                    <p:anim calcmode="lin" valueType="num">
                                      <p:cBhvr>
                                        <p:cTn id="17" dur="250" fill="hold"/>
                                        <p:tgtEl>
                                          <p:spTgt spid="1082">
                                            <p:txEl>
                                              <p:pRg st="1" end="1"/>
                                            </p:txEl>
                                          </p:spTgt>
                                        </p:tgtEl>
                                        <p:attrNameLst>
                                          <p:attrName>ppt_x</p:attrName>
                                        </p:attrNameLst>
                                      </p:cBhvr>
                                      <p:tavLst>
                                        <p:tav tm="0">
                                          <p:val>
                                            <p:strVal val="0-#ppt_w/2"/>
                                          </p:val>
                                        </p:tav>
                                        <p:tav tm="100000">
                                          <p:val>
                                            <p:strVal val="#ppt_x"/>
                                          </p:val>
                                        </p:tav>
                                      </p:tavLst>
                                    </p:anim>
                                    <p:anim calcmode="lin" valueType="num">
                                      <p:cBhvr>
                                        <p:cTn id="18" dur="250" fill="hold"/>
                                        <p:tgtEl>
                                          <p:spTgt spid="1082">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8" fill="hold" grpId="1" nodeType="clickEffect">
                                  <p:stCondLst>
                                    <p:cond delay="0"/>
                                  </p:stCondLst>
                                  <p:iterate>
                                    <p:tmAbs val="0"/>
                                  </p:iterate>
                                  <p:childTnLst>
                                    <p:set>
                                      <p:cBhvr>
                                        <p:cTn id="22" fill="hold"/>
                                        <p:tgtEl>
                                          <p:spTgt spid="1082">
                                            <p:txEl>
                                              <p:pRg st="2" end="2"/>
                                            </p:txEl>
                                          </p:spTgt>
                                        </p:tgtEl>
                                        <p:attrNameLst>
                                          <p:attrName>style.visibility</p:attrName>
                                        </p:attrNameLst>
                                      </p:cBhvr>
                                      <p:to>
                                        <p:strVal val="visible"/>
                                      </p:to>
                                    </p:set>
                                    <p:anim calcmode="lin" valueType="num">
                                      <p:cBhvr>
                                        <p:cTn id="23" dur="250" fill="hold"/>
                                        <p:tgtEl>
                                          <p:spTgt spid="1082">
                                            <p:txEl>
                                              <p:pRg st="2" end="2"/>
                                            </p:txEl>
                                          </p:spTgt>
                                        </p:tgtEl>
                                        <p:attrNameLst>
                                          <p:attrName>ppt_x</p:attrName>
                                        </p:attrNameLst>
                                      </p:cBhvr>
                                      <p:tavLst>
                                        <p:tav tm="0">
                                          <p:val>
                                            <p:strVal val="0-#ppt_w/2"/>
                                          </p:val>
                                        </p:tav>
                                        <p:tav tm="100000">
                                          <p:val>
                                            <p:strVal val="#ppt_x"/>
                                          </p:val>
                                        </p:tav>
                                      </p:tavLst>
                                    </p:anim>
                                    <p:anim calcmode="lin" valueType="num">
                                      <p:cBhvr>
                                        <p:cTn id="24" dur="250" fill="hold"/>
                                        <p:tgtEl>
                                          <p:spTgt spid="1082">
                                            <p:txEl>
                                              <p:pRg st="2" end="2"/>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8" fill="hold" grpId="1" nodeType="clickEffect">
                                  <p:stCondLst>
                                    <p:cond delay="0"/>
                                  </p:stCondLst>
                                  <p:iterate>
                                    <p:tmAbs val="0"/>
                                  </p:iterate>
                                  <p:childTnLst>
                                    <p:set>
                                      <p:cBhvr>
                                        <p:cTn id="28" fill="hold"/>
                                        <p:tgtEl>
                                          <p:spTgt spid="1082">
                                            <p:txEl>
                                              <p:pRg st="3" end="3"/>
                                            </p:txEl>
                                          </p:spTgt>
                                        </p:tgtEl>
                                        <p:attrNameLst>
                                          <p:attrName>style.visibility</p:attrName>
                                        </p:attrNameLst>
                                      </p:cBhvr>
                                      <p:to>
                                        <p:strVal val="visible"/>
                                      </p:to>
                                    </p:set>
                                    <p:anim calcmode="lin" valueType="num">
                                      <p:cBhvr>
                                        <p:cTn id="29" dur="250" fill="hold"/>
                                        <p:tgtEl>
                                          <p:spTgt spid="1082">
                                            <p:txEl>
                                              <p:pRg st="3" end="3"/>
                                            </p:txEl>
                                          </p:spTgt>
                                        </p:tgtEl>
                                        <p:attrNameLst>
                                          <p:attrName>ppt_x</p:attrName>
                                        </p:attrNameLst>
                                      </p:cBhvr>
                                      <p:tavLst>
                                        <p:tav tm="0">
                                          <p:val>
                                            <p:strVal val="0-#ppt_w/2"/>
                                          </p:val>
                                        </p:tav>
                                        <p:tav tm="100000">
                                          <p:val>
                                            <p:strVal val="#ppt_x"/>
                                          </p:val>
                                        </p:tav>
                                      </p:tavLst>
                                    </p:anim>
                                    <p:anim calcmode="lin" valueType="num">
                                      <p:cBhvr>
                                        <p:cTn id="30" dur="250" fill="hold"/>
                                        <p:tgtEl>
                                          <p:spTgt spid="1082">
                                            <p:txEl>
                                              <p:pRg st="3" end="3"/>
                                            </p:txEl>
                                          </p:spTgt>
                                        </p:tgtEl>
                                        <p:attrNameLst>
                                          <p:attrName>ppt_y</p:attrName>
                                        </p:attrNameLst>
                                      </p:cBhvr>
                                      <p:tavLst>
                                        <p:tav tm="0">
                                          <p:val>
                                            <p:strVal val="#ppt_y"/>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 presetClass="entr" presetSubtype="8" fill="hold" grpId="1" nodeType="clickEffect">
                                  <p:stCondLst>
                                    <p:cond delay="0"/>
                                  </p:stCondLst>
                                  <p:iterate>
                                    <p:tmAbs val="0"/>
                                  </p:iterate>
                                  <p:childTnLst>
                                    <p:set>
                                      <p:cBhvr>
                                        <p:cTn id="34" fill="hold"/>
                                        <p:tgtEl>
                                          <p:spTgt spid="1082">
                                            <p:txEl>
                                              <p:pRg st="4" end="4"/>
                                            </p:txEl>
                                          </p:spTgt>
                                        </p:tgtEl>
                                        <p:attrNameLst>
                                          <p:attrName>style.visibility</p:attrName>
                                        </p:attrNameLst>
                                      </p:cBhvr>
                                      <p:to>
                                        <p:strVal val="visible"/>
                                      </p:to>
                                    </p:set>
                                    <p:anim calcmode="lin" valueType="num">
                                      <p:cBhvr>
                                        <p:cTn id="35" dur="250" fill="hold"/>
                                        <p:tgtEl>
                                          <p:spTgt spid="1082">
                                            <p:txEl>
                                              <p:pRg st="4" end="4"/>
                                            </p:txEl>
                                          </p:spTgt>
                                        </p:tgtEl>
                                        <p:attrNameLst>
                                          <p:attrName>ppt_x</p:attrName>
                                        </p:attrNameLst>
                                      </p:cBhvr>
                                      <p:tavLst>
                                        <p:tav tm="0">
                                          <p:val>
                                            <p:strVal val="0-#ppt_w/2"/>
                                          </p:val>
                                        </p:tav>
                                        <p:tav tm="100000">
                                          <p:val>
                                            <p:strVal val="#ppt_x"/>
                                          </p:val>
                                        </p:tav>
                                      </p:tavLst>
                                    </p:anim>
                                    <p:anim calcmode="lin" valueType="num">
                                      <p:cBhvr>
                                        <p:cTn id="36" dur="250" fill="hold"/>
                                        <p:tgtEl>
                                          <p:spTgt spid="1082">
                                            <p:txEl>
                                              <p:pRg st="4" end="4"/>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2" grpId="1" build="p" animBg="1" advAuto="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8" name="The Solution: Memory Segmentation - I/O (only) Pages*…"/>
          <p:cNvSpPr txBox="1">
            <a:spLocks noGrp="1"/>
          </p:cNvSpPr>
          <p:nvPr>
            <p:ph type="body" idx="1"/>
          </p:nvPr>
        </p:nvSpPr>
        <p:spPr>
          <a:prstGeom prst="rect">
            <a:avLst/>
          </a:prstGeom>
        </p:spPr>
        <p:txBody>
          <a:bodyPr>
            <a:normAutofit fontScale="92500" lnSpcReduction="20000"/>
          </a:bodyPr>
          <a:lstStyle/>
          <a:p>
            <a:pPr defTabSz="795527">
              <a:spcBef>
                <a:spcPts val="1300"/>
              </a:spcBef>
              <a:defRPr sz="1740"/>
            </a:pPr>
            <a:r>
              <a:rPr dirty="0"/>
              <a:t>The Solution: Memory Segmentation - </a:t>
            </a:r>
            <a:r>
              <a:rPr dirty="0">
                <a:solidFill>
                  <a:schemeClr val="accent4">
                    <a:lumOff val="-9490"/>
                  </a:schemeClr>
                </a:solidFill>
              </a:rPr>
              <a:t>I/O </a:t>
            </a:r>
            <a:r>
              <a:rPr dirty="0">
                <a:solidFill>
                  <a:schemeClr val="accent4">
                    <a:satOff val="-4650"/>
                    <a:lumOff val="26274"/>
                  </a:schemeClr>
                </a:solidFill>
              </a:rPr>
              <a:t>(only)</a:t>
            </a:r>
            <a:r>
              <a:rPr dirty="0">
                <a:solidFill>
                  <a:schemeClr val="accent4">
                    <a:lumOff val="-9490"/>
                  </a:schemeClr>
                </a:solidFill>
              </a:rPr>
              <a:t> Pages*</a:t>
            </a:r>
          </a:p>
          <a:p>
            <a:pPr marL="674570" lvl="1" indent="-232610" defTabSz="795527">
              <a:spcBef>
                <a:spcPts val="1300"/>
              </a:spcBef>
              <a:buClr>
                <a:srgbClr val="000000"/>
              </a:buClr>
              <a:buSzPct val="100000"/>
              <a:buFontTx/>
              <a:buAutoNum type="arabicPeriod"/>
              <a:defRPr sz="1740"/>
            </a:pPr>
            <a:r>
              <a:rPr dirty="0">
                <a:solidFill>
                  <a:schemeClr val="accent4">
                    <a:lumOff val="-9490"/>
                  </a:schemeClr>
                </a:solidFill>
              </a:rPr>
              <a:t>MAIO pages </a:t>
            </a:r>
            <a:r>
              <a:rPr dirty="0">
                <a:solidFill>
                  <a:srgbClr val="535353"/>
                </a:solidFill>
              </a:rPr>
              <a:t>used</a:t>
            </a:r>
            <a:r>
              <a:rPr dirty="0"/>
              <a:t> for I/O</a:t>
            </a:r>
          </a:p>
          <a:p>
            <a:pPr marL="674570" lvl="1" indent="-232610" defTabSz="795527">
              <a:spcBef>
                <a:spcPts val="1300"/>
              </a:spcBef>
              <a:buClr>
                <a:srgbClr val="000000"/>
              </a:buClr>
              <a:buSzPct val="100000"/>
              <a:buFontTx/>
              <a:buAutoNum type="arabicPeriod"/>
              <a:defRPr sz="1740"/>
            </a:pPr>
            <a:r>
              <a:rPr dirty="0"/>
              <a:t>Packet arrives</a:t>
            </a:r>
          </a:p>
          <a:p>
            <a:pPr marL="674570" lvl="1" indent="-232610" defTabSz="795527">
              <a:spcBef>
                <a:spcPts val="1300"/>
              </a:spcBef>
              <a:buClrTx/>
              <a:buSzPct val="100000"/>
              <a:buFontTx/>
              <a:buAutoNum type="arabicPeriod"/>
              <a:defRPr sz="1740"/>
            </a:pPr>
            <a:r>
              <a:rPr dirty="0"/>
              <a:t>Data page </a:t>
            </a:r>
            <a:r>
              <a:rPr dirty="0">
                <a:solidFill>
                  <a:schemeClr val="accent4">
                    <a:lumOff val="-9490"/>
                  </a:schemeClr>
                </a:solidFill>
              </a:rPr>
              <a:t>delivered</a:t>
            </a:r>
            <a:r>
              <a:rPr dirty="0"/>
              <a:t> to process</a:t>
            </a:r>
          </a:p>
          <a:p>
            <a:pPr defTabSz="795527">
              <a:spcBef>
                <a:spcPts val="1300"/>
              </a:spcBef>
              <a:buClrTx/>
              <a:buSzTx/>
              <a:buFontTx/>
              <a:buNone/>
              <a:defRPr sz="1740"/>
            </a:pPr>
            <a:r>
              <a:rPr dirty="0"/>
              <a:t>How does this help?!</a:t>
            </a:r>
          </a:p>
          <a:p>
            <a:pPr marL="674570" lvl="1" indent="-232610" defTabSz="795527">
              <a:spcBef>
                <a:spcPts val="1300"/>
              </a:spcBef>
              <a:buClrTx/>
              <a:buSzPct val="100000"/>
              <a:buFontTx/>
              <a:buAutoNum type="arabicPeriod"/>
              <a:defRPr sz="1740"/>
            </a:pPr>
            <a:r>
              <a:rPr dirty="0">
                <a:solidFill>
                  <a:schemeClr val="accent4">
                    <a:lumOff val="-9490"/>
                  </a:schemeClr>
                </a:solidFill>
              </a:rPr>
              <a:t>Isolation - Kernel Memory</a:t>
            </a:r>
            <a:r>
              <a:rPr dirty="0"/>
              <a:t>: No Kernel data is ever located on an I/O page</a:t>
            </a:r>
          </a:p>
          <a:p>
            <a:pPr marL="837397" lvl="2" indent="-174457" defTabSz="795527">
              <a:spcBef>
                <a:spcPts val="1300"/>
              </a:spcBef>
              <a:buClrTx/>
              <a:buSzPct val="100000"/>
              <a:buFontTx/>
              <a:buChar char="•"/>
              <a:defRPr sz="1740"/>
            </a:pPr>
            <a:r>
              <a:rPr dirty="0"/>
              <a:t>All data is by/for the user</a:t>
            </a:r>
            <a:endParaRPr dirty="0">
              <a:solidFill>
                <a:srgbClr val="535353"/>
              </a:solidFill>
            </a:endParaRPr>
          </a:p>
          <a:p>
            <a:pPr marL="674570" lvl="1" indent="-232610" defTabSz="795527">
              <a:spcBef>
                <a:spcPts val="1300"/>
              </a:spcBef>
              <a:buClrTx/>
              <a:buSzPct val="100000"/>
              <a:buFontTx/>
              <a:buAutoNum type="arabicPeriod"/>
              <a:defRPr sz="1740"/>
            </a:pPr>
            <a:r>
              <a:rPr dirty="0">
                <a:solidFill>
                  <a:schemeClr val="accent4">
                    <a:lumOff val="-9490"/>
                  </a:schemeClr>
                </a:solidFill>
              </a:rPr>
              <a:t>Isolation - between processes</a:t>
            </a:r>
            <a:r>
              <a:rPr dirty="0">
                <a:solidFill>
                  <a:srgbClr val="535353"/>
                </a:solidFill>
              </a:rPr>
              <a:t>:  HW supports is needed (resolves the randomness). </a:t>
            </a:r>
          </a:p>
          <a:p>
            <a:pPr marL="837397" lvl="2" indent="-174457" defTabSz="795527">
              <a:spcBef>
                <a:spcPts val="1300"/>
              </a:spcBef>
              <a:buClrTx/>
              <a:buSzPct val="100000"/>
              <a:buFontTx/>
              <a:buChar char="•"/>
              <a:defRPr sz="1740"/>
            </a:pPr>
            <a:r>
              <a:rPr dirty="0">
                <a:solidFill>
                  <a:srgbClr val="535353"/>
                </a:solidFill>
              </a:rPr>
              <a:t>Intel ADQ </a:t>
            </a:r>
          </a:p>
          <a:p>
            <a:pPr marL="837397" lvl="2" indent="-174457" defTabSz="795527">
              <a:spcBef>
                <a:spcPts val="1300"/>
              </a:spcBef>
              <a:buClrTx/>
              <a:buSzPct val="100000"/>
              <a:buFontTx/>
              <a:buChar char="•"/>
              <a:defRPr sz="1740"/>
            </a:pPr>
            <a:r>
              <a:rPr dirty="0">
                <a:solidFill>
                  <a:srgbClr val="535353"/>
                </a:solidFill>
              </a:rPr>
              <a:t>NVIDIA QP </a:t>
            </a:r>
            <a:r>
              <a:rPr sz="1218" dirty="0">
                <a:solidFill>
                  <a:srgbClr val="535353"/>
                </a:solidFill>
              </a:rPr>
              <a:t>(DPDK Bifurcated driver)</a:t>
            </a:r>
            <a:endParaRPr lang="en-US" sz="1218" dirty="0">
              <a:solidFill>
                <a:srgbClr val="535353"/>
              </a:solidFill>
            </a:endParaRPr>
          </a:p>
          <a:p>
            <a:pPr marL="837397" lvl="2" indent="-174457" defTabSz="795527">
              <a:spcBef>
                <a:spcPts val="1300"/>
              </a:spcBef>
              <a:buClrTx/>
              <a:buSzPct val="100000"/>
              <a:buFontTx/>
              <a:buChar char="•"/>
              <a:defRPr sz="1740"/>
            </a:pPr>
            <a:r>
              <a:rPr lang="en-US" sz="1218" dirty="0">
                <a:solidFill>
                  <a:srgbClr val="535353"/>
                </a:solidFill>
              </a:rPr>
              <a:t>Virtualization </a:t>
            </a:r>
            <a:r>
              <a:rPr lang="en-US" sz="1218" dirty="0" err="1">
                <a:solidFill>
                  <a:srgbClr val="535353"/>
                </a:solidFill>
              </a:rPr>
              <a:t>paravirt</a:t>
            </a:r>
            <a:r>
              <a:rPr lang="en-US" sz="1218" dirty="0">
                <a:solidFill>
                  <a:srgbClr val="535353"/>
                </a:solidFill>
              </a:rPr>
              <a:t>-drivers (</a:t>
            </a:r>
            <a:r>
              <a:rPr lang="en-US" sz="1218" dirty="0" err="1">
                <a:solidFill>
                  <a:srgbClr val="535353"/>
                </a:solidFill>
              </a:rPr>
              <a:t>virtio</a:t>
            </a:r>
            <a:r>
              <a:rPr lang="en-US" sz="1218" dirty="0">
                <a:solidFill>
                  <a:srgbClr val="535353"/>
                </a:solidFill>
              </a:rPr>
              <a:t>, </a:t>
            </a:r>
            <a:r>
              <a:rPr lang="en-US" sz="1218" dirty="0" err="1">
                <a:solidFill>
                  <a:srgbClr val="535353"/>
                </a:solidFill>
              </a:rPr>
              <a:t>netvsc</a:t>
            </a:r>
            <a:r>
              <a:rPr lang="en-US" sz="1218" dirty="0">
                <a:solidFill>
                  <a:srgbClr val="535353"/>
                </a:solidFill>
              </a:rPr>
              <a:t>, </a:t>
            </a:r>
            <a:r>
              <a:rPr lang="en-US" sz="1218" dirty="0" err="1">
                <a:solidFill>
                  <a:srgbClr val="535353"/>
                </a:solidFill>
              </a:rPr>
              <a:t>vmxnet</a:t>
            </a:r>
            <a:r>
              <a:rPr lang="en-US" sz="1218" dirty="0">
                <a:solidFill>
                  <a:srgbClr val="535353"/>
                </a:solidFill>
              </a:rPr>
              <a:t>) </a:t>
            </a:r>
            <a:endParaRPr sz="1218" dirty="0">
              <a:solidFill>
                <a:srgbClr val="535353"/>
              </a:solidFill>
            </a:endParaRPr>
          </a:p>
          <a:p>
            <a:pPr marL="674570" lvl="1" indent="-232610" defTabSz="795527">
              <a:spcBef>
                <a:spcPts val="1300"/>
              </a:spcBef>
              <a:buClrTx/>
              <a:buSzPct val="100000"/>
              <a:buFontTx/>
              <a:buAutoNum type="arabicPeriod"/>
              <a:defRPr sz="1740"/>
            </a:pPr>
            <a:r>
              <a:rPr dirty="0">
                <a:solidFill>
                  <a:schemeClr val="accent4">
                    <a:lumOff val="-9490"/>
                  </a:schemeClr>
                </a:solidFill>
              </a:rPr>
              <a:t>Isolation - control path</a:t>
            </a:r>
            <a:r>
              <a:rPr dirty="0"/>
              <a:t>: Copy </a:t>
            </a:r>
            <a:r>
              <a:rPr i="1" dirty="0">
                <a:solidFill>
                  <a:schemeClr val="accent3">
                    <a:satOff val="-60655"/>
                    <a:lumOff val="35882"/>
                  </a:schemeClr>
                </a:solidFill>
              </a:rPr>
              <a:t>only </a:t>
            </a:r>
            <a:r>
              <a:rPr dirty="0">
                <a:solidFill>
                  <a:srgbClr val="535353"/>
                </a:solidFill>
              </a:rPr>
              <a:t>network headers</a:t>
            </a:r>
          </a:p>
        </p:txBody>
      </p:sp>
      <p:sp>
        <p:nvSpPr>
          <p:cNvPr id="1089"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7</a:t>
            </a:fld>
            <a:endParaRPr/>
          </a:p>
        </p:txBody>
      </p:sp>
      <p:sp>
        <p:nvSpPr>
          <p:cNvPr id="1090" name="Zero-Copy with Shared Memory"/>
          <p:cNvSpPr txBox="1">
            <a:spLocks noGrp="1"/>
          </p:cNvSpPr>
          <p:nvPr>
            <p:ph type="title"/>
          </p:nvPr>
        </p:nvSpPr>
        <p:spPr>
          <a:prstGeom prst="rect">
            <a:avLst/>
          </a:prstGeom>
        </p:spPr>
        <p:txBody>
          <a:bodyPr>
            <a:noAutofit/>
          </a:bodyPr>
          <a:lstStyle>
            <a:lvl1pPr defTabSz="822959">
              <a:defRPr sz="2520"/>
            </a:lvl1pPr>
          </a:lstStyle>
          <a:p>
            <a:r>
              <a:rPr sz="2800" dirty="0"/>
              <a:t>Zero-Copy with Shared Memory</a:t>
            </a:r>
          </a:p>
        </p:txBody>
      </p:sp>
      <p:sp>
        <p:nvSpPr>
          <p:cNvPr id="1091" name="Subtitle 2"/>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t>MAIO - Memory allocation for I/O</a:t>
            </a: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1088">
                                            <p:bg/>
                                          </p:spTgt>
                                        </p:tgtEl>
                                        <p:attrNameLst>
                                          <p:attrName>style.visibility</p:attrName>
                                        </p:attrNameLst>
                                      </p:cBhvr>
                                      <p:to>
                                        <p:strVal val="visible"/>
                                      </p:to>
                                    </p:set>
                                    <p:animEffect transition="in" filter="wipe(left)">
                                      <p:cBhvr>
                                        <p:cTn id="7" dur="400"/>
                                        <p:tgtEl>
                                          <p:spTgt spid="1088">
                                            <p:bg/>
                                          </p:spTgt>
                                        </p:tgtEl>
                                      </p:cBhvr>
                                    </p:animEffect>
                                  </p:childTnLst>
                                </p:cTn>
                              </p:par>
                              <p:par>
                                <p:cTn id="8" presetID="22" presetClass="entr" presetSubtype="8" fill="hold" grpId="1" nodeType="withEffect">
                                  <p:stCondLst>
                                    <p:cond delay="0"/>
                                  </p:stCondLst>
                                  <p:iterate>
                                    <p:tmAbs val="0"/>
                                  </p:iterate>
                                  <p:childTnLst>
                                    <p:set>
                                      <p:cBhvr>
                                        <p:cTn id="9" fill="hold"/>
                                        <p:tgtEl>
                                          <p:spTgt spid="1088">
                                            <p:txEl>
                                              <p:pRg st="0" end="0"/>
                                            </p:txEl>
                                          </p:spTgt>
                                        </p:tgtEl>
                                        <p:attrNameLst>
                                          <p:attrName>style.visibility</p:attrName>
                                        </p:attrNameLst>
                                      </p:cBhvr>
                                      <p:to>
                                        <p:strVal val="visible"/>
                                      </p:to>
                                    </p:set>
                                    <p:animEffect transition="in" filter="wipe(left)">
                                      <p:cBhvr>
                                        <p:cTn id="10" dur="400"/>
                                        <p:tgtEl>
                                          <p:spTgt spid="1088">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1" nodeType="clickEffect">
                                  <p:stCondLst>
                                    <p:cond delay="0"/>
                                  </p:stCondLst>
                                  <p:iterate>
                                    <p:tmAbs val="0"/>
                                  </p:iterate>
                                  <p:childTnLst>
                                    <p:set>
                                      <p:cBhvr>
                                        <p:cTn id="14" fill="hold"/>
                                        <p:tgtEl>
                                          <p:spTgt spid="1088">
                                            <p:txEl>
                                              <p:pRg st="1" end="1"/>
                                            </p:txEl>
                                          </p:spTgt>
                                        </p:tgtEl>
                                        <p:attrNameLst>
                                          <p:attrName>style.visibility</p:attrName>
                                        </p:attrNameLst>
                                      </p:cBhvr>
                                      <p:to>
                                        <p:strVal val="visible"/>
                                      </p:to>
                                    </p:set>
                                    <p:animEffect transition="in" filter="wipe(left)">
                                      <p:cBhvr>
                                        <p:cTn id="15" dur="400"/>
                                        <p:tgtEl>
                                          <p:spTgt spid="1088">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1" nodeType="clickEffect">
                                  <p:stCondLst>
                                    <p:cond delay="0"/>
                                  </p:stCondLst>
                                  <p:iterate>
                                    <p:tmAbs val="0"/>
                                  </p:iterate>
                                  <p:childTnLst>
                                    <p:set>
                                      <p:cBhvr>
                                        <p:cTn id="19" fill="hold"/>
                                        <p:tgtEl>
                                          <p:spTgt spid="1088">
                                            <p:txEl>
                                              <p:pRg st="2" end="2"/>
                                            </p:txEl>
                                          </p:spTgt>
                                        </p:tgtEl>
                                        <p:attrNameLst>
                                          <p:attrName>style.visibility</p:attrName>
                                        </p:attrNameLst>
                                      </p:cBhvr>
                                      <p:to>
                                        <p:strVal val="visible"/>
                                      </p:to>
                                    </p:set>
                                    <p:animEffect transition="in" filter="wipe(left)">
                                      <p:cBhvr>
                                        <p:cTn id="20" dur="400"/>
                                        <p:tgtEl>
                                          <p:spTgt spid="1088">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1" nodeType="clickEffect">
                                  <p:stCondLst>
                                    <p:cond delay="0"/>
                                  </p:stCondLst>
                                  <p:iterate>
                                    <p:tmAbs val="0"/>
                                  </p:iterate>
                                  <p:childTnLst>
                                    <p:set>
                                      <p:cBhvr>
                                        <p:cTn id="24" fill="hold"/>
                                        <p:tgtEl>
                                          <p:spTgt spid="1088">
                                            <p:txEl>
                                              <p:pRg st="3" end="3"/>
                                            </p:txEl>
                                          </p:spTgt>
                                        </p:tgtEl>
                                        <p:attrNameLst>
                                          <p:attrName>style.visibility</p:attrName>
                                        </p:attrNameLst>
                                      </p:cBhvr>
                                      <p:to>
                                        <p:strVal val="visible"/>
                                      </p:to>
                                    </p:set>
                                    <p:animEffect transition="in" filter="wipe(left)">
                                      <p:cBhvr>
                                        <p:cTn id="25" dur="400"/>
                                        <p:tgtEl>
                                          <p:spTgt spid="1088">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1" nodeType="clickEffect">
                                  <p:stCondLst>
                                    <p:cond delay="0"/>
                                  </p:stCondLst>
                                  <p:iterate>
                                    <p:tmAbs val="0"/>
                                  </p:iterate>
                                  <p:childTnLst>
                                    <p:set>
                                      <p:cBhvr>
                                        <p:cTn id="29" fill="hold"/>
                                        <p:tgtEl>
                                          <p:spTgt spid="1088">
                                            <p:txEl>
                                              <p:pRg st="4" end="4"/>
                                            </p:txEl>
                                          </p:spTgt>
                                        </p:tgtEl>
                                        <p:attrNameLst>
                                          <p:attrName>style.visibility</p:attrName>
                                        </p:attrNameLst>
                                      </p:cBhvr>
                                      <p:to>
                                        <p:strVal val="visible"/>
                                      </p:to>
                                    </p:set>
                                    <p:animEffect transition="in" filter="wipe(left)">
                                      <p:cBhvr>
                                        <p:cTn id="30" dur="400"/>
                                        <p:tgtEl>
                                          <p:spTgt spid="1088">
                                            <p:txEl>
                                              <p:pRg st="4" end="4"/>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1" nodeType="clickEffect">
                                  <p:stCondLst>
                                    <p:cond delay="0"/>
                                  </p:stCondLst>
                                  <p:iterate>
                                    <p:tmAbs val="0"/>
                                  </p:iterate>
                                  <p:childTnLst>
                                    <p:set>
                                      <p:cBhvr>
                                        <p:cTn id="34" fill="hold"/>
                                        <p:tgtEl>
                                          <p:spTgt spid="1088">
                                            <p:txEl>
                                              <p:pRg st="5" end="5"/>
                                            </p:txEl>
                                          </p:spTgt>
                                        </p:tgtEl>
                                        <p:attrNameLst>
                                          <p:attrName>style.visibility</p:attrName>
                                        </p:attrNameLst>
                                      </p:cBhvr>
                                      <p:to>
                                        <p:strVal val="visible"/>
                                      </p:to>
                                    </p:set>
                                    <p:animEffect transition="in" filter="wipe(left)">
                                      <p:cBhvr>
                                        <p:cTn id="35" dur="400"/>
                                        <p:tgtEl>
                                          <p:spTgt spid="1088">
                                            <p:txEl>
                                              <p:pRg st="5" end="5"/>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22" presetClass="entr" presetSubtype="8" fill="hold" grpId="1" nodeType="clickEffect">
                                  <p:stCondLst>
                                    <p:cond delay="0"/>
                                  </p:stCondLst>
                                  <p:iterate>
                                    <p:tmAbs val="0"/>
                                  </p:iterate>
                                  <p:childTnLst>
                                    <p:set>
                                      <p:cBhvr>
                                        <p:cTn id="39" fill="hold"/>
                                        <p:tgtEl>
                                          <p:spTgt spid="1088">
                                            <p:txEl>
                                              <p:pRg st="6" end="6"/>
                                            </p:txEl>
                                          </p:spTgt>
                                        </p:tgtEl>
                                        <p:attrNameLst>
                                          <p:attrName>style.visibility</p:attrName>
                                        </p:attrNameLst>
                                      </p:cBhvr>
                                      <p:to>
                                        <p:strVal val="visible"/>
                                      </p:to>
                                    </p:set>
                                    <p:animEffect transition="in" filter="wipe(left)">
                                      <p:cBhvr>
                                        <p:cTn id="40" dur="400"/>
                                        <p:tgtEl>
                                          <p:spTgt spid="1088">
                                            <p:txEl>
                                              <p:pRg st="6" end="6"/>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22" presetClass="entr" presetSubtype="8" fill="hold" grpId="1" nodeType="clickEffect">
                                  <p:stCondLst>
                                    <p:cond delay="0"/>
                                  </p:stCondLst>
                                  <p:iterate>
                                    <p:tmAbs val="0"/>
                                  </p:iterate>
                                  <p:childTnLst>
                                    <p:set>
                                      <p:cBhvr>
                                        <p:cTn id="44" fill="hold"/>
                                        <p:tgtEl>
                                          <p:spTgt spid="1088">
                                            <p:txEl>
                                              <p:pRg st="7" end="7"/>
                                            </p:txEl>
                                          </p:spTgt>
                                        </p:tgtEl>
                                        <p:attrNameLst>
                                          <p:attrName>style.visibility</p:attrName>
                                        </p:attrNameLst>
                                      </p:cBhvr>
                                      <p:to>
                                        <p:strVal val="visible"/>
                                      </p:to>
                                    </p:set>
                                    <p:animEffect transition="in" filter="wipe(left)">
                                      <p:cBhvr>
                                        <p:cTn id="45" dur="400"/>
                                        <p:tgtEl>
                                          <p:spTgt spid="1088">
                                            <p:txEl>
                                              <p:pRg st="7" end="7"/>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8" fill="hold" grpId="1" nodeType="clickEffect">
                                  <p:stCondLst>
                                    <p:cond delay="0"/>
                                  </p:stCondLst>
                                  <p:iterate>
                                    <p:tmAbs val="0"/>
                                  </p:iterate>
                                  <p:childTnLst>
                                    <p:set>
                                      <p:cBhvr>
                                        <p:cTn id="49" fill="hold"/>
                                        <p:tgtEl>
                                          <p:spTgt spid="1088">
                                            <p:txEl>
                                              <p:pRg st="8" end="8"/>
                                            </p:txEl>
                                          </p:spTgt>
                                        </p:tgtEl>
                                        <p:attrNameLst>
                                          <p:attrName>style.visibility</p:attrName>
                                        </p:attrNameLst>
                                      </p:cBhvr>
                                      <p:to>
                                        <p:strVal val="visible"/>
                                      </p:to>
                                    </p:set>
                                    <p:animEffect transition="in" filter="wipe(left)">
                                      <p:cBhvr>
                                        <p:cTn id="50" dur="400"/>
                                        <p:tgtEl>
                                          <p:spTgt spid="1088">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grpId="1" nodeType="clickEffect">
                                  <p:stCondLst>
                                    <p:cond delay="0"/>
                                  </p:stCondLst>
                                  <p:iterate>
                                    <p:tmAbs val="0"/>
                                  </p:iterate>
                                  <p:childTnLst>
                                    <p:set>
                                      <p:cBhvr>
                                        <p:cTn id="54" fill="hold"/>
                                        <p:tgtEl>
                                          <p:spTgt spid="1088">
                                            <p:txEl>
                                              <p:pRg st="9" end="9"/>
                                            </p:txEl>
                                          </p:spTgt>
                                        </p:tgtEl>
                                        <p:attrNameLst>
                                          <p:attrName>style.visibility</p:attrName>
                                        </p:attrNameLst>
                                      </p:cBhvr>
                                      <p:to>
                                        <p:strVal val="visible"/>
                                      </p:to>
                                    </p:set>
                                    <p:animEffect transition="in" filter="wipe(left)">
                                      <p:cBhvr>
                                        <p:cTn id="55" dur="400"/>
                                        <p:tgtEl>
                                          <p:spTgt spid="1088">
                                            <p:txEl>
                                              <p:pRg st="9" end="9"/>
                                            </p:txEl>
                                          </p:spTgt>
                                        </p:tgtEl>
                                      </p:cBhvr>
                                    </p:animEffect>
                                  </p:childTnLst>
                                </p:cTn>
                              </p:par>
                            </p:childTnLst>
                          </p:cTn>
                        </p:par>
                        <p:par>
                          <p:cTn id="56" fill="hold">
                            <p:stCondLst>
                              <p:cond delay="400"/>
                            </p:stCondLst>
                            <p:childTnLst>
                              <p:par>
                                <p:cTn id="57" presetID="22" presetClass="entr" presetSubtype="8" fill="hold" grpId="1" nodeType="afterEffect">
                                  <p:stCondLst>
                                    <p:cond delay="0"/>
                                  </p:stCondLst>
                                  <p:iterate>
                                    <p:tmAbs val="0"/>
                                  </p:iterate>
                                  <p:childTnLst>
                                    <p:set>
                                      <p:cBhvr>
                                        <p:cTn id="58" fill="hold"/>
                                        <p:tgtEl>
                                          <p:spTgt spid="1088">
                                            <p:txEl>
                                              <p:pRg st="10" end="10"/>
                                            </p:txEl>
                                          </p:spTgt>
                                        </p:tgtEl>
                                        <p:attrNameLst>
                                          <p:attrName>style.visibility</p:attrName>
                                        </p:attrNameLst>
                                      </p:cBhvr>
                                      <p:to>
                                        <p:strVal val="visible"/>
                                      </p:to>
                                    </p:set>
                                    <p:animEffect transition="in" filter="wipe(left)">
                                      <p:cBhvr>
                                        <p:cTn id="59" dur="400"/>
                                        <p:tgtEl>
                                          <p:spTgt spid="1088">
                                            <p:txEl>
                                              <p:pRg st="10" end="10"/>
                                            </p:txEl>
                                          </p:spTgt>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1" nodeType="clickEffect">
                                  <p:stCondLst>
                                    <p:cond delay="0"/>
                                  </p:stCondLst>
                                  <p:iterate>
                                    <p:tmAbs val="0"/>
                                  </p:iterate>
                                  <p:childTnLst>
                                    <p:set>
                                      <p:cBhvr>
                                        <p:cTn id="63" fill="hold"/>
                                        <p:tgtEl>
                                          <p:spTgt spid="1088">
                                            <p:txEl>
                                              <p:pRg st="11" end="11"/>
                                            </p:txEl>
                                          </p:spTgt>
                                        </p:tgtEl>
                                        <p:attrNameLst>
                                          <p:attrName>style.visibility</p:attrName>
                                        </p:attrNameLst>
                                      </p:cBhvr>
                                      <p:to>
                                        <p:strVal val="visible"/>
                                      </p:to>
                                    </p:set>
                                    <p:animEffect transition="in" filter="wipe(left)">
                                      <p:cBhvr>
                                        <p:cTn id="64" dur="400"/>
                                        <p:tgtEl>
                                          <p:spTgt spid="1088">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8" grpId="1" build="p" bldLvl="5" animBg="1" advAuto="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 name="Limitations:                   Zero-Copy semantics vs Copy Semantics…"/>
          <p:cNvSpPr txBox="1">
            <a:spLocks noGrp="1"/>
          </p:cNvSpPr>
          <p:nvPr>
            <p:ph type="body" idx="1"/>
          </p:nvPr>
        </p:nvSpPr>
        <p:spPr>
          <a:prstGeom prst="rect">
            <a:avLst/>
          </a:prstGeom>
        </p:spPr>
        <p:txBody>
          <a:bodyPr/>
          <a:lstStyle/>
          <a:p>
            <a:r>
              <a:t>Limitations:</a:t>
            </a:r>
            <a:br/>
            <a:r>
              <a:t>                  Zero-Copy semantics vs Copy Semantics</a:t>
            </a:r>
          </a:p>
          <a:p>
            <a:pPr marL="1791368" lvl="3" indent="-267368">
              <a:buClrTx/>
              <a:buSzPct val="100000"/>
              <a:buFontTx/>
              <a:buAutoNum type="arabicPeriod"/>
            </a:pPr>
            <a:r>
              <a:t>Buffers change ownership.</a:t>
            </a:r>
          </a:p>
          <a:p>
            <a:pPr marL="2105526" lvl="5" indent="-200526">
              <a:spcBef>
                <a:spcPts val="1500"/>
              </a:spcBef>
              <a:buClrTx/>
              <a:buSzPct val="100000"/>
              <a:buFontTx/>
              <a:buChar char="•"/>
            </a:pPr>
            <a:r>
              <a:t>On TX the buffer is owned by Kernel</a:t>
            </a:r>
          </a:p>
          <a:p>
            <a:pPr marL="1791368" lvl="3" indent="-267368">
              <a:buClrTx/>
              <a:buSzPct val="100000"/>
              <a:buFontTx/>
              <a:buAutoNum type="arabicPeriod"/>
            </a:pPr>
            <a:r>
              <a:t>No serialisation/linearisation.</a:t>
            </a:r>
          </a:p>
          <a:p>
            <a:pPr marL="2105526" lvl="5" indent="-200526">
              <a:spcBef>
                <a:spcPts val="1500"/>
              </a:spcBef>
              <a:buClrTx/>
              <a:buSzPct val="100000"/>
              <a:buFontTx/>
              <a:buChar char="•"/>
            </a:pPr>
            <a:r>
              <a:t>On RX the buffer size is limited by MTU* </a:t>
            </a:r>
          </a:p>
        </p:txBody>
      </p:sp>
      <p:sp>
        <p:nvSpPr>
          <p:cNvPr id="109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8</a:t>
            </a:fld>
            <a:endParaRPr/>
          </a:p>
        </p:txBody>
      </p:sp>
      <p:sp>
        <p:nvSpPr>
          <p:cNvPr id="1097" name="Zero-Copy with Shared Memory"/>
          <p:cNvSpPr txBox="1">
            <a:spLocks noGrp="1"/>
          </p:cNvSpPr>
          <p:nvPr>
            <p:ph type="title"/>
          </p:nvPr>
        </p:nvSpPr>
        <p:spPr>
          <a:prstGeom prst="rect">
            <a:avLst/>
          </a:prstGeom>
        </p:spPr>
        <p:txBody>
          <a:bodyPr>
            <a:noAutofit/>
          </a:bodyPr>
          <a:lstStyle>
            <a:lvl1pPr defTabSz="822959">
              <a:defRPr sz="2520"/>
            </a:lvl1pPr>
          </a:lstStyle>
          <a:p>
            <a:r>
              <a:rPr sz="2800" dirty="0"/>
              <a:t>Zero-Copy with Shared Memory</a:t>
            </a:r>
          </a:p>
        </p:txBody>
      </p:sp>
      <p:sp>
        <p:nvSpPr>
          <p:cNvPr id="1098" name="Subtitle 2"/>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t>Where is the catch?</a:t>
            </a: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stCondLst>
                      <p:childTnLst>
                        <p:par>
                          <p:cTn id="4" fill="hold">
                            <p:stCondLst>
                              <p:cond delay="0"/>
                            </p:stCondLst>
                            <p:childTnLst>
                              <p:par>
                                <p:cTn id="5" presetID="22" presetClass="entr" presetSubtype="8" fill="hold" grpId="1" nodeType="clickEffect">
                                  <p:stCondLst>
                                    <p:cond delay="0"/>
                                  </p:stCondLst>
                                  <p:iterate>
                                    <p:tmAbs val="0"/>
                                  </p:iterate>
                                  <p:childTnLst>
                                    <p:set>
                                      <p:cBhvr>
                                        <p:cTn id="6" fill="hold"/>
                                        <p:tgtEl>
                                          <p:spTgt spid="1095">
                                            <p:bg/>
                                          </p:spTgt>
                                        </p:tgtEl>
                                        <p:attrNameLst>
                                          <p:attrName>style.visibility</p:attrName>
                                        </p:attrNameLst>
                                      </p:cBhvr>
                                      <p:to>
                                        <p:strVal val="visible"/>
                                      </p:to>
                                    </p:set>
                                    <p:animEffect transition="in" filter="wipe(left)">
                                      <p:cBhvr>
                                        <p:cTn id="7" dur="400"/>
                                        <p:tgtEl>
                                          <p:spTgt spid="1095">
                                            <p:bg/>
                                          </p:spTgt>
                                        </p:tgtEl>
                                      </p:cBhvr>
                                    </p:animEffect>
                                  </p:childTnLst>
                                </p:cTn>
                              </p:par>
                              <p:par>
                                <p:cTn id="8" presetID="22" presetClass="entr" presetSubtype="8" fill="hold" grpId="1" nodeType="withEffect">
                                  <p:stCondLst>
                                    <p:cond delay="0"/>
                                  </p:stCondLst>
                                  <p:iterate>
                                    <p:tmAbs val="0"/>
                                  </p:iterate>
                                  <p:childTnLst>
                                    <p:set>
                                      <p:cBhvr>
                                        <p:cTn id="9" fill="hold"/>
                                        <p:tgtEl>
                                          <p:spTgt spid="1095">
                                            <p:txEl>
                                              <p:pRg st="0" end="0"/>
                                            </p:txEl>
                                          </p:spTgt>
                                        </p:tgtEl>
                                        <p:attrNameLst>
                                          <p:attrName>style.visibility</p:attrName>
                                        </p:attrNameLst>
                                      </p:cBhvr>
                                      <p:to>
                                        <p:strVal val="visible"/>
                                      </p:to>
                                    </p:set>
                                    <p:animEffect transition="in" filter="wipe(left)">
                                      <p:cBhvr>
                                        <p:cTn id="10" dur="400"/>
                                        <p:tgtEl>
                                          <p:spTgt spid="1095">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1" nodeType="clickEffect">
                                  <p:stCondLst>
                                    <p:cond delay="0"/>
                                  </p:stCondLst>
                                  <p:iterate>
                                    <p:tmAbs val="0"/>
                                  </p:iterate>
                                  <p:childTnLst>
                                    <p:set>
                                      <p:cBhvr>
                                        <p:cTn id="14" fill="hold"/>
                                        <p:tgtEl>
                                          <p:spTgt spid="1095">
                                            <p:txEl>
                                              <p:pRg st="1" end="1"/>
                                            </p:txEl>
                                          </p:spTgt>
                                        </p:tgtEl>
                                        <p:attrNameLst>
                                          <p:attrName>style.visibility</p:attrName>
                                        </p:attrNameLst>
                                      </p:cBhvr>
                                      <p:to>
                                        <p:strVal val="visible"/>
                                      </p:to>
                                    </p:set>
                                    <p:animEffect transition="in" filter="wipe(left)">
                                      <p:cBhvr>
                                        <p:cTn id="15" dur="400"/>
                                        <p:tgtEl>
                                          <p:spTgt spid="1095">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1" nodeType="clickEffect">
                                  <p:stCondLst>
                                    <p:cond delay="0"/>
                                  </p:stCondLst>
                                  <p:iterate>
                                    <p:tmAbs val="0"/>
                                  </p:iterate>
                                  <p:childTnLst>
                                    <p:set>
                                      <p:cBhvr>
                                        <p:cTn id="19" fill="hold"/>
                                        <p:tgtEl>
                                          <p:spTgt spid="1095">
                                            <p:txEl>
                                              <p:pRg st="2" end="2"/>
                                            </p:txEl>
                                          </p:spTgt>
                                        </p:tgtEl>
                                        <p:attrNameLst>
                                          <p:attrName>style.visibility</p:attrName>
                                        </p:attrNameLst>
                                      </p:cBhvr>
                                      <p:to>
                                        <p:strVal val="visible"/>
                                      </p:to>
                                    </p:set>
                                    <p:animEffect transition="in" filter="wipe(left)">
                                      <p:cBhvr>
                                        <p:cTn id="20" dur="400"/>
                                        <p:tgtEl>
                                          <p:spTgt spid="1095">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1" nodeType="clickEffect">
                                  <p:stCondLst>
                                    <p:cond delay="0"/>
                                  </p:stCondLst>
                                  <p:iterate>
                                    <p:tmAbs val="0"/>
                                  </p:iterate>
                                  <p:childTnLst>
                                    <p:set>
                                      <p:cBhvr>
                                        <p:cTn id="24" fill="hold"/>
                                        <p:tgtEl>
                                          <p:spTgt spid="1095">
                                            <p:txEl>
                                              <p:pRg st="3" end="3"/>
                                            </p:txEl>
                                          </p:spTgt>
                                        </p:tgtEl>
                                        <p:attrNameLst>
                                          <p:attrName>style.visibility</p:attrName>
                                        </p:attrNameLst>
                                      </p:cBhvr>
                                      <p:to>
                                        <p:strVal val="visible"/>
                                      </p:to>
                                    </p:set>
                                    <p:animEffect transition="in" filter="wipe(left)">
                                      <p:cBhvr>
                                        <p:cTn id="25" dur="400"/>
                                        <p:tgtEl>
                                          <p:spTgt spid="1095">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1" nodeType="clickEffect">
                                  <p:stCondLst>
                                    <p:cond delay="0"/>
                                  </p:stCondLst>
                                  <p:iterate>
                                    <p:tmAbs val="0"/>
                                  </p:iterate>
                                  <p:childTnLst>
                                    <p:set>
                                      <p:cBhvr>
                                        <p:cTn id="29" fill="hold"/>
                                        <p:tgtEl>
                                          <p:spTgt spid="1095">
                                            <p:txEl>
                                              <p:pRg st="4" end="4"/>
                                            </p:txEl>
                                          </p:spTgt>
                                        </p:tgtEl>
                                        <p:attrNameLst>
                                          <p:attrName>style.visibility</p:attrName>
                                        </p:attrNameLst>
                                      </p:cBhvr>
                                      <p:to>
                                        <p:strVal val="visible"/>
                                      </p:to>
                                    </p:set>
                                    <p:animEffect transition="in" filter="wipe(left)">
                                      <p:cBhvr>
                                        <p:cTn id="30" dur="400"/>
                                        <p:tgtEl>
                                          <p:spTgt spid="109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 grpId="1" build="p" bldLvl="5" animBg="1" advAuto="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 name="Content Placeholder 1"/>
          <p:cNvSpPr txBox="1">
            <a:spLocks noGrp="1"/>
          </p:cNvSpPr>
          <p:nvPr>
            <p:ph type="body" idx="1"/>
          </p:nvPr>
        </p:nvSpPr>
        <p:spPr>
          <a:xfrm>
            <a:off x="616505" y="1204545"/>
            <a:ext cx="10972801" cy="4967656"/>
          </a:xfrm>
          <a:prstGeom prst="rect">
            <a:avLst/>
          </a:prstGeom>
        </p:spPr>
        <p:txBody>
          <a:bodyPr/>
          <a:lstStyle/>
          <a:p>
            <a:r>
              <a:rPr dirty="0"/>
              <a:t>The Choice:</a:t>
            </a:r>
          </a:p>
          <a:p>
            <a:pPr marL="342900" indent="-342900"/>
            <a:r>
              <a:rPr dirty="0"/>
              <a:t>BSD Sockets</a:t>
            </a:r>
          </a:p>
          <a:p>
            <a:pPr marL="1201737" lvl="2" indent="-457200">
              <a:spcBef>
                <a:spcPts val="300"/>
              </a:spcBef>
              <a:buClr>
                <a:srgbClr val="3F3F3F"/>
              </a:buClr>
              <a:buFont typeface="Helvetica"/>
              <a:defRPr sz="1600"/>
            </a:pPr>
            <a:endParaRPr dirty="0"/>
          </a:p>
          <a:p>
            <a:pPr marL="1201737" lvl="2" indent="-457200">
              <a:spcBef>
                <a:spcPts val="300"/>
              </a:spcBef>
              <a:buClr>
                <a:srgbClr val="3F3F3F"/>
              </a:buClr>
              <a:buFont typeface="Helvetica"/>
              <a:defRPr sz="1600"/>
            </a:pPr>
            <a:endParaRPr dirty="0"/>
          </a:p>
          <a:p>
            <a:pPr marL="1201737" lvl="2" indent="-457200">
              <a:spcBef>
                <a:spcPts val="300"/>
              </a:spcBef>
              <a:buClr>
                <a:srgbClr val="3F3F3F"/>
              </a:buClr>
              <a:buFont typeface="Helvetica"/>
              <a:defRPr sz="1600"/>
            </a:pPr>
            <a:endParaRPr dirty="0"/>
          </a:p>
          <a:p>
            <a:pPr marL="1201737" lvl="2" indent="-457200">
              <a:spcBef>
                <a:spcPts val="300"/>
              </a:spcBef>
              <a:buClr>
                <a:srgbClr val="3F3F3F"/>
              </a:buClr>
              <a:buFont typeface="Helvetica"/>
              <a:defRPr sz="1600"/>
            </a:pPr>
            <a:endParaRPr dirty="0"/>
          </a:p>
          <a:p>
            <a:pPr marL="1201737" lvl="2" indent="-457200">
              <a:spcBef>
                <a:spcPts val="300"/>
              </a:spcBef>
              <a:buClr>
                <a:srgbClr val="3F3F3F"/>
              </a:buClr>
              <a:buFont typeface="Helvetica"/>
              <a:defRPr sz="1600"/>
            </a:pPr>
            <a:endParaRPr dirty="0"/>
          </a:p>
          <a:p>
            <a:pPr marL="0" lvl="2" indent="744537">
              <a:spcBef>
                <a:spcPts val="300"/>
              </a:spcBef>
              <a:buSzTx/>
              <a:buNone/>
              <a:defRPr sz="1600"/>
            </a:pPr>
            <a:endParaRPr dirty="0"/>
          </a:p>
          <a:p>
            <a:pPr marL="0" lvl="1" indent="457200">
              <a:spcBef>
                <a:spcPts val="300"/>
              </a:spcBef>
              <a:buSzTx/>
              <a:buNone/>
              <a:defRPr sz="2200"/>
            </a:pPr>
            <a:r>
              <a:rPr dirty="0"/>
              <a:t>Kernel Bypass</a:t>
            </a:r>
          </a:p>
        </p:txBody>
      </p:sp>
      <p:sp>
        <p:nvSpPr>
          <p:cNvPr id="1036" name="TextBox 8"/>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9</a:t>
            </a:fld>
            <a:endParaRPr/>
          </a:p>
        </p:txBody>
      </p:sp>
      <p:sp>
        <p:nvSpPr>
          <p:cNvPr id="1038" name="Title 3"/>
          <p:cNvSpPr txBox="1">
            <a:spLocks noGrp="1"/>
          </p:cNvSpPr>
          <p:nvPr>
            <p:ph type="title"/>
          </p:nvPr>
        </p:nvSpPr>
        <p:spPr>
          <a:prstGeom prst="rect">
            <a:avLst/>
          </a:prstGeom>
        </p:spPr>
        <p:txBody>
          <a:bodyPr>
            <a:noAutofit/>
          </a:bodyPr>
          <a:lstStyle>
            <a:lvl1pPr defTabSz="822959">
              <a:defRPr sz="2520"/>
            </a:lvl1pPr>
          </a:lstStyle>
          <a:p>
            <a:r>
              <a:rPr lang="en-US" sz="2800" dirty="0"/>
              <a:t>MAIO in practice</a:t>
            </a:r>
            <a:endParaRPr sz="2800" dirty="0"/>
          </a:p>
        </p:txBody>
      </p:sp>
      <p:sp>
        <p:nvSpPr>
          <p:cNvPr id="1039" name="Rectangle 2"/>
          <p:cNvSpPr/>
          <p:nvPr/>
        </p:nvSpPr>
        <p:spPr>
          <a:xfrm>
            <a:off x="1337094" y="2415039"/>
            <a:ext cx="8039766" cy="984885"/>
          </a:xfrm>
          <a:prstGeom prst="rect">
            <a:avLst/>
          </a:prstGeom>
          <a:solidFill>
            <a:srgbClr val="FFFFFF"/>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ctr">
            <a:spAutoFit/>
          </a:bodyPr>
          <a:lstStyle/>
          <a:p>
            <a:pPr>
              <a:defRPr sz="1600">
                <a:solidFill>
                  <a:srgbClr val="0077AA"/>
                </a:solidFill>
              </a:defRPr>
            </a:pPr>
            <a:r>
              <a:rPr dirty="0"/>
              <a:t>import</a:t>
            </a:r>
            <a:r>
              <a:rPr dirty="0">
                <a:solidFill>
                  <a:srgbClr val="000000"/>
                </a:solidFill>
              </a:rPr>
              <a:t> socket 					   </a:t>
            </a:r>
            <a:r>
              <a:rPr lang="en-US" dirty="0">
                <a:solidFill>
                  <a:srgbClr val="000000"/>
                </a:solidFill>
              </a:rPr>
              <a:t>				</a:t>
            </a:r>
            <a:r>
              <a:rPr dirty="0">
                <a:solidFill>
                  <a:srgbClr val="168BFF"/>
                </a:solidFill>
              </a:rPr>
              <a:t>/* Import */</a:t>
            </a:r>
          </a:p>
          <a:p>
            <a:pPr>
              <a:defRPr sz="1600">
                <a:solidFill>
                  <a:srgbClr val="000000"/>
                </a:solidFill>
              </a:defRPr>
            </a:pPr>
            <a:r>
              <a:rPr dirty="0"/>
              <a:t>s </a:t>
            </a:r>
            <a:r>
              <a:rPr dirty="0">
                <a:solidFill>
                  <a:srgbClr val="A67F59"/>
                </a:solidFill>
              </a:rPr>
              <a:t>=</a:t>
            </a:r>
            <a:r>
              <a:rPr dirty="0"/>
              <a:t> </a:t>
            </a:r>
            <a:r>
              <a:rPr dirty="0" err="1"/>
              <a:t>socket</a:t>
            </a:r>
            <a:r>
              <a:rPr dirty="0" err="1">
                <a:solidFill>
                  <a:srgbClr val="999999"/>
                </a:solidFill>
              </a:rPr>
              <a:t>.</a:t>
            </a:r>
            <a:r>
              <a:rPr dirty="0" err="1"/>
              <a:t>socket</a:t>
            </a:r>
            <a:r>
              <a:rPr dirty="0">
                <a:solidFill>
                  <a:srgbClr val="999999"/>
                </a:solidFill>
              </a:rPr>
              <a:t>(</a:t>
            </a:r>
            <a:r>
              <a:rPr dirty="0" err="1"/>
              <a:t>socket</a:t>
            </a:r>
            <a:r>
              <a:rPr dirty="0" err="1">
                <a:solidFill>
                  <a:srgbClr val="999999"/>
                </a:solidFill>
              </a:rPr>
              <a:t>.</a:t>
            </a:r>
            <a:r>
              <a:rPr dirty="0" err="1"/>
              <a:t>AF_INET</a:t>
            </a:r>
            <a:r>
              <a:rPr dirty="0" err="1">
                <a:solidFill>
                  <a:srgbClr val="999999"/>
                </a:solidFill>
              </a:rPr>
              <a:t>,</a:t>
            </a:r>
            <a:r>
              <a:rPr dirty="0" err="1"/>
              <a:t>socket</a:t>
            </a:r>
            <a:r>
              <a:rPr dirty="0" err="1">
                <a:solidFill>
                  <a:srgbClr val="999999"/>
                </a:solidFill>
              </a:rPr>
              <a:t>.</a:t>
            </a:r>
            <a:r>
              <a:rPr dirty="0" err="1"/>
              <a:t>SOCK_STREAM</a:t>
            </a:r>
            <a:r>
              <a:rPr dirty="0">
                <a:solidFill>
                  <a:srgbClr val="202020"/>
                </a:solidFill>
              </a:rPr>
              <a:t>)       </a:t>
            </a:r>
            <a:r>
              <a:rPr lang="en-US" dirty="0">
                <a:solidFill>
                  <a:srgbClr val="202020"/>
                </a:solidFill>
              </a:rPr>
              <a:t>	</a:t>
            </a:r>
            <a:r>
              <a:rPr dirty="0">
                <a:solidFill>
                  <a:srgbClr val="168BFF"/>
                </a:solidFill>
              </a:rPr>
              <a:t>/* Create */</a:t>
            </a:r>
          </a:p>
          <a:p>
            <a:pPr>
              <a:defRPr sz="1600">
                <a:solidFill>
                  <a:srgbClr val="000000"/>
                </a:solidFill>
              </a:defRPr>
            </a:pPr>
            <a:r>
              <a:rPr dirty="0" err="1"/>
              <a:t>s</a:t>
            </a:r>
            <a:r>
              <a:rPr dirty="0" err="1">
                <a:solidFill>
                  <a:srgbClr val="999999"/>
                </a:solidFill>
              </a:rPr>
              <a:t>.</a:t>
            </a:r>
            <a:r>
              <a:rPr dirty="0" err="1"/>
              <a:t>connect</a:t>
            </a:r>
            <a:r>
              <a:rPr dirty="0">
                <a:solidFill>
                  <a:srgbClr val="999999"/>
                </a:solidFill>
              </a:rPr>
              <a:t>((</a:t>
            </a:r>
            <a:r>
              <a:rPr dirty="0">
                <a:solidFill>
                  <a:srgbClr val="669900"/>
                </a:solidFill>
              </a:rPr>
              <a:t>destination</a:t>
            </a:r>
            <a:r>
              <a:rPr dirty="0">
                <a:solidFill>
                  <a:srgbClr val="999999"/>
                </a:solidFill>
              </a:rPr>
              <a:t>,</a:t>
            </a:r>
            <a:r>
              <a:rPr dirty="0"/>
              <a:t> </a:t>
            </a:r>
            <a:r>
              <a:rPr dirty="0">
                <a:solidFill>
                  <a:srgbClr val="990055"/>
                </a:solidFill>
              </a:rPr>
              <a:t>port</a:t>
            </a:r>
            <a:r>
              <a:rPr dirty="0">
                <a:solidFill>
                  <a:srgbClr val="999999"/>
                </a:solidFill>
              </a:rPr>
              <a:t>))				   </a:t>
            </a:r>
            <a:r>
              <a:rPr lang="en-US" dirty="0">
                <a:solidFill>
                  <a:srgbClr val="999999"/>
                </a:solidFill>
              </a:rPr>
              <a:t>	          </a:t>
            </a:r>
            <a:r>
              <a:rPr dirty="0">
                <a:solidFill>
                  <a:srgbClr val="168BFF"/>
                </a:solidFill>
              </a:rPr>
              <a:t>/* Connect - Routing */ </a:t>
            </a:r>
          </a:p>
          <a:p>
            <a:pPr>
              <a:defRPr sz="1600">
                <a:solidFill>
                  <a:srgbClr val="000000"/>
                </a:solidFill>
              </a:defRPr>
            </a:pPr>
            <a:r>
              <a:rPr dirty="0" err="1"/>
              <a:t>s</a:t>
            </a:r>
            <a:r>
              <a:rPr dirty="0" err="1">
                <a:solidFill>
                  <a:srgbClr val="999999"/>
                </a:solidFill>
              </a:rPr>
              <a:t>.</a:t>
            </a:r>
            <a:r>
              <a:rPr dirty="0" err="1"/>
              <a:t>sendall</a:t>
            </a:r>
            <a:r>
              <a:rPr dirty="0">
                <a:solidFill>
                  <a:srgbClr val="999999"/>
                </a:solidFill>
              </a:rPr>
              <a:t>(</a:t>
            </a:r>
            <a:r>
              <a:rPr dirty="0">
                <a:solidFill>
                  <a:srgbClr val="669900"/>
                </a:solidFill>
              </a:rPr>
              <a:t>'Hello, world’</a:t>
            </a:r>
            <a:r>
              <a:rPr dirty="0">
                <a:solidFill>
                  <a:srgbClr val="999999"/>
                </a:solidFill>
              </a:rPr>
              <a:t>)</a:t>
            </a:r>
            <a:r>
              <a:rPr dirty="0">
                <a:solidFill>
                  <a:srgbClr val="717074"/>
                </a:solidFill>
              </a:rPr>
              <a:t> 				     </a:t>
            </a:r>
            <a:r>
              <a:rPr lang="en-US" dirty="0">
                <a:solidFill>
                  <a:srgbClr val="717074"/>
                </a:solidFill>
              </a:rPr>
              <a:t>                        </a:t>
            </a:r>
            <a:r>
              <a:rPr dirty="0">
                <a:solidFill>
                  <a:srgbClr val="168BFF"/>
                </a:solidFill>
              </a:rPr>
              <a:t>/* Send      - TCP/IP  */</a:t>
            </a:r>
          </a:p>
        </p:txBody>
      </p:sp>
      <p:sp>
        <p:nvSpPr>
          <p:cNvPr id="1050" name="Subtitle 2"/>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t>For fast networks &gt; 1 Gb/s </a:t>
            </a:r>
          </a:p>
        </p:txBody>
      </p:sp>
      <p:grpSp>
        <p:nvGrpSpPr>
          <p:cNvPr id="2" name="Group 1">
            <a:extLst>
              <a:ext uri="{FF2B5EF4-FFF2-40B4-BE49-F238E27FC236}">
                <a16:creationId xmlns:a16="http://schemas.microsoft.com/office/drawing/2014/main" id="{A94E1100-2837-460D-AB6D-87663E715A49}"/>
              </a:ext>
            </a:extLst>
          </p:cNvPr>
          <p:cNvGrpSpPr/>
          <p:nvPr/>
        </p:nvGrpSpPr>
        <p:grpSpPr>
          <a:xfrm>
            <a:off x="902602" y="4016694"/>
            <a:ext cx="7205582" cy="1970914"/>
            <a:chOff x="902602" y="4016694"/>
            <a:chExt cx="7205582" cy="1970914"/>
          </a:xfrm>
        </p:grpSpPr>
        <p:pic>
          <p:nvPicPr>
            <p:cNvPr id="1040" name="Graphic 10" descr="Graphic 10"/>
            <p:cNvPicPr>
              <a:picLocks noChangeAspect="1"/>
            </p:cNvPicPr>
            <p:nvPr/>
          </p:nvPicPr>
          <p:blipFill>
            <a:blip r:embed="rId3"/>
            <a:stretch>
              <a:fillRect/>
            </a:stretch>
          </p:blipFill>
          <p:spPr>
            <a:xfrm>
              <a:off x="902602" y="4236535"/>
              <a:ext cx="1198622" cy="1198623"/>
            </a:xfrm>
            <a:prstGeom prst="rect">
              <a:avLst/>
            </a:prstGeom>
            <a:ln w="12700">
              <a:miter lim="400000"/>
            </a:ln>
          </p:spPr>
        </p:pic>
        <p:pic>
          <p:nvPicPr>
            <p:cNvPr id="1041" name="Graphic 11" descr="Graphic 11"/>
            <p:cNvPicPr>
              <a:picLocks noChangeAspect="1"/>
            </p:cNvPicPr>
            <p:nvPr/>
          </p:nvPicPr>
          <p:blipFill>
            <a:blip r:embed="rId3"/>
            <a:stretch>
              <a:fillRect/>
            </a:stretch>
          </p:blipFill>
          <p:spPr>
            <a:xfrm>
              <a:off x="2161204" y="4830188"/>
              <a:ext cx="1030599" cy="1030599"/>
            </a:xfrm>
            <a:prstGeom prst="rect">
              <a:avLst/>
            </a:prstGeom>
            <a:ln w="12700">
              <a:miter lim="400000"/>
            </a:ln>
          </p:spPr>
        </p:pic>
        <p:pic>
          <p:nvPicPr>
            <p:cNvPr id="1042" name="Graphic 12" descr="Graphic 12"/>
            <p:cNvPicPr>
              <a:picLocks noChangeAspect="1"/>
            </p:cNvPicPr>
            <p:nvPr/>
          </p:nvPicPr>
          <p:blipFill>
            <a:blip r:embed="rId3"/>
            <a:stretch>
              <a:fillRect/>
            </a:stretch>
          </p:blipFill>
          <p:spPr>
            <a:xfrm>
              <a:off x="5312362" y="4068424"/>
              <a:ext cx="1366734" cy="1366734"/>
            </a:xfrm>
            <a:prstGeom prst="rect">
              <a:avLst/>
            </a:prstGeom>
            <a:ln w="12700">
              <a:miter lim="400000"/>
            </a:ln>
          </p:spPr>
        </p:pic>
        <p:pic>
          <p:nvPicPr>
            <p:cNvPr id="1043" name="Graphic 13" descr="Graphic 13"/>
            <p:cNvPicPr>
              <a:picLocks noChangeAspect="1"/>
            </p:cNvPicPr>
            <p:nvPr/>
          </p:nvPicPr>
          <p:blipFill>
            <a:blip r:embed="rId3"/>
            <a:stretch>
              <a:fillRect/>
            </a:stretch>
          </p:blipFill>
          <p:spPr>
            <a:xfrm>
              <a:off x="4363613" y="4710774"/>
              <a:ext cx="942680" cy="942680"/>
            </a:xfrm>
            <a:prstGeom prst="rect">
              <a:avLst/>
            </a:prstGeom>
            <a:ln w="12700">
              <a:miter lim="400000"/>
            </a:ln>
          </p:spPr>
        </p:pic>
        <p:pic>
          <p:nvPicPr>
            <p:cNvPr id="1044" name="Graphic 14" descr="Graphic 14"/>
            <p:cNvPicPr>
              <a:picLocks noChangeAspect="1"/>
            </p:cNvPicPr>
            <p:nvPr/>
          </p:nvPicPr>
          <p:blipFill>
            <a:blip r:embed="rId3"/>
            <a:stretch>
              <a:fillRect/>
            </a:stretch>
          </p:blipFill>
          <p:spPr>
            <a:xfrm>
              <a:off x="2976448" y="4120265"/>
              <a:ext cx="1146871" cy="1146871"/>
            </a:xfrm>
            <a:prstGeom prst="rect">
              <a:avLst/>
            </a:prstGeom>
            <a:ln w="12700">
              <a:miter lim="400000"/>
            </a:ln>
          </p:spPr>
        </p:pic>
        <p:pic>
          <p:nvPicPr>
            <p:cNvPr id="1045" name="Graphic 15" descr="Graphic 15"/>
            <p:cNvPicPr>
              <a:picLocks noChangeAspect="1"/>
            </p:cNvPicPr>
            <p:nvPr/>
          </p:nvPicPr>
          <p:blipFill>
            <a:blip r:embed="rId3"/>
            <a:stretch>
              <a:fillRect/>
            </a:stretch>
          </p:blipFill>
          <p:spPr>
            <a:xfrm>
              <a:off x="7077585" y="4710774"/>
              <a:ext cx="1030599" cy="1030599"/>
            </a:xfrm>
            <a:prstGeom prst="rect">
              <a:avLst/>
            </a:prstGeom>
            <a:ln w="12700">
              <a:miter lim="400000"/>
            </a:ln>
          </p:spPr>
        </p:pic>
        <p:pic>
          <p:nvPicPr>
            <p:cNvPr id="1046" name="Graphic 16" descr="Graphic 16"/>
            <p:cNvPicPr>
              <a:picLocks noChangeAspect="1"/>
            </p:cNvPicPr>
            <p:nvPr/>
          </p:nvPicPr>
          <p:blipFill>
            <a:blip r:embed="rId4"/>
            <a:stretch>
              <a:fillRect/>
            </a:stretch>
          </p:blipFill>
          <p:spPr>
            <a:xfrm>
              <a:off x="6426608" y="4704877"/>
              <a:ext cx="704851" cy="1104901"/>
            </a:xfrm>
            <a:prstGeom prst="rect">
              <a:avLst/>
            </a:prstGeom>
            <a:ln w="12700">
              <a:miter lim="400000"/>
            </a:ln>
          </p:spPr>
        </p:pic>
        <p:pic>
          <p:nvPicPr>
            <p:cNvPr id="1047" name="Graphic 17" descr="Graphic 17"/>
            <p:cNvPicPr>
              <a:picLocks noChangeAspect="1"/>
            </p:cNvPicPr>
            <p:nvPr/>
          </p:nvPicPr>
          <p:blipFill>
            <a:blip r:embed="rId4"/>
            <a:stretch>
              <a:fillRect/>
            </a:stretch>
          </p:blipFill>
          <p:spPr>
            <a:xfrm>
              <a:off x="3549884" y="4882707"/>
              <a:ext cx="704851" cy="1104901"/>
            </a:xfrm>
            <a:prstGeom prst="rect">
              <a:avLst/>
            </a:prstGeom>
            <a:ln w="12700">
              <a:miter lim="400000"/>
            </a:ln>
          </p:spPr>
        </p:pic>
        <p:pic>
          <p:nvPicPr>
            <p:cNvPr id="17" name="Graphic 17" descr="Graphic 17">
              <a:extLst>
                <a:ext uri="{FF2B5EF4-FFF2-40B4-BE49-F238E27FC236}">
                  <a16:creationId xmlns:a16="http://schemas.microsoft.com/office/drawing/2014/main" id="{B7F988FF-6F17-46D6-9498-C3E791C756CD}"/>
                </a:ext>
              </a:extLst>
            </p:cNvPr>
            <p:cNvPicPr>
              <a:picLocks noChangeAspect="1"/>
            </p:cNvPicPr>
            <p:nvPr/>
          </p:nvPicPr>
          <p:blipFill>
            <a:blip r:embed="rId4"/>
            <a:stretch>
              <a:fillRect/>
            </a:stretch>
          </p:blipFill>
          <p:spPr>
            <a:xfrm>
              <a:off x="4510689" y="4016694"/>
              <a:ext cx="414302" cy="649446"/>
            </a:xfrm>
            <a:prstGeom prst="rect">
              <a:avLst/>
            </a:prstGeom>
            <a:ln w="12700">
              <a:miter lim="400000"/>
            </a:ln>
          </p:spPr>
        </p:pic>
      </p:grpSp>
      <p:sp>
        <p:nvSpPr>
          <p:cNvPr id="19" name="TextBox 18">
            <a:extLst>
              <a:ext uri="{FF2B5EF4-FFF2-40B4-BE49-F238E27FC236}">
                <a16:creationId xmlns:a16="http://schemas.microsoft.com/office/drawing/2014/main" id="{35CBD7B1-B4EB-47AC-8B55-197E699FA035}"/>
              </a:ext>
            </a:extLst>
          </p:cNvPr>
          <p:cNvSpPr txBox="1"/>
          <p:nvPr/>
        </p:nvSpPr>
        <p:spPr>
          <a:xfrm>
            <a:off x="845219" y="3810717"/>
            <a:ext cx="2270960" cy="461665"/>
          </a:xfrm>
          <a:prstGeom prst="rect">
            <a:avLst/>
          </a:prstGeom>
          <a:solidFill>
            <a:schemeClr val="bg1"/>
          </a:solidFill>
        </p:spPr>
        <p:txBody>
          <a:bodyPr wrap="square" rtlCol="0">
            <a:spAutoFit/>
          </a:bodyPr>
          <a:lstStyle/>
          <a:p>
            <a:r>
              <a:rPr lang="en-US" sz="2400" dirty="0"/>
              <a:t>MAIO Sockets</a:t>
            </a:r>
          </a:p>
        </p:txBody>
      </p:sp>
    </p:spTree>
    <p:extLst>
      <p:ext uri="{BB962C8B-B14F-4D97-AF65-F5344CB8AC3E}">
        <p14:creationId xmlns:p14="http://schemas.microsoft.com/office/powerpoint/2010/main" val="2064136383"/>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xit" presetSubtype="10" fill="hold" nodeType="clickEffect">
                                  <p:stCondLst>
                                    <p:cond delay="0"/>
                                  </p:stCondLst>
                                  <p:childTnLst>
                                    <p:animEffect transition="out" filter="randombar(horizontal)">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14" presetClass="entr" presetSubtype="10" fill="hold" grpId="0" nodeType="withEffect">
                                  <p:stCondLst>
                                    <p:cond delay="0"/>
                                  </p:stCondLst>
                                  <p:childTnLst>
                                    <p:set>
                                      <p:cBhvr>
                                        <p:cTn id="9" dur="1" fill="hold">
                                          <p:stCondLst>
                                            <p:cond delay="0"/>
                                          </p:stCondLst>
                                        </p:cTn>
                                        <p:tgtEl>
                                          <p:spTgt spid="19"/>
                                        </p:tgtEl>
                                        <p:attrNameLst>
                                          <p:attrName>style.visibility</p:attrName>
                                        </p:attrNameLst>
                                      </p:cBhvr>
                                      <p:to>
                                        <p:strVal val="visible"/>
                                      </p:to>
                                    </p:set>
                                    <p:animEffect transition="in" filter="randombar(horizontal)">
                                      <p:cBhvr>
                                        <p:cTn id="10"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7" name="Content Placeholder 1"/>
          <p:cNvSpPr txBox="1">
            <a:spLocks noGrp="1"/>
          </p:cNvSpPr>
          <p:nvPr>
            <p:ph type="body" idx="1"/>
          </p:nvPr>
        </p:nvSpPr>
        <p:spPr>
          <a:xfrm>
            <a:off x="616505" y="1204545"/>
            <a:ext cx="10972801" cy="4967656"/>
          </a:xfrm>
          <a:prstGeom prst="rect">
            <a:avLst/>
          </a:prstGeom>
        </p:spPr>
        <p:txBody>
          <a:bodyPr/>
          <a:lstStyle/>
          <a:p>
            <a:r>
              <a:rPr dirty="0"/>
              <a:t>The Choice:</a:t>
            </a:r>
          </a:p>
          <a:p>
            <a:pPr marL="342900" indent="-342900"/>
            <a:r>
              <a:rPr dirty="0"/>
              <a:t>BSD Sockets</a:t>
            </a:r>
          </a:p>
          <a:p>
            <a:pPr marL="1201737" lvl="2" indent="-457200">
              <a:spcBef>
                <a:spcPts val="300"/>
              </a:spcBef>
              <a:buClr>
                <a:srgbClr val="3F3F3F"/>
              </a:buClr>
              <a:buFont typeface="Helvetica"/>
              <a:defRPr sz="1600"/>
            </a:pPr>
            <a:endParaRPr dirty="0"/>
          </a:p>
          <a:p>
            <a:pPr marL="1201737" lvl="2" indent="-457200">
              <a:spcBef>
                <a:spcPts val="300"/>
              </a:spcBef>
              <a:buClr>
                <a:srgbClr val="3F3F3F"/>
              </a:buClr>
              <a:buFont typeface="Helvetica"/>
              <a:defRPr sz="1600"/>
            </a:pPr>
            <a:endParaRPr dirty="0"/>
          </a:p>
          <a:p>
            <a:pPr marL="1201737" lvl="2" indent="-457200">
              <a:spcBef>
                <a:spcPts val="300"/>
              </a:spcBef>
              <a:buClr>
                <a:srgbClr val="3F3F3F"/>
              </a:buClr>
              <a:buFont typeface="Helvetica"/>
              <a:defRPr sz="1600"/>
            </a:pPr>
            <a:endParaRPr dirty="0"/>
          </a:p>
          <a:p>
            <a:pPr marL="1201737" lvl="2" indent="-457200">
              <a:spcBef>
                <a:spcPts val="300"/>
              </a:spcBef>
              <a:buClr>
                <a:srgbClr val="3F3F3F"/>
              </a:buClr>
              <a:buFont typeface="Helvetica"/>
              <a:defRPr sz="1600"/>
            </a:pPr>
            <a:endParaRPr dirty="0"/>
          </a:p>
          <a:p>
            <a:pPr marL="1201737" lvl="2" indent="-457200">
              <a:spcBef>
                <a:spcPts val="300"/>
              </a:spcBef>
              <a:buClr>
                <a:srgbClr val="3F3F3F"/>
              </a:buClr>
              <a:buFont typeface="Helvetica"/>
              <a:defRPr sz="1600"/>
            </a:pPr>
            <a:endParaRPr dirty="0"/>
          </a:p>
          <a:p>
            <a:pPr marL="0" lvl="2" indent="744537">
              <a:spcBef>
                <a:spcPts val="300"/>
              </a:spcBef>
              <a:buSzTx/>
              <a:buNone/>
              <a:defRPr sz="1600"/>
            </a:pPr>
            <a:endParaRPr dirty="0"/>
          </a:p>
          <a:p>
            <a:pPr marL="0" lvl="1" indent="457200">
              <a:spcBef>
                <a:spcPts val="300"/>
              </a:spcBef>
              <a:buSzTx/>
              <a:buNone/>
              <a:defRPr sz="2200"/>
            </a:pPr>
            <a:r>
              <a:rPr dirty="0"/>
              <a:t>Kernel Bypass</a:t>
            </a:r>
          </a:p>
        </p:txBody>
      </p:sp>
      <p:sp>
        <p:nvSpPr>
          <p:cNvPr id="1038" name="Title 3"/>
          <p:cNvSpPr txBox="1">
            <a:spLocks noGrp="1"/>
          </p:cNvSpPr>
          <p:nvPr>
            <p:ph type="title"/>
          </p:nvPr>
        </p:nvSpPr>
        <p:spPr>
          <a:prstGeom prst="rect">
            <a:avLst/>
          </a:prstGeom>
        </p:spPr>
        <p:txBody>
          <a:bodyPr>
            <a:noAutofit/>
          </a:bodyPr>
          <a:lstStyle>
            <a:lvl1pPr defTabSz="822959">
              <a:defRPr sz="2520"/>
            </a:lvl1pPr>
          </a:lstStyle>
          <a:p>
            <a:r>
              <a:rPr lang="en-US" sz="2800" dirty="0"/>
              <a:t>MAIO in practice</a:t>
            </a:r>
            <a:endParaRPr sz="2800" dirty="0"/>
          </a:p>
        </p:txBody>
      </p:sp>
      <p:sp>
        <p:nvSpPr>
          <p:cNvPr id="1039" name="Rectangle 2"/>
          <p:cNvSpPr/>
          <p:nvPr/>
        </p:nvSpPr>
        <p:spPr>
          <a:xfrm>
            <a:off x="1337094" y="2415039"/>
            <a:ext cx="8039766" cy="984885"/>
          </a:xfrm>
          <a:prstGeom prst="rect">
            <a:avLst/>
          </a:prstGeom>
          <a:solidFill>
            <a:srgbClr val="FFFFFF"/>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chor="ctr">
            <a:spAutoFit/>
          </a:bodyPr>
          <a:lstStyle/>
          <a:p>
            <a:pPr>
              <a:defRPr sz="1600">
                <a:solidFill>
                  <a:srgbClr val="0077AA"/>
                </a:solidFill>
              </a:defRPr>
            </a:pPr>
            <a:r>
              <a:rPr dirty="0"/>
              <a:t>import</a:t>
            </a:r>
            <a:r>
              <a:rPr dirty="0">
                <a:solidFill>
                  <a:srgbClr val="000000"/>
                </a:solidFill>
              </a:rPr>
              <a:t> socket 					   </a:t>
            </a:r>
            <a:r>
              <a:rPr lang="en-US" dirty="0">
                <a:solidFill>
                  <a:srgbClr val="000000"/>
                </a:solidFill>
              </a:rPr>
              <a:t>				</a:t>
            </a:r>
            <a:r>
              <a:rPr dirty="0">
                <a:solidFill>
                  <a:srgbClr val="168BFF"/>
                </a:solidFill>
              </a:rPr>
              <a:t>/* Import */</a:t>
            </a:r>
          </a:p>
          <a:p>
            <a:pPr>
              <a:defRPr sz="1600">
                <a:solidFill>
                  <a:srgbClr val="000000"/>
                </a:solidFill>
              </a:defRPr>
            </a:pPr>
            <a:r>
              <a:rPr dirty="0"/>
              <a:t>s </a:t>
            </a:r>
            <a:r>
              <a:rPr dirty="0">
                <a:solidFill>
                  <a:srgbClr val="A67F59"/>
                </a:solidFill>
              </a:rPr>
              <a:t>=</a:t>
            </a:r>
            <a:r>
              <a:rPr dirty="0"/>
              <a:t> </a:t>
            </a:r>
            <a:r>
              <a:rPr dirty="0" err="1"/>
              <a:t>socket</a:t>
            </a:r>
            <a:r>
              <a:rPr dirty="0" err="1">
                <a:solidFill>
                  <a:srgbClr val="999999"/>
                </a:solidFill>
              </a:rPr>
              <a:t>.</a:t>
            </a:r>
            <a:r>
              <a:rPr dirty="0" err="1"/>
              <a:t>socket</a:t>
            </a:r>
            <a:r>
              <a:rPr dirty="0">
                <a:solidFill>
                  <a:srgbClr val="999999"/>
                </a:solidFill>
              </a:rPr>
              <a:t>(</a:t>
            </a:r>
            <a:r>
              <a:rPr dirty="0" err="1"/>
              <a:t>socket</a:t>
            </a:r>
            <a:r>
              <a:rPr dirty="0" err="1">
                <a:solidFill>
                  <a:srgbClr val="999999"/>
                </a:solidFill>
              </a:rPr>
              <a:t>.</a:t>
            </a:r>
            <a:r>
              <a:rPr dirty="0" err="1"/>
              <a:t>AF_INET</a:t>
            </a:r>
            <a:r>
              <a:rPr dirty="0" err="1">
                <a:solidFill>
                  <a:srgbClr val="999999"/>
                </a:solidFill>
              </a:rPr>
              <a:t>,</a:t>
            </a:r>
            <a:r>
              <a:rPr dirty="0" err="1"/>
              <a:t>socket</a:t>
            </a:r>
            <a:r>
              <a:rPr dirty="0" err="1">
                <a:solidFill>
                  <a:srgbClr val="999999"/>
                </a:solidFill>
              </a:rPr>
              <a:t>.</a:t>
            </a:r>
            <a:r>
              <a:rPr dirty="0" err="1"/>
              <a:t>SOCK_STREAM</a:t>
            </a:r>
            <a:r>
              <a:rPr dirty="0">
                <a:solidFill>
                  <a:srgbClr val="202020"/>
                </a:solidFill>
              </a:rPr>
              <a:t>)       </a:t>
            </a:r>
            <a:r>
              <a:rPr lang="en-US" dirty="0">
                <a:solidFill>
                  <a:srgbClr val="202020"/>
                </a:solidFill>
              </a:rPr>
              <a:t>	</a:t>
            </a:r>
            <a:r>
              <a:rPr dirty="0">
                <a:solidFill>
                  <a:srgbClr val="168BFF"/>
                </a:solidFill>
              </a:rPr>
              <a:t>/* Create */</a:t>
            </a:r>
          </a:p>
          <a:p>
            <a:pPr>
              <a:defRPr sz="1600">
                <a:solidFill>
                  <a:srgbClr val="000000"/>
                </a:solidFill>
              </a:defRPr>
            </a:pPr>
            <a:r>
              <a:rPr dirty="0" err="1"/>
              <a:t>s</a:t>
            </a:r>
            <a:r>
              <a:rPr dirty="0" err="1">
                <a:solidFill>
                  <a:srgbClr val="999999"/>
                </a:solidFill>
              </a:rPr>
              <a:t>.</a:t>
            </a:r>
            <a:r>
              <a:rPr dirty="0" err="1"/>
              <a:t>connect</a:t>
            </a:r>
            <a:r>
              <a:rPr dirty="0">
                <a:solidFill>
                  <a:srgbClr val="999999"/>
                </a:solidFill>
              </a:rPr>
              <a:t>((</a:t>
            </a:r>
            <a:r>
              <a:rPr dirty="0">
                <a:solidFill>
                  <a:srgbClr val="669900"/>
                </a:solidFill>
              </a:rPr>
              <a:t>destination</a:t>
            </a:r>
            <a:r>
              <a:rPr dirty="0">
                <a:solidFill>
                  <a:srgbClr val="999999"/>
                </a:solidFill>
              </a:rPr>
              <a:t>,</a:t>
            </a:r>
            <a:r>
              <a:rPr dirty="0"/>
              <a:t> </a:t>
            </a:r>
            <a:r>
              <a:rPr dirty="0">
                <a:solidFill>
                  <a:srgbClr val="990055"/>
                </a:solidFill>
              </a:rPr>
              <a:t>port</a:t>
            </a:r>
            <a:r>
              <a:rPr dirty="0">
                <a:solidFill>
                  <a:srgbClr val="999999"/>
                </a:solidFill>
              </a:rPr>
              <a:t>))				   </a:t>
            </a:r>
            <a:r>
              <a:rPr lang="en-US" dirty="0">
                <a:solidFill>
                  <a:srgbClr val="999999"/>
                </a:solidFill>
              </a:rPr>
              <a:t>	          </a:t>
            </a:r>
            <a:r>
              <a:rPr dirty="0">
                <a:solidFill>
                  <a:srgbClr val="168BFF"/>
                </a:solidFill>
              </a:rPr>
              <a:t>/* Connect - Routing */ </a:t>
            </a:r>
          </a:p>
          <a:p>
            <a:pPr>
              <a:defRPr sz="1600">
                <a:solidFill>
                  <a:srgbClr val="000000"/>
                </a:solidFill>
              </a:defRPr>
            </a:pPr>
            <a:r>
              <a:rPr dirty="0" err="1"/>
              <a:t>s</a:t>
            </a:r>
            <a:r>
              <a:rPr dirty="0" err="1">
                <a:solidFill>
                  <a:srgbClr val="999999"/>
                </a:solidFill>
              </a:rPr>
              <a:t>.</a:t>
            </a:r>
            <a:r>
              <a:rPr dirty="0" err="1"/>
              <a:t>sendall</a:t>
            </a:r>
            <a:r>
              <a:rPr dirty="0">
                <a:solidFill>
                  <a:srgbClr val="999999"/>
                </a:solidFill>
              </a:rPr>
              <a:t>(</a:t>
            </a:r>
            <a:r>
              <a:rPr dirty="0">
                <a:solidFill>
                  <a:srgbClr val="669900"/>
                </a:solidFill>
              </a:rPr>
              <a:t>'Hello, world’</a:t>
            </a:r>
            <a:r>
              <a:rPr dirty="0">
                <a:solidFill>
                  <a:srgbClr val="999999"/>
                </a:solidFill>
              </a:rPr>
              <a:t>)</a:t>
            </a:r>
            <a:r>
              <a:rPr dirty="0">
                <a:solidFill>
                  <a:srgbClr val="717074"/>
                </a:solidFill>
              </a:rPr>
              <a:t> 				     </a:t>
            </a:r>
            <a:r>
              <a:rPr lang="en-US" dirty="0">
                <a:solidFill>
                  <a:srgbClr val="717074"/>
                </a:solidFill>
              </a:rPr>
              <a:t>                        </a:t>
            </a:r>
            <a:r>
              <a:rPr dirty="0">
                <a:solidFill>
                  <a:srgbClr val="168BFF"/>
                </a:solidFill>
              </a:rPr>
              <a:t>/* Send      - TCP/IP  */</a:t>
            </a:r>
          </a:p>
        </p:txBody>
      </p:sp>
      <p:sp>
        <p:nvSpPr>
          <p:cNvPr id="1050" name="Subtitle 2"/>
          <p:cNvSpPr txBox="1"/>
          <p:nvPr/>
        </p:nvSpPr>
        <p:spPr>
          <a:xfrm>
            <a:off x="592865" y="811830"/>
            <a:ext cx="10987949" cy="2477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lnSpcReduction="10000"/>
          </a:bodyPr>
          <a:lstStyle>
            <a:lvl1pPr defTabSz="795527">
              <a:defRPr sz="1740">
                <a:solidFill>
                  <a:schemeClr val="accent4"/>
                </a:solidFill>
              </a:defRPr>
            </a:lvl1pPr>
          </a:lstStyle>
          <a:p>
            <a:r>
              <a:rPr dirty="0"/>
              <a:t>For fast networks &gt; 1 Gb/s </a:t>
            </a:r>
          </a:p>
        </p:txBody>
      </p:sp>
      <p:sp>
        <p:nvSpPr>
          <p:cNvPr id="3" name="TextBox 2">
            <a:extLst>
              <a:ext uri="{FF2B5EF4-FFF2-40B4-BE49-F238E27FC236}">
                <a16:creationId xmlns:a16="http://schemas.microsoft.com/office/drawing/2014/main" id="{A173099F-6FE1-4796-A246-42F0BCD67674}"/>
              </a:ext>
            </a:extLst>
          </p:cNvPr>
          <p:cNvSpPr txBox="1"/>
          <p:nvPr/>
        </p:nvSpPr>
        <p:spPr>
          <a:xfrm>
            <a:off x="845219" y="3810717"/>
            <a:ext cx="2270960" cy="461665"/>
          </a:xfrm>
          <a:prstGeom prst="rect">
            <a:avLst/>
          </a:prstGeom>
          <a:solidFill>
            <a:schemeClr val="bg1"/>
          </a:solidFill>
        </p:spPr>
        <p:txBody>
          <a:bodyPr wrap="square" rtlCol="0">
            <a:spAutoFit/>
          </a:bodyPr>
          <a:lstStyle/>
          <a:p>
            <a:r>
              <a:rPr lang="en-US" sz="2400" dirty="0"/>
              <a:t>MAIO Sockets</a:t>
            </a:r>
          </a:p>
        </p:txBody>
      </p:sp>
      <p:sp>
        <p:nvSpPr>
          <p:cNvPr id="4" name="TextBox 3">
            <a:extLst>
              <a:ext uri="{FF2B5EF4-FFF2-40B4-BE49-F238E27FC236}">
                <a16:creationId xmlns:a16="http://schemas.microsoft.com/office/drawing/2014/main" id="{CAA16E79-EA19-44CF-90E3-B223B2024AD7}"/>
              </a:ext>
            </a:extLst>
          </p:cNvPr>
          <p:cNvSpPr txBox="1"/>
          <p:nvPr/>
        </p:nvSpPr>
        <p:spPr>
          <a:xfrm>
            <a:off x="1337094" y="4234432"/>
            <a:ext cx="8501430" cy="2308324"/>
          </a:xfrm>
          <a:prstGeom prst="rect">
            <a:avLst/>
          </a:prstGeom>
          <a:noFill/>
        </p:spPr>
        <p:txBody>
          <a:bodyPr wrap="none" rtlCol="0">
            <a:spAutoFit/>
          </a:bodyPr>
          <a:lstStyle/>
          <a:p>
            <a:r>
              <a:rPr lang="en-US" dirty="0">
                <a:solidFill>
                  <a:srgbClr val="00CC00"/>
                </a:solidFill>
              </a:rPr>
              <a:t>void</a:t>
            </a:r>
            <a:r>
              <a:rPr lang="en-US" dirty="0"/>
              <a:t> *cache 	= </a:t>
            </a:r>
            <a:r>
              <a:rPr lang="en-US" dirty="0" err="1"/>
              <a:t>init_hp_memory</a:t>
            </a:r>
            <a:r>
              <a:rPr lang="en-US" dirty="0"/>
              <a:t>(PAGE_CNT);			</a:t>
            </a:r>
            <a:r>
              <a:rPr lang="en-US" dirty="0">
                <a:solidFill>
                  <a:srgbClr val="0070C0"/>
                </a:solidFill>
              </a:rPr>
              <a:t>/*Init MAIO pages                */</a:t>
            </a:r>
          </a:p>
          <a:p>
            <a:r>
              <a:rPr lang="en-US" dirty="0">
                <a:solidFill>
                  <a:srgbClr val="00CC00"/>
                </a:solidFill>
              </a:rPr>
              <a:t>int</a:t>
            </a:r>
            <a:r>
              <a:rPr lang="en-US" dirty="0">
                <a:solidFill>
                  <a:schemeClr val="tx1">
                    <a:lumMod val="85000"/>
                    <a:lumOff val="15000"/>
                  </a:schemeClr>
                </a:solidFill>
              </a:rPr>
              <a:t> 	</a:t>
            </a:r>
            <a:r>
              <a:rPr lang="en-US" dirty="0" err="1">
                <a:solidFill>
                  <a:schemeClr val="tx1">
                    <a:lumMod val="85000"/>
                    <a:lumOff val="15000"/>
                  </a:schemeClr>
                </a:solidFill>
              </a:rPr>
              <a:t>idx</a:t>
            </a:r>
            <a:r>
              <a:rPr lang="en-US" dirty="0">
                <a:solidFill>
                  <a:schemeClr val="tx1">
                    <a:lumMod val="85000"/>
                    <a:lumOff val="15000"/>
                  </a:schemeClr>
                </a:solidFill>
              </a:rPr>
              <a:t> 		= </a:t>
            </a:r>
            <a:r>
              <a:rPr lang="en-US" dirty="0" err="1">
                <a:solidFill>
                  <a:schemeClr val="tx1">
                    <a:lumMod val="85000"/>
                    <a:lumOff val="15000"/>
                  </a:schemeClr>
                </a:solidFill>
              </a:rPr>
              <a:t>create_connected_socket</a:t>
            </a:r>
            <a:r>
              <a:rPr lang="en-US" dirty="0">
                <a:solidFill>
                  <a:schemeClr val="tx1">
                    <a:lumMod val="85000"/>
                    <a:lumOff val="15000"/>
                  </a:schemeClr>
                </a:solidFill>
              </a:rPr>
              <a:t>(dip, port);		</a:t>
            </a:r>
            <a:r>
              <a:rPr lang="en-US" dirty="0">
                <a:solidFill>
                  <a:srgbClr val="0070C0"/>
                </a:solidFill>
              </a:rPr>
              <a:t>/* Create a TCP socket         */</a:t>
            </a:r>
          </a:p>
          <a:p>
            <a:r>
              <a:rPr lang="fr-FR" dirty="0">
                <a:solidFill>
                  <a:srgbClr val="00CC00"/>
                </a:solidFill>
              </a:rPr>
              <a:t>char</a:t>
            </a:r>
            <a:r>
              <a:rPr lang="fr-FR" dirty="0">
                <a:solidFill>
                  <a:srgbClr val="0070C0"/>
                </a:solidFill>
              </a:rPr>
              <a:t> </a:t>
            </a:r>
            <a:r>
              <a:rPr lang="fr-FR" dirty="0">
                <a:solidFill>
                  <a:schemeClr val="tx1">
                    <a:lumMod val="85000"/>
                    <a:lumOff val="15000"/>
                  </a:schemeClr>
                </a:solidFill>
              </a:rPr>
              <a:t>*buffer 	= alloc_page(cache);					</a:t>
            </a:r>
            <a:r>
              <a:rPr lang="fr-FR" dirty="0">
                <a:solidFill>
                  <a:srgbClr val="0070C0"/>
                </a:solidFill>
              </a:rPr>
              <a:t>/* get a 4K buffer from HP  */</a:t>
            </a:r>
          </a:p>
          <a:p>
            <a:endParaRPr lang="fr-FR" dirty="0">
              <a:solidFill>
                <a:srgbClr val="0070C0"/>
              </a:solidFill>
            </a:endParaRPr>
          </a:p>
          <a:p>
            <a:r>
              <a:rPr lang="en-US" dirty="0" err="1">
                <a:solidFill>
                  <a:schemeClr val="tx1">
                    <a:lumMod val="85000"/>
                    <a:lumOff val="15000"/>
                  </a:schemeClr>
                </a:solidFill>
              </a:rPr>
              <a:t>init_tcp_ring</a:t>
            </a:r>
            <a:r>
              <a:rPr lang="en-US" dirty="0">
                <a:solidFill>
                  <a:schemeClr val="tx1">
                    <a:lumMod val="85000"/>
                    <a:lumOff val="15000"/>
                  </a:schemeClr>
                </a:solidFill>
              </a:rPr>
              <a:t>(</a:t>
            </a:r>
            <a:r>
              <a:rPr lang="en-US" dirty="0" err="1">
                <a:solidFill>
                  <a:schemeClr val="tx1">
                    <a:lumMod val="85000"/>
                    <a:lumOff val="15000"/>
                  </a:schemeClr>
                </a:solidFill>
              </a:rPr>
              <a:t>idx</a:t>
            </a:r>
            <a:r>
              <a:rPr lang="en-US" dirty="0">
                <a:solidFill>
                  <a:schemeClr val="tx1">
                    <a:lumMod val="85000"/>
                    <a:lumOff val="15000"/>
                  </a:schemeClr>
                </a:solidFill>
              </a:rPr>
              <a:t>, cache);							</a:t>
            </a:r>
            <a:r>
              <a:rPr lang="en-US" dirty="0">
                <a:solidFill>
                  <a:srgbClr val="0070C0"/>
                </a:solidFill>
              </a:rPr>
              <a:t>/* </a:t>
            </a:r>
            <a:r>
              <a:rPr lang="en-US" dirty="0" err="1">
                <a:solidFill>
                  <a:srgbClr val="0070C0"/>
                </a:solidFill>
              </a:rPr>
              <a:t>init</a:t>
            </a:r>
            <a:r>
              <a:rPr lang="en-US" dirty="0">
                <a:solidFill>
                  <a:srgbClr val="0070C0"/>
                </a:solidFill>
              </a:rPr>
              <a:t> the Async TX ring      */</a:t>
            </a:r>
          </a:p>
          <a:p>
            <a:r>
              <a:rPr lang="en-US" dirty="0" err="1">
                <a:solidFill>
                  <a:schemeClr val="tx1">
                    <a:lumMod val="85000"/>
                    <a:lumOff val="15000"/>
                  </a:schemeClr>
                </a:solidFill>
              </a:rPr>
              <a:t>send_buffer</a:t>
            </a:r>
            <a:r>
              <a:rPr lang="en-US" dirty="0">
                <a:solidFill>
                  <a:schemeClr val="tx1">
                    <a:lumMod val="85000"/>
                    <a:lumOff val="15000"/>
                  </a:schemeClr>
                </a:solidFill>
              </a:rPr>
              <a:t>(</a:t>
            </a:r>
            <a:r>
              <a:rPr lang="en-US" dirty="0" err="1">
                <a:solidFill>
                  <a:schemeClr val="tx1">
                    <a:lumMod val="85000"/>
                    <a:lumOff val="15000"/>
                  </a:schemeClr>
                </a:solidFill>
              </a:rPr>
              <a:t>idx</a:t>
            </a:r>
            <a:r>
              <a:rPr lang="en-US" dirty="0">
                <a:solidFill>
                  <a:schemeClr val="tx1">
                    <a:lumMod val="85000"/>
                    <a:lumOff val="15000"/>
                  </a:schemeClr>
                </a:solidFill>
              </a:rPr>
              <a:t>, buffer, </a:t>
            </a:r>
            <a:r>
              <a:rPr lang="en-US" dirty="0" err="1">
                <a:solidFill>
                  <a:schemeClr val="tx1">
                    <a:lumMod val="85000"/>
                    <a:lumOff val="15000"/>
                  </a:schemeClr>
                </a:solidFill>
              </a:rPr>
              <a:t>len</a:t>
            </a:r>
            <a:r>
              <a:rPr lang="en-US" dirty="0">
                <a:solidFill>
                  <a:schemeClr val="tx1">
                    <a:lumMod val="85000"/>
                    <a:lumOff val="15000"/>
                  </a:schemeClr>
                </a:solidFill>
              </a:rPr>
              <a:t>, flags);</a:t>
            </a:r>
          </a:p>
          <a:p>
            <a:r>
              <a:rPr lang="en-US" dirty="0">
                <a:solidFill>
                  <a:schemeClr val="tx1">
                    <a:lumMod val="85000"/>
                    <a:lumOff val="15000"/>
                  </a:schemeClr>
                </a:solidFill>
              </a:rPr>
              <a:t>…</a:t>
            </a:r>
          </a:p>
          <a:p>
            <a:r>
              <a:rPr lang="en-US" dirty="0" err="1">
                <a:solidFill>
                  <a:schemeClr val="tx1">
                    <a:lumMod val="85000"/>
                    <a:lumOff val="15000"/>
                  </a:schemeClr>
                </a:solidFill>
              </a:rPr>
              <a:t>get_buffer_state</a:t>
            </a:r>
            <a:r>
              <a:rPr lang="en-US" dirty="0">
                <a:solidFill>
                  <a:schemeClr val="tx1">
                    <a:lumMod val="85000"/>
                    <a:lumOff val="15000"/>
                  </a:schemeClr>
                </a:solidFill>
              </a:rPr>
              <a:t>(buffer);							</a:t>
            </a:r>
            <a:r>
              <a:rPr lang="en-US" dirty="0">
                <a:solidFill>
                  <a:srgbClr val="0070C0"/>
                </a:solidFill>
              </a:rPr>
              <a:t>/* get the page/chunk state*/</a:t>
            </a:r>
          </a:p>
        </p:txBody>
      </p:sp>
      <p:pic>
        <p:nvPicPr>
          <p:cNvPr id="21" name="Graphic 18" descr="Graphic 18">
            <a:extLst>
              <a:ext uri="{FF2B5EF4-FFF2-40B4-BE49-F238E27FC236}">
                <a16:creationId xmlns:a16="http://schemas.microsoft.com/office/drawing/2014/main" id="{E6A8F431-EDE2-4F71-A6BD-FE3EB5224FD9}"/>
              </a:ext>
            </a:extLst>
          </p:cNvPr>
          <p:cNvPicPr>
            <a:picLocks noChangeAspect="1"/>
          </p:cNvPicPr>
          <p:nvPr/>
        </p:nvPicPr>
        <p:blipFill>
          <a:blip r:embed="rId3"/>
          <a:stretch>
            <a:fillRect/>
          </a:stretch>
        </p:blipFill>
        <p:spPr>
          <a:xfrm>
            <a:off x="9545691" y="3429000"/>
            <a:ext cx="1103514" cy="1103513"/>
          </a:xfrm>
          <a:prstGeom prst="rect">
            <a:avLst/>
          </a:prstGeom>
          <a:ln w="12700">
            <a:miter lim="400000"/>
          </a:ln>
        </p:spPr>
      </p:pic>
    </p:spTree>
    <p:extLst>
      <p:ext uri="{BB962C8B-B14F-4D97-AF65-F5344CB8AC3E}">
        <p14:creationId xmlns:p14="http://schemas.microsoft.com/office/powerpoint/2010/main" val="4291969485"/>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25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25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25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4" end="4"/>
                                            </p:txEl>
                                          </p:spTgt>
                                        </p:tgtEl>
                                        <p:attrNameLst>
                                          <p:attrName>style.visibility</p:attrName>
                                        </p:attrNameLst>
                                      </p:cBhvr>
                                      <p:to>
                                        <p:strVal val="visible"/>
                                      </p:to>
                                    </p:set>
                                    <p:animEffect transition="in" filter="wipe(left)">
                                      <p:cBhvr>
                                        <p:cTn id="22" dur="250"/>
                                        <p:tgtEl>
                                          <p:spTgt spid="4">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animEffect transition="in" filter="wipe(left)">
                                      <p:cBhvr>
                                        <p:cTn id="27" dur="250"/>
                                        <p:tgtEl>
                                          <p:spTgt spid="4">
                                            <p:txEl>
                                              <p:pRg st="5" end="5"/>
                                            </p:txEl>
                                          </p:spTgt>
                                        </p:tgtEl>
                                      </p:cBhvr>
                                    </p:animEffect>
                                  </p:childTnLst>
                                </p:cTn>
                              </p:par>
                              <p:par>
                                <p:cTn id="28" presetID="2" presetClass="entr" presetSubtype="8" fill="hold" nodeType="withEffect">
                                  <p:stCondLst>
                                    <p:cond delay="0"/>
                                  </p:stCondLst>
                                  <p:childTnLst>
                                    <p:set>
                                      <p:cBhvr>
                                        <p:cTn id="29" dur="1" fill="hold">
                                          <p:stCondLst>
                                            <p:cond delay="0"/>
                                          </p:stCondLst>
                                        </p:cTn>
                                        <p:tgtEl>
                                          <p:spTgt spid="21"/>
                                        </p:tgtEl>
                                        <p:attrNameLst>
                                          <p:attrName>style.visibility</p:attrName>
                                        </p:attrNameLst>
                                      </p:cBhvr>
                                      <p:to>
                                        <p:strVal val="visible"/>
                                      </p:to>
                                    </p:set>
                                    <p:anim calcmode="lin" valueType="num">
                                      <p:cBhvr additive="base">
                                        <p:cTn id="30" dur="250" fill="hold"/>
                                        <p:tgtEl>
                                          <p:spTgt spid="21"/>
                                        </p:tgtEl>
                                        <p:attrNameLst>
                                          <p:attrName>ppt_x</p:attrName>
                                        </p:attrNameLst>
                                      </p:cBhvr>
                                      <p:tavLst>
                                        <p:tav tm="0">
                                          <p:val>
                                            <p:strVal val="0-#ppt_w/2"/>
                                          </p:val>
                                        </p:tav>
                                        <p:tav tm="100000">
                                          <p:val>
                                            <p:strVal val="#ppt_x"/>
                                          </p:val>
                                        </p:tav>
                                      </p:tavLst>
                                    </p:anim>
                                    <p:anim calcmode="lin" valueType="num">
                                      <p:cBhvr additive="base">
                                        <p:cTn id="31" dur="25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txEl>
                                              <p:pRg st="6" end="6"/>
                                            </p:txEl>
                                          </p:spTgt>
                                        </p:tgtEl>
                                        <p:attrNameLst>
                                          <p:attrName>style.visibility</p:attrName>
                                        </p:attrNameLst>
                                      </p:cBhvr>
                                      <p:to>
                                        <p:strVal val="visible"/>
                                      </p:to>
                                    </p:set>
                                    <p:animEffect transition="in" filter="wipe(left)">
                                      <p:cBhvr>
                                        <p:cTn id="36" dur="250"/>
                                        <p:tgtEl>
                                          <p:spTgt spid="4">
                                            <p:txEl>
                                              <p:pRg st="6" end="6"/>
                                            </p:txEl>
                                          </p:spTgt>
                                        </p:tgtEl>
                                      </p:cBhvr>
                                    </p:animEffect>
                                  </p:childTnLst>
                                </p:cTn>
                              </p:par>
                              <p:par>
                                <p:cTn id="37" presetID="22" presetClass="entr" presetSubtype="8"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visible"/>
                                      </p:to>
                                    </p:set>
                                    <p:animEffect transition="in" filter="wipe(left)">
                                      <p:cBhvr>
                                        <p:cTn id="39" dur="25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uiExpand="1" build="p"/>
    </p:bld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15" name="Picture 14" descr="Chart, bar chart&#10;&#10;Description automatically generated">
            <a:extLst>
              <a:ext uri="{FF2B5EF4-FFF2-40B4-BE49-F238E27FC236}">
                <a16:creationId xmlns:a16="http://schemas.microsoft.com/office/drawing/2014/main" id="{16B25040-C04E-4F97-8B7A-CBE31737671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03705" y="869529"/>
            <a:ext cx="9089240" cy="5663617"/>
          </a:xfrm>
          <a:prstGeom prst="rect">
            <a:avLst/>
          </a:prstGeom>
        </p:spPr>
      </p:pic>
      <p:sp>
        <p:nvSpPr>
          <p:cNvPr id="3" name="Title 2">
            <a:extLst>
              <a:ext uri="{FF2B5EF4-FFF2-40B4-BE49-F238E27FC236}">
                <a16:creationId xmlns:a16="http://schemas.microsoft.com/office/drawing/2014/main" id="{7C5AEA14-A0AB-4247-924C-D1FBB4F29D76}"/>
              </a:ext>
            </a:extLst>
          </p:cNvPr>
          <p:cNvSpPr>
            <a:spLocks noGrp="1"/>
          </p:cNvSpPr>
          <p:nvPr>
            <p:ph type="title"/>
          </p:nvPr>
        </p:nvSpPr>
        <p:spPr/>
        <p:txBody>
          <a:bodyPr>
            <a:noAutofit/>
          </a:bodyPr>
          <a:lstStyle/>
          <a:p>
            <a:r>
              <a:rPr lang="en-US" sz="2800" dirty="0"/>
              <a:t>Comparing TX loop of 16KB buffers </a:t>
            </a:r>
          </a:p>
        </p:txBody>
      </p:sp>
      <p:sp>
        <p:nvSpPr>
          <p:cNvPr id="6" name="Subtitle 2">
            <a:extLst>
              <a:ext uri="{FF2B5EF4-FFF2-40B4-BE49-F238E27FC236}">
                <a16:creationId xmlns:a16="http://schemas.microsoft.com/office/drawing/2014/main" id="{96D0F5F9-F3D0-4D08-88CF-60C6648010F2}"/>
              </a:ext>
            </a:extLst>
          </p:cNvPr>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rPr lang="en-US" dirty="0"/>
              <a:t>1 Thread</a:t>
            </a:r>
            <a:endParaRPr dirty="0"/>
          </a:p>
        </p:txBody>
      </p:sp>
      <p:sp>
        <p:nvSpPr>
          <p:cNvPr id="7" name="TextBox 6">
            <a:extLst>
              <a:ext uri="{FF2B5EF4-FFF2-40B4-BE49-F238E27FC236}">
                <a16:creationId xmlns:a16="http://schemas.microsoft.com/office/drawing/2014/main" id="{2EDF9115-3107-4542-AE67-CEB5B0ECF028}"/>
              </a:ext>
            </a:extLst>
          </p:cNvPr>
          <p:cNvSpPr txBox="1"/>
          <p:nvPr/>
        </p:nvSpPr>
        <p:spPr>
          <a:xfrm>
            <a:off x="429443" y="2284407"/>
            <a:ext cx="3348417" cy="3139321"/>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a:t>16 Core VM on GCP</a:t>
            </a:r>
          </a:p>
          <a:p>
            <a:pPr marL="285750" indent="-285750">
              <a:lnSpc>
                <a:spcPct val="200000"/>
              </a:lnSpc>
              <a:buFont typeface="Arial" panose="020B0604020202020204" pitchFamily="34" charset="0"/>
              <a:buChar char="•"/>
            </a:pPr>
            <a:r>
              <a:rPr lang="en-US" dirty="0"/>
              <a:t>32Gb/s Egress</a:t>
            </a:r>
          </a:p>
          <a:p>
            <a:pPr marL="285750" indent="-285750">
              <a:lnSpc>
                <a:spcPct val="200000"/>
              </a:lnSpc>
              <a:buFont typeface="Arial" panose="020B0604020202020204" pitchFamily="34" charset="0"/>
              <a:buChar char="•"/>
            </a:pPr>
            <a:r>
              <a:rPr lang="en-US" dirty="0"/>
              <a:t>64 GB Memory</a:t>
            </a:r>
          </a:p>
          <a:p>
            <a:pPr marL="285750" indent="-285750">
              <a:lnSpc>
                <a:spcPct val="200000"/>
              </a:lnSpc>
              <a:buFont typeface="Arial" panose="020B0604020202020204" pitchFamily="34" charset="0"/>
              <a:buChar char="•"/>
            </a:pPr>
            <a:r>
              <a:rPr lang="en-US" dirty="0"/>
              <a:t>16K * 2K buffers with </a:t>
            </a:r>
            <a:r>
              <a:rPr lang="en-US" dirty="0">
                <a:solidFill>
                  <a:srgbClr val="0070C0"/>
                </a:solidFill>
              </a:rPr>
              <a:t>1</a:t>
            </a:r>
            <a:r>
              <a:rPr lang="en-US" dirty="0"/>
              <a:t> Thread</a:t>
            </a:r>
          </a:p>
          <a:p>
            <a:pPr marL="285750" indent="-285750">
              <a:lnSpc>
                <a:spcPct val="200000"/>
              </a:lnSpc>
              <a:buFont typeface="Arial" panose="020B0604020202020204" pitchFamily="34" charset="0"/>
              <a:buChar char="•"/>
            </a:pPr>
            <a:r>
              <a:rPr lang="en-US" dirty="0"/>
              <a:t>Cycles/Byte – </a:t>
            </a:r>
            <a:r>
              <a:rPr lang="en-US" i="1" dirty="0">
                <a:solidFill>
                  <a:srgbClr val="00CC00"/>
                </a:solidFill>
              </a:rPr>
              <a:t>Lower is Better</a:t>
            </a:r>
          </a:p>
          <a:p>
            <a:endParaRPr lang="en-US" dirty="0"/>
          </a:p>
        </p:txBody>
      </p:sp>
      <p:sp>
        <p:nvSpPr>
          <p:cNvPr id="8" name="TextBox 7">
            <a:extLst>
              <a:ext uri="{FF2B5EF4-FFF2-40B4-BE49-F238E27FC236}">
                <a16:creationId xmlns:a16="http://schemas.microsoft.com/office/drawing/2014/main" id="{B3FDC335-3A89-4D53-9749-7D3BA8AD97A0}"/>
              </a:ext>
            </a:extLst>
          </p:cNvPr>
          <p:cNvSpPr txBox="1"/>
          <p:nvPr/>
        </p:nvSpPr>
        <p:spPr>
          <a:xfrm>
            <a:off x="4975057" y="2178849"/>
            <a:ext cx="593432" cy="369332"/>
          </a:xfrm>
          <a:prstGeom prst="rect">
            <a:avLst/>
          </a:prstGeom>
          <a:noFill/>
        </p:spPr>
        <p:txBody>
          <a:bodyPr wrap="none" rtlCol="0">
            <a:spAutoFit/>
          </a:bodyPr>
          <a:lstStyle/>
          <a:p>
            <a:r>
              <a:rPr lang="en-US" dirty="0"/>
              <a:t>5.33</a:t>
            </a:r>
          </a:p>
        </p:txBody>
      </p:sp>
      <p:sp>
        <p:nvSpPr>
          <p:cNvPr id="10" name="TextBox 9">
            <a:extLst>
              <a:ext uri="{FF2B5EF4-FFF2-40B4-BE49-F238E27FC236}">
                <a16:creationId xmlns:a16="http://schemas.microsoft.com/office/drawing/2014/main" id="{D2659EFB-E509-4655-97BB-389320F7E380}"/>
              </a:ext>
            </a:extLst>
          </p:cNvPr>
          <p:cNvSpPr txBox="1"/>
          <p:nvPr/>
        </p:nvSpPr>
        <p:spPr>
          <a:xfrm>
            <a:off x="6332107" y="4125051"/>
            <a:ext cx="593432" cy="369332"/>
          </a:xfrm>
          <a:prstGeom prst="rect">
            <a:avLst/>
          </a:prstGeom>
          <a:noFill/>
        </p:spPr>
        <p:txBody>
          <a:bodyPr wrap="none" rtlCol="0">
            <a:spAutoFit/>
          </a:bodyPr>
          <a:lstStyle/>
          <a:p>
            <a:r>
              <a:rPr lang="en-US" dirty="0"/>
              <a:t>2.31</a:t>
            </a:r>
          </a:p>
        </p:txBody>
      </p:sp>
      <p:sp>
        <p:nvSpPr>
          <p:cNvPr id="11" name="TextBox 10">
            <a:extLst>
              <a:ext uri="{FF2B5EF4-FFF2-40B4-BE49-F238E27FC236}">
                <a16:creationId xmlns:a16="http://schemas.microsoft.com/office/drawing/2014/main" id="{6FF7B56B-D458-470D-8F34-CBEAA8225700}"/>
              </a:ext>
            </a:extLst>
          </p:cNvPr>
          <p:cNvSpPr txBox="1"/>
          <p:nvPr/>
        </p:nvSpPr>
        <p:spPr>
          <a:xfrm>
            <a:off x="8981282" y="2785535"/>
            <a:ext cx="593432" cy="369332"/>
          </a:xfrm>
          <a:prstGeom prst="rect">
            <a:avLst/>
          </a:prstGeom>
          <a:noFill/>
        </p:spPr>
        <p:txBody>
          <a:bodyPr wrap="none" rtlCol="0">
            <a:spAutoFit/>
          </a:bodyPr>
          <a:lstStyle/>
          <a:p>
            <a:r>
              <a:rPr lang="en-US" dirty="0"/>
              <a:t>4.42</a:t>
            </a:r>
          </a:p>
        </p:txBody>
      </p:sp>
      <p:sp>
        <p:nvSpPr>
          <p:cNvPr id="12" name="TextBox 11">
            <a:extLst>
              <a:ext uri="{FF2B5EF4-FFF2-40B4-BE49-F238E27FC236}">
                <a16:creationId xmlns:a16="http://schemas.microsoft.com/office/drawing/2014/main" id="{C43B7A2F-E203-4F5B-BB34-62CED8A47AA4}"/>
              </a:ext>
            </a:extLst>
          </p:cNvPr>
          <p:cNvSpPr txBox="1"/>
          <p:nvPr/>
        </p:nvSpPr>
        <p:spPr>
          <a:xfrm>
            <a:off x="7062510" y="3940385"/>
            <a:ext cx="582211" cy="369332"/>
          </a:xfrm>
          <a:prstGeom prst="rect">
            <a:avLst/>
          </a:prstGeom>
          <a:noFill/>
          <a:ln>
            <a:solidFill>
              <a:srgbClr val="FF0000"/>
            </a:solidFill>
          </a:ln>
        </p:spPr>
        <p:txBody>
          <a:bodyPr wrap="none" rtlCol="0">
            <a:spAutoFit/>
          </a:bodyPr>
          <a:lstStyle/>
          <a:p>
            <a:r>
              <a:rPr lang="en-US" dirty="0">
                <a:solidFill>
                  <a:srgbClr val="FF0000"/>
                </a:solidFill>
              </a:rPr>
              <a:t>+8%</a:t>
            </a:r>
          </a:p>
        </p:txBody>
      </p:sp>
      <p:sp>
        <p:nvSpPr>
          <p:cNvPr id="13" name="TextBox 12">
            <a:extLst>
              <a:ext uri="{FF2B5EF4-FFF2-40B4-BE49-F238E27FC236}">
                <a16:creationId xmlns:a16="http://schemas.microsoft.com/office/drawing/2014/main" id="{7DC5F6A6-42BB-4091-B276-8E02A0E7D466}"/>
              </a:ext>
            </a:extLst>
          </p:cNvPr>
          <p:cNvSpPr txBox="1"/>
          <p:nvPr/>
        </p:nvSpPr>
        <p:spPr>
          <a:xfrm>
            <a:off x="10322092" y="1487324"/>
            <a:ext cx="593432" cy="369332"/>
          </a:xfrm>
          <a:prstGeom prst="rect">
            <a:avLst/>
          </a:prstGeom>
          <a:noFill/>
        </p:spPr>
        <p:txBody>
          <a:bodyPr wrap="none" rtlCol="0">
            <a:spAutoFit/>
          </a:bodyPr>
          <a:lstStyle/>
          <a:p>
            <a:r>
              <a:rPr lang="en-US" dirty="0"/>
              <a:t>6.50</a:t>
            </a:r>
          </a:p>
        </p:txBody>
      </p:sp>
      <p:sp>
        <p:nvSpPr>
          <p:cNvPr id="16" name="TextBox 15">
            <a:extLst>
              <a:ext uri="{FF2B5EF4-FFF2-40B4-BE49-F238E27FC236}">
                <a16:creationId xmlns:a16="http://schemas.microsoft.com/office/drawing/2014/main" id="{728CA39D-0598-4E15-A897-DEBCCF329DD2}"/>
              </a:ext>
            </a:extLst>
          </p:cNvPr>
          <p:cNvSpPr txBox="1"/>
          <p:nvPr/>
        </p:nvSpPr>
        <p:spPr>
          <a:xfrm>
            <a:off x="7691456" y="3988639"/>
            <a:ext cx="593432" cy="369332"/>
          </a:xfrm>
          <a:prstGeom prst="rect">
            <a:avLst/>
          </a:prstGeom>
          <a:noFill/>
        </p:spPr>
        <p:txBody>
          <a:bodyPr wrap="none" rtlCol="0">
            <a:spAutoFit/>
          </a:bodyPr>
          <a:lstStyle/>
          <a:p>
            <a:r>
              <a:rPr lang="en-US" dirty="0"/>
              <a:t>2.49</a:t>
            </a:r>
          </a:p>
        </p:txBody>
      </p:sp>
    </p:spTree>
    <p:extLst>
      <p:ext uri="{BB962C8B-B14F-4D97-AF65-F5344CB8AC3E}">
        <p14:creationId xmlns:p14="http://schemas.microsoft.com/office/powerpoint/2010/main" val="849556148"/>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5AEA14-A0AB-4247-924C-D1FBB4F29D76}"/>
              </a:ext>
            </a:extLst>
          </p:cNvPr>
          <p:cNvSpPr>
            <a:spLocks noGrp="1"/>
          </p:cNvSpPr>
          <p:nvPr>
            <p:ph type="title"/>
          </p:nvPr>
        </p:nvSpPr>
        <p:spPr/>
        <p:txBody>
          <a:bodyPr>
            <a:noAutofit/>
          </a:bodyPr>
          <a:lstStyle/>
          <a:p>
            <a:r>
              <a:rPr lang="en-US" sz="2800" dirty="0"/>
              <a:t>Comparing TX loop of 16KB buffers </a:t>
            </a:r>
          </a:p>
        </p:txBody>
      </p:sp>
      <p:pic>
        <p:nvPicPr>
          <p:cNvPr id="5" name="Picture 4" descr="Chart, bar chart&#10;&#10;Description automatically generated">
            <a:extLst>
              <a:ext uri="{FF2B5EF4-FFF2-40B4-BE49-F238E27FC236}">
                <a16:creationId xmlns:a16="http://schemas.microsoft.com/office/drawing/2014/main" id="{D687D077-C7EC-4EF7-9377-6D4C89BA684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477126" y="935701"/>
            <a:ext cx="8272731" cy="5757146"/>
          </a:xfrm>
          <a:prstGeom prst="rect">
            <a:avLst/>
          </a:prstGeom>
        </p:spPr>
      </p:pic>
      <p:sp>
        <p:nvSpPr>
          <p:cNvPr id="6" name="Subtitle 2">
            <a:extLst>
              <a:ext uri="{FF2B5EF4-FFF2-40B4-BE49-F238E27FC236}">
                <a16:creationId xmlns:a16="http://schemas.microsoft.com/office/drawing/2014/main" id="{96D0F5F9-F3D0-4D08-88CF-60C6648010F2}"/>
              </a:ext>
            </a:extLst>
          </p:cNvPr>
          <p:cNvSpPr txBox="1"/>
          <p:nvPr/>
        </p:nvSpPr>
        <p:spPr>
          <a:xfrm>
            <a:off x="592865" y="811830"/>
            <a:ext cx="10987949" cy="2477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lnSpcReduction="10000"/>
          </a:bodyPr>
          <a:lstStyle>
            <a:lvl1pPr defTabSz="795527">
              <a:defRPr sz="1740">
                <a:solidFill>
                  <a:schemeClr val="accent4"/>
                </a:solidFill>
              </a:defRPr>
            </a:lvl1pPr>
          </a:lstStyle>
          <a:p>
            <a:r>
              <a:rPr lang="en-US" dirty="0"/>
              <a:t>16 Threads</a:t>
            </a:r>
            <a:endParaRPr dirty="0"/>
          </a:p>
        </p:txBody>
      </p:sp>
      <p:sp>
        <p:nvSpPr>
          <p:cNvPr id="7" name="TextBox 6">
            <a:extLst>
              <a:ext uri="{FF2B5EF4-FFF2-40B4-BE49-F238E27FC236}">
                <a16:creationId xmlns:a16="http://schemas.microsoft.com/office/drawing/2014/main" id="{2EDF9115-3107-4542-AE67-CEB5B0ECF028}"/>
              </a:ext>
            </a:extLst>
          </p:cNvPr>
          <p:cNvSpPr txBox="1"/>
          <p:nvPr/>
        </p:nvSpPr>
        <p:spPr>
          <a:xfrm>
            <a:off x="429443" y="2284407"/>
            <a:ext cx="3556743" cy="3139321"/>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a:t>16 Core VM on GCP</a:t>
            </a:r>
          </a:p>
          <a:p>
            <a:pPr marL="285750" indent="-285750">
              <a:lnSpc>
                <a:spcPct val="200000"/>
              </a:lnSpc>
              <a:buFont typeface="Arial" panose="020B0604020202020204" pitchFamily="34" charset="0"/>
              <a:buChar char="•"/>
            </a:pPr>
            <a:r>
              <a:rPr lang="en-US" dirty="0"/>
              <a:t>32Gb/s Egress</a:t>
            </a:r>
          </a:p>
          <a:p>
            <a:pPr marL="285750" indent="-285750">
              <a:lnSpc>
                <a:spcPct val="200000"/>
              </a:lnSpc>
              <a:buFont typeface="Arial" panose="020B0604020202020204" pitchFamily="34" charset="0"/>
              <a:buChar char="•"/>
            </a:pPr>
            <a:r>
              <a:rPr lang="en-US" dirty="0"/>
              <a:t>64 GB Memory</a:t>
            </a:r>
          </a:p>
          <a:p>
            <a:pPr marL="285750" indent="-285750">
              <a:lnSpc>
                <a:spcPct val="200000"/>
              </a:lnSpc>
              <a:buFont typeface="Arial" panose="020B0604020202020204" pitchFamily="34" charset="0"/>
              <a:buChar char="•"/>
            </a:pPr>
            <a:r>
              <a:rPr lang="en-US" dirty="0"/>
              <a:t>16K * 2K buffers over </a:t>
            </a:r>
            <a:r>
              <a:rPr lang="en-US" dirty="0">
                <a:solidFill>
                  <a:srgbClr val="0070C0"/>
                </a:solidFill>
              </a:rPr>
              <a:t>16</a:t>
            </a:r>
            <a:r>
              <a:rPr lang="en-US" dirty="0"/>
              <a:t> Threads</a:t>
            </a:r>
          </a:p>
          <a:p>
            <a:pPr marL="285750" indent="-285750">
              <a:lnSpc>
                <a:spcPct val="200000"/>
              </a:lnSpc>
              <a:buFont typeface="Arial" panose="020B0604020202020204" pitchFamily="34" charset="0"/>
              <a:buChar char="•"/>
            </a:pPr>
            <a:r>
              <a:rPr lang="en-US" dirty="0"/>
              <a:t>Cycles/Byte – </a:t>
            </a:r>
            <a:r>
              <a:rPr lang="en-US" i="1" dirty="0">
                <a:solidFill>
                  <a:srgbClr val="00CC00"/>
                </a:solidFill>
              </a:rPr>
              <a:t>Lower is Better</a:t>
            </a:r>
          </a:p>
          <a:p>
            <a:endParaRPr lang="en-US" dirty="0"/>
          </a:p>
        </p:txBody>
      </p:sp>
      <p:sp>
        <p:nvSpPr>
          <p:cNvPr id="8" name="TextBox 7">
            <a:extLst>
              <a:ext uri="{FF2B5EF4-FFF2-40B4-BE49-F238E27FC236}">
                <a16:creationId xmlns:a16="http://schemas.microsoft.com/office/drawing/2014/main" id="{B3FDC335-3A89-4D53-9749-7D3BA8AD97A0}"/>
              </a:ext>
            </a:extLst>
          </p:cNvPr>
          <p:cNvSpPr txBox="1"/>
          <p:nvPr/>
        </p:nvSpPr>
        <p:spPr>
          <a:xfrm>
            <a:off x="4987089" y="5054396"/>
            <a:ext cx="593432" cy="369332"/>
          </a:xfrm>
          <a:prstGeom prst="rect">
            <a:avLst/>
          </a:prstGeom>
          <a:noFill/>
        </p:spPr>
        <p:txBody>
          <a:bodyPr wrap="none" rtlCol="0">
            <a:spAutoFit/>
          </a:bodyPr>
          <a:lstStyle/>
          <a:p>
            <a:r>
              <a:rPr lang="en-US" dirty="0"/>
              <a:t>7.73</a:t>
            </a:r>
          </a:p>
        </p:txBody>
      </p:sp>
      <p:sp>
        <p:nvSpPr>
          <p:cNvPr id="9" name="TextBox 8">
            <a:extLst>
              <a:ext uri="{FF2B5EF4-FFF2-40B4-BE49-F238E27FC236}">
                <a16:creationId xmlns:a16="http://schemas.microsoft.com/office/drawing/2014/main" id="{23A3411B-15C4-40A1-AD8E-7848700A1E01}"/>
              </a:ext>
            </a:extLst>
          </p:cNvPr>
          <p:cNvSpPr txBox="1"/>
          <p:nvPr/>
        </p:nvSpPr>
        <p:spPr>
          <a:xfrm>
            <a:off x="6168189" y="1522728"/>
            <a:ext cx="593432" cy="369332"/>
          </a:xfrm>
          <a:prstGeom prst="rect">
            <a:avLst/>
          </a:prstGeom>
          <a:noFill/>
        </p:spPr>
        <p:txBody>
          <a:bodyPr wrap="none" rtlCol="0">
            <a:spAutoFit/>
          </a:bodyPr>
          <a:lstStyle/>
          <a:p>
            <a:r>
              <a:rPr lang="en-US" dirty="0"/>
              <a:t>44.2</a:t>
            </a:r>
          </a:p>
        </p:txBody>
      </p:sp>
      <p:sp>
        <p:nvSpPr>
          <p:cNvPr id="10" name="TextBox 9">
            <a:extLst>
              <a:ext uri="{FF2B5EF4-FFF2-40B4-BE49-F238E27FC236}">
                <a16:creationId xmlns:a16="http://schemas.microsoft.com/office/drawing/2014/main" id="{D2659EFB-E509-4655-97BB-389320F7E380}"/>
              </a:ext>
            </a:extLst>
          </p:cNvPr>
          <p:cNvSpPr txBox="1"/>
          <p:nvPr/>
        </p:nvSpPr>
        <p:spPr>
          <a:xfrm>
            <a:off x="7445542" y="5250003"/>
            <a:ext cx="593432" cy="369332"/>
          </a:xfrm>
          <a:prstGeom prst="rect">
            <a:avLst/>
          </a:prstGeom>
          <a:noFill/>
        </p:spPr>
        <p:txBody>
          <a:bodyPr wrap="none" rtlCol="0">
            <a:spAutoFit/>
          </a:bodyPr>
          <a:lstStyle/>
          <a:p>
            <a:r>
              <a:rPr lang="en-US" dirty="0"/>
              <a:t>4.88</a:t>
            </a:r>
          </a:p>
        </p:txBody>
      </p:sp>
      <p:sp>
        <p:nvSpPr>
          <p:cNvPr id="11" name="TextBox 10">
            <a:extLst>
              <a:ext uri="{FF2B5EF4-FFF2-40B4-BE49-F238E27FC236}">
                <a16:creationId xmlns:a16="http://schemas.microsoft.com/office/drawing/2014/main" id="{6FF7B56B-D458-470D-8F34-CBEAA8225700}"/>
              </a:ext>
            </a:extLst>
          </p:cNvPr>
          <p:cNvSpPr txBox="1"/>
          <p:nvPr/>
        </p:nvSpPr>
        <p:spPr>
          <a:xfrm>
            <a:off x="8650413" y="5107629"/>
            <a:ext cx="593432" cy="369332"/>
          </a:xfrm>
          <a:prstGeom prst="rect">
            <a:avLst/>
          </a:prstGeom>
          <a:noFill/>
        </p:spPr>
        <p:txBody>
          <a:bodyPr wrap="none" rtlCol="0">
            <a:spAutoFit/>
          </a:bodyPr>
          <a:lstStyle/>
          <a:p>
            <a:r>
              <a:rPr lang="en-US" dirty="0"/>
              <a:t>6.18</a:t>
            </a:r>
          </a:p>
        </p:txBody>
      </p:sp>
      <p:sp>
        <p:nvSpPr>
          <p:cNvPr id="13" name="TextBox 12">
            <a:extLst>
              <a:ext uri="{FF2B5EF4-FFF2-40B4-BE49-F238E27FC236}">
                <a16:creationId xmlns:a16="http://schemas.microsoft.com/office/drawing/2014/main" id="{7DC5F6A6-42BB-4091-B276-8E02A0E7D466}"/>
              </a:ext>
            </a:extLst>
          </p:cNvPr>
          <p:cNvSpPr txBox="1"/>
          <p:nvPr/>
        </p:nvSpPr>
        <p:spPr>
          <a:xfrm>
            <a:off x="9864892" y="5107629"/>
            <a:ext cx="593432" cy="369332"/>
          </a:xfrm>
          <a:prstGeom prst="rect">
            <a:avLst/>
          </a:prstGeom>
          <a:noFill/>
        </p:spPr>
        <p:txBody>
          <a:bodyPr wrap="none" rtlCol="0">
            <a:spAutoFit/>
          </a:bodyPr>
          <a:lstStyle/>
          <a:p>
            <a:r>
              <a:rPr lang="en-US" dirty="0"/>
              <a:t>6.37</a:t>
            </a:r>
          </a:p>
        </p:txBody>
      </p:sp>
      <p:sp>
        <p:nvSpPr>
          <p:cNvPr id="14" name="TextBox 13">
            <a:extLst>
              <a:ext uri="{FF2B5EF4-FFF2-40B4-BE49-F238E27FC236}">
                <a16:creationId xmlns:a16="http://schemas.microsoft.com/office/drawing/2014/main" id="{DF010EEE-0198-41E0-8DB2-533A9D6A3163}"/>
              </a:ext>
            </a:extLst>
          </p:cNvPr>
          <p:cNvSpPr txBox="1"/>
          <p:nvPr/>
        </p:nvSpPr>
        <p:spPr>
          <a:xfrm>
            <a:off x="8029366" y="5107629"/>
            <a:ext cx="699230" cy="369332"/>
          </a:xfrm>
          <a:prstGeom prst="rect">
            <a:avLst/>
          </a:prstGeom>
          <a:noFill/>
          <a:ln>
            <a:solidFill>
              <a:srgbClr val="FF0000"/>
            </a:solidFill>
          </a:ln>
        </p:spPr>
        <p:txBody>
          <a:bodyPr wrap="none" rtlCol="0">
            <a:spAutoFit/>
          </a:bodyPr>
          <a:lstStyle/>
          <a:p>
            <a:r>
              <a:rPr lang="en-US" dirty="0">
                <a:solidFill>
                  <a:srgbClr val="FF0000"/>
                </a:solidFill>
              </a:rPr>
              <a:t>+25%</a:t>
            </a:r>
          </a:p>
        </p:txBody>
      </p:sp>
    </p:spTree>
    <p:extLst>
      <p:ext uri="{BB962C8B-B14F-4D97-AF65-F5344CB8AC3E}">
        <p14:creationId xmlns:p14="http://schemas.microsoft.com/office/powerpoint/2010/main" val="1117802091"/>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t, bar chart&#10;&#10;Description automatically generated">
            <a:extLst>
              <a:ext uri="{FF2B5EF4-FFF2-40B4-BE49-F238E27FC236}">
                <a16:creationId xmlns:a16="http://schemas.microsoft.com/office/drawing/2014/main" id="{CEE4BBCF-F595-4097-ADEB-32C1D3825DD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05374" y="522155"/>
            <a:ext cx="9173926" cy="6059119"/>
          </a:xfrm>
          <a:prstGeom prst="rect">
            <a:avLst/>
          </a:prstGeom>
        </p:spPr>
      </p:pic>
      <p:sp>
        <p:nvSpPr>
          <p:cNvPr id="3" name="Title 2">
            <a:extLst>
              <a:ext uri="{FF2B5EF4-FFF2-40B4-BE49-F238E27FC236}">
                <a16:creationId xmlns:a16="http://schemas.microsoft.com/office/drawing/2014/main" id="{7C5AEA14-A0AB-4247-924C-D1FBB4F29D76}"/>
              </a:ext>
            </a:extLst>
          </p:cNvPr>
          <p:cNvSpPr>
            <a:spLocks noGrp="1"/>
          </p:cNvSpPr>
          <p:nvPr>
            <p:ph type="title"/>
          </p:nvPr>
        </p:nvSpPr>
        <p:spPr/>
        <p:txBody>
          <a:bodyPr>
            <a:noAutofit/>
          </a:bodyPr>
          <a:lstStyle/>
          <a:p>
            <a:r>
              <a:rPr lang="en-US" sz="2800" dirty="0"/>
              <a:t>Comparing TX loop of 16KB buffers </a:t>
            </a:r>
          </a:p>
        </p:txBody>
      </p:sp>
      <p:sp>
        <p:nvSpPr>
          <p:cNvPr id="6" name="Subtitle 2">
            <a:extLst>
              <a:ext uri="{FF2B5EF4-FFF2-40B4-BE49-F238E27FC236}">
                <a16:creationId xmlns:a16="http://schemas.microsoft.com/office/drawing/2014/main" id="{96D0F5F9-F3D0-4D08-88CF-60C6648010F2}"/>
              </a:ext>
            </a:extLst>
          </p:cNvPr>
          <p:cNvSpPr txBox="1"/>
          <p:nvPr/>
        </p:nvSpPr>
        <p:spPr>
          <a:xfrm>
            <a:off x="592865" y="811830"/>
            <a:ext cx="10987949" cy="2477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lnSpcReduction="10000"/>
          </a:bodyPr>
          <a:lstStyle>
            <a:lvl1pPr defTabSz="795527">
              <a:defRPr sz="1740">
                <a:solidFill>
                  <a:schemeClr val="accent4"/>
                </a:solidFill>
              </a:defRPr>
            </a:lvl1pPr>
          </a:lstStyle>
          <a:p>
            <a:r>
              <a:rPr lang="en-US" dirty="0"/>
              <a:t>1 Thread</a:t>
            </a:r>
            <a:endParaRPr dirty="0"/>
          </a:p>
        </p:txBody>
      </p:sp>
      <p:sp>
        <p:nvSpPr>
          <p:cNvPr id="7" name="TextBox 6">
            <a:extLst>
              <a:ext uri="{FF2B5EF4-FFF2-40B4-BE49-F238E27FC236}">
                <a16:creationId xmlns:a16="http://schemas.microsoft.com/office/drawing/2014/main" id="{2EDF9115-3107-4542-AE67-CEB5B0ECF028}"/>
              </a:ext>
            </a:extLst>
          </p:cNvPr>
          <p:cNvSpPr txBox="1"/>
          <p:nvPr/>
        </p:nvSpPr>
        <p:spPr>
          <a:xfrm>
            <a:off x="429443" y="2284407"/>
            <a:ext cx="3348417" cy="3139321"/>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a:t>16 Core VM on GCP</a:t>
            </a:r>
          </a:p>
          <a:p>
            <a:pPr marL="285750" indent="-285750">
              <a:lnSpc>
                <a:spcPct val="200000"/>
              </a:lnSpc>
              <a:buFont typeface="Arial" panose="020B0604020202020204" pitchFamily="34" charset="0"/>
              <a:buChar char="•"/>
            </a:pPr>
            <a:r>
              <a:rPr lang="en-US" dirty="0"/>
              <a:t>32Gb/s Egress</a:t>
            </a:r>
          </a:p>
          <a:p>
            <a:pPr marL="285750" indent="-285750">
              <a:lnSpc>
                <a:spcPct val="200000"/>
              </a:lnSpc>
              <a:buFont typeface="Arial" panose="020B0604020202020204" pitchFamily="34" charset="0"/>
              <a:buChar char="•"/>
            </a:pPr>
            <a:r>
              <a:rPr lang="en-US" dirty="0"/>
              <a:t>64 GB Memory</a:t>
            </a:r>
          </a:p>
          <a:p>
            <a:pPr marL="285750" indent="-285750">
              <a:lnSpc>
                <a:spcPct val="200000"/>
              </a:lnSpc>
              <a:buFont typeface="Arial" panose="020B0604020202020204" pitchFamily="34" charset="0"/>
              <a:buChar char="•"/>
            </a:pPr>
            <a:r>
              <a:rPr lang="en-US" dirty="0"/>
              <a:t>16K * 2K buffers with </a:t>
            </a:r>
            <a:r>
              <a:rPr lang="en-US" dirty="0">
                <a:solidFill>
                  <a:srgbClr val="0070C0"/>
                </a:solidFill>
              </a:rPr>
              <a:t>1</a:t>
            </a:r>
            <a:r>
              <a:rPr lang="en-US" dirty="0"/>
              <a:t> Thread</a:t>
            </a:r>
          </a:p>
          <a:p>
            <a:pPr marL="285750" indent="-285750">
              <a:lnSpc>
                <a:spcPct val="200000"/>
              </a:lnSpc>
              <a:buFont typeface="Arial" panose="020B0604020202020204" pitchFamily="34" charset="0"/>
              <a:buChar char="•"/>
            </a:pPr>
            <a:r>
              <a:rPr lang="en-US" dirty="0"/>
              <a:t>Cycles/Byte – </a:t>
            </a:r>
            <a:r>
              <a:rPr lang="en-US" i="1" dirty="0">
                <a:solidFill>
                  <a:srgbClr val="00CC00"/>
                </a:solidFill>
              </a:rPr>
              <a:t>Lower is Better</a:t>
            </a:r>
          </a:p>
          <a:p>
            <a:endParaRPr lang="en-US" dirty="0"/>
          </a:p>
        </p:txBody>
      </p:sp>
      <p:sp>
        <p:nvSpPr>
          <p:cNvPr id="8" name="TextBox 7">
            <a:extLst>
              <a:ext uri="{FF2B5EF4-FFF2-40B4-BE49-F238E27FC236}">
                <a16:creationId xmlns:a16="http://schemas.microsoft.com/office/drawing/2014/main" id="{B3FDC335-3A89-4D53-9749-7D3BA8AD97A0}"/>
              </a:ext>
            </a:extLst>
          </p:cNvPr>
          <p:cNvSpPr txBox="1"/>
          <p:nvPr/>
        </p:nvSpPr>
        <p:spPr>
          <a:xfrm>
            <a:off x="8753551" y="1957159"/>
            <a:ext cx="593432" cy="369332"/>
          </a:xfrm>
          <a:prstGeom prst="rect">
            <a:avLst/>
          </a:prstGeom>
          <a:noFill/>
        </p:spPr>
        <p:txBody>
          <a:bodyPr wrap="none" rtlCol="0">
            <a:spAutoFit/>
          </a:bodyPr>
          <a:lstStyle/>
          <a:p>
            <a:r>
              <a:rPr lang="en-US" dirty="0"/>
              <a:t>5.33</a:t>
            </a:r>
          </a:p>
        </p:txBody>
      </p:sp>
      <p:sp>
        <p:nvSpPr>
          <p:cNvPr id="10" name="TextBox 9">
            <a:extLst>
              <a:ext uri="{FF2B5EF4-FFF2-40B4-BE49-F238E27FC236}">
                <a16:creationId xmlns:a16="http://schemas.microsoft.com/office/drawing/2014/main" id="{D2659EFB-E509-4655-97BB-389320F7E380}"/>
              </a:ext>
            </a:extLst>
          </p:cNvPr>
          <p:cNvSpPr txBox="1"/>
          <p:nvPr/>
        </p:nvSpPr>
        <p:spPr>
          <a:xfrm>
            <a:off x="5978298" y="4034815"/>
            <a:ext cx="593432" cy="369332"/>
          </a:xfrm>
          <a:prstGeom prst="rect">
            <a:avLst/>
          </a:prstGeom>
          <a:noFill/>
        </p:spPr>
        <p:txBody>
          <a:bodyPr wrap="none" rtlCol="0">
            <a:spAutoFit/>
          </a:bodyPr>
          <a:lstStyle/>
          <a:p>
            <a:r>
              <a:rPr lang="en-US" dirty="0"/>
              <a:t>2.31</a:t>
            </a:r>
          </a:p>
        </p:txBody>
      </p:sp>
      <p:sp>
        <p:nvSpPr>
          <p:cNvPr id="11" name="TextBox 10">
            <a:extLst>
              <a:ext uri="{FF2B5EF4-FFF2-40B4-BE49-F238E27FC236}">
                <a16:creationId xmlns:a16="http://schemas.microsoft.com/office/drawing/2014/main" id="{6FF7B56B-D458-470D-8F34-CBEAA8225700}"/>
              </a:ext>
            </a:extLst>
          </p:cNvPr>
          <p:cNvSpPr txBox="1"/>
          <p:nvPr/>
        </p:nvSpPr>
        <p:spPr>
          <a:xfrm>
            <a:off x="10124282" y="2574982"/>
            <a:ext cx="593432" cy="369332"/>
          </a:xfrm>
          <a:prstGeom prst="rect">
            <a:avLst/>
          </a:prstGeom>
          <a:noFill/>
        </p:spPr>
        <p:txBody>
          <a:bodyPr wrap="none" rtlCol="0">
            <a:spAutoFit/>
          </a:bodyPr>
          <a:lstStyle/>
          <a:p>
            <a:r>
              <a:rPr lang="en-US" dirty="0"/>
              <a:t>4.42</a:t>
            </a:r>
          </a:p>
        </p:txBody>
      </p:sp>
      <p:sp>
        <p:nvSpPr>
          <p:cNvPr id="12" name="TextBox 11">
            <a:extLst>
              <a:ext uri="{FF2B5EF4-FFF2-40B4-BE49-F238E27FC236}">
                <a16:creationId xmlns:a16="http://schemas.microsoft.com/office/drawing/2014/main" id="{C43B7A2F-E203-4F5B-BB34-62CED8A47AA4}"/>
              </a:ext>
            </a:extLst>
          </p:cNvPr>
          <p:cNvSpPr txBox="1"/>
          <p:nvPr/>
        </p:nvSpPr>
        <p:spPr>
          <a:xfrm>
            <a:off x="7062510" y="3940385"/>
            <a:ext cx="582211" cy="369332"/>
          </a:xfrm>
          <a:prstGeom prst="rect">
            <a:avLst/>
          </a:prstGeom>
          <a:noFill/>
          <a:ln>
            <a:solidFill>
              <a:srgbClr val="FF0000"/>
            </a:solidFill>
          </a:ln>
        </p:spPr>
        <p:txBody>
          <a:bodyPr wrap="none" rtlCol="0">
            <a:spAutoFit/>
          </a:bodyPr>
          <a:lstStyle/>
          <a:p>
            <a:r>
              <a:rPr lang="en-US" dirty="0">
                <a:solidFill>
                  <a:srgbClr val="FF0000"/>
                </a:solidFill>
              </a:rPr>
              <a:t>+8%</a:t>
            </a:r>
          </a:p>
        </p:txBody>
      </p:sp>
      <p:sp>
        <p:nvSpPr>
          <p:cNvPr id="13" name="TextBox 12">
            <a:extLst>
              <a:ext uri="{FF2B5EF4-FFF2-40B4-BE49-F238E27FC236}">
                <a16:creationId xmlns:a16="http://schemas.microsoft.com/office/drawing/2014/main" id="{7DC5F6A6-42BB-4091-B276-8E02A0E7D466}"/>
              </a:ext>
            </a:extLst>
          </p:cNvPr>
          <p:cNvSpPr txBox="1"/>
          <p:nvPr/>
        </p:nvSpPr>
        <p:spPr>
          <a:xfrm>
            <a:off x="4540919" y="1164582"/>
            <a:ext cx="593432" cy="369332"/>
          </a:xfrm>
          <a:prstGeom prst="rect">
            <a:avLst/>
          </a:prstGeom>
          <a:noFill/>
        </p:spPr>
        <p:txBody>
          <a:bodyPr wrap="none" rtlCol="0">
            <a:spAutoFit/>
          </a:bodyPr>
          <a:lstStyle/>
          <a:p>
            <a:r>
              <a:rPr lang="en-US" dirty="0"/>
              <a:t>6.50</a:t>
            </a:r>
          </a:p>
        </p:txBody>
      </p:sp>
      <p:sp>
        <p:nvSpPr>
          <p:cNvPr id="16" name="TextBox 15">
            <a:extLst>
              <a:ext uri="{FF2B5EF4-FFF2-40B4-BE49-F238E27FC236}">
                <a16:creationId xmlns:a16="http://schemas.microsoft.com/office/drawing/2014/main" id="{728CA39D-0598-4E15-A897-DEBCCF329DD2}"/>
              </a:ext>
            </a:extLst>
          </p:cNvPr>
          <p:cNvSpPr txBox="1"/>
          <p:nvPr/>
        </p:nvSpPr>
        <p:spPr>
          <a:xfrm>
            <a:off x="7595204" y="3904333"/>
            <a:ext cx="593432" cy="369332"/>
          </a:xfrm>
          <a:prstGeom prst="rect">
            <a:avLst/>
          </a:prstGeom>
          <a:noFill/>
        </p:spPr>
        <p:txBody>
          <a:bodyPr wrap="none" rtlCol="0">
            <a:spAutoFit/>
          </a:bodyPr>
          <a:lstStyle/>
          <a:p>
            <a:r>
              <a:rPr lang="en-US" dirty="0"/>
              <a:t>2.49</a:t>
            </a:r>
          </a:p>
        </p:txBody>
      </p:sp>
    </p:spTree>
    <p:extLst>
      <p:ext uri="{BB962C8B-B14F-4D97-AF65-F5344CB8AC3E}">
        <p14:creationId xmlns:p14="http://schemas.microsoft.com/office/powerpoint/2010/main" val="1118820172"/>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arn(inVertical)">
                                      <p:cBhvr>
                                        <p:cTn id="7" dur="500"/>
                                        <p:tgtEl>
                                          <p:spTgt spid="4"/>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barn(inVertical)">
                                      <p:cBhvr>
                                        <p:cTn id="10" dur="500"/>
                                        <p:tgtEl>
                                          <p:spTgt spid="13"/>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barn(inVertical)">
                                      <p:cBhvr>
                                        <p:cTn id="13" dur="500"/>
                                        <p:tgtEl>
                                          <p:spTgt spid="10"/>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arn(inVertical)">
                                      <p:cBhvr>
                                        <p:cTn id="16" dur="500"/>
                                        <p:tgtEl>
                                          <p:spTgt spid="16"/>
                                        </p:tgtEl>
                                      </p:cBhvr>
                                    </p:animEffect>
                                  </p:childTnLst>
                                </p:cTn>
                              </p:par>
                              <p:par>
                                <p:cTn id="17" presetID="16" presetClass="entr" presetSubtype="21"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barn(inVertical)">
                                      <p:cBhvr>
                                        <p:cTn id="19" dur="500"/>
                                        <p:tgtEl>
                                          <p:spTgt spid="8"/>
                                        </p:tgtEl>
                                      </p:cBhvr>
                                    </p:animEffect>
                                  </p:childTnLst>
                                </p:cTn>
                              </p:par>
                              <p:par>
                                <p:cTn id="20" presetID="16" presetClass="entr" presetSubtype="21" fill="hold" grpId="0"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arn(inVertical)">
                                      <p:cBhvr>
                                        <p:cTn id="22" dur="500"/>
                                        <p:tgtEl>
                                          <p:spTgt spid="11"/>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down)">
                                      <p:cBhvr>
                                        <p:cTn id="27"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P spid="11" grpId="0"/>
      <p:bldP spid="12" grpId="0" animBg="1"/>
      <p:bldP spid="13" grpId="0"/>
      <p:bldP spid="1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C5AEA14-A0AB-4247-924C-D1FBB4F29D76}"/>
              </a:ext>
            </a:extLst>
          </p:cNvPr>
          <p:cNvSpPr>
            <a:spLocks noGrp="1"/>
          </p:cNvSpPr>
          <p:nvPr>
            <p:ph type="title"/>
          </p:nvPr>
        </p:nvSpPr>
        <p:spPr/>
        <p:txBody>
          <a:bodyPr>
            <a:noAutofit/>
          </a:bodyPr>
          <a:lstStyle/>
          <a:p>
            <a:r>
              <a:rPr lang="en-US" sz="2800" dirty="0"/>
              <a:t>Comparing TX loop of 16KB buffers </a:t>
            </a:r>
          </a:p>
        </p:txBody>
      </p:sp>
      <p:sp>
        <p:nvSpPr>
          <p:cNvPr id="6" name="Subtitle 2">
            <a:extLst>
              <a:ext uri="{FF2B5EF4-FFF2-40B4-BE49-F238E27FC236}">
                <a16:creationId xmlns:a16="http://schemas.microsoft.com/office/drawing/2014/main" id="{96D0F5F9-F3D0-4D08-88CF-60C6648010F2}"/>
              </a:ext>
            </a:extLst>
          </p:cNvPr>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rPr lang="en-US" dirty="0"/>
              <a:t>1 Thread</a:t>
            </a:r>
            <a:endParaRPr dirty="0"/>
          </a:p>
        </p:txBody>
      </p:sp>
      <p:sp>
        <p:nvSpPr>
          <p:cNvPr id="7" name="TextBox 6">
            <a:extLst>
              <a:ext uri="{FF2B5EF4-FFF2-40B4-BE49-F238E27FC236}">
                <a16:creationId xmlns:a16="http://schemas.microsoft.com/office/drawing/2014/main" id="{2EDF9115-3107-4542-AE67-CEB5B0ECF028}"/>
              </a:ext>
            </a:extLst>
          </p:cNvPr>
          <p:cNvSpPr txBox="1"/>
          <p:nvPr/>
        </p:nvSpPr>
        <p:spPr>
          <a:xfrm>
            <a:off x="429443" y="2284407"/>
            <a:ext cx="3348417" cy="3139321"/>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a:t>16 Core VM on GCP</a:t>
            </a:r>
          </a:p>
          <a:p>
            <a:pPr marL="285750" indent="-285750">
              <a:lnSpc>
                <a:spcPct val="200000"/>
              </a:lnSpc>
              <a:buFont typeface="Arial" panose="020B0604020202020204" pitchFamily="34" charset="0"/>
              <a:buChar char="•"/>
            </a:pPr>
            <a:r>
              <a:rPr lang="en-US" dirty="0"/>
              <a:t>32Gb/s Egress</a:t>
            </a:r>
          </a:p>
          <a:p>
            <a:pPr marL="285750" indent="-285750">
              <a:lnSpc>
                <a:spcPct val="200000"/>
              </a:lnSpc>
              <a:buFont typeface="Arial" panose="020B0604020202020204" pitchFamily="34" charset="0"/>
              <a:buChar char="•"/>
            </a:pPr>
            <a:r>
              <a:rPr lang="en-US" dirty="0"/>
              <a:t>64 GB Memory</a:t>
            </a:r>
          </a:p>
          <a:p>
            <a:pPr marL="285750" indent="-285750">
              <a:lnSpc>
                <a:spcPct val="200000"/>
              </a:lnSpc>
              <a:buFont typeface="Arial" panose="020B0604020202020204" pitchFamily="34" charset="0"/>
              <a:buChar char="•"/>
            </a:pPr>
            <a:r>
              <a:rPr lang="en-US" dirty="0"/>
              <a:t>16K * 2K buffers with </a:t>
            </a:r>
            <a:r>
              <a:rPr lang="en-US" dirty="0">
                <a:solidFill>
                  <a:srgbClr val="0070C0"/>
                </a:solidFill>
              </a:rPr>
              <a:t>1</a:t>
            </a:r>
            <a:r>
              <a:rPr lang="en-US" dirty="0"/>
              <a:t> Thread</a:t>
            </a:r>
          </a:p>
          <a:p>
            <a:pPr marL="285750" indent="-285750">
              <a:lnSpc>
                <a:spcPct val="200000"/>
              </a:lnSpc>
              <a:buFont typeface="Arial" panose="020B0604020202020204" pitchFamily="34" charset="0"/>
              <a:buChar char="•"/>
            </a:pPr>
            <a:r>
              <a:rPr lang="en-US" dirty="0"/>
              <a:t>Cycles/Byte – </a:t>
            </a:r>
            <a:r>
              <a:rPr lang="en-US" i="1" dirty="0">
                <a:solidFill>
                  <a:srgbClr val="00CC00"/>
                </a:solidFill>
              </a:rPr>
              <a:t>Lower is Better</a:t>
            </a:r>
          </a:p>
          <a:p>
            <a:endParaRPr lang="en-US" dirty="0"/>
          </a:p>
        </p:txBody>
      </p:sp>
      <p:pic>
        <p:nvPicPr>
          <p:cNvPr id="5" name="Picture 4" descr="A picture containing text&#10;&#10;Description automatically generated">
            <a:extLst>
              <a:ext uri="{FF2B5EF4-FFF2-40B4-BE49-F238E27FC236}">
                <a16:creationId xmlns:a16="http://schemas.microsoft.com/office/drawing/2014/main" id="{0A4CDDB2-48A0-44CD-B7CA-6DC72C6E84F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264155" y="935701"/>
            <a:ext cx="5316658" cy="5715000"/>
          </a:xfrm>
          <a:prstGeom prst="rect">
            <a:avLst/>
          </a:prstGeom>
        </p:spPr>
      </p:pic>
      <p:sp>
        <p:nvSpPr>
          <p:cNvPr id="9" name="Oval 8">
            <a:extLst>
              <a:ext uri="{FF2B5EF4-FFF2-40B4-BE49-F238E27FC236}">
                <a16:creationId xmlns:a16="http://schemas.microsoft.com/office/drawing/2014/main" id="{D8A03D0B-66E3-4499-8C5A-2A40BF1C0FCC}"/>
              </a:ext>
            </a:extLst>
          </p:cNvPr>
          <p:cNvSpPr/>
          <p:nvPr/>
        </p:nvSpPr>
        <p:spPr>
          <a:xfrm>
            <a:off x="5973679" y="1195475"/>
            <a:ext cx="4824663" cy="392693"/>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F5D87B2-3529-4CB9-8F00-EB3EF307DF9B}"/>
              </a:ext>
            </a:extLst>
          </p:cNvPr>
          <p:cNvSpPr txBox="1"/>
          <p:nvPr/>
        </p:nvSpPr>
        <p:spPr>
          <a:xfrm>
            <a:off x="3846951" y="3136612"/>
            <a:ext cx="2068195" cy="584775"/>
          </a:xfrm>
          <a:prstGeom prst="rect">
            <a:avLst/>
          </a:prstGeom>
          <a:noFill/>
        </p:spPr>
        <p:txBody>
          <a:bodyPr wrap="none" rtlCol="0">
            <a:spAutoFit/>
          </a:bodyPr>
          <a:lstStyle/>
          <a:p>
            <a:r>
              <a:rPr lang="en-US" sz="3200" dirty="0">
                <a:solidFill>
                  <a:srgbClr val="0070C0"/>
                </a:solidFill>
              </a:rPr>
              <a:t>MAIO Send</a:t>
            </a:r>
          </a:p>
        </p:txBody>
      </p:sp>
      <p:sp>
        <p:nvSpPr>
          <p:cNvPr id="17" name="Oval 16">
            <a:extLst>
              <a:ext uri="{FF2B5EF4-FFF2-40B4-BE49-F238E27FC236}">
                <a16:creationId xmlns:a16="http://schemas.microsoft.com/office/drawing/2014/main" id="{1DC061FD-3B8F-45B4-8D97-439A4BD5B441}"/>
              </a:ext>
            </a:extLst>
          </p:cNvPr>
          <p:cNvSpPr/>
          <p:nvPr/>
        </p:nvSpPr>
        <p:spPr>
          <a:xfrm>
            <a:off x="5915146" y="5276757"/>
            <a:ext cx="4824663" cy="146971"/>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8DDE4D89-1875-43DA-AD36-FBAD95031E1F}"/>
              </a:ext>
            </a:extLst>
          </p:cNvPr>
          <p:cNvSpPr/>
          <p:nvPr/>
        </p:nvSpPr>
        <p:spPr>
          <a:xfrm>
            <a:off x="5915145" y="3408438"/>
            <a:ext cx="4824663" cy="146971"/>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2765395"/>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wheel(1)">
                                      <p:cBhvr>
                                        <p:cTn id="12" dur="250"/>
                                        <p:tgtEl>
                                          <p:spTgt spid="17"/>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animEffect transition="in" filter="wheel(1)">
                                      <p:cBhvr>
                                        <p:cTn id="15" dur="25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Text&#10;&#10;Description automatically generated">
            <a:extLst>
              <a:ext uri="{FF2B5EF4-FFF2-40B4-BE49-F238E27FC236}">
                <a16:creationId xmlns:a16="http://schemas.microsoft.com/office/drawing/2014/main" id="{906B1CF9-DF0C-4B99-80DC-F433CBF780CB}"/>
              </a:ext>
            </a:extLst>
          </p:cNvPr>
          <p:cNvPicPr>
            <a:picLocks noChangeAspect="1"/>
          </p:cNvPicPr>
          <p:nvPr/>
        </p:nvPicPr>
        <p:blipFill rotWithShape="1">
          <a:blip r:embed="rId3">
            <a:extLst>
              <a:ext uri="{28A0092B-C50C-407E-A947-70E740481C1C}">
                <a14:useLocalDpi xmlns:a14="http://schemas.microsoft.com/office/drawing/2010/main" val="0"/>
              </a:ext>
            </a:extLst>
          </a:blip>
          <a:srcRect t="-291" r="18304"/>
          <a:stretch/>
        </p:blipFill>
        <p:spPr>
          <a:xfrm>
            <a:off x="5915146" y="943058"/>
            <a:ext cx="6119737" cy="5556658"/>
          </a:xfrm>
          <a:prstGeom prst="rect">
            <a:avLst/>
          </a:prstGeom>
        </p:spPr>
      </p:pic>
      <p:sp>
        <p:nvSpPr>
          <p:cNvPr id="3" name="Title 2">
            <a:extLst>
              <a:ext uri="{FF2B5EF4-FFF2-40B4-BE49-F238E27FC236}">
                <a16:creationId xmlns:a16="http://schemas.microsoft.com/office/drawing/2014/main" id="{7C5AEA14-A0AB-4247-924C-D1FBB4F29D76}"/>
              </a:ext>
            </a:extLst>
          </p:cNvPr>
          <p:cNvSpPr>
            <a:spLocks noGrp="1"/>
          </p:cNvSpPr>
          <p:nvPr>
            <p:ph type="title"/>
          </p:nvPr>
        </p:nvSpPr>
        <p:spPr/>
        <p:txBody>
          <a:bodyPr>
            <a:noAutofit/>
          </a:bodyPr>
          <a:lstStyle/>
          <a:p>
            <a:r>
              <a:rPr lang="en-US" sz="2800" dirty="0"/>
              <a:t>Comparing TX loop of 16KB buffers </a:t>
            </a:r>
          </a:p>
        </p:txBody>
      </p:sp>
      <p:sp>
        <p:nvSpPr>
          <p:cNvPr id="6" name="Subtitle 2">
            <a:extLst>
              <a:ext uri="{FF2B5EF4-FFF2-40B4-BE49-F238E27FC236}">
                <a16:creationId xmlns:a16="http://schemas.microsoft.com/office/drawing/2014/main" id="{96D0F5F9-F3D0-4D08-88CF-60C6648010F2}"/>
              </a:ext>
            </a:extLst>
          </p:cNvPr>
          <p:cNvSpPr txBox="1"/>
          <p:nvPr/>
        </p:nvSpPr>
        <p:spPr>
          <a:xfrm>
            <a:off x="592865" y="811830"/>
            <a:ext cx="10987949" cy="2477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lnSpcReduction="10000"/>
          </a:bodyPr>
          <a:lstStyle>
            <a:lvl1pPr defTabSz="795527">
              <a:defRPr sz="1740">
                <a:solidFill>
                  <a:schemeClr val="accent4"/>
                </a:solidFill>
              </a:defRPr>
            </a:lvl1pPr>
          </a:lstStyle>
          <a:p>
            <a:r>
              <a:rPr lang="en-US" dirty="0"/>
              <a:t>1 Thread</a:t>
            </a:r>
            <a:endParaRPr dirty="0"/>
          </a:p>
        </p:txBody>
      </p:sp>
      <p:sp>
        <p:nvSpPr>
          <p:cNvPr id="7" name="TextBox 6">
            <a:extLst>
              <a:ext uri="{FF2B5EF4-FFF2-40B4-BE49-F238E27FC236}">
                <a16:creationId xmlns:a16="http://schemas.microsoft.com/office/drawing/2014/main" id="{2EDF9115-3107-4542-AE67-CEB5B0ECF028}"/>
              </a:ext>
            </a:extLst>
          </p:cNvPr>
          <p:cNvSpPr txBox="1"/>
          <p:nvPr/>
        </p:nvSpPr>
        <p:spPr>
          <a:xfrm>
            <a:off x="429443" y="2284407"/>
            <a:ext cx="3348417" cy="3139321"/>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a:t>16 Core VM on GCP</a:t>
            </a:r>
          </a:p>
          <a:p>
            <a:pPr marL="285750" indent="-285750">
              <a:lnSpc>
                <a:spcPct val="200000"/>
              </a:lnSpc>
              <a:buFont typeface="Arial" panose="020B0604020202020204" pitchFamily="34" charset="0"/>
              <a:buChar char="•"/>
            </a:pPr>
            <a:r>
              <a:rPr lang="en-US" dirty="0"/>
              <a:t>32Gb/s Egress</a:t>
            </a:r>
          </a:p>
          <a:p>
            <a:pPr marL="285750" indent="-285750">
              <a:lnSpc>
                <a:spcPct val="200000"/>
              </a:lnSpc>
              <a:buFont typeface="Arial" panose="020B0604020202020204" pitchFamily="34" charset="0"/>
              <a:buChar char="•"/>
            </a:pPr>
            <a:r>
              <a:rPr lang="en-US" dirty="0"/>
              <a:t>64 GB Memory</a:t>
            </a:r>
          </a:p>
          <a:p>
            <a:pPr marL="285750" indent="-285750">
              <a:lnSpc>
                <a:spcPct val="200000"/>
              </a:lnSpc>
              <a:buFont typeface="Arial" panose="020B0604020202020204" pitchFamily="34" charset="0"/>
              <a:buChar char="•"/>
            </a:pPr>
            <a:r>
              <a:rPr lang="en-US" dirty="0"/>
              <a:t>16K * 2K buffers with </a:t>
            </a:r>
            <a:r>
              <a:rPr lang="en-US" dirty="0">
                <a:solidFill>
                  <a:srgbClr val="0070C0"/>
                </a:solidFill>
              </a:rPr>
              <a:t>1</a:t>
            </a:r>
            <a:r>
              <a:rPr lang="en-US" dirty="0"/>
              <a:t> Thread</a:t>
            </a:r>
          </a:p>
          <a:p>
            <a:pPr marL="285750" indent="-285750">
              <a:lnSpc>
                <a:spcPct val="200000"/>
              </a:lnSpc>
              <a:buFont typeface="Arial" panose="020B0604020202020204" pitchFamily="34" charset="0"/>
              <a:buChar char="•"/>
            </a:pPr>
            <a:r>
              <a:rPr lang="en-US" dirty="0"/>
              <a:t>Cycles/Byte – </a:t>
            </a:r>
            <a:r>
              <a:rPr lang="en-US" i="1" dirty="0">
                <a:solidFill>
                  <a:srgbClr val="00CC00"/>
                </a:solidFill>
              </a:rPr>
              <a:t>Lower is Better</a:t>
            </a:r>
          </a:p>
          <a:p>
            <a:endParaRPr lang="en-US" dirty="0"/>
          </a:p>
        </p:txBody>
      </p:sp>
      <p:sp>
        <p:nvSpPr>
          <p:cNvPr id="9" name="Oval 8">
            <a:extLst>
              <a:ext uri="{FF2B5EF4-FFF2-40B4-BE49-F238E27FC236}">
                <a16:creationId xmlns:a16="http://schemas.microsoft.com/office/drawing/2014/main" id="{D8A03D0B-66E3-4499-8C5A-2A40BF1C0FCC}"/>
              </a:ext>
            </a:extLst>
          </p:cNvPr>
          <p:cNvSpPr/>
          <p:nvPr/>
        </p:nvSpPr>
        <p:spPr>
          <a:xfrm>
            <a:off x="5552574" y="1195475"/>
            <a:ext cx="6172199" cy="74962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F5D87B2-3529-4CB9-8F00-EB3EF307DF9B}"/>
              </a:ext>
            </a:extLst>
          </p:cNvPr>
          <p:cNvSpPr txBox="1"/>
          <p:nvPr/>
        </p:nvSpPr>
        <p:spPr>
          <a:xfrm>
            <a:off x="2884425" y="3136612"/>
            <a:ext cx="2972096" cy="584775"/>
          </a:xfrm>
          <a:prstGeom prst="rect">
            <a:avLst/>
          </a:prstGeom>
          <a:noFill/>
        </p:spPr>
        <p:txBody>
          <a:bodyPr wrap="none" rtlCol="0">
            <a:spAutoFit/>
          </a:bodyPr>
          <a:lstStyle/>
          <a:p>
            <a:r>
              <a:rPr lang="en-US" sz="3200" dirty="0">
                <a:solidFill>
                  <a:srgbClr val="0070C0"/>
                </a:solidFill>
              </a:rPr>
              <a:t>MSG_ZEROCOPY</a:t>
            </a:r>
          </a:p>
        </p:txBody>
      </p:sp>
      <p:sp>
        <p:nvSpPr>
          <p:cNvPr id="12" name="Oval 11">
            <a:extLst>
              <a:ext uri="{FF2B5EF4-FFF2-40B4-BE49-F238E27FC236}">
                <a16:creationId xmlns:a16="http://schemas.microsoft.com/office/drawing/2014/main" id="{D926BA18-32BF-41FF-BECB-CD11DAA96C7C}"/>
              </a:ext>
            </a:extLst>
          </p:cNvPr>
          <p:cNvSpPr/>
          <p:nvPr/>
        </p:nvSpPr>
        <p:spPr>
          <a:xfrm>
            <a:off x="5800844" y="4974174"/>
            <a:ext cx="4824663" cy="22945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2C8A8272-480A-4337-B2D5-34724F8E8393}"/>
              </a:ext>
            </a:extLst>
          </p:cNvPr>
          <p:cNvSpPr/>
          <p:nvPr/>
        </p:nvSpPr>
        <p:spPr>
          <a:xfrm>
            <a:off x="5856521" y="2402306"/>
            <a:ext cx="5050105" cy="22945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01389270"/>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5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heel(1)">
                                      <p:cBhvr>
                                        <p:cTn id="12" dur="250"/>
                                        <p:tgtEl>
                                          <p:spTgt spid="12"/>
                                        </p:tgtEl>
                                      </p:cBhvr>
                                    </p:animEffect>
                                  </p:childTnLst>
                                </p:cTn>
                              </p:par>
                              <p:par>
                                <p:cTn id="13" presetID="21" presetClass="entr" presetSubtype="1"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heel(1)">
                                      <p:cBhvr>
                                        <p:cTn id="15" dur="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animBg="1"/>
      <p:bldP spid="13"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51F43771-EADA-4D20-AA1B-FEFC34BEE15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66211" y="1238541"/>
            <a:ext cx="7950609" cy="4394426"/>
          </a:xfrm>
          <a:prstGeom prst="rect">
            <a:avLst/>
          </a:prstGeom>
        </p:spPr>
      </p:pic>
      <p:sp>
        <p:nvSpPr>
          <p:cNvPr id="3" name="Title 2">
            <a:extLst>
              <a:ext uri="{FF2B5EF4-FFF2-40B4-BE49-F238E27FC236}">
                <a16:creationId xmlns:a16="http://schemas.microsoft.com/office/drawing/2014/main" id="{7C5AEA14-A0AB-4247-924C-D1FBB4F29D76}"/>
              </a:ext>
            </a:extLst>
          </p:cNvPr>
          <p:cNvSpPr>
            <a:spLocks noGrp="1"/>
          </p:cNvSpPr>
          <p:nvPr>
            <p:ph type="title"/>
          </p:nvPr>
        </p:nvSpPr>
        <p:spPr/>
        <p:txBody>
          <a:bodyPr>
            <a:noAutofit/>
          </a:bodyPr>
          <a:lstStyle/>
          <a:p>
            <a:r>
              <a:rPr lang="en-US" sz="2800" dirty="0"/>
              <a:t>Comparing TX loop of 16KB buffers </a:t>
            </a:r>
          </a:p>
        </p:txBody>
      </p:sp>
      <p:sp>
        <p:nvSpPr>
          <p:cNvPr id="6" name="Subtitle 2">
            <a:extLst>
              <a:ext uri="{FF2B5EF4-FFF2-40B4-BE49-F238E27FC236}">
                <a16:creationId xmlns:a16="http://schemas.microsoft.com/office/drawing/2014/main" id="{96D0F5F9-F3D0-4D08-88CF-60C6648010F2}"/>
              </a:ext>
            </a:extLst>
          </p:cNvPr>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rPr lang="en-US" dirty="0"/>
              <a:t>1 Thread</a:t>
            </a:r>
            <a:endParaRPr dirty="0"/>
          </a:p>
        </p:txBody>
      </p:sp>
      <p:sp>
        <p:nvSpPr>
          <p:cNvPr id="7" name="TextBox 6">
            <a:extLst>
              <a:ext uri="{FF2B5EF4-FFF2-40B4-BE49-F238E27FC236}">
                <a16:creationId xmlns:a16="http://schemas.microsoft.com/office/drawing/2014/main" id="{2EDF9115-3107-4542-AE67-CEB5B0ECF028}"/>
              </a:ext>
            </a:extLst>
          </p:cNvPr>
          <p:cNvSpPr txBox="1"/>
          <p:nvPr/>
        </p:nvSpPr>
        <p:spPr>
          <a:xfrm>
            <a:off x="429443" y="2284407"/>
            <a:ext cx="3348417" cy="3139321"/>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a:t>16 Core VM on GCP</a:t>
            </a:r>
          </a:p>
          <a:p>
            <a:pPr marL="285750" indent="-285750">
              <a:lnSpc>
                <a:spcPct val="200000"/>
              </a:lnSpc>
              <a:buFont typeface="Arial" panose="020B0604020202020204" pitchFamily="34" charset="0"/>
              <a:buChar char="•"/>
            </a:pPr>
            <a:r>
              <a:rPr lang="en-US" dirty="0"/>
              <a:t>32Gb/s Egress</a:t>
            </a:r>
          </a:p>
          <a:p>
            <a:pPr marL="285750" indent="-285750">
              <a:lnSpc>
                <a:spcPct val="200000"/>
              </a:lnSpc>
              <a:buFont typeface="Arial" panose="020B0604020202020204" pitchFamily="34" charset="0"/>
              <a:buChar char="•"/>
            </a:pPr>
            <a:r>
              <a:rPr lang="en-US" dirty="0"/>
              <a:t>64 GB Memory</a:t>
            </a:r>
          </a:p>
          <a:p>
            <a:pPr marL="285750" indent="-285750">
              <a:lnSpc>
                <a:spcPct val="200000"/>
              </a:lnSpc>
              <a:buFont typeface="Arial" panose="020B0604020202020204" pitchFamily="34" charset="0"/>
              <a:buChar char="•"/>
            </a:pPr>
            <a:r>
              <a:rPr lang="en-US" dirty="0"/>
              <a:t>16K * 2K buffers with </a:t>
            </a:r>
            <a:r>
              <a:rPr lang="en-US" dirty="0">
                <a:solidFill>
                  <a:srgbClr val="0070C0"/>
                </a:solidFill>
              </a:rPr>
              <a:t>1</a:t>
            </a:r>
            <a:r>
              <a:rPr lang="en-US" dirty="0"/>
              <a:t> Thread</a:t>
            </a:r>
          </a:p>
          <a:p>
            <a:pPr marL="285750" indent="-285750">
              <a:lnSpc>
                <a:spcPct val="200000"/>
              </a:lnSpc>
              <a:buFont typeface="Arial" panose="020B0604020202020204" pitchFamily="34" charset="0"/>
              <a:buChar char="•"/>
            </a:pPr>
            <a:r>
              <a:rPr lang="en-US" dirty="0"/>
              <a:t>Cycles/Byte – </a:t>
            </a:r>
            <a:r>
              <a:rPr lang="en-US" i="1" dirty="0">
                <a:solidFill>
                  <a:srgbClr val="00CC00"/>
                </a:solidFill>
              </a:rPr>
              <a:t>Lower is Better</a:t>
            </a:r>
          </a:p>
          <a:p>
            <a:endParaRPr lang="en-US" dirty="0"/>
          </a:p>
        </p:txBody>
      </p:sp>
      <p:sp>
        <p:nvSpPr>
          <p:cNvPr id="9" name="Oval 8">
            <a:extLst>
              <a:ext uri="{FF2B5EF4-FFF2-40B4-BE49-F238E27FC236}">
                <a16:creationId xmlns:a16="http://schemas.microsoft.com/office/drawing/2014/main" id="{D8A03D0B-66E3-4499-8C5A-2A40BF1C0FCC}"/>
              </a:ext>
            </a:extLst>
          </p:cNvPr>
          <p:cNvSpPr/>
          <p:nvPr/>
        </p:nvSpPr>
        <p:spPr>
          <a:xfrm>
            <a:off x="3555332" y="1643773"/>
            <a:ext cx="8025481" cy="749625"/>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0F5D87B2-3529-4CB9-8F00-EB3EF307DF9B}"/>
              </a:ext>
            </a:extLst>
          </p:cNvPr>
          <p:cNvSpPr txBox="1"/>
          <p:nvPr/>
        </p:nvSpPr>
        <p:spPr>
          <a:xfrm>
            <a:off x="6593239" y="5898788"/>
            <a:ext cx="2495235" cy="584775"/>
          </a:xfrm>
          <a:prstGeom prst="rect">
            <a:avLst/>
          </a:prstGeom>
          <a:noFill/>
        </p:spPr>
        <p:txBody>
          <a:bodyPr wrap="none" rtlCol="0">
            <a:spAutoFit/>
          </a:bodyPr>
          <a:lstStyle/>
          <a:p>
            <a:r>
              <a:rPr lang="en-US" sz="3200" dirty="0">
                <a:solidFill>
                  <a:srgbClr val="0070C0"/>
                </a:solidFill>
              </a:rPr>
              <a:t>Simple Socket</a:t>
            </a:r>
          </a:p>
        </p:txBody>
      </p:sp>
    </p:spTree>
    <p:extLst>
      <p:ext uri="{BB962C8B-B14F-4D97-AF65-F5344CB8AC3E}">
        <p14:creationId xmlns:p14="http://schemas.microsoft.com/office/powerpoint/2010/main" val="4017068238"/>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5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picture containing text&#10;&#10;Description automatically generated">
            <a:extLst>
              <a:ext uri="{FF2B5EF4-FFF2-40B4-BE49-F238E27FC236}">
                <a16:creationId xmlns:a16="http://schemas.microsoft.com/office/drawing/2014/main" id="{AE83BC3D-5341-40AD-9771-2D1FE6C8CA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96305" y="603251"/>
            <a:ext cx="5541290" cy="6188327"/>
          </a:xfrm>
          <a:prstGeom prst="rect">
            <a:avLst/>
          </a:prstGeom>
        </p:spPr>
      </p:pic>
      <p:sp>
        <p:nvSpPr>
          <p:cNvPr id="3" name="Title 2">
            <a:extLst>
              <a:ext uri="{FF2B5EF4-FFF2-40B4-BE49-F238E27FC236}">
                <a16:creationId xmlns:a16="http://schemas.microsoft.com/office/drawing/2014/main" id="{7C5AEA14-A0AB-4247-924C-D1FBB4F29D76}"/>
              </a:ext>
            </a:extLst>
          </p:cNvPr>
          <p:cNvSpPr>
            <a:spLocks noGrp="1"/>
          </p:cNvSpPr>
          <p:nvPr>
            <p:ph type="title"/>
          </p:nvPr>
        </p:nvSpPr>
        <p:spPr/>
        <p:txBody>
          <a:bodyPr>
            <a:noAutofit/>
          </a:bodyPr>
          <a:lstStyle/>
          <a:p>
            <a:r>
              <a:rPr lang="en-US" sz="2800" dirty="0"/>
              <a:t>Comparing TX loop of 16KB buffers </a:t>
            </a:r>
          </a:p>
        </p:txBody>
      </p:sp>
      <p:sp>
        <p:nvSpPr>
          <p:cNvPr id="6" name="Subtitle 2">
            <a:extLst>
              <a:ext uri="{FF2B5EF4-FFF2-40B4-BE49-F238E27FC236}">
                <a16:creationId xmlns:a16="http://schemas.microsoft.com/office/drawing/2014/main" id="{96D0F5F9-F3D0-4D08-88CF-60C6648010F2}"/>
              </a:ext>
            </a:extLst>
          </p:cNvPr>
          <p:cNvSpPr txBox="1"/>
          <p:nvPr/>
        </p:nvSpPr>
        <p:spPr>
          <a:xfrm>
            <a:off x="592865" y="811830"/>
            <a:ext cx="10987949" cy="24774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rmAutofit lnSpcReduction="10000"/>
          </a:bodyPr>
          <a:lstStyle>
            <a:lvl1pPr defTabSz="795527">
              <a:defRPr sz="1740">
                <a:solidFill>
                  <a:schemeClr val="accent4"/>
                </a:solidFill>
              </a:defRPr>
            </a:lvl1pPr>
          </a:lstStyle>
          <a:p>
            <a:r>
              <a:rPr lang="en-US" dirty="0"/>
              <a:t>1 Thread</a:t>
            </a:r>
            <a:endParaRPr dirty="0"/>
          </a:p>
        </p:txBody>
      </p:sp>
      <p:sp>
        <p:nvSpPr>
          <p:cNvPr id="7" name="TextBox 6">
            <a:extLst>
              <a:ext uri="{FF2B5EF4-FFF2-40B4-BE49-F238E27FC236}">
                <a16:creationId xmlns:a16="http://schemas.microsoft.com/office/drawing/2014/main" id="{2EDF9115-3107-4542-AE67-CEB5B0ECF028}"/>
              </a:ext>
            </a:extLst>
          </p:cNvPr>
          <p:cNvSpPr txBox="1"/>
          <p:nvPr/>
        </p:nvSpPr>
        <p:spPr>
          <a:xfrm>
            <a:off x="429443" y="2284407"/>
            <a:ext cx="3348417" cy="3139321"/>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a:t>16 Core VM on GCP</a:t>
            </a:r>
          </a:p>
          <a:p>
            <a:pPr marL="285750" indent="-285750">
              <a:lnSpc>
                <a:spcPct val="200000"/>
              </a:lnSpc>
              <a:buFont typeface="Arial" panose="020B0604020202020204" pitchFamily="34" charset="0"/>
              <a:buChar char="•"/>
            </a:pPr>
            <a:r>
              <a:rPr lang="en-US" dirty="0"/>
              <a:t>32Gb/s Egress</a:t>
            </a:r>
          </a:p>
          <a:p>
            <a:pPr marL="285750" indent="-285750">
              <a:lnSpc>
                <a:spcPct val="200000"/>
              </a:lnSpc>
              <a:buFont typeface="Arial" panose="020B0604020202020204" pitchFamily="34" charset="0"/>
              <a:buChar char="•"/>
            </a:pPr>
            <a:r>
              <a:rPr lang="en-US" dirty="0"/>
              <a:t>64 GB Memory</a:t>
            </a:r>
          </a:p>
          <a:p>
            <a:pPr marL="285750" indent="-285750">
              <a:lnSpc>
                <a:spcPct val="200000"/>
              </a:lnSpc>
              <a:buFont typeface="Arial" panose="020B0604020202020204" pitchFamily="34" charset="0"/>
              <a:buChar char="•"/>
            </a:pPr>
            <a:r>
              <a:rPr lang="en-US" dirty="0"/>
              <a:t>16K * 2K buffers with </a:t>
            </a:r>
            <a:r>
              <a:rPr lang="en-US" dirty="0">
                <a:solidFill>
                  <a:srgbClr val="0070C0"/>
                </a:solidFill>
              </a:rPr>
              <a:t>1</a:t>
            </a:r>
            <a:r>
              <a:rPr lang="en-US" dirty="0"/>
              <a:t> Thread</a:t>
            </a:r>
          </a:p>
          <a:p>
            <a:pPr marL="285750" indent="-285750">
              <a:lnSpc>
                <a:spcPct val="200000"/>
              </a:lnSpc>
              <a:buFont typeface="Arial" panose="020B0604020202020204" pitchFamily="34" charset="0"/>
              <a:buChar char="•"/>
            </a:pPr>
            <a:r>
              <a:rPr lang="en-US" dirty="0"/>
              <a:t>Cycles/Byte – </a:t>
            </a:r>
            <a:r>
              <a:rPr lang="en-US" i="1" dirty="0">
                <a:solidFill>
                  <a:srgbClr val="00CC00"/>
                </a:solidFill>
              </a:rPr>
              <a:t>Lower is Better</a:t>
            </a:r>
          </a:p>
          <a:p>
            <a:endParaRPr lang="en-US" dirty="0"/>
          </a:p>
        </p:txBody>
      </p:sp>
      <p:sp>
        <p:nvSpPr>
          <p:cNvPr id="14" name="TextBox 13">
            <a:extLst>
              <a:ext uri="{FF2B5EF4-FFF2-40B4-BE49-F238E27FC236}">
                <a16:creationId xmlns:a16="http://schemas.microsoft.com/office/drawing/2014/main" id="{0F5D87B2-3529-4CB9-8F00-EB3EF307DF9B}"/>
              </a:ext>
            </a:extLst>
          </p:cNvPr>
          <p:cNvSpPr txBox="1"/>
          <p:nvPr/>
        </p:nvSpPr>
        <p:spPr>
          <a:xfrm>
            <a:off x="4001070" y="5131340"/>
            <a:ext cx="1527982" cy="584775"/>
          </a:xfrm>
          <a:prstGeom prst="rect">
            <a:avLst/>
          </a:prstGeom>
          <a:noFill/>
        </p:spPr>
        <p:txBody>
          <a:bodyPr wrap="none" rtlCol="0">
            <a:spAutoFit/>
          </a:bodyPr>
          <a:lstStyle/>
          <a:p>
            <a:r>
              <a:rPr lang="en-US" sz="3200" dirty="0" err="1">
                <a:solidFill>
                  <a:srgbClr val="0070C0"/>
                </a:solidFill>
              </a:rPr>
              <a:t>Sendfile</a:t>
            </a:r>
            <a:endParaRPr lang="en-US" sz="3200" dirty="0">
              <a:solidFill>
                <a:srgbClr val="0070C0"/>
              </a:solidFill>
            </a:endParaRPr>
          </a:p>
        </p:txBody>
      </p:sp>
      <p:sp>
        <p:nvSpPr>
          <p:cNvPr id="18" name="Oval 17">
            <a:extLst>
              <a:ext uri="{FF2B5EF4-FFF2-40B4-BE49-F238E27FC236}">
                <a16:creationId xmlns:a16="http://schemas.microsoft.com/office/drawing/2014/main" id="{8DDE4D89-1875-43DA-AD36-FBAD95031E1F}"/>
              </a:ext>
            </a:extLst>
          </p:cNvPr>
          <p:cNvSpPr/>
          <p:nvPr/>
        </p:nvSpPr>
        <p:spPr>
          <a:xfrm>
            <a:off x="5818892" y="887604"/>
            <a:ext cx="4824663" cy="380547"/>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AFA79755-1EC0-4B6A-9132-2FD1CEB58214}"/>
              </a:ext>
            </a:extLst>
          </p:cNvPr>
          <p:cNvCxnSpPr>
            <a:cxnSpLocks/>
          </p:cNvCxnSpPr>
          <p:nvPr/>
        </p:nvCxnSpPr>
        <p:spPr>
          <a:xfrm>
            <a:off x="8963526" y="1419726"/>
            <a:ext cx="1046748"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27411DC6-65A7-4460-AC20-FBBDDF4118BB}"/>
              </a:ext>
            </a:extLst>
          </p:cNvPr>
          <p:cNvCxnSpPr>
            <a:cxnSpLocks/>
          </p:cNvCxnSpPr>
          <p:nvPr/>
        </p:nvCxnSpPr>
        <p:spPr>
          <a:xfrm>
            <a:off x="8963526" y="2348163"/>
            <a:ext cx="13716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77716BC-8370-44C4-A6AE-DC6832A403F0}"/>
              </a:ext>
            </a:extLst>
          </p:cNvPr>
          <p:cNvCxnSpPr>
            <a:cxnSpLocks/>
          </p:cNvCxnSpPr>
          <p:nvPr/>
        </p:nvCxnSpPr>
        <p:spPr>
          <a:xfrm>
            <a:off x="8963526" y="2675021"/>
            <a:ext cx="1680029"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CB96468A-083E-4B5E-B708-7F33A06BE202}"/>
              </a:ext>
            </a:extLst>
          </p:cNvPr>
          <p:cNvCxnSpPr>
            <a:cxnSpLocks/>
          </p:cNvCxnSpPr>
          <p:nvPr/>
        </p:nvCxnSpPr>
        <p:spPr>
          <a:xfrm>
            <a:off x="8963526" y="2807368"/>
            <a:ext cx="13716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037A2302-D6AB-49E5-91F0-A696F8C65A76}"/>
              </a:ext>
            </a:extLst>
          </p:cNvPr>
          <p:cNvCxnSpPr>
            <a:cxnSpLocks/>
          </p:cNvCxnSpPr>
          <p:nvPr/>
        </p:nvCxnSpPr>
        <p:spPr>
          <a:xfrm>
            <a:off x="8963526" y="3276600"/>
            <a:ext cx="13716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C36070C0-383A-422E-857C-FE85DDB65C66}"/>
              </a:ext>
            </a:extLst>
          </p:cNvPr>
          <p:cNvCxnSpPr>
            <a:cxnSpLocks/>
          </p:cNvCxnSpPr>
          <p:nvPr/>
        </p:nvCxnSpPr>
        <p:spPr>
          <a:xfrm>
            <a:off x="8963526" y="3595437"/>
            <a:ext cx="13716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CEC7E89-1AF0-4FB8-A16B-46461634F1C6}"/>
              </a:ext>
            </a:extLst>
          </p:cNvPr>
          <p:cNvCxnSpPr>
            <a:cxnSpLocks/>
          </p:cNvCxnSpPr>
          <p:nvPr/>
        </p:nvCxnSpPr>
        <p:spPr>
          <a:xfrm>
            <a:off x="9025689" y="4064668"/>
            <a:ext cx="13716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B6D4D56-6C56-413C-9B47-99EB0CF1A5CC}"/>
              </a:ext>
            </a:extLst>
          </p:cNvPr>
          <p:cNvCxnSpPr>
            <a:cxnSpLocks/>
          </p:cNvCxnSpPr>
          <p:nvPr/>
        </p:nvCxnSpPr>
        <p:spPr>
          <a:xfrm>
            <a:off x="9025689" y="4545932"/>
            <a:ext cx="1832811"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B5C267E-F0E0-4057-94CC-96740D95FD55}"/>
              </a:ext>
            </a:extLst>
          </p:cNvPr>
          <p:cNvCxnSpPr>
            <a:cxnSpLocks/>
          </p:cNvCxnSpPr>
          <p:nvPr/>
        </p:nvCxnSpPr>
        <p:spPr>
          <a:xfrm>
            <a:off x="8963526" y="5027194"/>
            <a:ext cx="13716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309D3863-AF75-43B5-9E11-F4D282AD55CD}"/>
              </a:ext>
            </a:extLst>
          </p:cNvPr>
          <p:cNvCxnSpPr>
            <a:cxnSpLocks/>
          </p:cNvCxnSpPr>
          <p:nvPr/>
        </p:nvCxnSpPr>
        <p:spPr>
          <a:xfrm>
            <a:off x="8963526" y="5209672"/>
            <a:ext cx="1371600" cy="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26" name="Oval 25">
            <a:extLst>
              <a:ext uri="{FF2B5EF4-FFF2-40B4-BE49-F238E27FC236}">
                <a16:creationId xmlns:a16="http://schemas.microsoft.com/office/drawing/2014/main" id="{56EEB01B-E2B3-4F7D-86D0-F08D13C219C1}"/>
              </a:ext>
            </a:extLst>
          </p:cNvPr>
          <p:cNvSpPr/>
          <p:nvPr/>
        </p:nvSpPr>
        <p:spPr>
          <a:xfrm>
            <a:off x="5921161" y="1819023"/>
            <a:ext cx="4824663" cy="229452"/>
          </a:xfrm>
          <a:prstGeom prst="ellipse">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9840294"/>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heel(1)">
                                      <p:cBhvr>
                                        <p:cTn id="7" dur="25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250"/>
                                        <p:tgtEl>
                                          <p:spTgt spid="10"/>
                                        </p:tgtEl>
                                      </p:cBhvr>
                                    </p:animEffect>
                                  </p:childTnLst>
                                </p:cTn>
                              </p:par>
                              <p:par>
                                <p:cTn id="13" presetID="22" presetClass="entr" presetSubtype="8" fill="hold" nodeType="with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wipe(left)">
                                      <p:cBhvr>
                                        <p:cTn id="15" dur="250"/>
                                        <p:tgtEl>
                                          <p:spTgt spid="15"/>
                                        </p:tgtEl>
                                      </p:cBhvr>
                                    </p:animEffect>
                                  </p:childTnLst>
                                </p:cTn>
                              </p:par>
                              <p:par>
                                <p:cTn id="16" presetID="22" presetClass="entr" presetSubtype="8" fill="hold"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left)">
                                      <p:cBhvr>
                                        <p:cTn id="18" dur="250"/>
                                        <p:tgtEl>
                                          <p:spTgt spid="16"/>
                                        </p:tgtEl>
                                      </p:cBhvr>
                                    </p:animEffect>
                                  </p:childTnLst>
                                </p:cTn>
                              </p:par>
                              <p:par>
                                <p:cTn id="19" presetID="22" presetClass="entr" presetSubtype="8"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250"/>
                                        <p:tgtEl>
                                          <p:spTgt spid="19"/>
                                        </p:tgtEl>
                                      </p:cBhvr>
                                    </p:animEffect>
                                  </p:childTnLst>
                                </p:cTn>
                              </p:par>
                              <p:par>
                                <p:cTn id="22" presetID="22" presetClass="entr" presetSubtype="8"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wipe(left)">
                                      <p:cBhvr>
                                        <p:cTn id="24" dur="250"/>
                                        <p:tgtEl>
                                          <p:spTgt spid="20"/>
                                        </p:tgtEl>
                                      </p:cBhvr>
                                    </p:animEffect>
                                  </p:childTnLst>
                                </p:cTn>
                              </p:par>
                              <p:par>
                                <p:cTn id="25" presetID="22" presetClass="entr" presetSubtype="8"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wipe(left)">
                                      <p:cBhvr>
                                        <p:cTn id="27" dur="250"/>
                                        <p:tgtEl>
                                          <p:spTgt spid="21"/>
                                        </p:tgtEl>
                                      </p:cBhvr>
                                    </p:animEffect>
                                  </p:childTnLst>
                                </p:cTn>
                              </p:par>
                              <p:par>
                                <p:cTn id="28" presetID="22" presetClass="entr" presetSubtype="8" fill="hold"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250"/>
                                        <p:tgtEl>
                                          <p:spTgt spid="22"/>
                                        </p:tgtEl>
                                      </p:cBhvr>
                                    </p:animEffect>
                                  </p:childTnLst>
                                </p:cTn>
                              </p:par>
                              <p:par>
                                <p:cTn id="31" presetID="22" presetClass="entr" presetSubtype="8" fill="hold" nodeType="withEffect">
                                  <p:stCondLst>
                                    <p:cond delay="0"/>
                                  </p:stCondLst>
                                  <p:childTnLst>
                                    <p:set>
                                      <p:cBhvr>
                                        <p:cTn id="32" dur="1" fill="hold">
                                          <p:stCondLst>
                                            <p:cond delay="0"/>
                                          </p:stCondLst>
                                        </p:cTn>
                                        <p:tgtEl>
                                          <p:spTgt spid="23"/>
                                        </p:tgtEl>
                                        <p:attrNameLst>
                                          <p:attrName>style.visibility</p:attrName>
                                        </p:attrNameLst>
                                      </p:cBhvr>
                                      <p:to>
                                        <p:strVal val="visible"/>
                                      </p:to>
                                    </p:set>
                                    <p:animEffect transition="in" filter="wipe(left)">
                                      <p:cBhvr>
                                        <p:cTn id="33" dur="250"/>
                                        <p:tgtEl>
                                          <p:spTgt spid="23"/>
                                        </p:tgtEl>
                                      </p:cBhvr>
                                    </p:animEffect>
                                  </p:childTnLst>
                                </p:cTn>
                              </p:par>
                              <p:par>
                                <p:cTn id="34" presetID="22" presetClass="entr" presetSubtype="8" fill="hold" nodeType="withEffect">
                                  <p:stCondLst>
                                    <p:cond delay="0"/>
                                  </p:stCondLst>
                                  <p:childTnLst>
                                    <p:set>
                                      <p:cBhvr>
                                        <p:cTn id="35" dur="1" fill="hold">
                                          <p:stCondLst>
                                            <p:cond delay="0"/>
                                          </p:stCondLst>
                                        </p:cTn>
                                        <p:tgtEl>
                                          <p:spTgt spid="24"/>
                                        </p:tgtEl>
                                        <p:attrNameLst>
                                          <p:attrName>style.visibility</p:attrName>
                                        </p:attrNameLst>
                                      </p:cBhvr>
                                      <p:to>
                                        <p:strVal val="visible"/>
                                      </p:to>
                                    </p:set>
                                    <p:animEffect transition="in" filter="wipe(left)">
                                      <p:cBhvr>
                                        <p:cTn id="36" dur="250"/>
                                        <p:tgtEl>
                                          <p:spTgt spid="24"/>
                                        </p:tgtEl>
                                      </p:cBhvr>
                                    </p:animEffect>
                                  </p:childTnLst>
                                </p:cTn>
                              </p:par>
                              <p:par>
                                <p:cTn id="37" presetID="22" presetClass="entr" presetSubtype="8" fill="hold" nodeType="withEffect">
                                  <p:stCondLst>
                                    <p:cond delay="0"/>
                                  </p:stCondLst>
                                  <p:childTnLst>
                                    <p:set>
                                      <p:cBhvr>
                                        <p:cTn id="38" dur="1" fill="hold">
                                          <p:stCondLst>
                                            <p:cond delay="0"/>
                                          </p:stCondLst>
                                        </p:cTn>
                                        <p:tgtEl>
                                          <p:spTgt spid="25"/>
                                        </p:tgtEl>
                                        <p:attrNameLst>
                                          <p:attrName>style.visibility</p:attrName>
                                        </p:attrNameLst>
                                      </p:cBhvr>
                                      <p:to>
                                        <p:strVal val="visible"/>
                                      </p:to>
                                    </p:set>
                                    <p:animEffect transition="in" filter="wipe(left)">
                                      <p:cBhvr>
                                        <p:cTn id="39" dur="250"/>
                                        <p:tgtEl>
                                          <p:spTgt spid="25"/>
                                        </p:tgtEl>
                                      </p:cBhvr>
                                    </p:animEffect>
                                  </p:childTnLst>
                                </p:cTn>
                              </p:par>
                            </p:childTnLst>
                          </p:cTn>
                        </p:par>
                      </p:childTnLst>
                    </p:cTn>
                  </p:par>
                  <p:par>
                    <p:cTn id="40" fill="hold">
                      <p:stCondLst>
                        <p:cond delay="indefinite"/>
                      </p:stCondLst>
                      <p:childTnLst>
                        <p:par>
                          <p:cTn id="41" fill="hold">
                            <p:stCondLst>
                              <p:cond delay="0"/>
                            </p:stCondLst>
                            <p:childTnLst>
                              <p:par>
                                <p:cTn id="42" presetID="21" presetClass="entr" presetSubtype="1" fill="hold" grpId="0" nodeType="clickEffect">
                                  <p:stCondLst>
                                    <p:cond delay="0"/>
                                  </p:stCondLst>
                                  <p:childTnLst>
                                    <p:set>
                                      <p:cBhvr>
                                        <p:cTn id="43" dur="1" fill="hold">
                                          <p:stCondLst>
                                            <p:cond delay="0"/>
                                          </p:stCondLst>
                                        </p:cTn>
                                        <p:tgtEl>
                                          <p:spTgt spid="26"/>
                                        </p:tgtEl>
                                        <p:attrNameLst>
                                          <p:attrName>style.visibility</p:attrName>
                                        </p:attrNameLst>
                                      </p:cBhvr>
                                      <p:to>
                                        <p:strVal val="visible"/>
                                      </p:to>
                                    </p:set>
                                    <p:animEffect transition="in" filter="wheel(1)">
                                      <p:cBhvr>
                                        <p:cTn id="44" dur="25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6"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Chart, bar chart&#10;&#10;Description automatically generated">
            <a:extLst>
              <a:ext uri="{FF2B5EF4-FFF2-40B4-BE49-F238E27FC236}">
                <a16:creationId xmlns:a16="http://schemas.microsoft.com/office/drawing/2014/main" id="{5C6F26D8-436D-4FF0-BF80-3F3F4249CC6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036265" y="833330"/>
            <a:ext cx="9104935" cy="5611919"/>
          </a:xfrm>
          <a:prstGeom prst="rect">
            <a:avLst/>
          </a:prstGeom>
        </p:spPr>
      </p:pic>
      <p:sp>
        <p:nvSpPr>
          <p:cNvPr id="3" name="Title 2">
            <a:extLst>
              <a:ext uri="{FF2B5EF4-FFF2-40B4-BE49-F238E27FC236}">
                <a16:creationId xmlns:a16="http://schemas.microsoft.com/office/drawing/2014/main" id="{7C5AEA14-A0AB-4247-924C-D1FBB4F29D76}"/>
              </a:ext>
            </a:extLst>
          </p:cNvPr>
          <p:cNvSpPr>
            <a:spLocks noGrp="1"/>
          </p:cNvSpPr>
          <p:nvPr>
            <p:ph type="title"/>
          </p:nvPr>
        </p:nvSpPr>
        <p:spPr/>
        <p:txBody>
          <a:bodyPr>
            <a:noAutofit/>
          </a:bodyPr>
          <a:lstStyle/>
          <a:p>
            <a:r>
              <a:rPr lang="en-US" sz="2800" dirty="0"/>
              <a:t>Comparing TX loop of 16KB buffers </a:t>
            </a:r>
          </a:p>
        </p:txBody>
      </p:sp>
      <p:sp>
        <p:nvSpPr>
          <p:cNvPr id="6" name="Subtitle 2">
            <a:extLst>
              <a:ext uri="{FF2B5EF4-FFF2-40B4-BE49-F238E27FC236}">
                <a16:creationId xmlns:a16="http://schemas.microsoft.com/office/drawing/2014/main" id="{96D0F5F9-F3D0-4D08-88CF-60C6648010F2}"/>
              </a:ext>
            </a:extLst>
          </p:cNvPr>
          <p:cNvSpPr txBox="1"/>
          <p:nvPr/>
        </p:nvSpPr>
        <p:spPr>
          <a:xfrm>
            <a:off x="592865" y="811830"/>
            <a:ext cx="10987949" cy="24774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ormAutofit lnSpcReduction="10000"/>
          </a:bodyPr>
          <a:lstStyle>
            <a:lvl1pPr defTabSz="795527">
              <a:defRPr sz="1740">
                <a:solidFill>
                  <a:schemeClr val="accent4"/>
                </a:solidFill>
              </a:defRPr>
            </a:lvl1pPr>
          </a:lstStyle>
          <a:p>
            <a:r>
              <a:rPr lang="en-US" dirty="0"/>
              <a:t>16 Threads</a:t>
            </a:r>
            <a:endParaRPr dirty="0"/>
          </a:p>
        </p:txBody>
      </p:sp>
      <p:sp>
        <p:nvSpPr>
          <p:cNvPr id="7" name="TextBox 6">
            <a:extLst>
              <a:ext uri="{FF2B5EF4-FFF2-40B4-BE49-F238E27FC236}">
                <a16:creationId xmlns:a16="http://schemas.microsoft.com/office/drawing/2014/main" id="{2EDF9115-3107-4542-AE67-CEB5B0ECF028}"/>
              </a:ext>
            </a:extLst>
          </p:cNvPr>
          <p:cNvSpPr txBox="1"/>
          <p:nvPr/>
        </p:nvSpPr>
        <p:spPr>
          <a:xfrm>
            <a:off x="429443" y="2284407"/>
            <a:ext cx="3555204" cy="3139321"/>
          </a:xfrm>
          <a:prstGeom prst="rect">
            <a:avLst/>
          </a:prstGeom>
          <a:noFill/>
        </p:spPr>
        <p:txBody>
          <a:bodyPr wrap="none" rtlCol="0">
            <a:spAutoFit/>
          </a:bodyPr>
          <a:lstStyle/>
          <a:p>
            <a:pPr marL="285750" indent="-285750">
              <a:lnSpc>
                <a:spcPct val="200000"/>
              </a:lnSpc>
              <a:buFont typeface="Arial" panose="020B0604020202020204" pitchFamily="34" charset="0"/>
              <a:buChar char="•"/>
            </a:pPr>
            <a:r>
              <a:rPr lang="en-US" dirty="0"/>
              <a:t>16 Core VM on GCP</a:t>
            </a:r>
          </a:p>
          <a:p>
            <a:pPr marL="285750" indent="-285750">
              <a:lnSpc>
                <a:spcPct val="200000"/>
              </a:lnSpc>
              <a:buFont typeface="Arial" panose="020B0604020202020204" pitchFamily="34" charset="0"/>
              <a:buChar char="•"/>
            </a:pPr>
            <a:r>
              <a:rPr lang="en-US" dirty="0"/>
              <a:t>32Gb/s Egress</a:t>
            </a:r>
          </a:p>
          <a:p>
            <a:pPr marL="285750" indent="-285750">
              <a:lnSpc>
                <a:spcPct val="200000"/>
              </a:lnSpc>
              <a:buFont typeface="Arial" panose="020B0604020202020204" pitchFamily="34" charset="0"/>
              <a:buChar char="•"/>
            </a:pPr>
            <a:r>
              <a:rPr lang="en-US" dirty="0"/>
              <a:t>64 GB Memory</a:t>
            </a:r>
          </a:p>
          <a:p>
            <a:pPr marL="285750" indent="-285750">
              <a:lnSpc>
                <a:spcPct val="200000"/>
              </a:lnSpc>
              <a:buFont typeface="Arial" panose="020B0604020202020204" pitchFamily="34" charset="0"/>
              <a:buChar char="•"/>
            </a:pPr>
            <a:r>
              <a:rPr lang="en-US" dirty="0"/>
              <a:t>16K * 2K buffers with </a:t>
            </a:r>
            <a:r>
              <a:rPr lang="en-US" dirty="0">
                <a:solidFill>
                  <a:srgbClr val="0070C0"/>
                </a:solidFill>
              </a:rPr>
              <a:t>16</a:t>
            </a:r>
            <a:r>
              <a:rPr lang="en-US" dirty="0"/>
              <a:t> Threads</a:t>
            </a:r>
          </a:p>
          <a:p>
            <a:pPr marL="285750" indent="-285750">
              <a:lnSpc>
                <a:spcPct val="200000"/>
              </a:lnSpc>
              <a:buFont typeface="Arial" panose="020B0604020202020204" pitchFamily="34" charset="0"/>
              <a:buChar char="•"/>
            </a:pPr>
            <a:r>
              <a:rPr lang="en-US" dirty="0"/>
              <a:t>Cycles/Byte – </a:t>
            </a:r>
            <a:r>
              <a:rPr lang="en-US" i="1" dirty="0">
                <a:solidFill>
                  <a:srgbClr val="00CC00"/>
                </a:solidFill>
              </a:rPr>
              <a:t>Lower is Better</a:t>
            </a:r>
          </a:p>
          <a:p>
            <a:endParaRPr lang="en-US" dirty="0"/>
          </a:p>
        </p:txBody>
      </p:sp>
      <p:sp>
        <p:nvSpPr>
          <p:cNvPr id="8" name="TextBox 7">
            <a:extLst>
              <a:ext uri="{FF2B5EF4-FFF2-40B4-BE49-F238E27FC236}">
                <a16:creationId xmlns:a16="http://schemas.microsoft.com/office/drawing/2014/main" id="{B3FDC335-3A89-4D53-9749-7D3BA8AD97A0}"/>
              </a:ext>
            </a:extLst>
          </p:cNvPr>
          <p:cNvSpPr txBox="1"/>
          <p:nvPr/>
        </p:nvSpPr>
        <p:spPr>
          <a:xfrm>
            <a:off x="4668917" y="4805403"/>
            <a:ext cx="593432" cy="369332"/>
          </a:xfrm>
          <a:prstGeom prst="rect">
            <a:avLst/>
          </a:prstGeom>
          <a:noFill/>
        </p:spPr>
        <p:txBody>
          <a:bodyPr wrap="none" rtlCol="0">
            <a:spAutoFit/>
          </a:bodyPr>
          <a:lstStyle/>
          <a:p>
            <a:r>
              <a:rPr lang="en-US" dirty="0"/>
              <a:t>7.73</a:t>
            </a:r>
          </a:p>
        </p:txBody>
      </p:sp>
      <p:sp>
        <p:nvSpPr>
          <p:cNvPr id="9" name="TextBox 8">
            <a:extLst>
              <a:ext uri="{FF2B5EF4-FFF2-40B4-BE49-F238E27FC236}">
                <a16:creationId xmlns:a16="http://schemas.microsoft.com/office/drawing/2014/main" id="{23A3411B-15C4-40A1-AD8E-7848700A1E01}"/>
              </a:ext>
            </a:extLst>
          </p:cNvPr>
          <p:cNvSpPr txBox="1"/>
          <p:nvPr/>
        </p:nvSpPr>
        <p:spPr>
          <a:xfrm>
            <a:off x="7401426" y="1361161"/>
            <a:ext cx="593432" cy="369332"/>
          </a:xfrm>
          <a:prstGeom prst="rect">
            <a:avLst/>
          </a:prstGeom>
          <a:noFill/>
        </p:spPr>
        <p:txBody>
          <a:bodyPr wrap="none" rtlCol="0">
            <a:spAutoFit/>
          </a:bodyPr>
          <a:lstStyle/>
          <a:p>
            <a:r>
              <a:rPr lang="en-US" dirty="0"/>
              <a:t>44.2</a:t>
            </a:r>
          </a:p>
        </p:txBody>
      </p:sp>
      <p:sp>
        <p:nvSpPr>
          <p:cNvPr id="10" name="TextBox 9">
            <a:extLst>
              <a:ext uri="{FF2B5EF4-FFF2-40B4-BE49-F238E27FC236}">
                <a16:creationId xmlns:a16="http://schemas.microsoft.com/office/drawing/2014/main" id="{D2659EFB-E509-4655-97BB-389320F7E380}"/>
              </a:ext>
            </a:extLst>
          </p:cNvPr>
          <p:cNvSpPr txBox="1"/>
          <p:nvPr/>
        </p:nvSpPr>
        <p:spPr>
          <a:xfrm>
            <a:off x="6080310" y="4965941"/>
            <a:ext cx="593432" cy="369332"/>
          </a:xfrm>
          <a:prstGeom prst="rect">
            <a:avLst/>
          </a:prstGeom>
          <a:noFill/>
        </p:spPr>
        <p:txBody>
          <a:bodyPr wrap="none" rtlCol="0">
            <a:spAutoFit/>
          </a:bodyPr>
          <a:lstStyle/>
          <a:p>
            <a:r>
              <a:rPr lang="en-US" dirty="0"/>
              <a:t>4.88</a:t>
            </a:r>
          </a:p>
        </p:txBody>
      </p:sp>
      <p:sp>
        <p:nvSpPr>
          <p:cNvPr id="11" name="TextBox 10">
            <a:extLst>
              <a:ext uri="{FF2B5EF4-FFF2-40B4-BE49-F238E27FC236}">
                <a16:creationId xmlns:a16="http://schemas.microsoft.com/office/drawing/2014/main" id="{6FF7B56B-D458-470D-8F34-CBEAA8225700}"/>
              </a:ext>
            </a:extLst>
          </p:cNvPr>
          <p:cNvSpPr txBox="1"/>
          <p:nvPr/>
        </p:nvSpPr>
        <p:spPr>
          <a:xfrm>
            <a:off x="10257712" y="4919848"/>
            <a:ext cx="593432" cy="369332"/>
          </a:xfrm>
          <a:prstGeom prst="rect">
            <a:avLst/>
          </a:prstGeom>
          <a:noFill/>
        </p:spPr>
        <p:txBody>
          <a:bodyPr wrap="none" rtlCol="0">
            <a:spAutoFit/>
          </a:bodyPr>
          <a:lstStyle/>
          <a:p>
            <a:r>
              <a:rPr lang="en-US" dirty="0"/>
              <a:t>6.18</a:t>
            </a:r>
          </a:p>
        </p:txBody>
      </p:sp>
      <p:sp>
        <p:nvSpPr>
          <p:cNvPr id="13" name="TextBox 12">
            <a:extLst>
              <a:ext uri="{FF2B5EF4-FFF2-40B4-BE49-F238E27FC236}">
                <a16:creationId xmlns:a16="http://schemas.microsoft.com/office/drawing/2014/main" id="{7DC5F6A6-42BB-4091-B276-8E02A0E7D466}"/>
              </a:ext>
            </a:extLst>
          </p:cNvPr>
          <p:cNvSpPr txBox="1"/>
          <p:nvPr/>
        </p:nvSpPr>
        <p:spPr>
          <a:xfrm>
            <a:off x="8846319" y="4925173"/>
            <a:ext cx="593432" cy="369332"/>
          </a:xfrm>
          <a:prstGeom prst="rect">
            <a:avLst/>
          </a:prstGeom>
          <a:noFill/>
        </p:spPr>
        <p:txBody>
          <a:bodyPr wrap="none" rtlCol="0">
            <a:spAutoFit/>
          </a:bodyPr>
          <a:lstStyle/>
          <a:p>
            <a:r>
              <a:rPr lang="en-US" dirty="0"/>
              <a:t>6.37</a:t>
            </a:r>
          </a:p>
        </p:txBody>
      </p:sp>
      <p:sp>
        <p:nvSpPr>
          <p:cNvPr id="14" name="TextBox 13">
            <a:extLst>
              <a:ext uri="{FF2B5EF4-FFF2-40B4-BE49-F238E27FC236}">
                <a16:creationId xmlns:a16="http://schemas.microsoft.com/office/drawing/2014/main" id="{DF010EEE-0198-41E0-8DB2-533A9D6A3163}"/>
              </a:ext>
            </a:extLst>
          </p:cNvPr>
          <p:cNvSpPr txBox="1"/>
          <p:nvPr/>
        </p:nvSpPr>
        <p:spPr>
          <a:xfrm>
            <a:off x="9656634" y="4880694"/>
            <a:ext cx="699230" cy="369332"/>
          </a:xfrm>
          <a:prstGeom prst="rect">
            <a:avLst/>
          </a:prstGeom>
          <a:noFill/>
          <a:ln>
            <a:solidFill>
              <a:srgbClr val="FF0000"/>
            </a:solidFill>
          </a:ln>
        </p:spPr>
        <p:txBody>
          <a:bodyPr wrap="none" rtlCol="0">
            <a:spAutoFit/>
          </a:bodyPr>
          <a:lstStyle/>
          <a:p>
            <a:r>
              <a:rPr lang="en-US" dirty="0">
                <a:solidFill>
                  <a:srgbClr val="FF0000"/>
                </a:solidFill>
              </a:rPr>
              <a:t>+25%</a:t>
            </a:r>
          </a:p>
        </p:txBody>
      </p:sp>
    </p:spTree>
    <p:extLst>
      <p:ext uri="{BB962C8B-B14F-4D97-AF65-F5344CB8AC3E}">
        <p14:creationId xmlns:p14="http://schemas.microsoft.com/office/powerpoint/2010/main" val="957471271"/>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 name="Stable:…"/>
          <p:cNvSpPr txBox="1">
            <a:spLocks noGrp="1"/>
          </p:cNvSpPr>
          <p:nvPr>
            <p:ph type="body" idx="1"/>
          </p:nvPr>
        </p:nvSpPr>
        <p:spPr>
          <a:prstGeom prst="rect">
            <a:avLst/>
          </a:prstGeom>
        </p:spPr>
        <p:txBody>
          <a:bodyPr>
            <a:normAutofit/>
          </a:bodyPr>
          <a:lstStyle/>
          <a:p>
            <a:r>
              <a:rPr lang="en-US" sz="2200" dirty="0"/>
              <a:t>What is it?</a:t>
            </a:r>
          </a:p>
          <a:p>
            <a:pPr lvl="1"/>
            <a:r>
              <a:rPr lang="en-US" sz="2200" dirty="0"/>
              <a:t>Memory Intended for a specific use case.</a:t>
            </a:r>
          </a:p>
          <a:p>
            <a:pPr lvl="1"/>
            <a:r>
              <a:rPr lang="en-US" sz="2200" dirty="0"/>
              <a:t>Allocate with a dedicated allocator.</a:t>
            </a:r>
          </a:p>
          <a:p>
            <a:pPr lvl="1"/>
            <a:r>
              <a:rPr lang="en-US" sz="2200" dirty="0"/>
              <a:t>Mange and Free with standard</a:t>
            </a:r>
            <a:br>
              <a:rPr lang="en-US" sz="2200" dirty="0"/>
            </a:br>
            <a:r>
              <a:rPr lang="en-US" sz="2200" dirty="0"/>
              <a:t>   put/page operations.</a:t>
            </a:r>
          </a:p>
        </p:txBody>
      </p:sp>
      <p:sp>
        <p:nvSpPr>
          <p:cNvPr id="110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19</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a:t>Kernel Memory Segmentation</a:t>
            </a:r>
            <a:endParaRPr sz="2800" dirty="0"/>
          </a:p>
        </p:txBody>
      </p:sp>
      <p:sp>
        <p:nvSpPr>
          <p:cNvPr id="7" name="include/linux/mm_types.h…">
            <a:extLst>
              <a:ext uri="{FF2B5EF4-FFF2-40B4-BE49-F238E27FC236}">
                <a16:creationId xmlns:a16="http://schemas.microsoft.com/office/drawing/2014/main" id="{403FB100-58D9-4C28-BB31-8F413F21B30D}"/>
              </a:ext>
            </a:extLst>
          </p:cNvPr>
          <p:cNvSpPr txBox="1"/>
          <p:nvPr/>
        </p:nvSpPr>
        <p:spPr>
          <a:xfrm>
            <a:off x="7265156" y="2070133"/>
            <a:ext cx="3130342" cy="258532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45719" rIns="45719">
            <a:spAutoFit/>
          </a:bodyPr>
          <a:lstStyle/>
          <a:p>
            <a:r>
              <a:rPr dirty="0"/>
              <a:t>include/</a:t>
            </a:r>
            <a:r>
              <a:rPr dirty="0" err="1"/>
              <a:t>linux</a:t>
            </a:r>
            <a:r>
              <a:rPr dirty="0"/>
              <a:t>/</a:t>
            </a:r>
            <a:r>
              <a:rPr dirty="0" err="1"/>
              <a:t>mm_types.h</a:t>
            </a:r>
            <a:endParaRPr dirty="0"/>
          </a:p>
          <a:p>
            <a:endParaRPr dirty="0"/>
          </a:p>
          <a:p>
            <a:pPr marL="180473" indent="-180473">
              <a:buSzPct val="100000"/>
              <a:buChar char="•"/>
            </a:pPr>
            <a:r>
              <a:rPr dirty="0"/>
              <a:t>struct page  {} </a:t>
            </a:r>
            <a:r>
              <a:rPr lang="en-US" dirty="0"/>
              <a:t> </a:t>
            </a:r>
            <a:r>
              <a:rPr lang="en-US" dirty="0">
                <a:solidFill>
                  <a:srgbClr val="0070C0"/>
                </a:solidFill>
              </a:rPr>
              <a:t>(</a:t>
            </a:r>
            <a:r>
              <a:rPr dirty="0">
                <a:solidFill>
                  <a:srgbClr val="0070C0"/>
                </a:solidFill>
              </a:rPr>
              <a:t>64B metadata</a:t>
            </a:r>
            <a:r>
              <a:rPr lang="en-US" dirty="0">
                <a:solidFill>
                  <a:srgbClr val="0070C0"/>
                </a:solidFill>
              </a:rPr>
              <a:t>)</a:t>
            </a:r>
            <a:endParaRPr dirty="0">
              <a:solidFill>
                <a:srgbClr val="0070C0"/>
              </a:solidFill>
            </a:endParaRPr>
          </a:p>
          <a:p>
            <a:endParaRPr dirty="0"/>
          </a:p>
          <a:p>
            <a:pPr marL="180473" indent="-180473">
              <a:buSzPct val="100000"/>
              <a:buChar char="•"/>
            </a:pPr>
            <a:r>
              <a:rPr dirty="0"/>
              <a:t>get/</a:t>
            </a:r>
            <a:r>
              <a:rPr dirty="0" err="1"/>
              <a:t>put_page</a:t>
            </a:r>
            <a:r>
              <a:rPr dirty="0"/>
              <a:t>()</a:t>
            </a:r>
          </a:p>
          <a:p>
            <a:endParaRPr dirty="0"/>
          </a:p>
          <a:p>
            <a:pPr marL="180473" indent="-180473">
              <a:buSzPct val="100000"/>
              <a:buChar char="•"/>
            </a:pPr>
            <a:r>
              <a:rPr dirty="0" err="1"/>
              <a:t>compound_head</a:t>
            </a:r>
            <a:r>
              <a:rPr dirty="0"/>
              <a:t>()</a:t>
            </a:r>
            <a:endParaRPr lang="en-US" dirty="0"/>
          </a:p>
          <a:p>
            <a:pPr marL="180473" indent="-180473">
              <a:buSzPct val="100000"/>
              <a:buChar char="•"/>
            </a:pPr>
            <a:endParaRPr lang="en-US" dirty="0"/>
          </a:p>
          <a:p>
            <a:pPr marL="180473" indent="-180473">
              <a:buSzPct val="100000"/>
              <a:buChar char="•"/>
            </a:pPr>
            <a:r>
              <a:rPr lang="en-US" dirty="0" err="1">
                <a:solidFill>
                  <a:srgbClr val="FF0000"/>
                </a:solidFill>
              </a:rPr>
              <a:t>page_ref_inc</a:t>
            </a:r>
            <a:endParaRPr dirty="0">
              <a:solidFill>
                <a:srgbClr val="FF0000"/>
              </a:solidFill>
            </a:endParaRPr>
          </a:p>
        </p:txBody>
      </p:sp>
      <p:cxnSp>
        <p:nvCxnSpPr>
          <p:cNvPr id="5" name="Straight Connector 4">
            <a:extLst>
              <a:ext uri="{FF2B5EF4-FFF2-40B4-BE49-F238E27FC236}">
                <a16:creationId xmlns:a16="http://schemas.microsoft.com/office/drawing/2014/main" id="{7DE4F656-DB3A-4F0D-8412-E4291F3DE067}"/>
              </a:ext>
            </a:extLst>
          </p:cNvPr>
          <p:cNvCxnSpPr/>
          <p:nvPr/>
        </p:nvCxnSpPr>
        <p:spPr>
          <a:xfrm flipH="1">
            <a:off x="7404410" y="4482790"/>
            <a:ext cx="1527717" cy="0"/>
          </a:xfrm>
          <a:prstGeom prst="line">
            <a:avLst/>
          </a:prstGeom>
          <a:ln w="28575">
            <a:solidFill>
              <a:srgbClr val="FF0000"/>
            </a:solidFill>
            <a:prstDash val="lg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3848854"/>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02">
                                            <p:txEl>
                                              <p:pRg st="0" end="0"/>
                                            </p:txEl>
                                          </p:spTgt>
                                        </p:tgtEl>
                                        <p:attrNameLst>
                                          <p:attrName>style.visibility</p:attrName>
                                        </p:attrNameLst>
                                      </p:cBhvr>
                                      <p:to>
                                        <p:strVal val="visible"/>
                                      </p:to>
                                    </p:set>
                                    <p:animEffect transition="in" filter="fade">
                                      <p:cBhvr>
                                        <p:cTn id="7" dur="250"/>
                                        <p:tgtEl>
                                          <p:spTgt spid="110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02">
                                            <p:txEl>
                                              <p:pRg st="1" end="1"/>
                                            </p:txEl>
                                          </p:spTgt>
                                        </p:tgtEl>
                                        <p:attrNameLst>
                                          <p:attrName>style.visibility</p:attrName>
                                        </p:attrNameLst>
                                      </p:cBhvr>
                                      <p:to>
                                        <p:strVal val="visible"/>
                                      </p:to>
                                    </p:set>
                                    <p:animEffect transition="in" filter="fade">
                                      <p:cBhvr>
                                        <p:cTn id="12" dur="250"/>
                                        <p:tgtEl>
                                          <p:spTgt spid="110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102">
                                            <p:txEl>
                                              <p:pRg st="2" end="2"/>
                                            </p:txEl>
                                          </p:spTgt>
                                        </p:tgtEl>
                                        <p:attrNameLst>
                                          <p:attrName>style.visibility</p:attrName>
                                        </p:attrNameLst>
                                      </p:cBhvr>
                                      <p:to>
                                        <p:strVal val="visible"/>
                                      </p:to>
                                    </p:set>
                                    <p:animEffect transition="in" filter="fade">
                                      <p:cBhvr>
                                        <p:cTn id="17" dur="250"/>
                                        <p:tgtEl>
                                          <p:spTgt spid="110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102">
                                            <p:txEl>
                                              <p:pRg st="3" end="3"/>
                                            </p:txEl>
                                          </p:spTgt>
                                        </p:tgtEl>
                                        <p:attrNameLst>
                                          <p:attrName>style.visibility</p:attrName>
                                        </p:attrNameLst>
                                      </p:cBhvr>
                                      <p:to>
                                        <p:strVal val="visible"/>
                                      </p:to>
                                    </p:set>
                                    <p:animEffect transition="in" filter="fade">
                                      <p:cBhvr>
                                        <p:cTn id="22" dur="250"/>
                                        <p:tgtEl>
                                          <p:spTgt spid="110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7">
                                            <p:bg/>
                                          </p:spTgt>
                                        </p:tgtEl>
                                        <p:attrNameLst>
                                          <p:attrName>style.visibility</p:attrName>
                                        </p:attrNameLst>
                                      </p:cBhvr>
                                      <p:to>
                                        <p:strVal val="visible"/>
                                      </p:to>
                                    </p:set>
                                    <p:animEffect transition="in" filter="fade">
                                      <p:cBhvr>
                                        <p:cTn id="27" dur="500"/>
                                        <p:tgtEl>
                                          <p:spTgt spid="7">
                                            <p:bg/>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7">
                                            <p:txEl>
                                              <p:pRg st="0" end="0"/>
                                            </p:txEl>
                                          </p:spTgt>
                                        </p:tgtEl>
                                        <p:attrNameLst>
                                          <p:attrName>style.visibility</p:attrName>
                                        </p:attrNameLst>
                                      </p:cBhvr>
                                      <p:to>
                                        <p:strVal val="visible"/>
                                      </p:to>
                                    </p:set>
                                    <p:animEffect transition="in" filter="fade">
                                      <p:cBhvr>
                                        <p:cTn id="30" dur="500"/>
                                        <p:tgtEl>
                                          <p:spTgt spid="7">
                                            <p:txEl>
                                              <p:pRg st="0" end="0"/>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7">
                                            <p:txEl>
                                              <p:pRg st="2" end="2"/>
                                            </p:txEl>
                                          </p:spTgt>
                                        </p:tgtEl>
                                        <p:attrNameLst>
                                          <p:attrName>style.visibility</p:attrName>
                                        </p:attrNameLst>
                                      </p:cBhvr>
                                      <p:to>
                                        <p:strVal val="visible"/>
                                      </p:to>
                                    </p:set>
                                    <p:animEffect transition="in" filter="fade">
                                      <p:cBhvr>
                                        <p:cTn id="35" dur="500"/>
                                        <p:tgtEl>
                                          <p:spTgt spid="7">
                                            <p:txEl>
                                              <p:pRg st="2" end="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7">
                                            <p:txEl>
                                              <p:pRg st="4" end="4"/>
                                            </p:txEl>
                                          </p:spTgt>
                                        </p:tgtEl>
                                        <p:attrNameLst>
                                          <p:attrName>style.visibility</p:attrName>
                                        </p:attrNameLst>
                                      </p:cBhvr>
                                      <p:to>
                                        <p:strVal val="visible"/>
                                      </p:to>
                                    </p:set>
                                    <p:animEffect transition="in" filter="fade">
                                      <p:cBhvr>
                                        <p:cTn id="40" dur="500"/>
                                        <p:tgtEl>
                                          <p:spTgt spid="7">
                                            <p:txEl>
                                              <p:pRg st="4" end="4"/>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7">
                                            <p:txEl>
                                              <p:pRg st="6" end="6"/>
                                            </p:txEl>
                                          </p:spTgt>
                                        </p:tgtEl>
                                        <p:attrNameLst>
                                          <p:attrName>style.visibility</p:attrName>
                                        </p:attrNameLst>
                                      </p:cBhvr>
                                      <p:to>
                                        <p:strVal val="visible"/>
                                      </p:to>
                                    </p:set>
                                    <p:animEffect transition="in" filter="fade">
                                      <p:cBhvr>
                                        <p:cTn id="45" dur="500"/>
                                        <p:tgtEl>
                                          <p:spTgt spid="7">
                                            <p:txEl>
                                              <p:pRg st="6" end="6"/>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grpId="0" nodeType="clickEffect">
                                  <p:stCondLst>
                                    <p:cond delay="0"/>
                                  </p:stCondLst>
                                  <p:childTnLst>
                                    <p:set>
                                      <p:cBhvr>
                                        <p:cTn id="49" dur="1" fill="hold">
                                          <p:stCondLst>
                                            <p:cond delay="0"/>
                                          </p:stCondLst>
                                        </p:cTn>
                                        <p:tgtEl>
                                          <p:spTgt spid="7">
                                            <p:txEl>
                                              <p:pRg st="8" end="8"/>
                                            </p:txEl>
                                          </p:spTgt>
                                        </p:tgtEl>
                                        <p:attrNameLst>
                                          <p:attrName>style.visibility</p:attrName>
                                        </p:attrNameLst>
                                      </p:cBhvr>
                                      <p:to>
                                        <p:strVal val="visible"/>
                                      </p:to>
                                    </p:set>
                                    <p:animEffect transition="in" filter="fade">
                                      <p:cBhvr>
                                        <p:cTn id="50" dur="500"/>
                                        <p:tgtEl>
                                          <p:spTgt spid="7">
                                            <p:txEl>
                                              <p:pRg st="8" end="8"/>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left)">
                                      <p:cBhvr>
                                        <p:cTn id="55" dur="25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2" grpId="0" uiExpand="1" build="p"/>
      <p:bldP spid="7" grpId="0" uiExpand="1" build="p"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 name="Stable:…"/>
          <p:cNvSpPr txBox="1">
            <a:spLocks noGrp="1"/>
          </p:cNvSpPr>
          <p:nvPr>
            <p:ph type="body" idx="1"/>
          </p:nvPr>
        </p:nvSpPr>
        <p:spPr>
          <a:prstGeom prst="rect">
            <a:avLst/>
          </a:prstGeom>
        </p:spPr>
        <p:txBody>
          <a:bodyPr>
            <a:normAutofit/>
          </a:bodyPr>
          <a:lstStyle/>
          <a:p>
            <a:r>
              <a:rPr lang="en-US" sz="2200" dirty="0"/>
              <a:t>What is it?</a:t>
            </a:r>
          </a:p>
          <a:p>
            <a:pPr lvl="1"/>
            <a:r>
              <a:rPr lang="en-US" sz="2200" dirty="0"/>
              <a:t>Memory Intended for a specific use case.</a:t>
            </a:r>
          </a:p>
          <a:p>
            <a:pPr lvl="1"/>
            <a:r>
              <a:rPr lang="en-US" sz="2200" dirty="0"/>
              <a:t>Allocate with dedicated allocator.</a:t>
            </a:r>
          </a:p>
          <a:p>
            <a:pPr lvl="1"/>
            <a:r>
              <a:rPr lang="en-US" sz="2200" dirty="0"/>
              <a:t>Mange and Free with standard</a:t>
            </a:r>
            <a:br>
              <a:rPr lang="en-US" sz="2200" dirty="0"/>
            </a:br>
            <a:r>
              <a:rPr lang="en-US" sz="2200" dirty="0"/>
              <a:t>   put/page operations.</a:t>
            </a:r>
          </a:p>
          <a:p>
            <a:pPr marL="383664" lvl="2" indent="0">
              <a:lnSpc>
                <a:spcPct val="120000"/>
              </a:lnSpc>
              <a:buNone/>
            </a:pPr>
            <a:r>
              <a:rPr lang="en-US" sz="2200" dirty="0"/>
              <a:t>Example DEV_PAGEMAP</a:t>
            </a:r>
          </a:p>
        </p:txBody>
      </p:sp>
      <p:sp>
        <p:nvSpPr>
          <p:cNvPr id="110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20</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a:t>Kernel Memory Segmentation</a:t>
            </a:r>
            <a:endParaRPr sz="2800" dirty="0"/>
          </a:p>
        </p:txBody>
      </p:sp>
      <p:sp>
        <p:nvSpPr>
          <p:cNvPr id="2" name="TextBox 1">
            <a:extLst>
              <a:ext uri="{FF2B5EF4-FFF2-40B4-BE49-F238E27FC236}">
                <a16:creationId xmlns:a16="http://schemas.microsoft.com/office/drawing/2014/main" id="{56438982-FC30-436C-82B6-FD50E4840C9A}"/>
              </a:ext>
            </a:extLst>
          </p:cNvPr>
          <p:cNvSpPr txBox="1"/>
          <p:nvPr/>
        </p:nvSpPr>
        <p:spPr>
          <a:xfrm>
            <a:off x="6255834" y="1748540"/>
            <a:ext cx="4848443" cy="3394134"/>
          </a:xfrm>
          <a:prstGeom prst="rect">
            <a:avLst/>
          </a:prstGeom>
          <a:noFill/>
        </p:spPr>
        <p:txBody>
          <a:bodyPr wrap="none" rtlCol="0">
            <a:spAutoFit/>
          </a:bodyPr>
          <a:lstStyle/>
          <a:p>
            <a:pPr marL="383664" lvl="2" indent="0">
              <a:lnSpc>
                <a:spcPct val="120000"/>
              </a:lnSpc>
              <a:buNone/>
            </a:pPr>
            <a:r>
              <a:rPr lang="en-US" sz="1800" dirty="0">
                <a:solidFill>
                  <a:srgbClr val="00B050"/>
                </a:solidFill>
              </a:rPr>
              <a:t>static inline void </a:t>
            </a:r>
            <a:r>
              <a:rPr lang="en-US" sz="1800" dirty="0" err="1"/>
              <a:t>put_page</a:t>
            </a:r>
            <a:r>
              <a:rPr lang="en-US" sz="1800" dirty="0"/>
              <a:t>(</a:t>
            </a:r>
            <a:r>
              <a:rPr lang="en-US" sz="1800" dirty="0">
                <a:solidFill>
                  <a:srgbClr val="00B050"/>
                </a:solidFill>
              </a:rPr>
              <a:t>struct</a:t>
            </a:r>
            <a:r>
              <a:rPr lang="en-US" sz="1800" dirty="0"/>
              <a:t> page *page)</a:t>
            </a:r>
          </a:p>
          <a:p>
            <a:pPr marL="383664" lvl="2" indent="0">
              <a:lnSpc>
                <a:spcPct val="120000"/>
              </a:lnSpc>
              <a:buNone/>
            </a:pPr>
            <a:r>
              <a:rPr lang="en-US" sz="1800" dirty="0"/>
              <a:t>{</a:t>
            </a:r>
          </a:p>
          <a:p>
            <a:pPr marL="383664" lvl="2" indent="0">
              <a:lnSpc>
                <a:spcPct val="120000"/>
              </a:lnSpc>
              <a:buNone/>
            </a:pPr>
            <a:r>
              <a:rPr lang="en-US" sz="1800" dirty="0"/>
              <a:t>		page = </a:t>
            </a:r>
            <a:r>
              <a:rPr lang="en-US" sz="1800" dirty="0" err="1"/>
              <a:t>compound_head</a:t>
            </a:r>
            <a:r>
              <a:rPr lang="en-US" sz="1800" dirty="0"/>
              <a:t>(page);</a:t>
            </a:r>
          </a:p>
          <a:p>
            <a:pPr marL="383664" lvl="2" indent="0">
              <a:lnSpc>
                <a:spcPct val="120000"/>
              </a:lnSpc>
              <a:buNone/>
            </a:pPr>
            <a:r>
              <a:rPr lang="en-US" sz="1800" dirty="0"/>
              <a:t>		</a:t>
            </a:r>
          </a:p>
          <a:p>
            <a:pPr marL="383664" lvl="2" indent="0">
              <a:lnSpc>
                <a:spcPct val="120000"/>
              </a:lnSpc>
              <a:buNone/>
            </a:pPr>
            <a:r>
              <a:rPr lang="en-US" dirty="0"/>
              <a:t>		</a:t>
            </a:r>
            <a:r>
              <a:rPr lang="en-US" sz="1800" dirty="0">
                <a:solidFill>
                  <a:srgbClr val="FF9900"/>
                </a:solidFill>
              </a:rPr>
              <a:t>if</a:t>
            </a:r>
            <a:r>
              <a:rPr lang="en-US" sz="1800" dirty="0"/>
              <a:t> (</a:t>
            </a:r>
            <a:r>
              <a:rPr lang="en-US" sz="1800" dirty="0" err="1"/>
              <a:t>put_devmap_managed_page</a:t>
            </a:r>
            <a:r>
              <a:rPr lang="en-US" sz="1800" dirty="0"/>
              <a:t>(page))</a:t>
            </a:r>
          </a:p>
          <a:p>
            <a:pPr marL="383664" lvl="2" indent="0">
              <a:lnSpc>
                <a:spcPct val="120000"/>
              </a:lnSpc>
              <a:buNone/>
            </a:pPr>
            <a:r>
              <a:rPr lang="en-US" sz="1800" dirty="0"/>
              <a:t>           	</a:t>
            </a:r>
            <a:r>
              <a:rPr lang="en-US" sz="1800" dirty="0">
                <a:solidFill>
                  <a:srgbClr val="FF9900"/>
                </a:solidFill>
              </a:rPr>
              <a:t>return</a:t>
            </a:r>
            <a:r>
              <a:rPr lang="en-US" sz="1800" dirty="0"/>
              <a:t>;</a:t>
            </a:r>
          </a:p>
          <a:p>
            <a:pPr marL="383664" lvl="2" indent="0">
              <a:lnSpc>
                <a:spcPct val="120000"/>
              </a:lnSpc>
              <a:buNone/>
            </a:pPr>
            <a:endParaRPr lang="en-US" sz="1800" dirty="0"/>
          </a:p>
          <a:p>
            <a:pPr marL="383664" lvl="2" indent="0">
              <a:lnSpc>
                <a:spcPct val="120000"/>
              </a:lnSpc>
              <a:buNone/>
            </a:pPr>
            <a:r>
              <a:rPr lang="en-US" sz="1800" dirty="0">
                <a:solidFill>
                  <a:srgbClr val="FF9900"/>
                </a:solidFill>
              </a:rPr>
              <a:t>        if </a:t>
            </a:r>
            <a:r>
              <a:rPr lang="en-US" sz="1800" dirty="0"/>
              <a:t>(</a:t>
            </a:r>
            <a:r>
              <a:rPr lang="en-US" sz="1800" dirty="0" err="1"/>
              <a:t>put_page_testzero</a:t>
            </a:r>
            <a:r>
              <a:rPr lang="en-US" sz="1800" dirty="0"/>
              <a:t>(page))</a:t>
            </a:r>
          </a:p>
          <a:p>
            <a:pPr marL="383664" lvl="2" indent="0">
              <a:lnSpc>
                <a:spcPct val="120000"/>
              </a:lnSpc>
              <a:buNone/>
            </a:pPr>
            <a:r>
              <a:rPr lang="en-US" sz="1800" dirty="0"/>
              <a:t>                __</a:t>
            </a:r>
            <a:r>
              <a:rPr lang="en-US" sz="1800" dirty="0" err="1"/>
              <a:t>put_page</a:t>
            </a:r>
            <a:r>
              <a:rPr lang="en-US" sz="1800" dirty="0"/>
              <a:t>(page);</a:t>
            </a:r>
          </a:p>
          <a:p>
            <a:pPr marL="383664" lvl="2" indent="0">
              <a:lnSpc>
                <a:spcPct val="120000"/>
              </a:lnSpc>
              <a:buNone/>
            </a:pPr>
            <a:r>
              <a:rPr lang="en-US" sz="1800" dirty="0"/>
              <a:t>}</a:t>
            </a:r>
          </a:p>
        </p:txBody>
      </p:sp>
      <p:sp>
        <p:nvSpPr>
          <p:cNvPr id="4" name="Oval 3">
            <a:extLst>
              <a:ext uri="{FF2B5EF4-FFF2-40B4-BE49-F238E27FC236}">
                <a16:creationId xmlns:a16="http://schemas.microsoft.com/office/drawing/2014/main" id="{C70EE43E-3F17-46BB-9F04-23DC606F666A}"/>
              </a:ext>
            </a:extLst>
          </p:cNvPr>
          <p:cNvSpPr/>
          <p:nvPr/>
        </p:nvSpPr>
        <p:spPr>
          <a:xfrm>
            <a:off x="6932428" y="2876107"/>
            <a:ext cx="4044258" cy="914400"/>
          </a:xfrm>
          <a:prstGeom prst="ellipse">
            <a:avLst/>
          </a:prstGeom>
          <a:noFill/>
          <a:ln w="38100">
            <a:solidFill>
              <a:srgbClr val="FF0000"/>
            </a:solidFill>
            <a:prstDash val="dash"/>
            <a:extLst>
              <a:ext uri="{C807C97D-BFC1-408E-A445-0C87EB9F89A2}">
                <ask:lineSketchStyleProps xmlns:ask="http://schemas.microsoft.com/office/drawing/2018/sketchyshapes" sd="2650216993">
                  <a:custGeom>
                    <a:avLst/>
                    <a:gdLst>
                      <a:gd name="connsiteX0" fmla="*/ 0 w 4044258"/>
                      <a:gd name="connsiteY0" fmla="*/ 457200 h 914400"/>
                      <a:gd name="connsiteX1" fmla="*/ 2022129 w 4044258"/>
                      <a:gd name="connsiteY1" fmla="*/ 0 h 914400"/>
                      <a:gd name="connsiteX2" fmla="*/ 4044258 w 4044258"/>
                      <a:gd name="connsiteY2" fmla="*/ 457200 h 914400"/>
                      <a:gd name="connsiteX3" fmla="*/ 2022129 w 4044258"/>
                      <a:gd name="connsiteY3" fmla="*/ 914400 h 914400"/>
                      <a:gd name="connsiteX4" fmla="*/ 0 w 4044258"/>
                      <a:gd name="connsiteY4" fmla="*/ 45720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4258" h="914400" extrusionOk="0">
                        <a:moveTo>
                          <a:pt x="0" y="457200"/>
                        </a:moveTo>
                        <a:cubicBezTo>
                          <a:pt x="-80916" y="208156"/>
                          <a:pt x="992667" y="85859"/>
                          <a:pt x="2022129" y="0"/>
                        </a:cubicBezTo>
                        <a:cubicBezTo>
                          <a:pt x="3155784" y="34612"/>
                          <a:pt x="4045558" y="244363"/>
                          <a:pt x="4044258" y="457200"/>
                        </a:cubicBezTo>
                        <a:cubicBezTo>
                          <a:pt x="3996286" y="637329"/>
                          <a:pt x="3241315" y="1038204"/>
                          <a:pt x="2022129" y="914400"/>
                        </a:cubicBezTo>
                        <a:cubicBezTo>
                          <a:pt x="906786" y="909016"/>
                          <a:pt x="17394" y="742135"/>
                          <a:pt x="0" y="45720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8153321"/>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102">
                                            <p:txEl>
                                              <p:pRg st="0" end="0"/>
                                            </p:txEl>
                                          </p:spTgt>
                                        </p:tgtEl>
                                        <p:attrNameLst>
                                          <p:attrName>style.visibility</p:attrName>
                                        </p:attrNameLst>
                                      </p:cBhvr>
                                      <p:to>
                                        <p:strVal val="visible"/>
                                      </p:to>
                                    </p:set>
                                    <p:animEffect transition="in" filter="fade">
                                      <p:cBhvr>
                                        <p:cTn id="7" dur="250"/>
                                        <p:tgtEl>
                                          <p:spTgt spid="1102">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2">
                                            <p:txEl>
                                              <p:pRg st="1" end="1"/>
                                            </p:txEl>
                                          </p:spTgt>
                                        </p:tgtEl>
                                        <p:attrNameLst>
                                          <p:attrName>style.visibility</p:attrName>
                                        </p:attrNameLst>
                                      </p:cBhvr>
                                      <p:to>
                                        <p:strVal val="visible"/>
                                      </p:to>
                                    </p:set>
                                    <p:animEffect transition="in" filter="fade">
                                      <p:cBhvr>
                                        <p:cTn id="10" dur="250"/>
                                        <p:tgtEl>
                                          <p:spTgt spid="1102">
                                            <p:txEl>
                                              <p:pRg st="1" end="1"/>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02">
                                            <p:txEl>
                                              <p:pRg st="2" end="2"/>
                                            </p:txEl>
                                          </p:spTgt>
                                        </p:tgtEl>
                                        <p:attrNameLst>
                                          <p:attrName>style.visibility</p:attrName>
                                        </p:attrNameLst>
                                      </p:cBhvr>
                                      <p:to>
                                        <p:strVal val="visible"/>
                                      </p:to>
                                    </p:set>
                                    <p:animEffect transition="in" filter="fade">
                                      <p:cBhvr>
                                        <p:cTn id="13" dur="250"/>
                                        <p:tgtEl>
                                          <p:spTgt spid="1102">
                                            <p:txEl>
                                              <p:pRg st="2" end="2"/>
                                            </p:txEl>
                                          </p:spTgt>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102">
                                            <p:txEl>
                                              <p:pRg st="3" end="3"/>
                                            </p:txEl>
                                          </p:spTgt>
                                        </p:tgtEl>
                                        <p:attrNameLst>
                                          <p:attrName>style.visibility</p:attrName>
                                        </p:attrNameLst>
                                      </p:cBhvr>
                                      <p:to>
                                        <p:strVal val="visible"/>
                                      </p:to>
                                    </p:set>
                                    <p:animEffect transition="in" filter="fade">
                                      <p:cBhvr>
                                        <p:cTn id="16" dur="250"/>
                                        <p:tgtEl>
                                          <p:spTgt spid="1102">
                                            <p:txEl>
                                              <p:pRg st="3" end="3"/>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02">
                                            <p:txEl>
                                              <p:pRg st="4" end="4"/>
                                            </p:txEl>
                                          </p:spTgt>
                                        </p:tgtEl>
                                        <p:attrNameLst>
                                          <p:attrName>style.visibility</p:attrName>
                                        </p:attrNameLst>
                                      </p:cBhvr>
                                      <p:to>
                                        <p:strVal val="visible"/>
                                      </p:to>
                                    </p:set>
                                    <p:animEffect transition="in" filter="fade">
                                      <p:cBhvr>
                                        <p:cTn id="21" dur="250"/>
                                        <p:tgtEl>
                                          <p:spTgt spid="1102">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22" presetClass="entr" presetSubtype="8"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wipe(left)">
                                      <p:cBhvr>
                                        <p:cTn id="26" dur="250"/>
                                        <p:tgtEl>
                                          <p:spTgt spid="2"/>
                                        </p:tgtEl>
                                      </p:cBhvr>
                                    </p:animEffect>
                                  </p:childTnLst>
                                </p:cTn>
                              </p:par>
                            </p:childTnLst>
                          </p:cTn>
                        </p:par>
                      </p:childTnLst>
                    </p:cTn>
                  </p:par>
                  <p:par>
                    <p:cTn id="27" fill="hold">
                      <p:stCondLst>
                        <p:cond delay="indefinite"/>
                      </p:stCondLst>
                      <p:childTnLst>
                        <p:par>
                          <p:cTn id="28" fill="hold">
                            <p:stCondLst>
                              <p:cond delay="0"/>
                            </p:stCondLst>
                            <p:childTnLst>
                              <p:par>
                                <p:cTn id="29" presetID="21" presetClass="entr" presetSubtype="2"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animEffect transition="in" filter="wheel(2)">
                                      <p:cBhvr>
                                        <p:cTn id="31" dur="25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2" grpId="0" uiExpand="1" build="p"/>
      <p:bldP spid="2" grpId="0"/>
      <p:bldP spid="4"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2" name="Stable:…"/>
          <p:cNvSpPr txBox="1">
            <a:spLocks noGrp="1"/>
          </p:cNvSpPr>
          <p:nvPr>
            <p:ph type="body" idx="1"/>
          </p:nvPr>
        </p:nvSpPr>
        <p:spPr>
          <a:prstGeom prst="rect">
            <a:avLst/>
          </a:prstGeom>
        </p:spPr>
        <p:txBody>
          <a:bodyPr>
            <a:normAutofit/>
          </a:bodyPr>
          <a:lstStyle/>
          <a:p>
            <a:pPr>
              <a:buFont typeface="Wingdings" panose="05000000000000000000" pitchFamily="2" charset="2"/>
              <a:buChar char="§"/>
            </a:pPr>
            <a:r>
              <a:rPr lang="en-US" sz="2200" dirty="0"/>
              <a:t>MAIO uses 2MB HP (compound pages).</a:t>
            </a:r>
          </a:p>
          <a:p>
            <a:pPr>
              <a:buFont typeface="Wingdings" panose="05000000000000000000" pitchFamily="2" charset="2"/>
              <a:buChar char="§"/>
            </a:pPr>
            <a:r>
              <a:rPr lang="en-US" sz="2200" dirty="0"/>
              <a:t>First </a:t>
            </a:r>
            <a:r>
              <a:rPr lang="en-US" sz="2200" dirty="0" err="1"/>
              <a:t>TailPage</a:t>
            </a:r>
            <a:r>
              <a:rPr lang="en-US" sz="2200" dirty="0"/>
              <a:t> holds</a:t>
            </a:r>
            <a:r>
              <a:rPr lang="en-US" sz="2200" dirty="0">
                <a:solidFill>
                  <a:srgbClr val="0070C0"/>
                </a:solidFill>
              </a:rPr>
              <a:t> </a:t>
            </a:r>
            <a:r>
              <a:rPr lang="en-US" sz="2200" dirty="0" err="1">
                <a:solidFill>
                  <a:srgbClr val="0070C0"/>
                </a:solidFill>
              </a:rPr>
              <a:t>uaddr</a:t>
            </a:r>
            <a:r>
              <a:rPr lang="en-US" sz="2200" dirty="0">
                <a:solidFill>
                  <a:srgbClr val="0070C0"/>
                </a:solidFill>
              </a:rPr>
              <a:t> </a:t>
            </a:r>
            <a:r>
              <a:rPr lang="en-US" sz="2200" dirty="0"/>
              <a:t>for fast memory translation and </a:t>
            </a:r>
            <a:r>
              <a:rPr lang="en-US" sz="2200" dirty="0" err="1">
                <a:solidFill>
                  <a:srgbClr val="0070C0"/>
                </a:solidFill>
              </a:rPr>
              <a:t>is_maio_page</a:t>
            </a:r>
            <a:endParaRPr lang="en-US" sz="2200" dirty="0">
              <a:solidFill>
                <a:srgbClr val="0070C0"/>
              </a:solidFill>
            </a:endParaRPr>
          </a:p>
          <a:p>
            <a:endParaRPr lang="en-US" sz="2200" dirty="0"/>
          </a:p>
        </p:txBody>
      </p:sp>
      <p:sp>
        <p:nvSpPr>
          <p:cNvPr id="110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21</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err="1"/>
              <a:t>HugePages</a:t>
            </a:r>
            <a:r>
              <a:rPr lang="en-US" sz="2800" dirty="0"/>
              <a:t> and Kernel Memory Segmentation</a:t>
            </a:r>
            <a:endParaRPr sz="2800" dirty="0"/>
          </a:p>
        </p:txBody>
      </p:sp>
      <p:sp>
        <p:nvSpPr>
          <p:cNvPr id="5" name="TextBox 4">
            <a:extLst>
              <a:ext uri="{FF2B5EF4-FFF2-40B4-BE49-F238E27FC236}">
                <a16:creationId xmlns:a16="http://schemas.microsoft.com/office/drawing/2014/main" id="{76040914-9796-4F41-9B9F-29D36AEDDE16}"/>
              </a:ext>
            </a:extLst>
          </p:cNvPr>
          <p:cNvSpPr txBox="1"/>
          <p:nvPr/>
        </p:nvSpPr>
        <p:spPr>
          <a:xfrm>
            <a:off x="1538566" y="2755881"/>
            <a:ext cx="7875618" cy="3416320"/>
          </a:xfrm>
          <a:prstGeom prst="rect">
            <a:avLst/>
          </a:prstGeom>
          <a:noFill/>
        </p:spPr>
        <p:txBody>
          <a:bodyPr wrap="none" rtlCol="0">
            <a:spAutoFit/>
          </a:bodyPr>
          <a:lstStyle/>
          <a:p>
            <a:r>
              <a:rPr lang="en-US" dirty="0"/>
              <a:t> </a:t>
            </a:r>
            <a:r>
              <a:rPr lang="en-US" dirty="0">
                <a:solidFill>
                  <a:srgbClr val="00CC00"/>
                </a:solidFill>
              </a:rPr>
              <a:t>struct</a:t>
            </a:r>
            <a:r>
              <a:rPr lang="en-US" dirty="0"/>
              <a:t> </a:t>
            </a:r>
            <a:r>
              <a:rPr lang="en-US" dirty="0">
                <a:solidFill>
                  <a:srgbClr val="0070C0"/>
                </a:solidFill>
              </a:rPr>
              <a:t>{        /* Tail pages of compound page */</a:t>
            </a:r>
          </a:p>
          <a:p>
            <a:r>
              <a:rPr lang="en-US" dirty="0"/>
              <a:t>                        </a:t>
            </a:r>
            <a:r>
              <a:rPr lang="en-US" dirty="0">
                <a:solidFill>
                  <a:srgbClr val="00CC00"/>
                </a:solidFill>
              </a:rPr>
              <a:t>unsigned long </a:t>
            </a:r>
            <a:r>
              <a:rPr lang="en-US" dirty="0" err="1"/>
              <a:t>compound_head</a:t>
            </a:r>
            <a:r>
              <a:rPr lang="en-US" dirty="0"/>
              <a:t>;    </a:t>
            </a:r>
            <a:r>
              <a:rPr lang="en-US" dirty="0">
                <a:solidFill>
                  <a:srgbClr val="0070C0"/>
                </a:solidFill>
              </a:rPr>
              <a:t>/* Bit zero is set */</a:t>
            </a:r>
          </a:p>
          <a:p>
            <a:endParaRPr lang="en-US" dirty="0"/>
          </a:p>
          <a:p>
            <a:r>
              <a:rPr lang="en-US" dirty="0"/>
              <a:t>                        </a:t>
            </a:r>
            <a:r>
              <a:rPr lang="en-US" dirty="0">
                <a:solidFill>
                  <a:srgbClr val="0070C0"/>
                </a:solidFill>
              </a:rPr>
              <a:t>/* First tail page only */</a:t>
            </a:r>
          </a:p>
          <a:p>
            <a:r>
              <a:rPr lang="en-US" dirty="0"/>
              <a:t>                        </a:t>
            </a:r>
            <a:r>
              <a:rPr lang="en-US" dirty="0">
                <a:solidFill>
                  <a:srgbClr val="00CC00"/>
                </a:solidFill>
              </a:rPr>
              <a:t>unsigned char	</a:t>
            </a:r>
            <a:r>
              <a:rPr lang="en-US" dirty="0" err="1"/>
              <a:t>compound_dtor</a:t>
            </a:r>
            <a:r>
              <a:rPr lang="en-US" dirty="0"/>
              <a:t>;</a:t>
            </a:r>
          </a:p>
          <a:p>
            <a:r>
              <a:rPr lang="en-US" dirty="0"/>
              <a:t>                        </a:t>
            </a:r>
            <a:r>
              <a:rPr lang="en-US" dirty="0">
                <a:solidFill>
                  <a:srgbClr val="00CC00"/>
                </a:solidFill>
              </a:rPr>
              <a:t>unsigned char	</a:t>
            </a:r>
            <a:r>
              <a:rPr lang="en-US" dirty="0" err="1"/>
              <a:t>compound_order</a:t>
            </a:r>
            <a:r>
              <a:rPr lang="en-US" dirty="0"/>
              <a:t>;</a:t>
            </a:r>
          </a:p>
          <a:p>
            <a:r>
              <a:rPr lang="en-US" dirty="0"/>
              <a:t>                        </a:t>
            </a:r>
            <a:r>
              <a:rPr lang="en-US" dirty="0">
                <a:solidFill>
                  <a:srgbClr val="00CC00"/>
                </a:solidFill>
              </a:rPr>
              <a:t>u16</a:t>
            </a:r>
            <a:r>
              <a:rPr lang="en-US" dirty="0"/>
              <a:t> 			</a:t>
            </a:r>
            <a:r>
              <a:rPr lang="en-US" dirty="0" err="1"/>
              <a:t>elem_order</a:t>
            </a:r>
            <a:r>
              <a:rPr lang="en-US" dirty="0"/>
              <a:t>;                 	</a:t>
            </a:r>
            <a:r>
              <a:rPr lang="en-US" dirty="0">
                <a:solidFill>
                  <a:srgbClr val="0070C0"/>
                </a:solidFill>
              </a:rPr>
              <a:t>/* Plug a 2B Hole*/</a:t>
            </a:r>
          </a:p>
          <a:p>
            <a:r>
              <a:rPr lang="en-US" dirty="0"/>
              <a:t>                        </a:t>
            </a:r>
            <a:r>
              <a:rPr lang="en-US" dirty="0" err="1">
                <a:solidFill>
                  <a:srgbClr val="00CC00"/>
                </a:solidFill>
              </a:rPr>
              <a:t>atomic_t</a:t>
            </a:r>
            <a:r>
              <a:rPr lang="en-US" dirty="0">
                <a:solidFill>
                  <a:srgbClr val="00CC00"/>
                </a:solidFill>
              </a:rPr>
              <a:t> 		</a:t>
            </a:r>
            <a:r>
              <a:rPr lang="en-US" dirty="0" err="1"/>
              <a:t>compound_mapcount</a:t>
            </a:r>
            <a:r>
              <a:rPr lang="en-US" dirty="0"/>
              <a:t>;</a:t>
            </a:r>
          </a:p>
          <a:p>
            <a:r>
              <a:rPr lang="en-US" dirty="0"/>
              <a:t>                        </a:t>
            </a:r>
            <a:r>
              <a:rPr lang="en-US" dirty="0">
                <a:solidFill>
                  <a:srgbClr val="00CC00"/>
                </a:solidFill>
              </a:rPr>
              <a:t>unsigned int 	</a:t>
            </a:r>
            <a:r>
              <a:rPr lang="en-US" dirty="0" err="1"/>
              <a:t>compound_nr</a:t>
            </a:r>
            <a:r>
              <a:rPr lang="en-US" dirty="0"/>
              <a:t>; 		</a:t>
            </a:r>
            <a:r>
              <a:rPr lang="en-US" dirty="0">
                <a:solidFill>
                  <a:srgbClr val="0070C0"/>
                </a:solidFill>
              </a:rPr>
              <a:t>/* 1 &lt;&lt; </a:t>
            </a:r>
            <a:r>
              <a:rPr lang="en-US" dirty="0" err="1">
                <a:solidFill>
                  <a:srgbClr val="0070C0"/>
                </a:solidFill>
              </a:rPr>
              <a:t>compound_order</a:t>
            </a:r>
            <a:r>
              <a:rPr lang="en-US" dirty="0">
                <a:solidFill>
                  <a:srgbClr val="0070C0"/>
                </a:solidFill>
              </a:rPr>
              <a:t> */</a:t>
            </a:r>
          </a:p>
          <a:p>
            <a:r>
              <a:rPr lang="en-US" dirty="0"/>
              <a:t>                        </a:t>
            </a:r>
            <a:r>
              <a:rPr lang="en-US" dirty="0">
                <a:solidFill>
                  <a:srgbClr val="0070C0"/>
                </a:solidFill>
              </a:rPr>
              <a:t>/* 4B Hole*/</a:t>
            </a:r>
          </a:p>
          <a:p>
            <a:r>
              <a:rPr lang="en-US" dirty="0"/>
              <a:t>                        </a:t>
            </a:r>
            <a:r>
              <a:rPr lang="en-US" dirty="0">
                <a:solidFill>
                  <a:srgbClr val="00CC00"/>
                </a:solidFill>
              </a:rPr>
              <a:t>unsigned long </a:t>
            </a:r>
            <a:r>
              <a:rPr lang="en-US" dirty="0" err="1"/>
              <a:t>uaddr</a:t>
            </a:r>
            <a:r>
              <a:rPr lang="en-US" dirty="0"/>
              <a:t>;            </a:t>
            </a:r>
            <a:r>
              <a:rPr lang="en-US" dirty="0">
                <a:solidFill>
                  <a:srgbClr val="0070C0"/>
                </a:solidFill>
              </a:rPr>
              <a:t>/* </a:t>
            </a:r>
            <a:r>
              <a:rPr lang="en-US" dirty="0" err="1">
                <a:solidFill>
                  <a:srgbClr val="0070C0"/>
                </a:solidFill>
              </a:rPr>
              <a:t>Uaddr</a:t>
            </a:r>
            <a:r>
              <a:rPr lang="en-US" dirty="0">
                <a:solidFill>
                  <a:srgbClr val="0070C0"/>
                </a:solidFill>
              </a:rPr>
              <a:t>*/</a:t>
            </a:r>
          </a:p>
          <a:p>
            <a:r>
              <a:rPr lang="en-US" dirty="0"/>
              <a:t>                };</a:t>
            </a:r>
          </a:p>
        </p:txBody>
      </p:sp>
      <p:sp>
        <p:nvSpPr>
          <p:cNvPr id="9" name="Oval 8">
            <a:extLst>
              <a:ext uri="{FF2B5EF4-FFF2-40B4-BE49-F238E27FC236}">
                <a16:creationId xmlns:a16="http://schemas.microsoft.com/office/drawing/2014/main" id="{FFA9CF0D-5F04-4E12-89DA-F4D4165E1993}"/>
              </a:ext>
            </a:extLst>
          </p:cNvPr>
          <p:cNvSpPr/>
          <p:nvPr/>
        </p:nvSpPr>
        <p:spPr>
          <a:xfrm>
            <a:off x="2211838" y="5257800"/>
            <a:ext cx="4543292" cy="698867"/>
          </a:xfrm>
          <a:prstGeom prst="ellipse">
            <a:avLst/>
          </a:prstGeom>
          <a:noFill/>
          <a:ln w="38100">
            <a:solidFill>
              <a:srgbClr val="FF0000"/>
            </a:solidFill>
            <a:prstDash val="dash"/>
            <a:extLst>
              <a:ext uri="{C807C97D-BFC1-408E-A445-0C87EB9F89A2}">
                <ask:lineSketchStyleProps xmlns:ask="http://schemas.microsoft.com/office/drawing/2018/sketchyshapes" sd="2650216993">
                  <a:custGeom>
                    <a:avLst/>
                    <a:gdLst>
                      <a:gd name="connsiteX0" fmla="*/ 0 w 4044258"/>
                      <a:gd name="connsiteY0" fmla="*/ 457200 h 914400"/>
                      <a:gd name="connsiteX1" fmla="*/ 2022129 w 4044258"/>
                      <a:gd name="connsiteY1" fmla="*/ 0 h 914400"/>
                      <a:gd name="connsiteX2" fmla="*/ 4044258 w 4044258"/>
                      <a:gd name="connsiteY2" fmla="*/ 457200 h 914400"/>
                      <a:gd name="connsiteX3" fmla="*/ 2022129 w 4044258"/>
                      <a:gd name="connsiteY3" fmla="*/ 914400 h 914400"/>
                      <a:gd name="connsiteX4" fmla="*/ 0 w 4044258"/>
                      <a:gd name="connsiteY4" fmla="*/ 45720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4258" h="914400" extrusionOk="0">
                        <a:moveTo>
                          <a:pt x="0" y="457200"/>
                        </a:moveTo>
                        <a:cubicBezTo>
                          <a:pt x="-80916" y="208156"/>
                          <a:pt x="992667" y="85859"/>
                          <a:pt x="2022129" y="0"/>
                        </a:cubicBezTo>
                        <a:cubicBezTo>
                          <a:pt x="3155784" y="34612"/>
                          <a:pt x="4045558" y="244363"/>
                          <a:pt x="4044258" y="457200"/>
                        </a:cubicBezTo>
                        <a:cubicBezTo>
                          <a:pt x="3996286" y="637329"/>
                          <a:pt x="3241315" y="1038204"/>
                          <a:pt x="2022129" y="914400"/>
                        </a:cubicBezTo>
                        <a:cubicBezTo>
                          <a:pt x="906786" y="909016"/>
                          <a:pt x="17394" y="742135"/>
                          <a:pt x="0" y="45720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3752EFAA-1523-4AD1-AA7C-78CEEF241738}"/>
              </a:ext>
            </a:extLst>
          </p:cNvPr>
          <p:cNvSpPr/>
          <p:nvPr/>
        </p:nvSpPr>
        <p:spPr>
          <a:xfrm>
            <a:off x="2243588" y="4403856"/>
            <a:ext cx="6637522" cy="349433"/>
          </a:xfrm>
          <a:prstGeom prst="ellipse">
            <a:avLst/>
          </a:prstGeom>
          <a:noFill/>
          <a:ln w="38100">
            <a:solidFill>
              <a:srgbClr val="FF0000"/>
            </a:solidFill>
            <a:prstDash val="dash"/>
            <a:extLst>
              <a:ext uri="{C807C97D-BFC1-408E-A445-0C87EB9F89A2}">
                <ask:lineSketchStyleProps xmlns:ask="http://schemas.microsoft.com/office/drawing/2018/sketchyshapes" sd="2650216993">
                  <a:custGeom>
                    <a:avLst/>
                    <a:gdLst>
                      <a:gd name="connsiteX0" fmla="*/ 0 w 4044258"/>
                      <a:gd name="connsiteY0" fmla="*/ 457200 h 914400"/>
                      <a:gd name="connsiteX1" fmla="*/ 2022129 w 4044258"/>
                      <a:gd name="connsiteY1" fmla="*/ 0 h 914400"/>
                      <a:gd name="connsiteX2" fmla="*/ 4044258 w 4044258"/>
                      <a:gd name="connsiteY2" fmla="*/ 457200 h 914400"/>
                      <a:gd name="connsiteX3" fmla="*/ 2022129 w 4044258"/>
                      <a:gd name="connsiteY3" fmla="*/ 914400 h 914400"/>
                      <a:gd name="connsiteX4" fmla="*/ 0 w 4044258"/>
                      <a:gd name="connsiteY4" fmla="*/ 457200 h 914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44258" h="914400" extrusionOk="0">
                        <a:moveTo>
                          <a:pt x="0" y="457200"/>
                        </a:moveTo>
                        <a:cubicBezTo>
                          <a:pt x="-80916" y="208156"/>
                          <a:pt x="992667" y="85859"/>
                          <a:pt x="2022129" y="0"/>
                        </a:cubicBezTo>
                        <a:cubicBezTo>
                          <a:pt x="3155784" y="34612"/>
                          <a:pt x="4045558" y="244363"/>
                          <a:pt x="4044258" y="457200"/>
                        </a:cubicBezTo>
                        <a:cubicBezTo>
                          <a:pt x="3996286" y="637329"/>
                          <a:pt x="3241315" y="1038204"/>
                          <a:pt x="2022129" y="914400"/>
                        </a:cubicBezTo>
                        <a:cubicBezTo>
                          <a:pt x="906786" y="909016"/>
                          <a:pt x="17394" y="742135"/>
                          <a:pt x="0" y="45720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5969632"/>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25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2"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heel(2)">
                                      <p:cBhvr>
                                        <p:cTn id="12" dur="25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2"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heel(2)">
                                      <p:cBhvr>
                                        <p:cTn id="17" dur="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22</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err="1"/>
              <a:t>HugePages</a:t>
            </a:r>
            <a:r>
              <a:rPr lang="en-US" sz="2800" dirty="0"/>
              <a:t> and MAIO</a:t>
            </a:r>
            <a:endParaRPr sz="2800" dirty="0"/>
          </a:p>
        </p:txBody>
      </p:sp>
      <p:sp>
        <p:nvSpPr>
          <p:cNvPr id="8" name="Text Placeholder 7">
            <a:extLst>
              <a:ext uri="{FF2B5EF4-FFF2-40B4-BE49-F238E27FC236}">
                <a16:creationId xmlns:a16="http://schemas.microsoft.com/office/drawing/2014/main" id="{CE937818-D961-439C-968F-22AD679A5729}"/>
              </a:ext>
            </a:extLst>
          </p:cNvPr>
          <p:cNvSpPr txBox="1">
            <a:spLocks noGrp="1"/>
          </p:cNvSpPr>
          <p:nvPr>
            <p:ph type="body" idx="1"/>
          </p:nvPr>
        </p:nvSpPr>
        <p:spPr>
          <a:xfrm>
            <a:off x="477386" y="1554480"/>
            <a:ext cx="10426700" cy="4910960"/>
          </a:xfrm>
          <a:prstGeom prst="rect">
            <a:avLst/>
          </a:prstGeom>
          <a:noFill/>
        </p:spPr>
        <p:txBody>
          <a:bodyPr wrap="none" rtlCol="0">
            <a:spAutoFit/>
          </a:bodyPr>
          <a:lstStyle/>
          <a:p>
            <a:pPr>
              <a:lnSpc>
                <a:spcPct val="100000"/>
              </a:lnSpc>
            </a:pPr>
            <a:r>
              <a:rPr lang="en-US" dirty="0">
                <a:solidFill>
                  <a:srgbClr val="00CC00"/>
                </a:solidFill>
              </a:rPr>
              <a:t>void</a:t>
            </a:r>
            <a:r>
              <a:rPr lang="en-US" dirty="0"/>
              <a:t> *cache 	= </a:t>
            </a:r>
            <a:r>
              <a:rPr lang="en-US" dirty="0" err="1"/>
              <a:t>init_hp_memory</a:t>
            </a:r>
            <a:r>
              <a:rPr lang="en-US" dirty="0"/>
              <a:t>(</a:t>
            </a:r>
            <a:r>
              <a:rPr lang="en-US" dirty="0">
                <a:solidFill>
                  <a:srgbClr val="FF9900"/>
                </a:solidFill>
              </a:rPr>
              <a:t>PAGE_CNT</a:t>
            </a:r>
            <a:r>
              <a:rPr lang="en-US" dirty="0"/>
              <a:t>);			</a:t>
            </a:r>
            <a:r>
              <a:rPr lang="en-US" dirty="0">
                <a:solidFill>
                  <a:srgbClr val="0070C0"/>
                </a:solidFill>
              </a:rPr>
              <a:t>/*Init MAIO pages                */</a:t>
            </a:r>
          </a:p>
          <a:p>
            <a:pPr marL="457200" indent="-457200">
              <a:lnSpc>
                <a:spcPct val="100000"/>
              </a:lnSpc>
              <a:buFont typeface="+mj-lt"/>
              <a:buAutoNum type="arabicPeriod"/>
            </a:pPr>
            <a:r>
              <a:rPr lang="en-US" dirty="0">
                <a:solidFill>
                  <a:schemeClr val="tx1"/>
                </a:solidFill>
              </a:rPr>
              <a:t>Get </a:t>
            </a:r>
            <a:r>
              <a:rPr lang="en-US" dirty="0">
                <a:solidFill>
                  <a:srgbClr val="FF9900"/>
                </a:solidFill>
              </a:rPr>
              <a:t>PAGE_CNT </a:t>
            </a:r>
            <a:r>
              <a:rPr lang="en-US" dirty="0">
                <a:solidFill>
                  <a:schemeClr val="tx1"/>
                </a:solidFill>
              </a:rPr>
              <a:t>of 2MB HP</a:t>
            </a:r>
          </a:p>
          <a:p>
            <a:pPr marL="457200" indent="-457200">
              <a:lnSpc>
                <a:spcPct val="100000"/>
              </a:lnSpc>
              <a:buFont typeface="+mj-lt"/>
              <a:buAutoNum type="arabicPeriod"/>
            </a:pPr>
            <a:r>
              <a:rPr lang="en-US" dirty="0">
                <a:solidFill>
                  <a:srgbClr val="0070C0"/>
                </a:solidFill>
              </a:rPr>
              <a:t>Kernel</a:t>
            </a:r>
            <a:r>
              <a:rPr lang="en-US" dirty="0">
                <a:solidFill>
                  <a:schemeClr val="tx1"/>
                </a:solidFill>
              </a:rPr>
              <a:t>: Create a Memory Translation Table.</a:t>
            </a:r>
            <a:br>
              <a:rPr lang="en-US" dirty="0">
                <a:solidFill>
                  <a:schemeClr val="tx1"/>
                </a:solidFill>
              </a:rPr>
            </a:br>
            <a:r>
              <a:rPr lang="en-US" dirty="0">
                <a:solidFill>
                  <a:schemeClr val="tx1"/>
                </a:solidFill>
              </a:rPr>
              <a:t>		8B </a:t>
            </a:r>
            <a:r>
              <a:rPr lang="en-US" dirty="0">
                <a:solidFill>
                  <a:srgbClr val="00B050"/>
                </a:solidFill>
              </a:rPr>
              <a:t>entry</a:t>
            </a:r>
            <a:r>
              <a:rPr lang="en-US" dirty="0">
                <a:solidFill>
                  <a:schemeClr val="tx1"/>
                </a:solidFill>
              </a:rPr>
              <a:t> *  1 </a:t>
            </a:r>
            <a:r>
              <a:rPr lang="en-US" dirty="0">
                <a:solidFill>
                  <a:srgbClr val="00B050"/>
                </a:solidFill>
              </a:rPr>
              <a:t>HP</a:t>
            </a:r>
            <a:r>
              <a:rPr lang="en-US" dirty="0">
                <a:solidFill>
                  <a:schemeClr val="tx1"/>
                </a:solidFill>
              </a:rPr>
              <a:t> </a:t>
            </a:r>
            <a:r>
              <a:rPr lang="en-US" dirty="0">
                <a:solidFill>
                  <a:srgbClr val="00B050"/>
                </a:solidFill>
              </a:rPr>
              <a:t>(2MB)</a:t>
            </a:r>
          </a:p>
          <a:p>
            <a:pPr marL="457200" indent="-457200">
              <a:lnSpc>
                <a:spcPct val="100000"/>
              </a:lnSpc>
              <a:buFont typeface="+mj-lt"/>
              <a:buAutoNum type="arabicPeriod"/>
            </a:pPr>
            <a:r>
              <a:rPr lang="en-US" dirty="0">
                <a:solidFill>
                  <a:srgbClr val="0070C0"/>
                </a:solidFill>
              </a:rPr>
              <a:t>Kernel: </a:t>
            </a:r>
            <a:r>
              <a:rPr lang="en-US" dirty="0">
                <a:solidFill>
                  <a:schemeClr val="tx1"/>
                </a:solidFill>
              </a:rPr>
              <a:t>Set page[1]-&gt;</a:t>
            </a:r>
            <a:r>
              <a:rPr lang="en-US" dirty="0" err="1">
                <a:solidFill>
                  <a:schemeClr val="tx1"/>
                </a:solidFill>
              </a:rPr>
              <a:t>uaddr</a:t>
            </a:r>
            <a:endParaRPr lang="en-US" dirty="0">
              <a:solidFill>
                <a:schemeClr val="tx1"/>
              </a:solidFill>
            </a:endParaRPr>
          </a:p>
          <a:p>
            <a:pPr marL="457200" indent="-457200">
              <a:lnSpc>
                <a:spcPct val="100000"/>
              </a:lnSpc>
              <a:buFont typeface="+mj-lt"/>
              <a:buAutoNum type="arabicPeriod"/>
            </a:pPr>
            <a:r>
              <a:rPr lang="en-US" dirty="0">
                <a:solidFill>
                  <a:schemeClr val="tx1"/>
                </a:solidFill>
              </a:rPr>
              <a:t>Init custom memory management.  (linked list of 4K and 16K)</a:t>
            </a:r>
          </a:p>
          <a:p>
            <a:pPr marL="457200" indent="-457200">
              <a:lnSpc>
                <a:spcPct val="100000"/>
              </a:lnSpc>
              <a:buFont typeface="+mj-lt"/>
              <a:buAutoNum type="arabicPeriod"/>
            </a:pPr>
            <a:endParaRPr lang="en-US" dirty="0">
              <a:solidFill>
                <a:schemeClr val="tx1"/>
              </a:solidFill>
            </a:endParaRPr>
          </a:p>
          <a:p>
            <a:pPr>
              <a:lnSpc>
                <a:spcPct val="100000"/>
              </a:lnSpc>
              <a:buFont typeface="Wingdings" panose="05000000000000000000" pitchFamily="2" charset="2"/>
              <a:buChar char="§"/>
            </a:pPr>
            <a:r>
              <a:rPr lang="en-US" dirty="0">
                <a:solidFill>
                  <a:schemeClr val="tx1"/>
                </a:solidFill>
              </a:rPr>
              <a:t>Head Page is not used for I/O as ref count never 0.</a:t>
            </a:r>
          </a:p>
          <a:p>
            <a:pPr>
              <a:lnSpc>
                <a:spcPct val="100000"/>
              </a:lnSpc>
              <a:buFont typeface="Wingdings" panose="05000000000000000000" pitchFamily="2" charset="2"/>
              <a:buChar char="§"/>
            </a:pPr>
            <a:r>
              <a:rPr lang="en-US" dirty="0">
                <a:solidFill>
                  <a:schemeClr val="tx1"/>
                </a:solidFill>
              </a:rPr>
              <a:t>Tail Pages have RC = 0 while in user space.</a:t>
            </a:r>
          </a:p>
          <a:p>
            <a:pPr>
              <a:lnSpc>
                <a:spcPct val="100000"/>
              </a:lnSpc>
              <a:buFont typeface="Wingdings" panose="05000000000000000000" pitchFamily="2" charset="2"/>
              <a:buChar char="§"/>
            </a:pPr>
            <a:r>
              <a:rPr lang="en-US" dirty="0">
                <a:solidFill>
                  <a:schemeClr val="tx1"/>
                </a:solidFill>
              </a:rPr>
              <a:t>get/</a:t>
            </a:r>
            <a:r>
              <a:rPr lang="en-US" dirty="0" err="1">
                <a:solidFill>
                  <a:schemeClr val="tx1"/>
                </a:solidFill>
              </a:rPr>
              <a:t>put_page</a:t>
            </a:r>
            <a:r>
              <a:rPr lang="en-US" dirty="0">
                <a:solidFill>
                  <a:schemeClr val="tx1"/>
                </a:solidFill>
              </a:rPr>
              <a:t> operate on Tail Page not the Head Page.</a:t>
            </a:r>
          </a:p>
        </p:txBody>
      </p:sp>
    </p:spTree>
    <p:extLst>
      <p:ext uri="{BB962C8B-B14F-4D97-AF65-F5344CB8AC3E}">
        <p14:creationId xmlns:p14="http://schemas.microsoft.com/office/powerpoint/2010/main" val="3154351499"/>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25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wipe(left)">
                                      <p:cBhvr>
                                        <p:cTn id="12" dur="25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wipe(left)">
                                      <p:cBhvr>
                                        <p:cTn id="17" dur="25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wipe(left)">
                                      <p:cBhvr>
                                        <p:cTn id="22" dur="25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8">
                                            <p:txEl>
                                              <p:pRg st="4" end="4"/>
                                            </p:txEl>
                                          </p:spTgt>
                                        </p:tgtEl>
                                        <p:attrNameLst>
                                          <p:attrName>style.visibility</p:attrName>
                                        </p:attrNameLst>
                                      </p:cBhvr>
                                      <p:to>
                                        <p:strVal val="visible"/>
                                      </p:to>
                                    </p:set>
                                    <p:animEffect transition="in" filter="wipe(left)">
                                      <p:cBhvr>
                                        <p:cTn id="27" dur="250"/>
                                        <p:tgtEl>
                                          <p:spTgt spid="8">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8">
                                            <p:txEl>
                                              <p:pRg st="6" end="6"/>
                                            </p:txEl>
                                          </p:spTgt>
                                        </p:tgtEl>
                                        <p:attrNameLst>
                                          <p:attrName>style.visibility</p:attrName>
                                        </p:attrNameLst>
                                      </p:cBhvr>
                                      <p:to>
                                        <p:strVal val="visible"/>
                                      </p:to>
                                    </p:set>
                                    <p:animEffect transition="in" filter="wipe(left)">
                                      <p:cBhvr>
                                        <p:cTn id="32" dur="250"/>
                                        <p:tgtEl>
                                          <p:spTgt spid="8">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8">
                                            <p:txEl>
                                              <p:pRg st="7" end="7"/>
                                            </p:txEl>
                                          </p:spTgt>
                                        </p:tgtEl>
                                        <p:attrNameLst>
                                          <p:attrName>style.visibility</p:attrName>
                                        </p:attrNameLst>
                                      </p:cBhvr>
                                      <p:to>
                                        <p:strVal val="visible"/>
                                      </p:to>
                                    </p:set>
                                    <p:animEffect transition="in" filter="wipe(left)">
                                      <p:cBhvr>
                                        <p:cTn id="37" dur="250"/>
                                        <p:tgtEl>
                                          <p:spTgt spid="8">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xEl>
                                              <p:pRg st="8" end="8"/>
                                            </p:txEl>
                                          </p:spTgt>
                                        </p:tgtEl>
                                        <p:attrNameLst>
                                          <p:attrName>style.visibility</p:attrName>
                                        </p:attrNameLst>
                                      </p:cBhvr>
                                      <p:to>
                                        <p:strVal val="visible"/>
                                      </p:to>
                                    </p:set>
                                    <p:animEffect transition="in" filter="wipe(left)">
                                      <p:cBhvr>
                                        <p:cTn id="42" dur="250"/>
                                        <p:tgtEl>
                                          <p:spTgt spid="8">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23</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a:t>Socket </a:t>
            </a:r>
            <a:r>
              <a:rPr lang="en-US" sz="2800" dirty="0" err="1"/>
              <a:t>Managment</a:t>
            </a:r>
            <a:endParaRPr sz="2800" dirty="0"/>
          </a:p>
        </p:txBody>
      </p:sp>
      <p:sp>
        <p:nvSpPr>
          <p:cNvPr id="8" name="Text Placeholder 7">
            <a:extLst>
              <a:ext uri="{FF2B5EF4-FFF2-40B4-BE49-F238E27FC236}">
                <a16:creationId xmlns:a16="http://schemas.microsoft.com/office/drawing/2014/main" id="{CE937818-D961-439C-968F-22AD679A5729}"/>
              </a:ext>
            </a:extLst>
          </p:cNvPr>
          <p:cNvSpPr txBox="1">
            <a:spLocks noGrp="1"/>
          </p:cNvSpPr>
          <p:nvPr>
            <p:ph type="body" idx="1"/>
          </p:nvPr>
        </p:nvSpPr>
        <p:spPr>
          <a:xfrm>
            <a:off x="477386" y="1554480"/>
            <a:ext cx="9527608" cy="3337580"/>
          </a:xfrm>
          <a:prstGeom prst="rect">
            <a:avLst/>
          </a:prstGeom>
          <a:noFill/>
        </p:spPr>
        <p:txBody>
          <a:bodyPr wrap="none" rtlCol="0">
            <a:spAutoFit/>
          </a:bodyPr>
          <a:lstStyle/>
          <a:p>
            <a:r>
              <a:rPr lang="en-US" dirty="0">
                <a:solidFill>
                  <a:srgbClr val="00CC00"/>
                </a:solidFill>
              </a:rPr>
              <a:t>int</a:t>
            </a:r>
            <a:r>
              <a:rPr lang="en-US" dirty="0">
                <a:solidFill>
                  <a:schemeClr val="tx1">
                    <a:lumMod val="85000"/>
                    <a:lumOff val="15000"/>
                  </a:schemeClr>
                </a:solidFill>
              </a:rPr>
              <a:t> </a:t>
            </a:r>
            <a:r>
              <a:rPr lang="en-US" dirty="0" err="1">
                <a:solidFill>
                  <a:schemeClr val="tx1">
                    <a:lumMod val="85000"/>
                    <a:lumOff val="15000"/>
                  </a:schemeClr>
                </a:solidFill>
              </a:rPr>
              <a:t>idx</a:t>
            </a:r>
            <a:r>
              <a:rPr lang="en-US" dirty="0">
                <a:solidFill>
                  <a:schemeClr val="tx1">
                    <a:lumMod val="85000"/>
                    <a:lumOff val="15000"/>
                  </a:schemeClr>
                </a:solidFill>
              </a:rPr>
              <a:t> 	= </a:t>
            </a:r>
            <a:r>
              <a:rPr lang="en-US" dirty="0" err="1">
                <a:solidFill>
                  <a:schemeClr val="tx1">
                    <a:lumMod val="85000"/>
                    <a:lumOff val="15000"/>
                  </a:schemeClr>
                </a:solidFill>
              </a:rPr>
              <a:t>create_connected_socket</a:t>
            </a:r>
            <a:r>
              <a:rPr lang="en-US" dirty="0">
                <a:solidFill>
                  <a:schemeClr val="tx1">
                    <a:lumMod val="85000"/>
                    <a:lumOff val="15000"/>
                  </a:schemeClr>
                </a:solidFill>
              </a:rPr>
              <a:t>(dip, port);		</a:t>
            </a:r>
            <a:r>
              <a:rPr lang="en-US" dirty="0">
                <a:solidFill>
                  <a:srgbClr val="0070C0"/>
                </a:solidFill>
              </a:rPr>
              <a:t>/* Create a TCP socket         */</a:t>
            </a:r>
          </a:p>
          <a:p>
            <a:pPr marL="457200" indent="-457200">
              <a:buFont typeface="+mj-lt"/>
              <a:buAutoNum type="arabicPeriod"/>
            </a:pPr>
            <a:endParaRPr lang="en-US" dirty="0">
              <a:solidFill>
                <a:srgbClr val="0070C0"/>
              </a:solidFill>
            </a:endParaRPr>
          </a:p>
          <a:p>
            <a:pPr marL="457200" indent="-457200">
              <a:buFont typeface="+mj-lt"/>
              <a:buAutoNum type="arabicPeriod"/>
            </a:pPr>
            <a:r>
              <a:rPr lang="en-US" dirty="0">
                <a:solidFill>
                  <a:srgbClr val="0070C0"/>
                </a:solidFill>
              </a:rPr>
              <a:t>Kernel: </a:t>
            </a:r>
            <a:r>
              <a:rPr lang="en-US" dirty="0">
                <a:solidFill>
                  <a:schemeClr val="tx1"/>
                </a:solidFill>
              </a:rPr>
              <a:t>Create a Kernel TCP socket.</a:t>
            </a:r>
          </a:p>
          <a:p>
            <a:pPr marL="457200" indent="-457200">
              <a:buFont typeface="+mj-lt"/>
              <a:buAutoNum type="arabicPeriod"/>
            </a:pPr>
            <a:r>
              <a:rPr lang="en-US" dirty="0">
                <a:solidFill>
                  <a:srgbClr val="0070C0"/>
                </a:solidFill>
              </a:rPr>
              <a:t>Kernel:</a:t>
            </a:r>
            <a:r>
              <a:rPr lang="en-US" dirty="0">
                <a:solidFill>
                  <a:schemeClr val="tx1"/>
                </a:solidFill>
              </a:rPr>
              <a:t> Connect to destination.</a:t>
            </a:r>
          </a:p>
          <a:p>
            <a:pPr marL="457200" indent="-457200">
              <a:buFont typeface="+mj-lt"/>
              <a:buAutoNum type="arabicPeriod"/>
            </a:pPr>
            <a:r>
              <a:rPr lang="en-US" dirty="0">
                <a:solidFill>
                  <a:schemeClr val="tx1"/>
                </a:solidFill>
              </a:rPr>
              <a:t>Returns internal identifier for the socket.</a:t>
            </a:r>
          </a:p>
          <a:p>
            <a:endParaRPr lang="en-US" dirty="0">
              <a:solidFill>
                <a:srgbClr val="0070C0"/>
              </a:solidFill>
            </a:endParaRPr>
          </a:p>
          <a:p>
            <a:endParaRPr lang="en-US" dirty="0">
              <a:solidFill>
                <a:srgbClr val="0070C0"/>
              </a:solidFill>
            </a:endParaRPr>
          </a:p>
        </p:txBody>
      </p:sp>
    </p:spTree>
    <p:extLst>
      <p:ext uri="{BB962C8B-B14F-4D97-AF65-F5344CB8AC3E}">
        <p14:creationId xmlns:p14="http://schemas.microsoft.com/office/powerpoint/2010/main" val="4168717452"/>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25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wipe(left)">
                                      <p:cBhvr>
                                        <p:cTn id="12" dur="25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wipe(left)">
                                      <p:cBhvr>
                                        <p:cTn id="17" dur="25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wipe(left)">
                                      <p:cBhvr>
                                        <p:cTn id="22" dur="25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24</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a:t>Async TX Ring</a:t>
            </a:r>
            <a:endParaRPr sz="2800" dirty="0"/>
          </a:p>
        </p:txBody>
      </p:sp>
      <p:sp>
        <p:nvSpPr>
          <p:cNvPr id="8" name="Text Placeholder 7">
            <a:extLst>
              <a:ext uri="{FF2B5EF4-FFF2-40B4-BE49-F238E27FC236}">
                <a16:creationId xmlns:a16="http://schemas.microsoft.com/office/drawing/2014/main" id="{CE937818-D961-439C-968F-22AD679A5729}"/>
              </a:ext>
            </a:extLst>
          </p:cNvPr>
          <p:cNvSpPr txBox="1">
            <a:spLocks noGrp="1"/>
          </p:cNvSpPr>
          <p:nvPr>
            <p:ph type="body" idx="1"/>
          </p:nvPr>
        </p:nvSpPr>
        <p:spPr>
          <a:xfrm>
            <a:off x="477386" y="1554480"/>
            <a:ext cx="8580426" cy="3832331"/>
          </a:xfrm>
          <a:prstGeom prst="rect">
            <a:avLst/>
          </a:prstGeom>
          <a:noFill/>
        </p:spPr>
        <p:txBody>
          <a:bodyPr wrap="none" rtlCol="0">
            <a:spAutoFit/>
          </a:bodyPr>
          <a:lstStyle/>
          <a:p>
            <a:r>
              <a:rPr lang="en-US" dirty="0" err="1">
                <a:solidFill>
                  <a:schemeClr val="tx1">
                    <a:lumMod val="85000"/>
                    <a:lumOff val="15000"/>
                  </a:schemeClr>
                </a:solidFill>
              </a:rPr>
              <a:t>init_tcp_ring</a:t>
            </a:r>
            <a:r>
              <a:rPr lang="en-US" dirty="0">
                <a:solidFill>
                  <a:schemeClr val="tx1">
                    <a:lumMod val="85000"/>
                    <a:lumOff val="15000"/>
                  </a:schemeClr>
                </a:solidFill>
              </a:rPr>
              <a:t>(</a:t>
            </a:r>
            <a:r>
              <a:rPr lang="en-US" dirty="0" err="1">
                <a:solidFill>
                  <a:srgbClr val="FF9900"/>
                </a:solidFill>
              </a:rPr>
              <a:t>idx</a:t>
            </a:r>
            <a:r>
              <a:rPr lang="en-US" dirty="0">
                <a:solidFill>
                  <a:schemeClr val="tx1">
                    <a:lumMod val="85000"/>
                    <a:lumOff val="15000"/>
                  </a:schemeClr>
                </a:solidFill>
              </a:rPr>
              <a:t>, </a:t>
            </a:r>
            <a:r>
              <a:rPr lang="en-US" dirty="0">
                <a:solidFill>
                  <a:srgbClr val="FF9900"/>
                </a:solidFill>
              </a:rPr>
              <a:t>cache</a:t>
            </a:r>
            <a:r>
              <a:rPr lang="en-US" dirty="0">
                <a:solidFill>
                  <a:schemeClr val="tx1">
                    <a:lumMod val="85000"/>
                    <a:lumOff val="15000"/>
                  </a:schemeClr>
                </a:solidFill>
              </a:rPr>
              <a:t>);				</a:t>
            </a:r>
            <a:r>
              <a:rPr lang="en-US" dirty="0">
                <a:solidFill>
                  <a:srgbClr val="0070C0"/>
                </a:solidFill>
              </a:rPr>
              <a:t>/* </a:t>
            </a:r>
            <a:r>
              <a:rPr lang="en-US" dirty="0" err="1">
                <a:solidFill>
                  <a:srgbClr val="0070C0"/>
                </a:solidFill>
              </a:rPr>
              <a:t>init</a:t>
            </a:r>
            <a:r>
              <a:rPr lang="en-US" dirty="0">
                <a:solidFill>
                  <a:srgbClr val="0070C0"/>
                </a:solidFill>
              </a:rPr>
              <a:t> the Async TX ring      */</a:t>
            </a:r>
          </a:p>
          <a:p>
            <a:pPr marL="457200" indent="-457200">
              <a:buFont typeface="+mj-lt"/>
              <a:buAutoNum type="arabicPeriod"/>
            </a:pPr>
            <a:endParaRPr lang="en-US" dirty="0">
              <a:solidFill>
                <a:srgbClr val="0070C0"/>
              </a:solidFill>
            </a:endParaRPr>
          </a:p>
          <a:p>
            <a:pPr marL="457200" indent="-457200">
              <a:buFont typeface="+mj-lt"/>
              <a:buAutoNum type="arabicPeriod"/>
            </a:pPr>
            <a:r>
              <a:rPr lang="en-US" dirty="0">
                <a:solidFill>
                  <a:schemeClr val="tx1"/>
                </a:solidFill>
              </a:rPr>
              <a:t>Allocate and Init a ring for async TX. Uses </a:t>
            </a:r>
            <a:r>
              <a:rPr lang="en-US" dirty="0">
                <a:solidFill>
                  <a:srgbClr val="FF9900"/>
                </a:solidFill>
              </a:rPr>
              <a:t>cache</a:t>
            </a:r>
            <a:r>
              <a:rPr lang="en-US" dirty="0">
                <a:solidFill>
                  <a:schemeClr val="tx1"/>
                </a:solidFill>
              </a:rPr>
              <a:t>.</a:t>
            </a:r>
          </a:p>
          <a:p>
            <a:pPr marL="457200" indent="-457200">
              <a:buFont typeface="+mj-lt"/>
              <a:buAutoNum type="arabicPeriod"/>
            </a:pPr>
            <a:r>
              <a:rPr lang="en-US" dirty="0">
                <a:solidFill>
                  <a:srgbClr val="0070C0"/>
                </a:solidFill>
              </a:rPr>
              <a:t>Kernel</a:t>
            </a:r>
            <a:r>
              <a:rPr lang="en-US" dirty="0">
                <a:solidFill>
                  <a:schemeClr val="tx1"/>
                </a:solidFill>
              </a:rPr>
              <a:t>: affiliate socket and async ring. Uses </a:t>
            </a:r>
            <a:r>
              <a:rPr lang="en-US" dirty="0" err="1">
                <a:solidFill>
                  <a:srgbClr val="FF9900"/>
                </a:solidFill>
              </a:rPr>
              <a:t>idx</a:t>
            </a:r>
            <a:r>
              <a:rPr lang="en-US" dirty="0">
                <a:solidFill>
                  <a:schemeClr val="tx1"/>
                </a:solidFill>
              </a:rPr>
              <a:t>. </a:t>
            </a:r>
          </a:p>
          <a:p>
            <a:pPr marL="457200" indent="-457200">
              <a:buFont typeface="+mj-lt"/>
              <a:buAutoNum type="arabicPeriod"/>
            </a:pPr>
            <a:r>
              <a:rPr lang="en-US" dirty="0">
                <a:solidFill>
                  <a:srgbClr val="0070C0"/>
                </a:solidFill>
              </a:rPr>
              <a:t>Kernel</a:t>
            </a:r>
            <a:r>
              <a:rPr lang="en-US" dirty="0">
                <a:solidFill>
                  <a:schemeClr val="tx1"/>
                </a:solidFill>
              </a:rPr>
              <a:t>: Create a kernel thread</a:t>
            </a:r>
          </a:p>
          <a:p>
            <a:pPr marL="0" indent="0">
              <a:buNone/>
            </a:pPr>
            <a:endParaRPr lang="en-US" dirty="0">
              <a:solidFill>
                <a:schemeClr val="tx1"/>
              </a:solidFill>
            </a:endParaRPr>
          </a:p>
          <a:p>
            <a:endParaRPr lang="en-US" dirty="0">
              <a:solidFill>
                <a:srgbClr val="0070C0"/>
              </a:solidFill>
            </a:endParaRPr>
          </a:p>
          <a:p>
            <a:endParaRPr lang="en-US" dirty="0">
              <a:solidFill>
                <a:srgbClr val="0070C0"/>
              </a:solidFill>
            </a:endParaRPr>
          </a:p>
        </p:txBody>
      </p:sp>
    </p:spTree>
    <p:extLst>
      <p:ext uri="{BB962C8B-B14F-4D97-AF65-F5344CB8AC3E}">
        <p14:creationId xmlns:p14="http://schemas.microsoft.com/office/powerpoint/2010/main" val="3691799146"/>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xEl>
                                              <p:pRg st="2" end="2"/>
                                            </p:txEl>
                                          </p:spTgt>
                                        </p:tgtEl>
                                        <p:attrNameLst>
                                          <p:attrName>style.visibility</p:attrName>
                                        </p:attrNameLst>
                                      </p:cBhvr>
                                      <p:to>
                                        <p:strVal val="visible"/>
                                      </p:to>
                                    </p:set>
                                    <p:animEffect transition="in" filter="wipe(left)">
                                      <p:cBhvr>
                                        <p:cTn id="7" dur="250"/>
                                        <p:tgtEl>
                                          <p:spTgt spid="8">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3" end="3"/>
                                            </p:txEl>
                                          </p:spTgt>
                                        </p:tgtEl>
                                        <p:attrNameLst>
                                          <p:attrName>style.visibility</p:attrName>
                                        </p:attrNameLst>
                                      </p:cBhvr>
                                      <p:to>
                                        <p:strVal val="visible"/>
                                      </p:to>
                                    </p:set>
                                    <p:animEffect transition="in" filter="wipe(left)">
                                      <p:cBhvr>
                                        <p:cTn id="12" dur="250"/>
                                        <p:tgtEl>
                                          <p:spTgt spid="8">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4" end="4"/>
                                            </p:txEl>
                                          </p:spTgt>
                                        </p:tgtEl>
                                        <p:attrNameLst>
                                          <p:attrName>style.visibility</p:attrName>
                                        </p:attrNameLst>
                                      </p:cBhvr>
                                      <p:to>
                                        <p:strVal val="visible"/>
                                      </p:to>
                                    </p:set>
                                    <p:animEffect transition="in" filter="wipe(left)">
                                      <p:cBhvr>
                                        <p:cTn id="17" dur="25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25</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a:t>Zero-Copy TCP TX</a:t>
            </a:r>
            <a:endParaRPr sz="2800" dirty="0"/>
          </a:p>
        </p:txBody>
      </p:sp>
      <p:sp>
        <p:nvSpPr>
          <p:cNvPr id="8" name="Text Placeholder 7">
            <a:extLst>
              <a:ext uri="{FF2B5EF4-FFF2-40B4-BE49-F238E27FC236}">
                <a16:creationId xmlns:a16="http://schemas.microsoft.com/office/drawing/2014/main" id="{CE937818-D961-439C-968F-22AD679A5729}"/>
              </a:ext>
            </a:extLst>
          </p:cNvPr>
          <p:cNvSpPr txBox="1">
            <a:spLocks noGrp="1"/>
          </p:cNvSpPr>
          <p:nvPr>
            <p:ph type="body" idx="1"/>
          </p:nvPr>
        </p:nvSpPr>
        <p:spPr>
          <a:xfrm>
            <a:off x="477386" y="1554480"/>
            <a:ext cx="6370270" cy="1853328"/>
          </a:xfrm>
          <a:prstGeom prst="rect">
            <a:avLst/>
          </a:prstGeom>
          <a:noFill/>
        </p:spPr>
        <p:txBody>
          <a:bodyPr wrap="none" rtlCol="0">
            <a:spAutoFit/>
          </a:bodyPr>
          <a:lstStyle/>
          <a:p>
            <a:r>
              <a:rPr lang="en-US" dirty="0" err="1">
                <a:solidFill>
                  <a:schemeClr val="tx1">
                    <a:lumMod val="85000"/>
                    <a:lumOff val="15000"/>
                  </a:schemeClr>
                </a:solidFill>
              </a:rPr>
              <a:t>send_buffer</a:t>
            </a:r>
            <a:r>
              <a:rPr lang="en-US" dirty="0">
                <a:solidFill>
                  <a:schemeClr val="tx1">
                    <a:lumMod val="85000"/>
                    <a:lumOff val="15000"/>
                  </a:schemeClr>
                </a:solidFill>
              </a:rPr>
              <a:t>(</a:t>
            </a:r>
            <a:r>
              <a:rPr lang="en-US" dirty="0" err="1">
                <a:solidFill>
                  <a:srgbClr val="FF9900"/>
                </a:solidFill>
              </a:rPr>
              <a:t>idx</a:t>
            </a:r>
            <a:r>
              <a:rPr lang="en-US" dirty="0">
                <a:solidFill>
                  <a:schemeClr val="tx1">
                    <a:lumMod val="85000"/>
                    <a:lumOff val="15000"/>
                  </a:schemeClr>
                </a:solidFill>
              </a:rPr>
              <a:t>, </a:t>
            </a:r>
            <a:r>
              <a:rPr lang="en-US" dirty="0">
                <a:solidFill>
                  <a:srgbClr val="FF9900"/>
                </a:solidFill>
              </a:rPr>
              <a:t>buffer</a:t>
            </a:r>
            <a:r>
              <a:rPr lang="en-US" dirty="0">
                <a:solidFill>
                  <a:schemeClr val="tx1">
                    <a:lumMod val="85000"/>
                    <a:lumOff val="15000"/>
                  </a:schemeClr>
                </a:solidFill>
              </a:rPr>
              <a:t>, </a:t>
            </a:r>
            <a:r>
              <a:rPr lang="en-US" dirty="0" err="1">
                <a:solidFill>
                  <a:srgbClr val="FF9900"/>
                </a:solidFill>
              </a:rPr>
              <a:t>len</a:t>
            </a:r>
            <a:r>
              <a:rPr lang="en-US" dirty="0">
                <a:solidFill>
                  <a:schemeClr val="tx1">
                    <a:lumMod val="85000"/>
                    <a:lumOff val="15000"/>
                  </a:schemeClr>
                </a:solidFill>
              </a:rPr>
              <a:t>, </a:t>
            </a:r>
            <a:r>
              <a:rPr lang="en-US" dirty="0">
                <a:solidFill>
                  <a:srgbClr val="FF9900"/>
                </a:solidFill>
              </a:rPr>
              <a:t>flags</a:t>
            </a:r>
            <a:r>
              <a:rPr lang="en-US" dirty="0">
                <a:solidFill>
                  <a:schemeClr val="tx1">
                    <a:lumMod val="85000"/>
                    <a:lumOff val="15000"/>
                  </a:schemeClr>
                </a:solidFill>
              </a:rPr>
              <a:t>);</a:t>
            </a:r>
          </a:p>
          <a:p>
            <a:pPr marL="457200" indent="-457200">
              <a:buFont typeface="+mj-lt"/>
              <a:buAutoNum type="arabicPeriod"/>
            </a:pPr>
            <a:endParaRPr lang="en-US" dirty="0">
              <a:solidFill>
                <a:srgbClr val="0070C0"/>
              </a:solidFill>
            </a:endParaRPr>
          </a:p>
          <a:p>
            <a:pPr marL="457200" indent="-457200">
              <a:buFont typeface="+mj-lt"/>
              <a:buAutoNum type="arabicPeriod"/>
            </a:pPr>
            <a:r>
              <a:rPr lang="en-US" dirty="0">
                <a:solidFill>
                  <a:schemeClr val="tx1"/>
                </a:solidFill>
              </a:rPr>
              <a:t>Post a MAIO </a:t>
            </a:r>
            <a:r>
              <a:rPr lang="en-US" dirty="0">
                <a:solidFill>
                  <a:srgbClr val="FF9900"/>
                </a:solidFill>
              </a:rPr>
              <a:t>buffer</a:t>
            </a:r>
            <a:r>
              <a:rPr lang="en-US" dirty="0">
                <a:solidFill>
                  <a:schemeClr val="tx1"/>
                </a:solidFill>
              </a:rPr>
              <a:t> on the ring[</a:t>
            </a:r>
            <a:r>
              <a:rPr lang="en-US" dirty="0" err="1">
                <a:solidFill>
                  <a:srgbClr val="FF9900"/>
                </a:solidFill>
              </a:rPr>
              <a:t>idx</a:t>
            </a:r>
            <a:r>
              <a:rPr lang="en-US" dirty="0">
                <a:solidFill>
                  <a:schemeClr val="tx1"/>
                </a:solidFill>
              </a:rPr>
              <a:t>]</a:t>
            </a:r>
          </a:p>
          <a:p>
            <a:pPr marL="457200" indent="-457200">
              <a:buFont typeface="+mj-lt"/>
              <a:buAutoNum type="arabicPeriod"/>
            </a:pPr>
            <a:r>
              <a:rPr lang="en-US" dirty="0">
                <a:solidFill>
                  <a:schemeClr val="tx1"/>
                </a:solidFill>
              </a:rPr>
              <a:t>Wake-Up the kernel Thread (unless flags have </a:t>
            </a:r>
            <a:r>
              <a:rPr lang="en-US" dirty="0">
                <a:solidFill>
                  <a:srgbClr val="0070C0"/>
                </a:solidFill>
              </a:rPr>
              <a:t>MORE</a:t>
            </a:r>
            <a:r>
              <a:rPr lang="en-US" dirty="0">
                <a:solidFill>
                  <a:schemeClr val="tx1"/>
                </a:solidFill>
              </a:rPr>
              <a:t> set)</a:t>
            </a:r>
          </a:p>
        </p:txBody>
      </p:sp>
      <p:sp>
        <p:nvSpPr>
          <p:cNvPr id="5" name="Text Placeholder 7">
            <a:extLst>
              <a:ext uri="{FF2B5EF4-FFF2-40B4-BE49-F238E27FC236}">
                <a16:creationId xmlns:a16="http://schemas.microsoft.com/office/drawing/2014/main" id="{64AD73DF-EEDA-4F7A-AA90-25C6F08AEF42}"/>
              </a:ext>
            </a:extLst>
          </p:cNvPr>
          <p:cNvSpPr txBox="1">
            <a:spLocks/>
          </p:cNvSpPr>
          <p:nvPr/>
        </p:nvSpPr>
        <p:spPr>
          <a:xfrm>
            <a:off x="579808" y="3920143"/>
            <a:ext cx="4113562" cy="2348079"/>
          </a:xfrm>
          <a:prstGeom prst="rect">
            <a:avLst/>
          </a:prstGeom>
          <a:noFill/>
        </p:spPr>
        <p:txBody>
          <a:bodyPr vert="horz" wrap="none" lIns="0" tIns="45720" rIns="0" bIns="45720" rtlCol="0">
            <a:spAutoFit/>
          </a:bodyPr>
          <a:lstStyle>
            <a:lvl1pPr marL="91349" indent="-91349" algn="l" defTabSz="913486" rtl="0" eaLnBrk="1" latinLnBrk="0" hangingPunct="1">
              <a:lnSpc>
                <a:spcPct val="90000"/>
              </a:lnSpc>
              <a:spcBef>
                <a:spcPts val="1500"/>
              </a:spcBef>
              <a:spcAft>
                <a:spcPts val="200"/>
              </a:spcAft>
              <a:buClr>
                <a:schemeClr val="accent1"/>
              </a:buClr>
              <a:buSzPct val="100000"/>
              <a:buFont typeface="Calibri" panose="020F0502020204030204" pitchFamily="34" charset="0"/>
              <a:buChar char=" "/>
              <a:defRPr sz="1998" kern="1200">
                <a:solidFill>
                  <a:schemeClr val="tx1">
                    <a:lumMod val="75000"/>
                    <a:lumOff val="25000"/>
                  </a:schemeClr>
                </a:solidFill>
                <a:latin typeface="+mn-lt"/>
                <a:ea typeface="+mn-ea"/>
                <a:cs typeface="+mn-cs"/>
              </a:defRPr>
            </a:lvl1pPr>
            <a:lvl2pPr marL="383664" indent="-182697" algn="l" defTabSz="913486" rtl="0" eaLnBrk="1" latinLnBrk="0" hangingPunct="1">
              <a:lnSpc>
                <a:spcPct val="90000"/>
              </a:lnSpc>
              <a:spcBef>
                <a:spcPts val="1500"/>
              </a:spcBef>
              <a:spcAft>
                <a:spcPts val="400"/>
              </a:spcAft>
              <a:buClr>
                <a:schemeClr val="accent1"/>
              </a:buClr>
              <a:buFont typeface="Calibri" pitchFamily="34" charset="0"/>
              <a:buChar char="◦"/>
              <a:defRPr sz="1798" kern="1200">
                <a:solidFill>
                  <a:schemeClr val="tx1">
                    <a:lumMod val="75000"/>
                    <a:lumOff val="25000"/>
                  </a:schemeClr>
                </a:solidFill>
                <a:latin typeface="+mn-lt"/>
                <a:ea typeface="+mn-ea"/>
                <a:cs typeface="+mn-cs"/>
              </a:defRPr>
            </a:lvl2pPr>
            <a:lvl3pPr marL="566361" indent="-182697" algn="l" defTabSz="913486" rtl="0" eaLnBrk="1" latinLnBrk="0" hangingPunct="1">
              <a:lnSpc>
                <a:spcPct val="90000"/>
              </a:lnSpc>
              <a:spcBef>
                <a:spcPts val="15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3pPr>
            <a:lvl4pPr marL="749058" indent="-182697" algn="l" defTabSz="913486" rtl="0" eaLnBrk="1" latinLnBrk="0" hangingPunct="1">
              <a:lnSpc>
                <a:spcPct val="90000"/>
              </a:lnSpc>
              <a:spcBef>
                <a:spcPts val="15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4pPr>
            <a:lvl5pPr marL="931755" indent="-182697" algn="l" defTabSz="913486" rtl="0" eaLnBrk="1" latinLnBrk="0" hangingPunct="1">
              <a:lnSpc>
                <a:spcPct val="90000"/>
              </a:lnSpc>
              <a:spcBef>
                <a:spcPts val="15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5pPr>
            <a:lvl6pPr marL="10989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6pPr>
            <a:lvl7pPr marL="12987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7pPr>
            <a:lvl8pPr marL="14985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8pPr>
            <a:lvl9pPr marL="16983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9pPr>
          </a:lstStyle>
          <a:p>
            <a:r>
              <a:rPr lang="en-US" dirty="0">
                <a:solidFill>
                  <a:schemeClr val="tx1">
                    <a:lumMod val="85000"/>
                    <a:lumOff val="15000"/>
                  </a:schemeClr>
                </a:solidFill>
              </a:rPr>
              <a:t>Async TX Thread</a:t>
            </a:r>
          </a:p>
          <a:p>
            <a:pPr marL="457200" indent="-457200">
              <a:buFont typeface="+mj-lt"/>
              <a:buAutoNum type="arabicPeriod"/>
            </a:pPr>
            <a:endParaRPr lang="en-US" dirty="0">
              <a:solidFill>
                <a:srgbClr val="0070C0"/>
              </a:solidFill>
            </a:endParaRPr>
          </a:p>
          <a:p>
            <a:pPr marL="457200" indent="-457200">
              <a:buFont typeface="+mj-lt"/>
              <a:buAutoNum type="arabicPeriod"/>
            </a:pPr>
            <a:r>
              <a:rPr lang="en-US" dirty="0">
                <a:solidFill>
                  <a:schemeClr val="tx1"/>
                </a:solidFill>
              </a:rPr>
              <a:t>Poll the ring[</a:t>
            </a:r>
            <a:r>
              <a:rPr lang="en-US" dirty="0" err="1">
                <a:solidFill>
                  <a:srgbClr val="FF9900"/>
                </a:solidFill>
              </a:rPr>
              <a:t>idx</a:t>
            </a:r>
            <a:r>
              <a:rPr lang="en-US" dirty="0">
                <a:solidFill>
                  <a:schemeClr val="tx1"/>
                </a:solidFill>
              </a:rPr>
              <a:t>]</a:t>
            </a:r>
          </a:p>
          <a:p>
            <a:pPr marL="457200" indent="-457200">
              <a:buFont typeface="+mj-lt"/>
              <a:buAutoNum type="arabicPeriod"/>
            </a:pPr>
            <a:r>
              <a:rPr lang="en-US" dirty="0">
                <a:solidFill>
                  <a:schemeClr val="tx1"/>
                </a:solidFill>
              </a:rPr>
              <a:t>Use </a:t>
            </a:r>
            <a:r>
              <a:rPr lang="en-US" dirty="0">
                <a:solidFill>
                  <a:srgbClr val="0070C0"/>
                </a:solidFill>
              </a:rPr>
              <a:t>MTT</a:t>
            </a:r>
            <a:r>
              <a:rPr lang="en-US" dirty="0">
                <a:solidFill>
                  <a:schemeClr val="tx1"/>
                </a:solidFill>
              </a:rPr>
              <a:t> to get kernel address</a:t>
            </a:r>
          </a:p>
          <a:p>
            <a:pPr marL="457200" indent="-457200">
              <a:buFont typeface="+mj-lt"/>
              <a:buAutoNum type="arabicPeriod"/>
            </a:pPr>
            <a:r>
              <a:rPr lang="en-US" dirty="0">
                <a:solidFill>
                  <a:schemeClr val="tx1"/>
                </a:solidFill>
              </a:rPr>
              <a:t>Send the buffer with </a:t>
            </a:r>
            <a:r>
              <a:rPr lang="en-US" dirty="0" err="1">
                <a:solidFill>
                  <a:schemeClr val="tx1"/>
                </a:solidFill>
              </a:rPr>
              <a:t>tcp_sendpage</a:t>
            </a:r>
            <a:endParaRPr lang="en-US" dirty="0">
              <a:solidFill>
                <a:schemeClr val="tx1"/>
              </a:solidFill>
            </a:endParaRPr>
          </a:p>
        </p:txBody>
      </p:sp>
    </p:spTree>
    <p:extLst>
      <p:ext uri="{BB962C8B-B14F-4D97-AF65-F5344CB8AC3E}">
        <p14:creationId xmlns:p14="http://schemas.microsoft.com/office/powerpoint/2010/main" val="98660392"/>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2" end="2"/>
                                            </p:txEl>
                                          </p:spTgt>
                                        </p:tgtEl>
                                        <p:attrNameLst>
                                          <p:attrName>style.visibility</p:attrName>
                                        </p:attrNameLst>
                                      </p:cBhvr>
                                      <p:to>
                                        <p:strVal val="visible"/>
                                      </p:to>
                                    </p:set>
                                    <p:animEffect transition="in" filter="wipe(left)">
                                      <p:cBhvr>
                                        <p:cTn id="12" dur="500"/>
                                        <p:tgtEl>
                                          <p:spTgt spid="8">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wipe(left)">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0" end="0"/>
                                            </p:txEl>
                                          </p:spTgt>
                                        </p:tgtEl>
                                        <p:attrNameLst>
                                          <p:attrName>style.visibility</p:attrName>
                                        </p:attrNameLst>
                                      </p:cBhvr>
                                      <p:to>
                                        <p:strVal val="visible"/>
                                      </p:to>
                                    </p:set>
                                    <p:animEffect transition="in" filter="wipe(left)">
                                      <p:cBhvr>
                                        <p:cTn id="22" dur="500"/>
                                        <p:tgtEl>
                                          <p:spTgt spid="5">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5">
                                            <p:txEl>
                                              <p:pRg st="2" end="2"/>
                                            </p:txEl>
                                          </p:spTgt>
                                        </p:tgtEl>
                                        <p:attrNameLst>
                                          <p:attrName>style.visibility</p:attrName>
                                        </p:attrNameLst>
                                      </p:cBhvr>
                                      <p:to>
                                        <p:strVal val="visible"/>
                                      </p:to>
                                    </p:set>
                                    <p:animEffect transition="in" filter="wipe(left)">
                                      <p:cBhvr>
                                        <p:cTn id="27" dur="500"/>
                                        <p:tgtEl>
                                          <p:spTgt spid="5">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xEl>
                                              <p:pRg st="3" end="3"/>
                                            </p:txEl>
                                          </p:spTgt>
                                        </p:tgtEl>
                                        <p:attrNameLst>
                                          <p:attrName>style.visibility</p:attrName>
                                        </p:attrNameLst>
                                      </p:cBhvr>
                                      <p:to>
                                        <p:strVal val="visible"/>
                                      </p:to>
                                    </p:set>
                                    <p:animEffect transition="in" filter="wipe(left)">
                                      <p:cBhvr>
                                        <p:cTn id="32" dur="500"/>
                                        <p:tgtEl>
                                          <p:spTgt spid="5">
                                            <p:txEl>
                                              <p:pRg st="3" end="3"/>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5">
                                            <p:txEl>
                                              <p:pRg st="4" end="4"/>
                                            </p:txEl>
                                          </p:spTgt>
                                        </p:tgtEl>
                                        <p:attrNameLst>
                                          <p:attrName>style.visibility</p:attrName>
                                        </p:attrNameLst>
                                      </p:cBhvr>
                                      <p:to>
                                        <p:strVal val="visible"/>
                                      </p:to>
                                    </p:set>
                                    <p:animEffect transition="in" filter="wipe(left)">
                                      <p:cBhvr>
                                        <p:cTn id="37"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5"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26</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a:t>Page State </a:t>
            </a:r>
            <a:r>
              <a:rPr lang="en-US" sz="2800" b="1" dirty="0"/>
              <a:t>TX</a:t>
            </a:r>
            <a:endParaRPr sz="2800" b="1" dirty="0"/>
          </a:p>
        </p:txBody>
      </p:sp>
      <p:sp>
        <p:nvSpPr>
          <p:cNvPr id="3" name="Text Placeholder 2">
            <a:extLst>
              <a:ext uri="{FF2B5EF4-FFF2-40B4-BE49-F238E27FC236}">
                <a16:creationId xmlns:a16="http://schemas.microsoft.com/office/drawing/2014/main" id="{3A4AEFB1-42AB-4DB1-A7AE-2BB541F149F9}"/>
              </a:ext>
            </a:extLst>
          </p:cNvPr>
          <p:cNvSpPr>
            <a:spLocks noGrp="1"/>
          </p:cNvSpPr>
          <p:nvPr>
            <p:ph type="body" idx="1"/>
          </p:nvPr>
        </p:nvSpPr>
        <p:spPr/>
        <p:txBody>
          <a:bodyPr>
            <a:noAutofit/>
          </a:bodyPr>
          <a:lstStyle/>
          <a:p>
            <a:pPr marL="200967" lvl="1" indent="0">
              <a:buNone/>
            </a:pPr>
            <a:r>
              <a:rPr lang="en-US" sz="2400" dirty="0"/>
              <a:t>Who owns a sent buffer?</a:t>
            </a:r>
          </a:p>
          <a:p>
            <a:pPr lvl="2"/>
            <a:r>
              <a:rPr lang="en-US" sz="2400" dirty="0"/>
              <a:t>RC handles correct state. </a:t>
            </a:r>
            <a:r>
              <a:rPr lang="en-US" sz="2400" dirty="0" err="1">
                <a:solidFill>
                  <a:srgbClr val="0070C0"/>
                </a:solidFill>
              </a:rPr>
              <a:t>page_ref_inc</a:t>
            </a:r>
            <a:r>
              <a:rPr lang="en-US" sz="2400" dirty="0">
                <a:solidFill>
                  <a:srgbClr val="0070C0"/>
                </a:solidFill>
              </a:rPr>
              <a:t> </a:t>
            </a:r>
            <a:r>
              <a:rPr lang="en-US" sz="2400" dirty="0"/>
              <a:t>on each TX.</a:t>
            </a:r>
          </a:p>
          <a:p>
            <a:pPr lvl="1"/>
            <a:r>
              <a:rPr lang="en-US" sz="2400" dirty="0"/>
              <a:t>Options.</a:t>
            </a:r>
          </a:p>
          <a:p>
            <a:pPr lvl="2"/>
            <a:r>
              <a:rPr lang="en-US" sz="2400" dirty="0"/>
              <a:t>Socket notification (</a:t>
            </a:r>
            <a:r>
              <a:rPr lang="en-US" sz="2400" dirty="0" err="1">
                <a:solidFill>
                  <a:schemeClr val="bg2">
                    <a:lumMod val="50000"/>
                  </a:schemeClr>
                </a:solidFill>
              </a:rPr>
              <a:t>sock_zerocopy_callback</a:t>
            </a:r>
            <a:r>
              <a:rPr lang="en-US" sz="2400" dirty="0">
                <a:solidFill>
                  <a:schemeClr val="bg2">
                    <a:lumMod val="50000"/>
                  </a:schemeClr>
                </a:solidFill>
              </a:rPr>
              <a:t>/</a:t>
            </a:r>
            <a:r>
              <a:rPr lang="en-US" sz="2400" dirty="0" err="1">
                <a:solidFill>
                  <a:schemeClr val="bg2">
                    <a:lumMod val="50000"/>
                  </a:schemeClr>
                </a:solidFill>
              </a:rPr>
              <a:t>ubuf_info</a:t>
            </a:r>
            <a:r>
              <a:rPr lang="en-US" sz="2400" dirty="0"/>
              <a:t>)</a:t>
            </a:r>
          </a:p>
          <a:p>
            <a:pPr lvl="2"/>
            <a:r>
              <a:rPr lang="en-US" sz="2400" dirty="0"/>
              <a:t>Opportunistic state management on Head Page </a:t>
            </a:r>
          </a:p>
          <a:p>
            <a:pPr lvl="4"/>
            <a:r>
              <a:rPr lang="en-US" sz="2400" dirty="0"/>
              <a:t>Transition 0 – 1.</a:t>
            </a:r>
          </a:p>
          <a:p>
            <a:pPr lvl="2"/>
            <a:r>
              <a:rPr lang="en-US" sz="2400" dirty="0"/>
              <a:t> Sys-call to query </a:t>
            </a:r>
            <a:r>
              <a:rPr lang="en-US" sz="2400" dirty="0" err="1"/>
              <a:t>page_ref_cnt</a:t>
            </a:r>
            <a:endParaRPr lang="en-US" sz="2400" dirty="0"/>
          </a:p>
        </p:txBody>
      </p:sp>
      <p:sp>
        <p:nvSpPr>
          <p:cNvPr id="4" name="TextBox 3">
            <a:extLst>
              <a:ext uri="{FF2B5EF4-FFF2-40B4-BE49-F238E27FC236}">
                <a16:creationId xmlns:a16="http://schemas.microsoft.com/office/drawing/2014/main" id="{3457B1D6-9DD1-45A2-B5B0-51890549F4AC}"/>
              </a:ext>
            </a:extLst>
          </p:cNvPr>
          <p:cNvSpPr txBox="1"/>
          <p:nvPr/>
        </p:nvSpPr>
        <p:spPr>
          <a:xfrm>
            <a:off x="6815646" y="4519136"/>
            <a:ext cx="5139420" cy="1477328"/>
          </a:xfrm>
          <a:prstGeom prst="rect">
            <a:avLst/>
          </a:prstGeom>
          <a:noFill/>
        </p:spPr>
        <p:txBody>
          <a:bodyPr wrap="none" rtlCol="0">
            <a:spAutoFit/>
          </a:bodyPr>
          <a:lstStyle/>
          <a:p>
            <a:r>
              <a:rPr lang="en-US" sz="2400" dirty="0"/>
              <a:t>Head Page – shadow map of 4KB pages.</a:t>
            </a:r>
          </a:p>
          <a:p>
            <a:pPr lvl="1"/>
            <a:r>
              <a:rPr lang="en-US" sz="2400" dirty="0"/>
              <a:t>512 4K pages in 2MB</a:t>
            </a:r>
          </a:p>
          <a:p>
            <a:pPr lvl="1"/>
            <a:r>
              <a:rPr lang="en-US" sz="2400" dirty="0"/>
              <a:t>8B for each 4K Page on Head Page</a:t>
            </a:r>
          </a:p>
          <a:p>
            <a:endParaRPr lang="en-US" dirty="0"/>
          </a:p>
        </p:txBody>
      </p:sp>
      <p:sp>
        <p:nvSpPr>
          <p:cNvPr id="6" name="TextBox 5">
            <a:extLst>
              <a:ext uri="{FF2B5EF4-FFF2-40B4-BE49-F238E27FC236}">
                <a16:creationId xmlns:a16="http://schemas.microsoft.com/office/drawing/2014/main" id="{34C50FDA-4C8E-4C76-8AD5-186A622BC084}"/>
              </a:ext>
            </a:extLst>
          </p:cNvPr>
          <p:cNvSpPr txBox="1"/>
          <p:nvPr/>
        </p:nvSpPr>
        <p:spPr>
          <a:xfrm>
            <a:off x="4229100" y="2075115"/>
            <a:ext cx="1727396" cy="584775"/>
          </a:xfrm>
          <a:prstGeom prst="rect">
            <a:avLst/>
          </a:prstGeom>
          <a:solidFill>
            <a:schemeClr val="bg1"/>
          </a:solidFill>
        </p:spPr>
        <p:txBody>
          <a:bodyPr wrap="none" rtlCol="0">
            <a:spAutoFit/>
          </a:bodyPr>
          <a:lstStyle/>
          <a:p>
            <a:r>
              <a:rPr lang="en-US" sz="3200" dirty="0" err="1">
                <a:solidFill>
                  <a:srgbClr val="00CC00"/>
                </a:solidFill>
              </a:rPr>
              <a:t>get_page</a:t>
            </a:r>
            <a:endParaRPr lang="en-US" sz="3200" dirty="0">
              <a:solidFill>
                <a:srgbClr val="00CC00"/>
              </a:solidFill>
            </a:endParaRPr>
          </a:p>
        </p:txBody>
      </p:sp>
    </p:spTree>
    <p:extLst>
      <p:ext uri="{BB962C8B-B14F-4D97-AF65-F5344CB8AC3E}">
        <p14:creationId xmlns:p14="http://schemas.microsoft.com/office/powerpoint/2010/main" val="3322730694"/>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par>
                                <p:cTn id="18" presetID="22" presetClass="entr" presetSubtype="8" fill="hold" grpId="0"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wipe(left)">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Effect transition="in" filter="wipe(left)">
                                      <p:cBhvr>
                                        <p:cTn id="25" dur="500"/>
                                        <p:tgtEl>
                                          <p:spTgt spid="3">
                                            <p:txEl>
                                              <p:pRg st="3" end="3"/>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3">
                                            <p:txEl>
                                              <p:pRg st="4" end="4"/>
                                            </p:txEl>
                                          </p:spTgt>
                                        </p:tgtEl>
                                        <p:attrNameLst>
                                          <p:attrName>style.visibility</p:attrName>
                                        </p:attrNameLst>
                                      </p:cBhvr>
                                      <p:to>
                                        <p:strVal val="visible"/>
                                      </p:to>
                                    </p:set>
                                    <p:animEffect transition="in" filter="wipe(left)">
                                      <p:cBhvr>
                                        <p:cTn id="30" dur="500"/>
                                        <p:tgtEl>
                                          <p:spTgt spid="3">
                                            <p:txEl>
                                              <p:pRg st="4" end="4"/>
                                            </p:txEl>
                                          </p:spTgt>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Effect transition="in" filter="wipe(left)">
                                      <p:cBhvr>
                                        <p:cTn id="33" dur="500"/>
                                        <p:tgtEl>
                                          <p:spTgt spid="3">
                                            <p:txEl>
                                              <p:pRg st="5" end="5"/>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4"/>
                                        </p:tgtEl>
                                        <p:attrNameLst>
                                          <p:attrName>style.visibility</p:attrName>
                                        </p:attrNameLst>
                                      </p:cBhvr>
                                      <p:to>
                                        <p:strVal val="visible"/>
                                      </p:to>
                                    </p:set>
                                    <p:animEffect transition="in" filter="fade">
                                      <p:cBhvr>
                                        <p:cTn id="38" dur="250"/>
                                        <p:tgtEl>
                                          <p:spTgt spid="4"/>
                                        </p:tgtEl>
                                      </p:cBhvr>
                                    </p:animEffect>
                                  </p:childTnLst>
                                </p:cTn>
                              </p:par>
                            </p:childTnLst>
                          </p:cTn>
                        </p:par>
                      </p:childTnLst>
                    </p:cTn>
                  </p:par>
                  <p:par>
                    <p:cTn id="39" fill="hold">
                      <p:stCondLst>
                        <p:cond delay="indefinite"/>
                      </p:stCondLst>
                      <p:childTnLst>
                        <p:par>
                          <p:cTn id="40" fill="hold">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Effect transition="in" filter="wipe(left)">
                                      <p:cBhvr>
                                        <p:cTn id="43"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4" grpId="0"/>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27</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a:t>Zero-Copy TCP RX</a:t>
            </a:r>
            <a:endParaRPr sz="2800" dirty="0"/>
          </a:p>
        </p:txBody>
      </p:sp>
      <p:sp>
        <p:nvSpPr>
          <p:cNvPr id="8" name="Text Placeholder 7">
            <a:extLst>
              <a:ext uri="{FF2B5EF4-FFF2-40B4-BE49-F238E27FC236}">
                <a16:creationId xmlns:a16="http://schemas.microsoft.com/office/drawing/2014/main" id="{CE937818-D961-439C-968F-22AD679A5729}"/>
              </a:ext>
            </a:extLst>
          </p:cNvPr>
          <p:cNvSpPr txBox="1">
            <a:spLocks noGrp="1"/>
          </p:cNvSpPr>
          <p:nvPr>
            <p:ph type="body" idx="1"/>
          </p:nvPr>
        </p:nvSpPr>
        <p:spPr>
          <a:xfrm>
            <a:off x="477386" y="1390350"/>
            <a:ext cx="7059881" cy="2130070"/>
          </a:xfrm>
          <a:prstGeom prst="rect">
            <a:avLst/>
          </a:prstGeom>
          <a:noFill/>
        </p:spPr>
        <p:txBody>
          <a:bodyPr wrap="none" rtlCol="0">
            <a:spAutoFit/>
          </a:bodyPr>
          <a:lstStyle/>
          <a:p>
            <a:r>
              <a:rPr lang="en-US" dirty="0" err="1">
                <a:solidFill>
                  <a:schemeClr val="tx1"/>
                </a:solidFill>
              </a:rPr>
              <a:t>tcp_receive_sg</a:t>
            </a:r>
            <a:r>
              <a:rPr lang="en-US" dirty="0">
                <a:solidFill>
                  <a:schemeClr val="tx1"/>
                </a:solidFill>
              </a:rPr>
              <a:t>(</a:t>
            </a:r>
            <a:r>
              <a:rPr lang="en-US" dirty="0" err="1">
                <a:solidFill>
                  <a:srgbClr val="FF9900"/>
                </a:solidFill>
              </a:rPr>
              <a:t>idx</a:t>
            </a:r>
            <a:r>
              <a:rPr lang="en-US" dirty="0">
                <a:solidFill>
                  <a:srgbClr val="FF9900"/>
                </a:solidFill>
              </a:rPr>
              <a:t>, </a:t>
            </a:r>
            <a:r>
              <a:rPr lang="en-US" dirty="0" err="1">
                <a:solidFill>
                  <a:srgbClr val="FF9900"/>
                </a:solidFill>
              </a:rPr>
              <a:t>io_vec</a:t>
            </a:r>
            <a:r>
              <a:rPr lang="en-US" dirty="0">
                <a:solidFill>
                  <a:srgbClr val="FF9900"/>
                </a:solidFill>
              </a:rPr>
              <a:t>, cache</a:t>
            </a:r>
            <a:r>
              <a:rPr lang="en-US" dirty="0">
                <a:solidFill>
                  <a:schemeClr val="tx1"/>
                </a:solidFill>
              </a:rPr>
              <a:t>)</a:t>
            </a:r>
            <a:br>
              <a:rPr lang="en-US" dirty="0">
                <a:solidFill>
                  <a:schemeClr val="tx1"/>
                </a:solidFill>
              </a:rPr>
            </a:br>
            <a:endParaRPr lang="en-US" dirty="0">
              <a:solidFill>
                <a:schemeClr val="tx1"/>
              </a:solidFill>
            </a:endParaRPr>
          </a:p>
          <a:p>
            <a:pPr>
              <a:buFont typeface="Wingdings" panose="05000000000000000000" pitchFamily="2" charset="2"/>
              <a:buChar char="§"/>
            </a:pPr>
            <a:r>
              <a:rPr lang="en-US" dirty="0">
                <a:solidFill>
                  <a:schemeClr val="tx1"/>
                </a:solidFill>
              </a:rPr>
              <a:t> Collect a sg list from the TCP socket</a:t>
            </a:r>
          </a:p>
          <a:p>
            <a:pPr>
              <a:buFont typeface="Wingdings" panose="05000000000000000000" pitchFamily="2" charset="2"/>
              <a:buChar char="§"/>
            </a:pPr>
            <a:r>
              <a:rPr lang="en-US" dirty="0">
                <a:solidFill>
                  <a:schemeClr val="bg2">
                    <a:lumMod val="50000"/>
                  </a:schemeClr>
                </a:solidFill>
              </a:rPr>
              <a:t>kernel:</a:t>
            </a:r>
            <a:r>
              <a:rPr lang="en-US" dirty="0">
                <a:solidFill>
                  <a:schemeClr val="tx1"/>
                </a:solidFill>
              </a:rPr>
              <a:t> Translate kernel address to user address using </a:t>
            </a:r>
            <a:r>
              <a:rPr lang="en-US" dirty="0">
                <a:solidFill>
                  <a:schemeClr val="bg2">
                    <a:lumMod val="50000"/>
                  </a:schemeClr>
                </a:solidFill>
              </a:rPr>
              <a:t>page-&gt;</a:t>
            </a:r>
            <a:r>
              <a:rPr lang="en-US" dirty="0" err="1">
                <a:solidFill>
                  <a:schemeClr val="bg2">
                    <a:lumMod val="50000"/>
                  </a:schemeClr>
                </a:solidFill>
              </a:rPr>
              <a:t>uaddr</a:t>
            </a:r>
            <a:endParaRPr lang="en-US" dirty="0">
              <a:solidFill>
                <a:schemeClr val="bg2">
                  <a:lumMod val="50000"/>
                </a:schemeClr>
              </a:solidFill>
            </a:endParaRPr>
          </a:p>
          <a:p>
            <a:pPr>
              <a:buFont typeface="Wingdings" panose="05000000000000000000" pitchFamily="2" charset="2"/>
              <a:buChar char="§"/>
            </a:pPr>
            <a:r>
              <a:rPr lang="en-US" dirty="0">
                <a:solidFill>
                  <a:schemeClr val="bg2">
                    <a:lumMod val="50000"/>
                  </a:schemeClr>
                </a:solidFill>
              </a:rPr>
              <a:t>Kernel: </a:t>
            </a:r>
            <a:r>
              <a:rPr lang="en-US" dirty="0">
                <a:solidFill>
                  <a:schemeClr val="tx1"/>
                </a:solidFill>
              </a:rPr>
              <a:t>refill kernel pages</a:t>
            </a:r>
          </a:p>
        </p:txBody>
      </p:sp>
      <p:sp>
        <p:nvSpPr>
          <p:cNvPr id="5" name="Text Placeholder 7">
            <a:extLst>
              <a:ext uri="{FF2B5EF4-FFF2-40B4-BE49-F238E27FC236}">
                <a16:creationId xmlns:a16="http://schemas.microsoft.com/office/drawing/2014/main" id="{64AD73DF-EEDA-4F7A-AA90-25C6F08AEF42}"/>
              </a:ext>
            </a:extLst>
          </p:cNvPr>
          <p:cNvSpPr txBox="1">
            <a:spLocks/>
          </p:cNvSpPr>
          <p:nvPr/>
        </p:nvSpPr>
        <p:spPr>
          <a:xfrm>
            <a:off x="477386" y="3520420"/>
            <a:ext cx="8556445" cy="3828227"/>
          </a:xfrm>
          <a:prstGeom prst="rect">
            <a:avLst/>
          </a:prstGeom>
          <a:noFill/>
        </p:spPr>
        <p:txBody>
          <a:bodyPr vert="horz" wrap="none" lIns="0" tIns="45720" rIns="0" bIns="45720" rtlCol="0">
            <a:spAutoFit/>
          </a:bodyPr>
          <a:lstStyle>
            <a:lvl1pPr marL="91349" indent="-91349" algn="l" defTabSz="913486" rtl="0" eaLnBrk="1" latinLnBrk="0" hangingPunct="1">
              <a:lnSpc>
                <a:spcPct val="90000"/>
              </a:lnSpc>
              <a:spcBef>
                <a:spcPts val="1500"/>
              </a:spcBef>
              <a:spcAft>
                <a:spcPts val="200"/>
              </a:spcAft>
              <a:buClr>
                <a:schemeClr val="accent1"/>
              </a:buClr>
              <a:buSzPct val="100000"/>
              <a:buFont typeface="Calibri" panose="020F0502020204030204" pitchFamily="34" charset="0"/>
              <a:buChar char=" "/>
              <a:defRPr sz="1998" kern="1200">
                <a:solidFill>
                  <a:schemeClr val="tx1">
                    <a:lumMod val="75000"/>
                    <a:lumOff val="25000"/>
                  </a:schemeClr>
                </a:solidFill>
                <a:latin typeface="+mn-lt"/>
                <a:ea typeface="+mn-ea"/>
                <a:cs typeface="+mn-cs"/>
              </a:defRPr>
            </a:lvl1pPr>
            <a:lvl2pPr marL="383664" indent="-182697" algn="l" defTabSz="913486" rtl="0" eaLnBrk="1" latinLnBrk="0" hangingPunct="1">
              <a:lnSpc>
                <a:spcPct val="90000"/>
              </a:lnSpc>
              <a:spcBef>
                <a:spcPts val="1500"/>
              </a:spcBef>
              <a:spcAft>
                <a:spcPts val="400"/>
              </a:spcAft>
              <a:buClr>
                <a:schemeClr val="accent1"/>
              </a:buClr>
              <a:buFont typeface="Calibri" pitchFamily="34" charset="0"/>
              <a:buChar char="◦"/>
              <a:defRPr sz="1798" kern="1200">
                <a:solidFill>
                  <a:schemeClr val="tx1">
                    <a:lumMod val="75000"/>
                    <a:lumOff val="25000"/>
                  </a:schemeClr>
                </a:solidFill>
                <a:latin typeface="+mn-lt"/>
                <a:ea typeface="+mn-ea"/>
                <a:cs typeface="+mn-cs"/>
              </a:defRPr>
            </a:lvl2pPr>
            <a:lvl3pPr marL="566361" indent="-182697" algn="l" defTabSz="913486" rtl="0" eaLnBrk="1" latinLnBrk="0" hangingPunct="1">
              <a:lnSpc>
                <a:spcPct val="90000"/>
              </a:lnSpc>
              <a:spcBef>
                <a:spcPts val="15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3pPr>
            <a:lvl4pPr marL="749058" indent="-182697" algn="l" defTabSz="913486" rtl="0" eaLnBrk="1" latinLnBrk="0" hangingPunct="1">
              <a:lnSpc>
                <a:spcPct val="90000"/>
              </a:lnSpc>
              <a:spcBef>
                <a:spcPts val="15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4pPr>
            <a:lvl5pPr marL="931755" indent="-182697" algn="l" defTabSz="913486" rtl="0" eaLnBrk="1" latinLnBrk="0" hangingPunct="1">
              <a:lnSpc>
                <a:spcPct val="90000"/>
              </a:lnSpc>
              <a:spcBef>
                <a:spcPts val="15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5pPr>
            <a:lvl6pPr marL="10989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6pPr>
            <a:lvl7pPr marL="12987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7pPr>
            <a:lvl8pPr marL="14985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8pPr>
            <a:lvl9pPr marL="1698300" indent="-228371" algn="l" defTabSz="913486" rtl="0" eaLnBrk="1" latinLnBrk="0" hangingPunct="1">
              <a:lnSpc>
                <a:spcPct val="90000"/>
              </a:lnSpc>
              <a:spcBef>
                <a:spcPts val="200"/>
              </a:spcBef>
              <a:spcAft>
                <a:spcPts val="400"/>
              </a:spcAft>
              <a:buClr>
                <a:schemeClr val="accent1"/>
              </a:buClr>
              <a:buFont typeface="Calibri" pitchFamily="34" charset="0"/>
              <a:buChar char="◦"/>
              <a:defRPr sz="1399" kern="1200">
                <a:solidFill>
                  <a:schemeClr val="tx1">
                    <a:lumMod val="75000"/>
                    <a:lumOff val="25000"/>
                  </a:schemeClr>
                </a:solidFill>
                <a:latin typeface="+mn-lt"/>
                <a:ea typeface="+mn-ea"/>
                <a:cs typeface="+mn-cs"/>
              </a:defRPr>
            </a:lvl9pPr>
          </a:lstStyle>
          <a:p>
            <a:r>
              <a:rPr lang="en-US" dirty="0">
                <a:solidFill>
                  <a:schemeClr val="tx1"/>
                </a:solidFill>
              </a:rPr>
              <a:t>Kernel Modifications</a:t>
            </a:r>
          </a:p>
          <a:p>
            <a:r>
              <a:rPr lang="en-US" dirty="0">
                <a:solidFill>
                  <a:schemeClr val="tx1"/>
                </a:solidFill>
              </a:rPr>
              <a:t>RX:</a:t>
            </a:r>
          </a:p>
          <a:p>
            <a:pPr>
              <a:buFont typeface="Wingdings" panose="05000000000000000000" pitchFamily="2" charset="2"/>
              <a:buChar char="§"/>
            </a:pPr>
            <a:r>
              <a:rPr lang="en-US" dirty="0">
                <a:solidFill>
                  <a:schemeClr val="tx1"/>
                </a:solidFill>
              </a:rPr>
              <a:t> </a:t>
            </a:r>
            <a:r>
              <a:rPr lang="en-US" i="1" dirty="0" err="1">
                <a:solidFill>
                  <a:schemeClr val="bg2">
                    <a:lumMod val="50000"/>
                  </a:schemeClr>
                </a:solidFill>
              </a:rPr>
              <a:t>skb_zerocopy_iter_stream</a:t>
            </a:r>
            <a:r>
              <a:rPr lang="en-US" i="1" dirty="0">
                <a:solidFill>
                  <a:schemeClr val="bg2">
                    <a:lumMod val="50000"/>
                  </a:schemeClr>
                </a:solidFill>
              </a:rPr>
              <a:t> </a:t>
            </a:r>
            <a:r>
              <a:rPr lang="en-US" dirty="0">
                <a:solidFill>
                  <a:schemeClr val="tx1"/>
                </a:solidFill>
              </a:rPr>
              <a:t>modification </a:t>
            </a:r>
            <a:r>
              <a:rPr lang="en-US" dirty="0" err="1">
                <a:solidFill>
                  <a:schemeClr val="bg2">
                    <a:lumMod val="50000"/>
                  </a:schemeClr>
                </a:solidFill>
              </a:rPr>
              <a:t>skb_zerocopy_sg_from_iter</a:t>
            </a:r>
            <a:r>
              <a:rPr lang="en-US" dirty="0">
                <a:solidFill>
                  <a:schemeClr val="bg2">
                    <a:lumMod val="50000"/>
                  </a:schemeClr>
                </a:solidFill>
              </a:rPr>
              <a:t> (</a:t>
            </a:r>
            <a:r>
              <a:rPr lang="en-US" dirty="0" err="1">
                <a:solidFill>
                  <a:schemeClr val="bg2">
                    <a:lumMod val="50000"/>
                  </a:schemeClr>
                </a:solidFill>
              </a:rPr>
              <a:t>tcp_mmap</a:t>
            </a:r>
            <a:r>
              <a:rPr lang="en-US" dirty="0">
                <a:solidFill>
                  <a:schemeClr val="bg2">
                    <a:lumMod val="50000"/>
                  </a:schemeClr>
                </a:solidFill>
              </a:rPr>
              <a:t>)</a:t>
            </a:r>
          </a:p>
          <a:p>
            <a:pPr marL="0" indent="0">
              <a:buNone/>
            </a:pPr>
            <a:r>
              <a:rPr lang="en-US" dirty="0">
                <a:solidFill>
                  <a:schemeClr val="tx1"/>
                </a:solidFill>
              </a:rPr>
              <a:t> Init:</a:t>
            </a:r>
          </a:p>
          <a:p>
            <a:pPr>
              <a:buFont typeface="Wingdings" panose="05000000000000000000" pitchFamily="2" charset="2"/>
              <a:buChar char="§"/>
            </a:pPr>
            <a:r>
              <a:rPr lang="en-US" dirty="0">
                <a:solidFill>
                  <a:schemeClr val="tx1"/>
                </a:solidFill>
              </a:rPr>
              <a:t> </a:t>
            </a:r>
            <a:r>
              <a:rPr lang="en-US" dirty="0">
                <a:solidFill>
                  <a:schemeClr val="bg2">
                    <a:lumMod val="50000"/>
                  </a:schemeClr>
                </a:solidFill>
              </a:rPr>
              <a:t>A MAIO </a:t>
            </a:r>
            <a:r>
              <a:rPr lang="en-US" dirty="0" err="1">
                <a:solidFill>
                  <a:schemeClr val="bg2">
                    <a:lumMod val="50000"/>
                  </a:schemeClr>
                </a:solidFill>
              </a:rPr>
              <a:t>implemenmtation</a:t>
            </a:r>
            <a:r>
              <a:rPr lang="en-US" dirty="0">
                <a:solidFill>
                  <a:schemeClr val="bg2">
                    <a:lumMod val="50000"/>
                  </a:schemeClr>
                </a:solidFill>
              </a:rPr>
              <a:t>:</a:t>
            </a:r>
            <a:r>
              <a:rPr lang="en-US" dirty="0">
                <a:solidFill>
                  <a:schemeClr val="tx1"/>
                </a:solidFill>
              </a:rPr>
              <a:t> MAIO allocator for RX ring</a:t>
            </a:r>
          </a:p>
          <a:p>
            <a:pPr lvl="1">
              <a:buFont typeface="Wingdings" panose="05000000000000000000" pitchFamily="2" charset="2"/>
              <a:buChar char="§"/>
            </a:pPr>
            <a:r>
              <a:rPr lang="en-US" dirty="0">
                <a:solidFill>
                  <a:schemeClr val="tx1"/>
                </a:solidFill>
              </a:rPr>
              <a:t>Magazine allocator</a:t>
            </a:r>
          </a:p>
          <a:p>
            <a:pPr>
              <a:buFont typeface="Wingdings" panose="05000000000000000000" pitchFamily="2" charset="2"/>
              <a:buChar char="§"/>
            </a:pPr>
            <a:r>
              <a:rPr lang="en-US" dirty="0">
                <a:solidFill>
                  <a:schemeClr val="tx1"/>
                </a:solidFill>
              </a:rPr>
              <a:t>Driver modification (AF_XDP)</a:t>
            </a:r>
          </a:p>
          <a:p>
            <a:pPr>
              <a:buFont typeface="Wingdings" panose="05000000000000000000" pitchFamily="2" charset="2"/>
              <a:buChar char="§"/>
            </a:pPr>
            <a:endParaRPr lang="en-US" dirty="0">
              <a:solidFill>
                <a:schemeClr val="tx1"/>
              </a:solidFill>
            </a:endParaRPr>
          </a:p>
        </p:txBody>
      </p:sp>
    </p:spTree>
    <p:extLst>
      <p:ext uri="{BB962C8B-B14F-4D97-AF65-F5344CB8AC3E}">
        <p14:creationId xmlns:p14="http://schemas.microsoft.com/office/powerpoint/2010/main" val="1460449040"/>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wipe(left)">
                                      <p:cBhvr>
                                        <p:cTn id="7" dur="500"/>
                                        <p:tgtEl>
                                          <p:spTgt spid="8">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xEl>
                                              <p:pRg st="1" end="1"/>
                                            </p:txEl>
                                          </p:spTgt>
                                        </p:tgtEl>
                                        <p:attrNameLst>
                                          <p:attrName>style.visibility</p:attrName>
                                        </p:attrNameLst>
                                      </p:cBhvr>
                                      <p:to>
                                        <p:strVal val="visible"/>
                                      </p:to>
                                    </p:set>
                                    <p:animEffect transition="in" filter="wipe(left)">
                                      <p:cBhvr>
                                        <p:cTn id="10" dur="500"/>
                                        <p:tgtEl>
                                          <p:spTgt spid="8">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8" fill="hold" grpId="0" nodeType="clickEffect">
                                  <p:stCondLst>
                                    <p:cond delay="0"/>
                                  </p:stCondLst>
                                  <p:childTnLst>
                                    <p:set>
                                      <p:cBhvr>
                                        <p:cTn id="14" dur="1" fill="hold">
                                          <p:stCondLst>
                                            <p:cond delay="0"/>
                                          </p:stCondLst>
                                        </p:cTn>
                                        <p:tgtEl>
                                          <p:spTgt spid="8">
                                            <p:txEl>
                                              <p:pRg st="2" end="2"/>
                                            </p:txEl>
                                          </p:spTgt>
                                        </p:tgtEl>
                                        <p:attrNameLst>
                                          <p:attrName>style.visibility</p:attrName>
                                        </p:attrNameLst>
                                      </p:cBhvr>
                                      <p:to>
                                        <p:strVal val="visible"/>
                                      </p:to>
                                    </p:set>
                                    <p:animEffect transition="in" filter="wipe(left)">
                                      <p:cBhvr>
                                        <p:cTn id="15" dur="500"/>
                                        <p:tgtEl>
                                          <p:spTgt spid="8">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8">
                                            <p:txEl>
                                              <p:pRg st="3" end="3"/>
                                            </p:txEl>
                                          </p:spTgt>
                                        </p:tgtEl>
                                        <p:attrNameLst>
                                          <p:attrName>style.visibility</p:attrName>
                                        </p:attrNameLst>
                                      </p:cBhvr>
                                      <p:to>
                                        <p:strVal val="visible"/>
                                      </p:to>
                                    </p:set>
                                    <p:animEffect transition="in" filter="wipe(left)">
                                      <p:cBhvr>
                                        <p:cTn id="20" dur="500"/>
                                        <p:tgtEl>
                                          <p:spTgt spid="8">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5">
                                            <p:txEl>
                                              <p:pRg st="0" end="0"/>
                                            </p:txEl>
                                          </p:spTgt>
                                        </p:tgtEl>
                                        <p:attrNameLst>
                                          <p:attrName>style.visibility</p:attrName>
                                        </p:attrNameLst>
                                      </p:cBhvr>
                                      <p:to>
                                        <p:strVal val="visible"/>
                                      </p:to>
                                    </p:set>
                                    <p:animEffect transition="in" filter="wipe(left)">
                                      <p:cBhvr>
                                        <p:cTn id="25" dur="500"/>
                                        <p:tgtEl>
                                          <p:spTgt spid="5">
                                            <p:txEl>
                                              <p:pRg st="0" end="0"/>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5">
                                            <p:txEl>
                                              <p:pRg st="1" end="1"/>
                                            </p:txEl>
                                          </p:spTgt>
                                        </p:tgtEl>
                                        <p:attrNameLst>
                                          <p:attrName>style.visibility</p:attrName>
                                        </p:attrNameLst>
                                      </p:cBhvr>
                                      <p:to>
                                        <p:strVal val="visible"/>
                                      </p:to>
                                    </p:set>
                                    <p:animEffect transition="in" filter="wipe(left)">
                                      <p:cBhvr>
                                        <p:cTn id="30" dur="500"/>
                                        <p:tgtEl>
                                          <p:spTgt spid="5">
                                            <p:txEl>
                                              <p:pRg st="1" end="1"/>
                                            </p:txEl>
                                          </p:spTgt>
                                        </p:tgtEl>
                                      </p:cBhvr>
                                    </p:animEffect>
                                  </p:childTnLst>
                                </p:cTn>
                              </p:par>
                            </p:childTnLst>
                          </p:cTn>
                        </p:par>
                        <p:par>
                          <p:cTn id="31" fill="hold">
                            <p:stCondLst>
                              <p:cond delay="500"/>
                            </p:stCondLst>
                            <p:childTnLst>
                              <p:par>
                                <p:cTn id="32" presetID="22" presetClass="entr" presetSubtype="8" fill="hold" grpId="0" nodeType="afterEffect">
                                  <p:stCondLst>
                                    <p:cond delay="0"/>
                                  </p:stCondLst>
                                  <p:childTnLst>
                                    <p:set>
                                      <p:cBhvr>
                                        <p:cTn id="33" dur="1" fill="hold">
                                          <p:stCondLst>
                                            <p:cond delay="0"/>
                                          </p:stCondLst>
                                        </p:cTn>
                                        <p:tgtEl>
                                          <p:spTgt spid="5">
                                            <p:txEl>
                                              <p:pRg st="2" end="2"/>
                                            </p:txEl>
                                          </p:spTgt>
                                        </p:tgtEl>
                                        <p:attrNameLst>
                                          <p:attrName>style.visibility</p:attrName>
                                        </p:attrNameLst>
                                      </p:cBhvr>
                                      <p:to>
                                        <p:strVal val="visible"/>
                                      </p:to>
                                    </p:set>
                                    <p:animEffect transition="in" filter="wipe(left)">
                                      <p:cBhvr>
                                        <p:cTn id="34" dur="500"/>
                                        <p:tgtEl>
                                          <p:spTgt spid="5">
                                            <p:txEl>
                                              <p:pRg st="2" end="2"/>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5">
                                            <p:txEl>
                                              <p:pRg st="3" end="3"/>
                                            </p:txEl>
                                          </p:spTgt>
                                        </p:tgtEl>
                                        <p:attrNameLst>
                                          <p:attrName>style.visibility</p:attrName>
                                        </p:attrNameLst>
                                      </p:cBhvr>
                                      <p:to>
                                        <p:strVal val="visible"/>
                                      </p:to>
                                    </p:set>
                                    <p:animEffect transition="in" filter="wipe(left)">
                                      <p:cBhvr>
                                        <p:cTn id="39" dur="500"/>
                                        <p:tgtEl>
                                          <p:spTgt spid="5">
                                            <p:txEl>
                                              <p:pRg st="3" end="3"/>
                                            </p:txEl>
                                          </p:spTgt>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5">
                                            <p:txEl>
                                              <p:pRg st="4" end="4"/>
                                            </p:txEl>
                                          </p:spTgt>
                                        </p:tgtEl>
                                        <p:attrNameLst>
                                          <p:attrName>style.visibility</p:attrName>
                                        </p:attrNameLst>
                                      </p:cBhvr>
                                      <p:to>
                                        <p:strVal val="visible"/>
                                      </p:to>
                                    </p:set>
                                    <p:animEffect transition="in" filter="wipe(left)">
                                      <p:cBhvr>
                                        <p:cTn id="44" dur="500"/>
                                        <p:tgtEl>
                                          <p:spTgt spid="5">
                                            <p:txEl>
                                              <p:pRg st="4" end="4"/>
                                            </p:txEl>
                                          </p:spTgt>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5">
                                            <p:txEl>
                                              <p:pRg st="5" end="5"/>
                                            </p:txEl>
                                          </p:spTgt>
                                        </p:tgtEl>
                                        <p:attrNameLst>
                                          <p:attrName>style.visibility</p:attrName>
                                        </p:attrNameLst>
                                      </p:cBhvr>
                                      <p:to>
                                        <p:strVal val="visible"/>
                                      </p:to>
                                    </p:set>
                                    <p:animEffect transition="in" filter="wipe(left)">
                                      <p:cBhvr>
                                        <p:cTn id="47" dur="500"/>
                                        <p:tgtEl>
                                          <p:spTgt spid="5">
                                            <p:txEl>
                                              <p:pRg st="5" end="5"/>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5">
                                            <p:txEl>
                                              <p:pRg st="6" end="6"/>
                                            </p:txEl>
                                          </p:spTgt>
                                        </p:tgtEl>
                                        <p:attrNameLst>
                                          <p:attrName>style.visibility</p:attrName>
                                        </p:attrNameLst>
                                      </p:cBhvr>
                                      <p:to>
                                        <p:strVal val="visible"/>
                                      </p:to>
                                    </p:set>
                                    <p:animEffect transition="in" filter="wipe(left)">
                                      <p:cBhvr>
                                        <p:cTn id="5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P spid="5" grpId="0" uiExpand="1"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dirty="0"/>
              <a:t>Page State </a:t>
            </a:r>
            <a:r>
              <a:rPr lang="en-US" sz="2800" b="1" dirty="0"/>
              <a:t>RX</a:t>
            </a:r>
            <a:endParaRPr sz="2800" b="1" dirty="0"/>
          </a:p>
        </p:txBody>
      </p:sp>
      <p:sp>
        <p:nvSpPr>
          <p:cNvPr id="3" name="Text Placeholder 2">
            <a:extLst>
              <a:ext uri="{FF2B5EF4-FFF2-40B4-BE49-F238E27FC236}">
                <a16:creationId xmlns:a16="http://schemas.microsoft.com/office/drawing/2014/main" id="{3A4AEFB1-42AB-4DB1-A7AE-2BB541F149F9}"/>
              </a:ext>
            </a:extLst>
          </p:cNvPr>
          <p:cNvSpPr>
            <a:spLocks noGrp="1"/>
          </p:cNvSpPr>
          <p:nvPr>
            <p:ph type="body" idx="1"/>
          </p:nvPr>
        </p:nvSpPr>
        <p:spPr/>
        <p:txBody>
          <a:bodyPr>
            <a:noAutofit/>
          </a:bodyPr>
          <a:lstStyle/>
          <a:p>
            <a:pPr marL="200967" lvl="1" indent="0">
              <a:buNone/>
            </a:pPr>
            <a:r>
              <a:rPr lang="en-US" sz="2400" dirty="0"/>
              <a:t>Who owns the received buffer?</a:t>
            </a:r>
          </a:p>
          <a:p>
            <a:pPr lvl="2"/>
            <a:r>
              <a:rPr lang="en-US" sz="2400" dirty="0"/>
              <a:t>RC handles correct state. </a:t>
            </a:r>
          </a:p>
          <a:p>
            <a:pPr lvl="1"/>
            <a:r>
              <a:rPr lang="en-US" sz="2400" dirty="0"/>
              <a:t>Options.</a:t>
            </a:r>
          </a:p>
          <a:p>
            <a:pPr lvl="2"/>
            <a:r>
              <a:rPr lang="en-US" sz="2400" dirty="0"/>
              <a:t>Opportunistic state management on Head Page </a:t>
            </a:r>
          </a:p>
          <a:p>
            <a:pPr lvl="2"/>
            <a:r>
              <a:rPr lang="en-US" sz="2400" dirty="0"/>
              <a:t>One RX  per page (XDP)</a:t>
            </a:r>
          </a:p>
          <a:p>
            <a:pPr lvl="4"/>
            <a:r>
              <a:rPr lang="en-US" sz="2400" dirty="0"/>
              <a:t>RX buffer ownership transferred on RX</a:t>
            </a:r>
          </a:p>
          <a:p>
            <a:pPr marL="383664" lvl="2" indent="0">
              <a:buNone/>
            </a:pPr>
            <a:endParaRPr lang="en-US" sz="2400" dirty="0"/>
          </a:p>
          <a:p>
            <a:pPr marL="200967" lvl="1" indent="0">
              <a:buNone/>
            </a:pPr>
            <a:r>
              <a:rPr lang="en-US" sz="2799" dirty="0"/>
              <a:t>Who owns the mixed-use page?</a:t>
            </a:r>
          </a:p>
        </p:txBody>
      </p:sp>
    </p:spTree>
    <p:extLst>
      <p:ext uri="{BB962C8B-B14F-4D97-AF65-F5344CB8AC3E}">
        <p14:creationId xmlns:p14="http://schemas.microsoft.com/office/powerpoint/2010/main" val="442684895"/>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25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25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25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25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250"/>
                                        <p:tgtEl>
                                          <p:spTgt spid="3">
                                            <p:txEl>
                                              <p:pRg st="4" end="4"/>
                                            </p:txEl>
                                          </p:spTgt>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fade">
                                      <p:cBhvr>
                                        <p:cTn id="30" dur="25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25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29</a:t>
            </a:fld>
            <a:endParaRPr/>
          </a:p>
        </p:txBody>
      </p:sp>
      <p:sp>
        <p:nvSpPr>
          <p:cNvPr id="1104" name="Development Status"/>
          <p:cNvSpPr txBox="1">
            <a:spLocks noGrp="1"/>
          </p:cNvSpPr>
          <p:nvPr>
            <p:ph type="title"/>
          </p:nvPr>
        </p:nvSpPr>
        <p:spPr>
          <a:prstGeom prst="rect">
            <a:avLst/>
          </a:prstGeom>
        </p:spPr>
        <p:txBody>
          <a:bodyPr>
            <a:noAutofit/>
          </a:bodyPr>
          <a:lstStyle>
            <a:lvl1pPr defTabSz="822959">
              <a:defRPr sz="2520"/>
            </a:lvl1pPr>
          </a:lstStyle>
          <a:p>
            <a:r>
              <a:rPr lang="en-US" sz="2800" b="1" dirty="0"/>
              <a:t>DPDK MAIO-PMD </a:t>
            </a:r>
            <a:endParaRPr sz="2800" b="1" dirty="0"/>
          </a:p>
        </p:txBody>
      </p:sp>
      <p:sp>
        <p:nvSpPr>
          <p:cNvPr id="3" name="Text Placeholder 2">
            <a:extLst>
              <a:ext uri="{FF2B5EF4-FFF2-40B4-BE49-F238E27FC236}">
                <a16:creationId xmlns:a16="http://schemas.microsoft.com/office/drawing/2014/main" id="{3A4AEFB1-42AB-4DB1-A7AE-2BB541F149F9}"/>
              </a:ext>
            </a:extLst>
          </p:cNvPr>
          <p:cNvSpPr>
            <a:spLocks noGrp="1"/>
          </p:cNvSpPr>
          <p:nvPr>
            <p:ph type="body" idx="1"/>
          </p:nvPr>
        </p:nvSpPr>
        <p:spPr/>
        <p:txBody>
          <a:bodyPr>
            <a:noAutofit/>
          </a:bodyPr>
          <a:lstStyle/>
          <a:p>
            <a:pPr marL="200967" lvl="1" indent="0">
              <a:buNone/>
            </a:pPr>
            <a:r>
              <a:rPr lang="en-US" sz="2400" dirty="0"/>
              <a:t>Why?</a:t>
            </a:r>
          </a:p>
          <a:p>
            <a:pPr lvl="1"/>
            <a:r>
              <a:rPr lang="en-US" sz="2400" dirty="0"/>
              <a:t>HW Agnostic</a:t>
            </a:r>
          </a:p>
          <a:p>
            <a:pPr lvl="1"/>
            <a:r>
              <a:rPr lang="en-US" sz="2400" dirty="0"/>
              <a:t>Standard Linux Tools</a:t>
            </a:r>
          </a:p>
          <a:p>
            <a:pPr lvl="1"/>
            <a:r>
              <a:rPr lang="en-US" sz="2400" dirty="0"/>
              <a:t>Hybrid use-case</a:t>
            </a:r>
          </a:p>
          <a:p>
            <a:pPr lvl="3"/>
            <a:r>
              <a:rPr lang="en-US" sz="2400" dirty="0"/>
              <a:t>Decrypt in user-space and plain text via network stack</a:t>
            </a:r>
          </a:p>
          <a:p>
            <a:pPr marL="200967" lvl="1" indent="0">
              <a:buNone/>
            </a:pPr>
            <a:r>
              <a:rPr lang="en-US" sz="2400" dirty="0"/>
              <a:t>How?</a:t>
            </a:r>
          </a:p>
          <a:p>
            <a:pPr lvl="1"/>
            <a:r>
              <a:rPr lang="en-US" sz="2400" dirty="0"/>
              <a:t>RX ring</a:t>
            </a:r>
          </a:p>
          <a:p>
            <a:pPr lvl="1"/>
            <a:r>
              <a:rPr lang="en-US" sz="2400" dirty="0"/>
              <a:t>Direct </a:t>
            </a:r>
            <a:r>
              <a:rPr lang="en-US" sz="2400" dirty="0" err="1"/>
              <a:t>xmit</a:t>
            </a:r>
            <a:r>
              <a:rPr lang="en-US" sz="2400" dirty="0"/>
              <a:t> (</a:t>
            </a:r>
            <a:r>
              <a:rPr lang="en-US" sz="2400" dirty="0" err="1">
                <a:solidFill>
                  <a:schemeClr val="bg2">
                    <a:lumMod val="50000"/>
                  </a:schemeClr>
                </a:solidFill>
              </a:rPr>
              <a:t>pktgen</a:t>
            </a:r>
            <a:r>
              <a:rPr lang="en-US" sz="2400" dirty="0"/>
              <a:t>)</a:t>
            </a:r>
          </a:p>
          <a:p>
            <a:pPr lvl="1"/>
            <a:r>
              <a:rPr lang="en-US" sz="2400" dirty="0"/>
              <a:t>Already HP and own memory </a:t>
            </a:r>
            <a:r>
              <a:rPr lang="en-US" sz="2400" dirty="0" err="1"/>
              <a:t>mangment</a:t>
            </a:r>
            <a:endParaRPr lang="en-US" sz="2400" dirty="0"/>
          </a:p>
        </p:txBody>
      </p:sp>
    </p:spTree>
    <p:extLst>
      <p:ext uri="{BB962C8B-B14F-4D97-AF65-F5344CB8AC3E}">
        <p14:creationId xmlns:p14="http://schemas.microsoft.com/office/powerpoint/2010/main" val="139092663"/>
      </p:ext>
    </p:extLst>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par>
                          <p:cTn id="23" fill="hold">
                            <p:stCondLst>
                              <p:cond delay="500"/>
                            </p:stCondLst>
                            <p:childTnLst>
                              <p:par>
                                <p:cTn id="24" presetID="10" presetClass="entr" presetSubtype="0" fill="hold" grpId="0" nodeType="after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fade">
                                      <p:cBhvr>
                                        <p:cTn id="26" dur="500"/>
                                        <p:tgtEl>
                                          <p:spTgt spid="3">
                                            <p:txEl>
                                              <p:pRg st="4" end="4"/>
                                            </p:txEl>
                                          </p:spTgt>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3">
                                            <p:txEl>
                                              <p:pRg st="5" end="5"/>
                                            </p:txEl>
                                          </p:spTgt>
                                        </p:tgtEl>
                                        <p:attrNameLst>
                                          <p:attrName>style.visibility</p:attrName>
                                        </p:attrNameLst>
                                      </p:cBhvr>
                                      <p:to>
                                        <p:strVal val="visible"/>
                                      </p:to>
                                    </p:set>
                                    <p:animEffect transition="in" filter="fade">
                                      <p:cBhvr>
                                        <p:cTn id="29" dur="500"/>
                                        <p:tgtEl>
                                          <p:spTgt spid="3">
                                            <p:txEl>
                                              <p:pRg st="5" end="5"/>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10" presetClass="entr" presetSubtype="0" fill="hold" grpId="0" nodeType="clickEffect">
                                  <p:stCondLst>
                                    <p:cond delay="0"/>
                                  </p:stCondLst>
                                  <p:childTnLst>
                                    <p:set>
                                      <p:cBhvr>
                                        <p:cTn id="33" dur="1" fill="hold">
                                          <p:stCondLst>
                                            <p:cond delay="0"/>
                                          </p:stCondLst>
                                        </p:cTn>
                                        <p:tgtEl>
                                          <p:spTgt spid="3">
                                            <p:txEl>
                                              <p:pRg st="6" end="6"/>
                                            </p:txEl>
                                          </p:spTgt>
                                        </p:tgtEl>
                                        <p:attrNameLst>
                                          <p:attrName>style.visibility</p:attrName>
                                        </p:attrNameLst>
                                      </p:cBhvr>
                                      <p:to>
                                        <p:strVal val="visible"/>
                                      </p:to>
                                    </p:set>
                                    <p:animEffect transition="in" filter="fade">
                                      <p:cBhvr>
                                        <p:cTn id="34" dur="500"/>
                                        <p:tgtEl>
                                          <p:spTgt spid="3">
                                            <p:txEl>
                                              <p:pRg st="6" end="6"/>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3">
                                            <p:txEl>
                                              <p:pRg st="7" end="7"/>
                                            </p:txEl>
                                          </p:spTgt>
                                        </p:tgtEl>
                                        <p:attrNameLst>
                                          <p:attrName>style.visibility</p:attrName>
                                        </p:attrNameLst>
                                      </p:cBhvr>
                                      <p:to>
                                        <p:strVal val="visible"/>
                                      </p:to>
                                    </p:set>
                                    <p:animEffect transition="in" filter="fade">
                                      <p:cBhvr>
                                        <p:cTn id="39" dur="500"/>
                                        <p:tgtEl>
                                          <p:spTgt spid="3">
                                            <p:txEl>
                                              <p:pRg st="7" end="7"/>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6" name="Upstreaming…"/>
          <p:cNvSpPr txBox="1">
            <a:spLocks noGrp="1"/>
          </p:cNvSpPr>
          <p:nvPr>
            <p:ph type="body" idx="1"/>
          </p:nvPr>
        </p:nvSpPr>
        <p:spPr>
          <a:prstGeom prst="rect">
            <a:avLst/>
          </a:prstGeom>
        </p:spPr>
        <p:txBody>
          <a:bodyPr>
            <a:normAutofit lnSpcReduction="10000"/>
          </a:bodyPr>
          <a:lstStyle/>
          <a:p>
            <a:pPr marL="457200" indent="-457200">
              <a:buClrTx/>
              <a:buFont typeface="+mj-lt"/>
              <a:buAutoNum type="arabicPeriod"/>
            </a:pPr>
            <a:r>
              <a:rPr dirty="0"/>
              <a:t>Upstreaming </a:t>
            </a:r>
          </a:p>
          <a:p>
            <a:pPr marL="969210" lvl="1" indent="-334210">
              <a:buClrTx/>
              <a:buSzPct val="100000"/>
              <a:buFontTx/>
              <a:buAutoNum type="alphaLcPeriod"/>
            </a:pPr>
            <a:r>
              <a:rPr dirty="0"/>
              <a:t>Linux Kernel</a:t>
            </a:r>
          </a:p>
          <a:p>
            <a:pPr marL="969210" lvl="1" indent="-334210">
              <a:buClrTx/>
              <a:buSzPct val="100000"/>
              <a:buFontTx/>
              <a:buAutoNum type="alphaLcPeriod"/>
            </a:pPr>
            <a:r>
              <a:rPr dirty="0"/>
              <a:t>DPDK</a:t>
            </a:r>
          </a:p>
          <a:p>
            <a:pPr marL="969210" lvl="1" indent="-334210">
              <a:buClrTx/>
              <a:buSzPct val="100000"/>
              <a:buFontTx/>
              <a:buAutoNum type="alphaLcPeriod"/>
              <a:defRPr i="1"/>
            </a:pPr>
            <a:r>
              <a:rPr dirty="0"/>
              <a:t>User Library</a:t>
            </a:r>
          </a:p>
          <a:p>
            <a:pPr marL="267368" indent="-267368">
              <a:buClrTx/>
              <a:buFontTx/>
              <a:buAutoNum type="arabicPeriod"/>
            </a:pPr>
            <a:r>
              <a:rPr dirty="0"/>
              <a:t>Dethrone SRIOV</a:t>
            </a:r>
            <a:endParaRPr lang="en-US" dirty="0"/>
          </a:p>
          <a:p>
            <a:pPr marL="775368" lvl="1" indent="-267368">
              <a:buClrTx/>
              <a:buSzPct val="100000"/>
              <a:buFontTx/>
              <a:buAutoNum type="alphaLcPeriod"/>
            </a:pPr>
            <a:r>
              <a:rPr lang="en-US" dirty="0"/>
              <a:t>QEMU is just another process</a:t>
            </a:r>
          </a:p>
          <a:p>
            <a:pPr marL="775368" lvl="1" indent="-267368">
              <a:buClrTx/>
              <a:buSzPct val="100000"/>
              <a:buFontTx/>
              <a:buAutoNum type="alphaLcPeriod"/>
            </a:pPr>
            <a:r>
              <a:rPr lang="en-US" dirty="0"/>
              <a:t>Nested MAIO support</a:t>
            </a:r>
          </a:p>
          <a:p>
            <a:pPr marL="267368" indent="-267368">
              <a:buClrTx/>
              <a:buFontTx/>
              <a:buAutoNum type="arabicPeriod"/>
            </a:pPr>
            <a:r>
              <a:rPr lang="en-US" dirty="0"/>
              <a:t>Efficient Copy Semantics with Intel SIMD - SSE (?)</a:t>
            </a:r>
          </a:p>
          <a:p>
            <a:pPr marL="635215" lvl="1" indent="-342900">
              <a:buClrTx/>
              <a:buFont typeface="+mj-lt"/>
              <a:buAutoNum type="alphaLcPeriod"/>
            </a:pPr>
            <a:r>
              <a:rPr lang="en-US" dirty="0"/>
              <a:t>Vector operations are fast</a:t>
            </a:r>
          </a:p>
          <a:p>
            <a:pPr marL="635215" lvl="1" indent="-342900">
              <a:buClrTx/>
              <a:buFont typeface="+mj-lt"/>
              <a:buAutoNum type="alphaLcPeriod"/>
            </a:pPr>
            <a:r>
              <a:rPr lang="en-US" dirty="0"/>
              <a:t>6 memory channels</a:t>
            </a:r>
          </a:p>
          <a:p>
            <a:pPr marL="267368" indent="-267368">
              <a:buClrTx/>
              <a:buFontTx/>
              <a:buAutoNum type="arabicPeriod"/>
            </a:pPr>
            <a:endParaRPr lang="en-US" dirty="0"/>
          </a:p>
          <a:p>
            <a:pPr marL="267368" indent="-267368">
              <a:buClrTx/>
              <a:buFontTx/>
              <a:buAutoNum type="arabicPeriod"/>
            </a:pPr>
            <a:endParaRPr dirty="0"/>
          </a:p>
        </p:txBody>
      </p:sp>
      <p:sp>
        <p:nvSpPr>
          <p:cNvPr id="1107"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30</a:t>
            </a:fld>
            <a:endParaRPr/>
          </a:p>
        </p:txBody>
      </p:sp>
      <p:sp>
        <p:nvSpPr>
          <p:cNvPr id="1108" name="Next Steps"/>
          <p:cNvSpPr txBox="1">
            <a:spLocks noGrp="1"/>
          </p:cNvSpPr>
          <p:nvPr>
            <p:ph type="title"/>
          </p:nvPr>
        </p:nvSpPr>
        <p:spPr>
          <a:prstGeom prst="rect">
            <a:avLst/>
          </a:prstGeom>
        </p:spPr>
        <p:txBody>
          <a:bodyPr>
            <a:normAutofit fontScale="90000"/>
          </a:bodyPr>
          <a:lstStyle>
            <a:lvl1pPr defTabSz="822959">
              <a:defRPr sz="2520"/>
            </a:lvl1pPr>
          </a:lstStyle>
          <a:p>
            <a:r>
              <a:rPr lang="en-US" dirty="0"/>
              <a:t>Next Steps</a:t>
            </a:r>
            <a:endParaRPr dirty="0"/>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timing>
    <p:tnLst>
      <p:par>
        <p:cTn id="1" dur="indefinite" restart="never" fill="hold" nodeType="tmRoot">
          <p:childTnLst>
            <p:seq concurrent="1" prevAc="none" nextAc="seek">
              <p:cTn id="2" dur="indefinite" fill="hold"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1" nodeType="withEffect">
                                  <p:stCondLst>
                                    <p:cond delay="0"/>
                                  </p:stCondLst>
                                  <p:iterate>
                                    <p:tmAbs val="0"/>
                                  </p:iterate>
                                  <p:childTnLst>
                                    <p:set>
                                      <p:cBhvr>
                                        <p:cTn id="6" fill="hold"/>
                                        <p:tgtEl>
                                          <p:spTgt spid="1106">
                                            <p:bg/>
                                          </p:spTgt>
                                        </p:tgtEl>
                                        <p:attrNameLst>
                                          <p:attrName>style.visibility</p:attrName>
                                        </p:attrNameLst>
                                      </p:cBhvr>
                                      <p:to>
                                        <p:strVal val="visible"/>
                                      </p:to>
                                    </p:set>
                                    <p:animEffect transition="in" filter="wipe(left)">
                                      <p:cBhvr>
                                        <p:cTn id="7" dur="400"/>
                                        <p:tgtEl>
                                          <p:spTgt spid="1106">
                                            <p:bg/>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1" nodeType="clickEffect">
                                  <p:stCondLst>
                                    <p:cond delay="0"/>
                                  </p:stCondLst>
                                  <p:iterate>
                                    <p:tmAbs val="0"/>
                                  </p:iterate>
                                  <p:childTnLst>
                                    <p:set>
                                      <p:cBhvr>
                                        <p:cTn id="11" fill="hold"/>
                                        <p:tgtEl>
                                          <p:spTgt spid="1106">
                                            <p:txEl>
                                              <p:pRg st="0" end="0"/>
                                            </p:txEl>
                                          </p:spTgt>
                                        </p:tgtEl>
                                        <p:attrNameLst>
                                          <p:attrName>style.visibility</p:attrName>
                                        </p:attrNameLst>
                                      </p:cBhvr>
                                      <p:to>
                                        <p:strVal val="visible"/>
                                      </p:to>
                                    </p:set>
                                    <p:animEffect transition="in" filter="wipe(left)">
                                      <p:cBhvr>
                                        <p:cTn id="12" dur="400"/>
                                        <p:tgtEl>
                                          <p:spTgt spid="1106">
                                            <p:txEl>
                                              <p:pRg st="0" end="0"/>
                                            </p:txEl>
                                          </p:spTgt>
                                        </p:tgtEl>
                                      </p:cBhvr>
                                    </p:animEffect>
                                  </p:childTnLst>
                                </p:cTn>
                              </p:par>
                            </p:childTnLst>
                          </p:cTn>
                        </p:par>
                        <p:par>
                          <p:cTn id="13" fill="hold">
                            <p:stCondLst>
                              <p:cond delay="400"/>
                            </p:stCondLst>
                            <p:childTnLst>
                              <p:par>
                                <p:cTn id="14" presetID="22" presetClass="entr" presetSubtype="8" fill="hold" grpId="1" nodeType="afterEffect">
                                  <p:stCondLst>
                                    <p:cond delay="0"/>
                                  </p:stCondLst>
                                  <p:iterate>
                                    <p:tmAbs val="0"/>
                                  </p:iterate>
                                  <p:childTnLst>
                                    <p:set>
                                      <p:cBhvr>
                                        <p:cTn id="15" fill="hold"/>
                                        <p:tgtEl>
                                          <p:spTgt spid="1106">
                                            <p:txEl>
                                              <p:pRg st="1" end="1"/>
                                            </p:txEl>
                                          </p:spTgt>
                                        </p:tgtEl>
                                        <p:attrNameLst>
                                          <p:attrName>style.visibility</p:attrName>
                                        </p:attrNameLst>
                                      </p:cBhvr>
                                      <p:to>
                                        <p:strVal val="visible"/>
                                      </p:to>
                                    </p:set>
                                    <p:animEffect transition="in" filter="wipe(left)">
                                      <p:cBhvr>
                                        <p:cTn id="16" dur="400"/>
                                        <p:tgtEl>
                                          <p:spTgt spid="1106">
                                            <p:txEl>
                                              <p:pRg st="1" end="1"/>
                                            </p:txEl>
                                          </p:spTgt>
                                        </p:tgtEl>
                                      </p:cBhvr>
                                    </p:animEffect>
                                  </p:childTnLst>
                                </p:cTn>
                              </p:par>
                            </p:childTnLst>
                          </p:cTn>
                        </p:par>
                        <p:par>
                          <p:cTn id="17" fill="hold">
                            <p:stCondLst>
                              <p:cond delay="800"/>
                            </p:stCondLst>
                            <p:childTnLst>
                              <p:par>
                                <p:cTn id="18" presetID="22" presetClass="entr" presetSubtype="8" fill="hold" grpId="1" nodeType="afterEffect">
                                  <p:stCondLst>
                                    <p:cond delay="0"/>
                                  </p:stCondLst>
                                  <p:iterate>
                                    <p:tmAbs val="0"/>
                                  </p:iterate>
                                  <p:childTnLst>
                                    <p:set>
                                      <p:cBhvr>
                                        <p:cTn id="19" fill="hold"/>
                                        <p:tgtEl>
                                          <p:spTgt spid="1106">
                                            <p:txEl>
                                              <p:pRg st="2" end="2"/>
                                            </p:txEl>
                                          </p:spTgt>
                                        </p:tgtEl>
                                        <p:attrNameLst>
                                          <p:attrName>style.visibility</p:attrName>
                                        </p:attrNameLst>
                                      </p:cBhvr>
                                      <p:to>
                                        <p:strVal val="visible"/>
                                      </p:to>
                                    </p:set>
                                    <p:animEffect transition="in" filter="wipe(left)">
                                      <p:cBhvr>
                                        <p:cTn id="20" dur="400"/>
                                        <p:tgtEl>
                                          <p:spTgt spid="1106">
                                            <p:txEl>
                                              <p:pRg st="2" end="2"/>
                                            </p:txEl>
                                          </p:spTgt>
                                        </p:tgtEl>
                                      </p:cBhvr>
                                    </p:animEffect>
                                  </p:childTnLst>
                                </p:cTn>
                              </p:par>
                            </p:childTnLst>
                          </p:cTn>
                        </p:par>
                        <p:par>
                          <p:cTn id="21" fill="hold">
                            <p:stCondLst>
                              <p:cond delay="1200"/>
                            </p:stCondLst>
                            <p:childTnLst>
                              <p:par>
                                <p:cTn id="22" presetID="22" presetClass="entr" presetSubtype="8" fill="hold" grpId="1" nodeType="afterEffect">
                                  <p:stCondLst>
                                    <p:cond delay="0"/>
                                  </p:stCondLst>
                                  <p:iterate>
                                    <p:tmAbs val="0"/>
                                  </p:iterate>
                                  <p:childTnLst>
                                    <p:set>
                                      <p:cBhvr>
                                        <p:cTn id="23" fill="hold"/>
                                        <p:tgtEl>
                                          <p:spTgt spid="1106">
                                            <p:txEl>
                                              <p:pRg st="3" end="3"/>
                                            </p:txEl>
                                          </p:spTgt>
                                        </p:tgtEl>
                                        <p:attrNameLst>
                                          <p:attrName>style.visibility</p:attrName>
                                        </p:attrNameLst>
                                      </p:cBhvr>
                                      <p:to>
                                        <p:strVal val="visible"/>
                                      </p:to>
                                    </p:set>
                                    <p:animEffect transition="in" filter="wipe(left)">
                                      <p:cBhvr>
                                        <p:cTn id="24" dur="400"/>
                                        <p:tgtEl>
                                          <p:spTgt spid="1106">
                                            <p:txEl>
                                              <p:pRg st="3" end="3"/>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1" nodeType="clickEffect">
                                  <p:stCondLst>
                                    <p:cond delay="0"/>
                                  </p:stCondLst>
                                  <p:iterate>
                                    <p:tmAbs val="0"/>
                                  </p:iterate>
                                  <p:childTnLst>
                                    <p:set>
                                      <p:cBhvr>
                                        <p:cTn id="28" fill="hold"/>
                                        <p:tgtEl>
                                          <p:spTgt spid="1106">
                                            <p:txEl>
                                              <p:pRg st="4" end="4"/>
                                            </p:txEl>
                                          </p:spTgt>
                                        </p:tgtEl>
                                        <p:attrNameLst>
                                          <p:attrName>style.visibility</p:attrName>
                                        </p:attrNameLst>
                                      </p:cBhvr>
                                      <p:to>
                                        <p:strVal val="visible"/>
                                      </p:to>
                                    </p:set>
                                    <p:animEffect transition="in" filter="wipe(left)">
                                      <p:cBhvr>
                                        <p:cTn id="29" dur="400"/>
                                        <p:tgtEl>
                                          <p:spTgt spid="1106">
                                            <p:txEl>
                                              <p:pRg st="4" end="4"/>
                                            </p:txEl>
                                          </p:spTgt>
                                        </p:tgtEl>
                                      </p:cBhvr>
                                    </p:animEffect>
                                  </p:childTnLst>
                                </p:cTn>
                              </p:par>
                            </p:childTnLst>
                          </p:cTn>
                        </p:par>
                        <p:par>
                          <p:cTn id="30" fill="hold">
                            <p:stCondLst>
                              <p:cond delay="400"/>
                            </p:stCondLst>
                            <p:childTnLst>
                              <p:par>
                                <p:cTn id="31" presetID="22" presetClass="entr" presetSubtype="8" fill="hold" grpId="1" nodeType="afterEffect">
                                  <p:stCondLst>
                                    <p:cond delay="0"/>
                                  </p:stCondLst>
                                  <p:iterate>
                                    <p:tmAbs val="0"/>
                                  </p:iterate>
                                  <p:childTnLst>
                                    <p:set>
                                      <p:cBhvr>
                                        <p:cTn id="32" fill="hold"/>
                                        <p:tgtEl>
                                          <p:spTgt spid="1106">
                                            <p:txEl>
                                              <p:pRg st="5" end="5"/>
                                            </p:txEl>
                                          </p:spTgt>
                                        </p:tgtEl>
                                        <p:attrNameLst>
                                          <p:attrName>style.visibility</p:attrName>
                                        </p:attrNameLst>
                                      </p:cBhvr>
                                      <p:to>
                                        <p:strVal val="visible"/>
                                      </p:to>
                                    </p:set>
                                    <p:animEffect transition="in" filter="wipe(left)">
                                      <p:cBhvr>
                                        <p:cTn id="33" dur="400"/>
                                        <p:tgtEl>
                                          <p:spTgt spid="1106">
                                            <p:txEl>
                                              <p:pRg st="5" end="5"/>
                                            </p:txEl>
                                          </p:spTgt>
                                        </p:tgtEl>
                                      </p:cBhvr>
                                    </p:animEffect>
                                  </p:childTnLst>
                                </p:cTn>
                              </p:par>
                            </p:childTnLst>
                          </p:cTn>
                        </p:par>
                        <p:par>
                          <p:cTn id="34" fill="hold">
                            <p:stCondLst>
                              <p:cond delay="800"/>
                            </p:stCondLst>
                            <p:childTnLst>
                              <p:par>
                                <p:cTn id="35" presetID="22" presetClass="entr" presetSubtype="8" fill="hold" grpId="1" nodeType="afterEffect">
                                  <p:stCondLst>
                                    <p:cond delay="0"/>
                                  </p:stCondLst>
                                  <p:iterate>
                                    <p:tmAbs val="0"/>
                                  </p:iterate>
                                  <p:childTnLst>
                                    <p:set>
                                      <p:cBhvr>
                                        <p:cTn id="36" fill="hold"/>
                                        <p:tgtEl>
                                          <p:spTgt spid="1106">
                                            <p:txEl>
                                              <p:pRg st="6" end="6"/>
                                            </p:txEl>
                                          </p:spTgt>
                                        </p:tgtEl>
                                        <p:attrNameLst>
                                          <p:attrName>style.visibility</p:attrName>
                                        </p:attrNameLst>
                                      </p:cBhvr>
                                      <p:to>
                                        <p:strVal val="visible"/>
                                      </p:to>
                                    </p:set>
                                    <p:animEffect transition="in" filter="wipe(left)">
                                      <p:cBhvr>
                                        <p:cTn id="37" dur="400"/>
                                        <p:tgtEl>
                                          <p:spTgt spid="1106">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1" nodeType="clickEffect">
                                  <p:stCondLst>
                                    <p:cond delay="0"/>
                                  </p:stCondLst>
                                  <p:iterate>
                                    <p:tmAbs val="0"/>
                                  </p:iterate>
                                  <p:childTnLst>
                                    <p:set>
                                      <p:cBhvr>
                                        <p:cTn id="41" fill="hold"/>
                                        <p:tgtEl>
                                          <p:spTgt spid="1106">
                                            <p:txEl>
                                              <p:pRg st="7" end="7"/>
                                            </p:txEl>
                                          </p:spTgt>
                                        </p:tgtEl>
                                        <p:attrNameLst>
                                          <p:attrName>style.visibility</p:attrName>
                                        </p:attrNameLst>
                                      </p:cBhvr>
                                      <p:to>
                                        <p:strVal val="visible"/>
                                      </p:to>
                                    </p:set>
                                    <p:animEffect transition="in" filter="wipe(left)">
                                      <p:cBhvr>
                                        <p:cTn id="42" dur="400"/>
                                        <p:tgtEl>
                                          <p:spTgt spid="1106">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grpId="1" nodeType="clickEffect">
                                  <p:stCondLst>
                                    <p:cond delay="0"/>
                                  </p:stCondLst>
                                  <p:iterate>
                                    <p:tmAbs val="0"/>
                                  </p:iterate>
                                  <p:childTnLst>
                                    <p:set>
                                      <p:cBhvr>
                                        <p:cTn id="46" fill="hold"/>
                                        <p:tgtEl>
                                          <p:spTgt spid="1106">
                                            <p:txEl>
                                              <p:pRg st="8" end="8"/>
                                            </p:txEl>
                                          </p:spTgt>
                                        </p:tgtEl>
                                        <p:attrNameLst>
                                          <p:attrName>style.visibility</p:attrName>
                                        </p:attrNameLst>
                                      </p:cBhvr>
                                      <p:to>
                                        <p:strVal val="visible"/>
                                      </p:to>
                                    </p:set>
                                    <p:animEffect transition="in" filter="wipe(left)">
                                      <p:cBhvr>
                                        <p:cTn id="47" dur="400"/>
                                        <p:tgtEl>
                                          <p:spTgt spid="1106">
                                            <p:txEl>
                                              <p:pRg st="8" end="8"/>
                                            </p:tx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8" fill="hold" grpId="1" nodeType="clickEffect">
                                  <p:stCondLst>
                                    <p:cond delay="0"/>
                                  </p:stCondLst>
                                  <p:iterate>
                                    <p:tmAbs val="0"/>
                                  </p:iterate>
                                  <p:childTnLst>
                                    <p:set>
                                      <p:cBhvr>
                                        <p:cTn id="51" fill="hold"/>
                                        <p:tgtEl>
                                          <p:spTgt spid="1106">
                                            <p:txEl>
                                              <p:pRg st="9" end="9"/>
                                            </p:txEl>
                                          </p:spTgt>
                                        </p:tgtEl>
                                        <p:attrNameLst>
                                          <p:attrName>style.visibility</p:attrName>
                                        </p:attrNameLst>
                                      </p:cBhvr>
                                      <p:to>
                                        <p:strVal val="visible"/>
                                      </p:to>
                                    </p:set>
                                    <p:animEffect transition="in" filter="wipe(left)">
                                      <p:cBhvr>
                                        <p:cTn id="52" dur="400"/>
                                        <p:tgtEl>
                                          <p:spTgt spid="1106">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6" grpId="1" uiExpand="1" build="p" bldLvl="5" animBg="1" advAuto="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2E6CE78-F6EE-4B16-8A69-EF0F67EE4FB4}"/>
              </a:ext>
            </a:extLst>
          </p:cNvPr>
          <p:cNvSpPr txBox="1"/>
          <p:nvPr/>
        </p:nvSpPr>
        <p:spPr>
          <a:xfrm>
            <a:off x="3347185" y="2298032"/>
            <a:ext cx="6632084" cy="1477328"/>
          </a:xfrm>
          <a:prstGeom prst="rect">
            <a:avLst/>
          </a:prstGeom>
          <a:noFill/>
        </p:spPr>
        <p:txBody>
          <a:bodyPr wrap="square" rtlCol="0">
            <a:spAutoFit/>
          </a:bodyPr>
          <a:lstStyle/>
          <a:p>
            <a:r>
              <a:rPr lang="en-US" dirty="0" err="1"/>
              <a:t>Github</a:t>
            </a:r>
            <a:endParaRPr lang="en-US" dirty="0"/>
          </a:p>
          <a:p>
            <a:r>
              <a:rPr lang="en-US" dirty="0"/>
              <a:t>Kernel &amp; User Lib:   </a:t>
            </a:r>
            <a:r>
              <a:rPr lang="en-US" dirty="0" err="1">
                <a:hlinkClick r:id="rId2"/>
              </a:rPr>
              <a:t>git@github.com:Markuze</a:t>
            </a:r>
            <a:r>
              <a:rPr lang="en-US" dirty="0">
                <a:hlinkClick r:id="rId2"/>
              </a:rPr>
              <a:t>/</a:t>
            </a:r>
            <a:r>
              <a:rPr lang="en-US" dirty="0" err="1">
                <a:hlinkClick r:id="rId2"/>
              </a:rPr>
              <a:t>maio_rfc.git</a:t>
            </a:r>
            <a:endParaRPr lang="en-US" dirty="0"/>
          </a:p>
          <a:p>
            <a:r>
              <a:rPr lang="en-US" dirty="0"/>
              <a:t>DPDK: 			</a:t>
            </a:r>
            <a:r>
              <a:rPr lang="en-US" dirty="0" err="1"/>
              <a:t>git@github.com:Markuze</a:t>
            </a:r>
            <a:r>
              <a:rPr lang="en-US" dirty="0"/>
              <a:t>/</a:t>
            </a:r>
            <a:r>
              <a:rPr lang="en-US" dirty="0" err="1"/>
              <a:t>maio_dpdk_rfc.git</a:t>
            </a:r>
            <a:endParaRPr lang="en-US" dirty="0"/>
          </a:p>
          <a:p>
            <a:endParaRPr lang="en-US" dirty="0"/>
          </a:p>
          <a:p>
            <a:r>
              <a:rPr lang="en-US" dirty="0"/>
              <a:t>Email : amarkuze@vmware.com</a:t>
            </a: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10" name="TextBox 5"/>
          <p:cNvSpPr txBox="1">
            <a:spLocks noGrp="1"/>
          </p:cNvSpPr>
          <p:nvPr>
            <p:ph type="sldNum" sz="quarter" idx="1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32</a:t>
            </a:fld>
            <a:endParaRPr/>
          </a:p>
        </p:txBody>
      </p:sp>
      <p:sp>
        <p:nvSpPr>
          <p:cNvPr id="1111" name="Title 4"/>
          <p:cNvSpPr txBox="1"/>
          <p:nvPr/>
        </p:nvSpPr>
        <p:spPr>
          <a:xfrm>
            <a:off x="625528" y="412751"/>
            <a:ext cx="10909566" cy="523241"/>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lvl1pPr>
              <a:lnSpc>
                <a:spcPct val="90000"/>
              </a:lnSpc>
              <a:defRPr sz="2800">
                <a:solidFill>
                  <a:schemeClr val="accent2"/>
                </a:solidFill>
                <a:latin typeface="Metropolis Light"/>
                <a:ea typeface="Metropolis Light"/>
                <a:cs typeface="Metropolis Light"/>
                <a:sym typeface="Metropolis Light"/>
              </a:defRPr>
            </a:lvl1pPr>
          </a:lstStyle>
          <a:p>
            <a:r>
              <a:t>Authors</a:t>
            </a:r>
          </a:p>
        </p:txBody>
      </p:sp>
      <p:grpSp>
        <p:nvGrpSpPr>
          <p:cNvPr id="1116" name="Group 3"/>
          <p:cNvGrpSpPr/>
          <p:nvPr/>
        </p:nvGrpSpPr>
        <p:grpSpPr>
          <a:xfrm>
            <a:off x="579808" y="1313355"/>
            <a:ext cx="1852260" cy="2267032"/>
            <a:chOff x="0" y="0"/>
            <a:chExt cx="1852259" cy="2267030"/>
          </a:xfrm>
        </p:grpSpPr>
        <p:grpSp>
          <p:nvGrpSpPr>
            <p:cNvPr id="1114" name="Rectangle 4"/>
            <p:cNvGrpSpPr/>
            <p:nvPr/>
          </p:nvGrpSpPr>
          <p:grpSpPr>
            <a:xfrm>
              <a:off x="0" y="0"/>
              <a:ext cx="1812586" cy="1833220"/>
              <a:chOff x="0" y="0"/>
              <a:chExt cx="1812585" cy="1833219"/>
            </a:xfrm>
          </p:grpSpPr>
          <p:sp>
            <p:nvSpPr>
              <p:cNvPr id="1112" name="Rectangle"/>
              <p:cNvSpPr/>
              <p:nvPr/>
            </p:nvSpPr>
            <p:spPr>
              <a:xfrm>
                <a:off x="-1" y="-1"/>
                <a:ext cx="1812587" cy="1833221"/>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spcBef>
                    <a:spcPts val="600"/>
                  </a:spcBef>
                  <a:defRPr>
                    <a:solidFill>
                      <a:srgbClr val="FFFFFF"/>
                    </a:solidFill>
                  </a:defRPr>
                </a:pPr>
                <a:endParaRPr/>
              </a:p>
            </p:txBody>
          </p:sp>
          <p:sp>
            <p:nvSpPr>
              <p:cNvPr id="1113" name="Place Photo…"/>
              <p:cNvSpPr txBox="1"/>
              <p:nvPr/>
            </p:nvSpPr>
            <p:spPr>
              <a:xfrm>
                <a:off x="45719" y="553389"/>
                <a:ext cx="1721147" cy="726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spcBef>
                    <a:spcPts val="600"/>
                  </a:spcBef>
                  <a:defRPr b="1">
                    <a:solidFill>
                      <a:srgbClr val="FFFFFF"/>
                    </a:solidFill>
                  </a:defRPr>
                </a:pPr>
                <a:r>
                  <a:t>Place Photo</a:t>
                </a:r>
              </a:p>
              <a:p>
                <a:pPr algn="ctr">
                  <a:spcBef>
                    <a:spcPts val="600"/>
                  </a:spcBef>
                  <a:defRPr b="1">
                    <a:solidFill>
                      <a:srgbClr val="FFFFFF"/>
                    </a:solidFill>
                  </a:defRPr>
                </a:pPr>
                <a:r>
                  <a:t>Here</a:t>
                </a:r>
              </a:p>
            </p:txBody>
          </p:sp>
        </p:grpSp>
        <p:sp>
          <p:nvSpPr>
            <p:cNvPr id="1115" name="TextBox 5"/>
            <p:cNvSpPr txBox="1"/>
            <p:nvPr/>
          </p:nvSpPr>
          <p:spPr>
            <a:xfrm>
              <a:off x="39674" y="2025730"/>
              <a:ext cx="1812586"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600"/>
                </a:spcBef>
                <a:defRPr sz="1600" b="1">
                  <a:solidFill>
                    <a:schemeClr val="accent2"/>
                  </a:solidFill>
                </a:defRPr>
              </a:lvl1pPr>
            </a:lstStyle>
            <a:p>
              <a:r>
                <a:t>Type Name Here</a:t>
              </a:r>
            </a:p>
          </p:txBody>
        </p:sp>
      </p:grpSp>
      <p:grpSp>
        <p:nvGrpSpPr>
          <p:cNvPr id="1121" name="Group 6"/>
          <p:cNvGrpSpPr/>
          <p:nvPr/>
        </p:nvGrpSpPr>
        <p:grpSpPr>
          <a:xfrm>
            <a:off x="579808" y="3777817"/>
            <a:ext cx="1852260" cy="2267032"/>
            <a:chOff x="0" y="0"/>
            <a:chExt cx="1852259" cy="2267030"/>
          </a:xfrm>
        </p:grpSpPr>
        <p:grpSp>
          <p:nvGrpSpPr>
            <p:cNvPr id="1119" name="Rectangle 7"/>
            <p:cNvGrpSpPr/>
            <p:nvPr/>
          </p:nvGrpSpPr>
          <p:grpSpPr>
            <a:xfrm>
              <a:off x="0" y="0"/>
              <a:ext cx="1812586" cy="1833220"/>
              <a:chOff x="0" y="0"/>
              <a:chExt cx="1812585" cy="1833219"/>
            </a:xfrm>
          </p:grpSpPr>
          <p:sp>
            <p:nvSpPr>
              <p:cNvPr id="1117" name="Rectangle"/>
              <p:cNvSpPr/>
              <p:nvPr/>
            </p:nvSpPr>
            <p:spPr>
              <a:xfrm>
                <a:off x="-1" y="-1"/>
                <a:ext cx="1812587" cy="1833221"/>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spcBef>
                    <a:spcPts val="600"/>
                  </a:spcBef>
                  <a:defRPr>
                    <a:solidFill>
                      <a:srgbClr val="FFFFFF"/>
                    </a:solidFill>
                  </a:defRPr>
                </a:pPr>
                <a:endParaRPr/>
              </a:p>
            </p:txBody>
          </p:sp>
          <p:sp>
            <p:nvSpPr>
              <p:cNvPr id="1118" name="Place Photo…"/>
              <p:cNvSpPr txBox="1"/>
              <p:nvPr/>
            </p:nvSpPr>
            <p:spPr>
              <a:xfrm>
                <a:off x="45719" y="553389"/>
                <a:ext cx="1721147" cy="726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spcBef>
                    <a:spcPts val="600"/>
                  </a:spcBef>
                  <a:defRPr b="1">
                    <a:solidFill>
                      <a:srgbClr val="FFFFFF"/>
                    </a:solidFill>
                  </a:defRPr>
                </a:pPr>
                <a:r>
                  <a:t>Place Photo</a:t>
                </a:r>
              </a:p>
              <a:p>
                <a:pPr algn="ctr">
                  <a:spcBef>
                    <a:spcPts val="600"/>
                  </a:spcBef>
                  <a:defRPr b="1">
                    <a:solidFill>
                      <a:srgbClr val="FFFFFF"/>
                    </a:solidFill>
                  </a:defRPr>
                </a:pPr>
                <a:r>
                  <a:t>Here</a:t>
                </a:r>
              </a:p>
            </p:txBody>
          </p:sp>
        </p:grpSp>
        <p:sp>
          <p:nvSpPr>
            <p:cNvPr id="1120" name="TextBox 8"/>
            <p:cNvSpPr txBox="1"/>
            <p:nvPr/>
          </p:nvSpPr>
          <p:spPr>
            <a:xfrm>
              <a:off x="39674" y="2025730"/>
              <a:ext cx="1812586"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600"/>
                </a:spcBef>
                <a:defRPr sz="1600" b="1">
                  <a:solidFill>
                    <a:schemeClr val="accent2"/>
                  </a:solidFill>
                </a:defRPr>
              </a:lvl1pPr>
            </a:lstStyle>
            <a:p>
              <a:r>
                <a:t>Type Name Here</a:t>
              </a:r>
            </a:p>
          </p:txBody>
        </p:sp>
      </p:grpSp>
      <p:grpSp>
        <p:nvGrpSpPr>
          <p:cNvPr id="1126" name="Group 9"/>
          <p:cNvGrpSpPr/>
          <p:nvPr/>
        </p:nvGrpSpPr>
        <p:grpSpPr>
          <a:xfrm>
            <a:off x="2701685" y="1313355"/>
            <a:ext cx="1852260" cy="2267032"/>
            <a:chOff x="0" y="0"/>
            <a:chExt cx="1852259" cy="2267030"/>
          </a:xfrm>
        </p:grpSpPr>
        <p:grpSp>
          <p:nvGrpSpPr>
            <p:cNvPr id="1124" name="Rectangle 10"/>
            <p:cNvGrpSpPr/>
            <p:nvPr/>
          </p:nvGrpSpPr>
          <p:grpSpPr>
            <a:xfrm>
              <a:off x="0" y="0"/>
              <a:ext cx="1812586" cy="1833220"/>
              <a:chOff x="0" y="0"/>
              <a:chExt cx="1812585" cy="1833219"/>
            </a:xfrm>
          </p:grpSpPr>
          <p:sp>
            <p:nvSpPr>
              <p:cNvPr id="1122" name="Rectangle"/>
              <p:cNvSpPr/>
              <p:nvPr/>
            </p:nvSpPr>
            <p:spPr>
              <a:xfrm>
                <a:off x="-1" y="-1"/>
                <a:ext cx="1812587" cy="1833221"/>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spcBef>
                    <a:spcPts val="600"/>
                  </a:spcBef>
                  <a:defRPr>
                    <a:solidFill>
                      <a:srgbClr val="FFFFFF"/>
                    </a:solidFill>
                  </a:defRPr>
                </a:pPr>
                <a:endParaRPr/>
              </a:p>
            </p:txBody>
          </p:sp>
          <p:sp>
            <p:nvSpPr>
              <p:cNvPr id="1123" name="Place Photo…"/>
              <p:cNvSpPr txBox="1"/>
              <p:nvPr/>
            </p:nvSpPr>
            <p:spPr>
              <a:xfrm>
                <a:off x="45719" y="553389"/>
                <a:ext cx="1721147" cy="726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spcBef>
                    <a:spcPts val="600"/>
                  </a:spcBef>
                  <a:defRPr b="1">
                    <a:solidFill>
                      <a:srgbClr val="FFFFFF"/>
                    </a:solidFill>
                  </a:defRPr>
                </a:pPr>
                <a:r>
                  <a:t>Place Photo</a:t>
                </a:r>
              </a:p>
              <a:p>
                <a:pPr algn="ctr">
                  <a:spcBef>
                    <a:spcPts val="600"/>
                  </a:spcBef>
                  <a:defRPr b="1">
                    <a:solidFill>
                      <a:srgbClr val="FFFFFF"/>
                    </a:solidFill>
                  </a:defRPr>
                </a:pPr>
                <a:r>
                  <a:t>Here</a:t>
                </a:r>
              </a:p>
            </p:txBody>
          </p:sp>
        </p:grpSp>
        <p:sp>
          <p:nvSpPr>
            <p:cNvPr id="1125" name="TextBox 11"/>
            <p:cNvSpPr txBox="1"/>
            <p:nvPr/>
          </p:nvSpPr>
          <p:spPr>
            <a:xfrm>
              <a:off x="39674" y="2025730"/>
              <a:ext cx="1812586"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600"/>
                </a:spcBef>
                <a:defRPr sz="1600" b="1">
                  <a:solidFill>
                    <a:schemeClr val="accent2"/>
                  </a:solidFill>
                </a:defRPr>
              </a:lvl1pPr>
            </a:lstStyle>
            <a:p>
              <a:r>
                <a:t>Type Name Here</a:t>
              </a:r>
            </a:p>
          </p:txBody>
        </p:sp>
      </p:grpSp>
      <p:grpSp>
        <p:nvGrpSpPr>
          <p:cNvPr id="1131" name="Group 12"/>
          <p:cNvGrpSpPr/>
          <p:nvPr/>
        </p:nvGrpSpPr>
        <p:grpSpPr>
          <a:xfrm>
            <a:off x="2701685" y="3777817"/>
            <a:ext cx="1852260" cy="2267032"/>
            <a:chOff x="0" y="0"/>
            <a:chExt cx="1852259" cy="2267030"/>
          </a:xfrm>
        </p:grpSpPr>
        <p:grpSp>
          <p:nvGrpSpPr>
            <p:cNvPr id="1129" name="Rectangle 13"/>
            <p:cNvGrpSpPr/>
            <p:nvPr/>
          </p:nvGrpSpPr>
          <p:grpSpPr>
            <a:xfrm>
              <a:off x="0" y="0"/>
              <a:ext cx="1812586" cy="1833220"/>
              <a:chOff x="0" y="0"/>
              <a:chExt cx="1812585" cy="1833219"/>
            </a:xfrm>
          </p:grpSpPr>
          <p:sp>
            <p:nvSpPr>
              <p:cNvPr id="1127" name="Rectangle"/>
              <p:cNvSpPr/>
              <p:nvPr/>
            </p:nvSpPr>
            <p:spPr>
              <a:xfrm>
                <a:off x="-1" y="-1"/>
                <a:ext cx="1812587" cy="1833221"/>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spcBef>
                    <a:spcPts val="600"/>
                  </a:spcBef>
                  <a:defRPr>
                    <a:solidFill>
                      <a:srgbClr val="FFFFFF"/>
                    </a:solidFill>
                  </a:defRPr>
                </a:pPr>
                <a:endParaRPr/>
              </a:p>
            </p:txBody>
          </p:sp>
          <p:sp>
            <p:nvSpPr>
              <p:cNvPr id="1128" name="Place Photo…"/>
              <p:cNvSpPr txBox="1"/>
              <p:nvPr/>
            </p:nvSpPr>
            <p:spPr>
              <a:xfrm>
                <a:off x="45719" y="553389"/>
                <a:ext cx="1721147" cy="726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spcBef>
                    <a:spcPts val="600"/>
                  </a:spcBef>
                  <a:defRPr b="1">
                    <a:solidFill>
                      <a:srgbClr val="FFFFFF"/>
                    </a:solidFill>
                  </a:defRPr>
                </a:pPr>
                <a:r>
                  <a:t>Place Photo</a:t>
                </a:r>
              </a:p>
              <a:p>
                <a:pPr algn="ctr">
                  <a:spcBef>
                    <a:spcPts val="600"/>
                  </a:spcBef>
                  <a:defRPr b="1">
                    <a:solidFill>
                      <a:srgbClr val="FFFFFF"/>
                    </a:solidFill>
                  </a:defRPr>
                </a:pPr>
                <a:r>
                  <a:t>Here</a:t>
                </a:r>
              </a:p>
            </p:txBody>
          </p:sp>
        </p:grpSp>
        <p:sp>
          <p:nvSpPr>
            <p:cNvPr id="1130" name="TextBox 14"/>
            <p:cNvSpPr txBox="1"/>
            <p:nvPr/>
          </p:nvSpPr>
          <p:spPr>
            <a:xfrm>
              <a:off x="39674" y="2025730"/>
              <a:ext cx="1812586"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600"/>
                </a:spcBef>
                <a:defRPr sz="1600" b="1">
                  <a:solidFill>
                    <a:schemeClr val="accent2"/>
                  </a:solidFill>
                </a:defRPr>
              </a:lvl1pPr>
            </a:lstStyle>
            <a:p>
              <a:r>
                <a:t>Type Name Here</a:t>
              </a:r>
            </a:p>
          </p:txBody>
        </p:sp>
      </p:grpSp>
      <p:grpSp>
        <p:nvGrpSpPr>
          <p:cNvPr id="1136" name="Group 21"/>
          <p:cNvGrpSpPr/>
          <p:nvPr/>
        </p:nvGrpSpPr>
        <p:grpSpPr>
          <a:xfrm>
            <a:off x="4823561" y="1313355"/>
            <a:ext cx="1852260" cy="2267032"/>
            <a:chOff x="0" y="0"/>
            <a:chExt cx="1852259" cy="2267030"/>
          </a:xfrm>
        </p:grpSpPr>
        <p:grpSp>
          <p:nvGrpSpPr>
            <p:cNvPr id="1134" name="Rectangle 22"/>
            <p:cNvGrpSpPr/>
            <p:nvPr/>
          </p:nvGrpSpPr>
          <p:grpSpPr>
            <a:xfrm>
              <a:off x="0" y="0"/>
              <a:ext cx="1812586" cy="1833220"/>
              <a:chOff x="0" y="0"/>
              <a:chExt cx="1812585" cy="1833219"/>
            </a:xfrm>
          </p:grpSpPr>
          <p:sp>
            <p:nvSpPr>
              <p:cNvPr id="1132" name="Rectangle"/>
              <p:cNvSpPr/>
              <p:nvPr/>
            </p:nvSpPr>
            <p:spPr>
              <a:xfrm>
                <a:off x="-1" y="-1"/>
                <a:ext cx="1812587" cy="1833221"/>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spcBef>
                    <a:spcPts val="600"/>
                  </a:spcBef>
                  <a:defRPr>
                    <a:solidFill>
                      <a:srgbClr val="FFFFFF"/>
                    </a:solidFill>
                  </a:defRPr>
                </a:pPr>
                <a:endParaRPr/>
              </a:p>
            </p:txBody>
          </p:sp>
          <p:sp>
            <p:nvSpPr>
              <p:cNvPr id="1133" name="Place Photo…"/>
              <p:cNvSpPr txBox="1"/>
              <p:nvPr/>
            </p:nvSpPr>
            <p:spPr>
              <a:xfrm>
                <a:off x="45719" y="553389"/>
                <a:ext cx="1721147" cy="726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spcBef>
                    <a:spcPts val="600"/>
                  </a:spcBef>
                  <a:defRPr b="1">
                    <a:solidFill>
                      <a:srgbClr val="FFFFFF"/>
                    </a:solidFill>
                  </a:defRPr>
                </a:pPr>
                <a:r>
                  <a:t>Place Photo</a:t>
                </a:r>
              </a:p>
              <a:p>
                <a:pPr algn="ctr">
                  <a:spcBef>
                    <a:spcPts val="600"/>
                  </a:spcBef>
                  <a:defRPr b="1">
                    <a:solidFill>
                      <a:srgbClr val="FFFFFF"/>
                    </a:solidFill>
                  </a:defRPr>
                </a:pPr>
                <a:r>
                  <a:t>Here</a:t>
                </a:r>
              </a:p>
            </p:txBody>
          </p:sp>
        </p:grpSp>
        <p:sp>
          <p:nvSpPr>
            <p:cNvPr id="1135" name="TextBox 23"/>
            <p:cNvSpPr txBox="1"/>
            <p:nvPr/>
          </p:nvSpPr>
          <p:spPr>
            <a:xfrm>
              <a:off x="39674" y="2025730"/>
              <a:ext cx="1812586"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600"/>
                </a:spcBef>
                <a:defRPr sz="1600" b="1">
                  <a:solidFill>
                    <a:schemeClr val="accent2"/>
                  </a:solidFill>
                </a:defRPr>
              </a:lvl1pPr>
            </a:lstStyle>
            <a:p>
              <a:r>
                <a:t>Type Name Here</a:t>
              </a:r>
            </a:p>
          </p:txBody>
        </p:sp>
      </p:grpSp>
      <p:grpSp>
        <p:nvGrpSpPr>
          <p:cNvPr id="1141" name="Group 24"/>
          <p:cNvGrpSpPr/>
          <p:nvPr/>
        </p:nvGrpSpPr>
        <p:grpSpPr>
          <a:xfrm>
            <a:off x="6945437" y="1313355"/>
            <a:ext cx="1852260" cy="2267032"/>
            <a:chOff x="0" y="0"/>
            <a:chExt cx="1852259" cy="2267030"/>
          </a:xfrm>
        </p:grpSpPr>
        <p:grpSp>
          <p:nvGrpSpPr>
            <p:cNvPr id="1139" name="Rectangle 25"/>
            <p:cNvGrpSpPr/>
            <p:nvPr/>
          </p:nvGrpSpPr>
          <p:grpSpPr>
            <a:xfrm>
              <a:off x="0" y="0"/>
              <a:ext cx="1812586" cy="1833220"/>
              <a:chOff x="0" y="0"/>
              <a:chExt cx="1812585" cy="1833219"/>
            </a:xfrm>
          </p:grpSpPr>
          <p:sp>
            <p:nvSpPr>
              <p:cNvPr id="1137" name="Rectangle"/>
              <p:cNvSpPr/>
              <p:nvPr/>
            </p:nvSpPr>
            <p:spPr>
              <a:xfrm>
                <a:off x="-1" y="-1"/>
                <a:ext cx="1812587" cy="1833221"/>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spcBef>
                    <a:spcPts val="600"/>
                  </a:spcBef>
                  <a:defRPr>
                    <a:solidFill>
                      <a:srgbClr val="FFFFFF"/>
                    </a:solidFill>
                  </a:defRPr>
                </a:pPr>
                <a:endParaRPr/>
              </a:p>
            </p:txBody>
          </p:sp>
          <p:sp>
            <p:nvSpPr>
              <p:cNvPr id="1138" name="Place Photo…"/>
              <p:cNvSpPr txBox="1"/>
              <p:nvPr/>
            </p:nvSpPr>
            <p:spPr>
              <a:xfrm>
                <a:off x="45719" y="553389"/>
                <a:ext cx="1721147" cy="726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spcBef>
                    <a:spcPts val="600"/>
                  </a:spcBef>
                  <a:defRPr b="1">
                    <a:solidFill>
                      <a:srgbClr val="FFFFFF"/>
                    </a:solidFill>
                  </a:defRPr>
                </a:pPr>
                <a:r>
                  <a:t>Place Photo</a:t>
                </a:r>
              </a:p>
              <a:p>
                <a:pPr algn="ctr">
                  <a:spcBef>
                    <a:spcPts val="600"/>
                  </a:spcBef>
                  <a:defRPr b="1">
                    <a:solidFill>
                      <a:srgbClr val="FFFFFF"/>
                    </a:solidFill>
                  </a:defRPr>
                </a:pPr>
                <a:r>
                  <a:t>Here</a:t>
                </a:r>
              </a:p>
            </p:txBody>
          </p:sp>
        </p:grpSp>
        <p:sp>
          <p:nvSpPr>
            <p:cNvPr id="1140" name="TextBox 26"/>
            <p:cNvSpPr txBox="1"/>
            <p:nvPr/>
          </p:nvSpPr>
          <p:spPr>
            <a:xfrm>
              <a:off x="39674" y="2025730"/>
              <a:ext cx="1812586"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600"/>
                </a:spcBef>
                <a:defRPr sz="1600" b="1">
                  <a:solidFill>
                    <a:schemeClr val="accent2"/>
                  </a:solidFill>
                </a:defRPr>
              </a:lvl1pPr>
            </a:lstStyle>
            <a:p>
              <a:r>
                <a:t>Type Name Here</a:t>
              </a:r>
            </a:p>
          </p:txBody>
        </p:sp>
      </p:grpSp>
      <p:grpSp>
        <p:nvGrpSpPr>
          <p:cNvPr id="1146" name="Group 30"/>
          <p:cNvGrpSpPr/>
          <p:nvPr/>
        </p:nvGrpSpPr>
        <p:grpSpPr>
          <a:xfrm>
            <a:off x="9106986" y="1313355"/>
            <a:ext cx="1852260" cy="2267032"/>
            <a:chOff x="0" y="0"/>
            <a:chExt cx="1852259" cy="2267030"/>
          </a:xfrm>
        </p:grpSpPr>
        <p:grpSp>
          <p:nvGrpSpPr>
            <p:cNvPr id="1144" name="Rectangle 31"/>
            <p:cNvGrpSpPr/>
            <p:nvPr/>
          </p:nvGrpSpPr>
          <p:grpSpPr>
            <a:xfrm>
              <a:off x="0" y="0"/>
              <a:ext cx="1812586" cy="1833220"/>
              <a:chOff x="0" y="0"/>
              <a:chExt cx="1812585" cy="1833219"/>
            </a:xfrm>
          </p:grpSpPr>
          <p:sp>
            <p:nvSpPr>
              <p:cNvPr id="1142" name="Rectangle"/>
              <p:cNvSpPr/>
              <p:nvPr/>
            </p:nvSpPr>
            <p:spPr>
              <a:xfrm>
                <a:off x="-1" y="-1"/>
                <a:ext cx="1812587" cy="1833221"/>
              </a:xfrm>
              <a:prstGeom prst="rect">
                <a:avLst/>
              </a:prstGeom>
              <a:solidFill>
                <a:schemeClr val="accent4"/>
              </a:solidFill>
              <a:ln w="12700" cap="flat">
                <a:noFill/>
                <a:miter lim="400000"/>
              </a:ln>
              <a:effectLst/>
            </p:spPr>
            <p:txBody>
              <a:bodyPr wrap="square" lIns="45719" tIns="45719" rIns="45719" bIns="45719" numCol="1" anchor="ctr">
                <a:noAutofit/>
              </a:bodyPr>
              <a:lstStyle/>
              <a:p>
                <a:pPr algn="ctr">
                  <a:spcBef>
                    <a:spcPts val="600"/>
                  </a:spcBef>
                  <a:defRPr>
                    <a:solidFill>
                      <a:srgbClr val="FFFFFF"/>
                    </a:solidFill>
                  </a:defRPr>
                </a:pPr>
                <a:endParaRPr/>
              </a:p>
            </p:txBody>
          </p:sp>
          <p:sp>
            <p:nvSpPr>
              <p:cNvPr id="1143" name="Place Photo…"/>
              <p:cNvSpPr txBox="1"/>
              <p:nvPr/>
            </p:nvSpPr>
            <p:spPr>
              <a:xfrm>
                <a:off x="45719" y="553389"/>
                <a:ext cx="1721147" cy="72644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45719" tIns="45719" rIns="45719" bIns="45719" numCol="1" anchor="ctr">
                <a:spAutoFit/>
              </a:bodyPr>
              <a:lstStyle/>
              <a:p>
                <a:pPr algn="ctr">
                  <a:spcBef>
                    <a:spcPts val="600"/>
                  </a:spcBef>
                  <a:defRPr b="1">
                    <a:solidFill>
                      <a:srgbClr val="FFFFFF"/>
                    </a:solidFill>
                  </a:defRPr>
                </a:pPr>
                <a:r>
                  <a:t>Place Photo</a:t>
                </a:r>
              </a:p>
              <a:p>
                <a:pPr algn="ctr">
                  <a:spcBef>
                    <a:spcPts val="600"/>
                  </a:spcBef>
                  <a:defRPr b="1">
                    <a:solidFill>
                      <a:srgbClr val="FFFFFF"/>
                    </a:solidFill>
                  </a:defRPr>
                </a:pPr>
                <a:r>
                  <a:t>Here</a:t>
                </a:r>
              </a:p>
            </p:txBody>
          </p:sp>
        </p:grpSp>
        <p:sp>
          <p:nvSpPr>
            <p:cNvPr id="1145" name="TextBox 32"/>
            <p:cNvSpPr txBox="1"/>
            <p:nvPr/>
          </p:nvSpPr>
          <p:spPr>
            <a:xfrm>
              <a:off x="39674" y="2025730"/>
              <a:ext cx="1812586" cy="241301"/>
            </a:xfrm>
            <a:prstGeom prst="rect">
              <a:avLst/>
            </a:pr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t">
              <a:spAutoFit/>
            </a:bodyPr>
            <a:lstStyle>
              <a:lvl1pPr>
                <a:spcBef>
                  <a:spcPts val="600"/>
                </a:spcBef>
                <a:defRPr sz="1600" b="1">
                  <a:solidFill>
                    <a:schemeClr val="accent2"/>
                  </a:solidFill>
                </a:defRPr>
              </a:lvl1pPr>
            </a:lstStyle>
            <a:p>
              <a:r>
                <a:t>Type Name Here</a:t>
              </a:r>
            </a:p>
          </p:txBody>
        </p:sp>
      </p:gr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102" name="Stable:…"/>
          <p:cNvSpPr txBox="1">
            <a:spLocks noGrp="1"/>
          </p:cNvSpPr>
          <p:nvPr>
            <p:ph type="body" idx="1"/>
          </p:nvPr>
        </p:nvSpPr>
        <p:spPr>
          <a:prstGeom prst="rect">
            <a:avLst/>
          </a:prstGeom>
        </p:spPr>
        <p:txBody>
          <a:bodyPr/>
          <a:lstStyle/>
          <a:p>
            <a:r>
              <a:t>Stable:</a:t>
            </a:r>
          </a:p>
          <a:p>
            <a:pPr marL="775368" lvl="1" indent="-267368">
              <a:buClrTx/>
              <a:buSzPct val="100000"/>
              <a:buFontTx/>
              <a:buAutoNum type="arabicPeriod"/>
            </a:pPr>
            <a:r>
              <a:t>Linux Kernel with MAIO support</a:t>
            </a:r>
          </a:p>
          <a:p>
            <a:pPr marL="775368" lvl="1" indent="-267368">
              <a:buClrTx/>
              <a:buSzPct val="100000"/>
              <a:buFontTx/>
              <a:buAutoNum type="arabicPeriod"/>
            </a:pPr>
            <a:r>
              <a:t>DPDK MAIO-PMD</a:t>
            </a:r>
          </a:p>
          <a:p>
            <a:pPr>
              <a:buClrTx/>
              <a:buSzTx/>
              <a:buFontTx/>
              <a:buNone/>
            </a:pPr>
            <a:r>
              <a:t>WIP</a:t>
            </a:r>
          </a:p>
          <a:p>
            <a:pPr marL="775368" lvl="1" indent="-267368">
              <a:buClrTx/>
              <a:buSzPct val="100000"/>
              <a:buFontTx/>
              <a:buAutoNum type="arabicPeriod"/>
            </a:pPr>
            <a:r>
              <a:t>Integration into VeloCloud code</a:t>
            </a:r>
          </a:p>
          <a:p>
            <a:pPr marL="962526" lvl="2" indent="-200526">
              <a:buClrTx/>
              <a:buSzPct val="100000"/>
              <a:buFontTx/>
              <a:buChar char="•"/>
            </a:pPr>
            <a:r>
              <a:t>HW Agnostic PMD - </a:t>
            </a:r>
            <a:r>
              <a:rPr i="1"/>
              <a:t>Single PMD to rule them all</a:t>
            </a:r>
            <a:r>
              <a:t>.</a:t>
            </a:r>
          </a:p>
          <a:p>
            <a:pPr marL="962526" lvl="2" indent="-200526">
              <a:buClrTx/>
              <a:buSzPct val="100000"/>
              <a:buFontTx/>
              <a:buChar char="•"/>
            </a:pPr>
            <a:r>
              <a:t>No KNI</a:t>
            </a:r>
          </a:p>
        </p:txBody>
      </p:sp>
      <p:sp>
        <p:nvSpPr>
          <p:cNvPr id="1103"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t>33</a:t>
            </a:fld>
            <a:endParaRPr/>
          </a:p>
        </p:txBody>
      </p:sp>
      <p:sp>
        <p:nvSpPr>
          <p:cNvPr id="1104" name="Development Status"/>
          <p:cNvSpPr txBox="1">
            <a:spLocks noGrp="1"/>
          </p:cNvSpPr>
          <p:nvPr>
            <p:ph type="title"/>
          </p:nvPr>
        </p:nvSpPr>
        <p:spPr>
          <a:prstGeom prst="rect">
            <a:avLst/>
          </a:prstGeom>
        </p:spPr>
        <p:txBody>
          <a:bodyPr>
            <a:normAutofit fontScale="90000"/>
          </a:bodyPr>
          <a:lstStyle>
            <a:lvl1pPr defTabSz="822959">
              <a:defRPr sz="2520"/>
            </a:lvl1pPr>
          </a:lstStyle>
          <a:p>
            <a:r>
              <a:t>Development Status</a:t>
            </a:r>
          </a:p>
        </p:txBody>
      </p:sp>
    </p:spTree>
  </p:cSld>
  <p:clrMapOvr>
    <a:masterClrMapping/>
  </p:clrMapOvr>
  <mc:AlternateContent xmlns:mc="http://schemas.openxmlformats.org/markup-compatibility/2006" xmlns:p14="http://schemas.microsoft.com/office/powerpoint/2010/main">
    <mc:Choice Requires="p14">
      <p:transition p14:dur="250">
        <p:wipe/>
      </p:transition>
    </mc:Choice>
    <mc:Fallback xmlns="">
      <p:transition>
        <p:wipe/>
      </p:transition>
    </mc:Fallback>
  </mc:AlternateContent>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VMware_white_16x9">
  <a:themeElements>
    <a:clrScheme name="VMware_white_16x9">
      <a:dk1>
        <a:srgbClr val="717074"/>
      </a:dk1>
      <a:lt1>
        <a:srgbClr val="587404"/>
      </a:lt1>
      <a:dk2>
        <a:srgbClr val="A7A7A7"/>
      </a:dk2>
      <a:lt2>
        <a:srgbClr val="535353"/>
      </a:lt2>
      <a:accent1>
        <a:srgbClr val="0095D3"/>
      </a:accent1>
      <a:accent2>
        <a:srgbClr val="003D79"/>
      </a:accent2>
      <a:accent3>
        <a:srgbClr val="006990"/>
      </a:accent3>
      <a:accent4>
        <a:srgbClr val="6DB33F"/>
      </a:accent4>
      <a:accent5>
        <a:srgbClr val="78BE20"/>
      </a:accent5>
      <a:accent6>
        <a:srgbClr val="387C2C"/>
      </a:accent6>
      <a:hlink>
        <a:srgbClr val="0000FF"/>
      </a:hlink>
      <a:folHlink>
        <a:srgbClr val="FF00FF"/>
      </a:folHlink>
    </a:clrScheme>
    <a:fontScheme name="VMware_white_16x9">
      <a:majorFont>
        <a:latin typeface="Helvetica"/>
        <a:ea typeface="Helvetica"/>
        <a:cs typeface="Helvetica"/>
      </a:majorFont>
      <a:minorFont>
        <a:latin typeface="Helvetica"/>
        <a:ea typeface="Helvetica"/>
        <a:cs typeface="Helvetica"/>
      </a:minorFont>
    </a:fontScheme>
    <a:fmtScheme name="VMware_white_16x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17074"/>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0" tIns="0" rIns="0" bIns="0"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717074"/>
            </a:solidFill>
            <a:effectLst/>
            <a:uFillTx/>
            <a:latin typeface="+mn-lt"/>
            <a:ea typeface="+mn-ea"/>
            <a:cs typeface="+mn-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5012</TotalTime>
  <Words>3229</Words>
  <Application>Microsoft Office PowerPoint</Application>
  <PresentationFormat>Custom</PresentationFormat>
  <Paragraphs>462</Paragraphs>
  <Slides>33</Slides>
  <Notes>27</Notes>
  <HiddenSlides>4</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vt:lpstr>
      <vt:lpstr>Calibri</vt:lpstr>
      <vt:lpstr>Calibri Light</vt:lpstr>
      <vt:lpstr>Helvetica</vt:lpstr>
      <vt:lpstr>Helvetica Light</vt:lpstr>
      <vt:lpstr>Metropolis Light</vt:lpstr>
      <vt:lpstr>Wingdings</vt:lpstr>
      <vt:lpstr>Retrospect</vt:lpstr>
      <vt:lpstr>MAIO</vt:lpstr>
      <vt:lpstr>User-space Networking</vt:lpstr>
      <vt:lpstr>Zero-Copy Network I/O</vt:lpstr>
      <vt:lpstr>Zero-Copy Network I/O</vt:lpstr>
      <vt:lpstr>Zero-Copy Network I/O</vt:lpstr>
      <vt:lpstr>Zero-Copy Approaches</vt:lpstr>
      <vt:lpstr>Zero-Copy with Shared Memory</vt:lpstr>
      <vt:lpstr>Zero-Copy with Shared Memory</vt:lpstr>
      <vt:lpstr>MAIO in practice</vt:lpstr>
      <vt:lpstr>MAIO in practice</vt:lpstr>
      <vt:lpstr>Comparing TX loop of 16KB buffers </vt:lpstr>
      <vt:lpstr>Comparing TX loop of 16KB buffers </vt:lpstr>
      <vt:lpstr>Comparing TX loop of 16KB buffers </vt:lpstr>
      <vt:lpstr>Comparing TX loop of 16KB buffers </vt:lpstr>
      <vt:lpstr>Comparing TX loop of 16KB buffers </vt:lpstr>
      <vt:lpstr>Comparing TX loop of 16KB buffers </vt:lpstr>
      <vt:lpstr>Comparing TX loop of 16KB buffers </vt:lpstr>
      <vt:lpstr>Comparing TX loop of 16KB buffers </vt:lpstr>
      <vt:lpstr>Kernel Memory Segmentation</vt:lpstr>
      <vt:lpstr>Kernel Memory Segmentation</vt:lpstr>
      <vt:lpstr>HugePages and Kernel Memory Segmentation</vt:lpstr>
      <vt:lpstr>HugePages and MAIO</vt:lpstr>
      <vt:lpstr>Socket Managment</vt:lpstr>
      <vt:lpstr>Async TX Ring</vt:lpstr>
      <vt:lpstr>Zero-Copy TCP TX</vt:lpstr>
      <vt:lpstr>Page State TX</vt:lpstr>
      <vt:lpstr>Zero-Copy TCP RX</vt:lpstr>
      <vt:lpstr>Page State RX</vt:lpstr>
      <vt:lpstr>DPDK MAIO-PMD </vt:lpstr>
      <vt:lpstr>Next Steps</vt:lpstr>
      <vt:lpstr>PowerPoint Presentation</vt:lpstr>
      <vt:lpstr>PowerPoint Presentation</vt:lpstr>
      <vt:lpstr>Development Status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MAIO</dc:title>
  <cp:lastModifiedBy>Alex</cp:lastModifiedBy>
  <cp:revision>53</cp:revision>
  <dcterms:modified xsi:type="dcterms:W3CDTF">2021-08-06T12:49:15Z</dcterms:modified>
</cp:coreProperties>
</file>