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285" r:id="rId5"/>
  </p:sldMasterIdLst>
  <p:notesMasterIdLst>
    <p:notesMasterId r:id="rId18"/>
  </p:notesMasterIdLst>
  <p:handoutMasterIdLst>
    <p:handoutMasterId r:id="rId19"/>
  </p:handoutMasterIdLst>
  <p:sldIdLst>
    <p:sldId id="637" r:id="rId6"/>
    <p:sldId id="712" r:id="rId7"/>
    <p:sldId id="732" r:id="rId8"/>
    <p:sldId id="733" r:id="rId9"/>
    <p:sldId id="717" r:id="rId10"/>
    <p:sldId id="720" r:id="rId11"/>
    <p:sldId id="735" r:id="rId12"/>
    <p:sldId id="734" r:id="rId13"/>
    <p:sldId id="716" r:id="rId14"/>
    <p:sldId id="723" r:id="rId15"/>
    <p:sldId id="726" r:id="rId16"/>
    <p:sldId id="574" r:id="rId17"/>
  </p:sldIdLst>
  <p:sldSz cx="14630400" cy="8229600"/>
  <p:notesSz cx="9296400" cy="7010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52462" indent="-195262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1304925" indent="-390525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958974" indent="-587374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2611438" indent="-782638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D0DB"/>
    <a:srgbClr val="5CA533"/>
    <a:srgbClr val="E7E9EE"/>
    <a:srgbClr val="001946"/>
    <a:srgbClr val="263951"/>
    <a:srgbClr val="009D96"/>
    <a:srgbClr val="AFCA24"/>
    <a:srgbClr val="DAE9B3"/>
    <a:srgbClr val="CC4D16"/>
    <a:srgbClr val="EF93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474" autoAdjust="0"/>
  </p:normalViewPr>
  <p:slideViewPr>
    <p:cSldViewPr snapToGrid="0">
      <p:cViewPr>
        <p:scale>
          <a:sx n="75" d="100"/>
          <a:sy n="75" d="100"/>
        </p:scale>
        <p:origin x="432" y="54"/>
      </p:cViewPr>
      <p:guideLst>
        <p:guide orient="horz" pos="2592"/>
        <p:guide pos="46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oris\AppData\Local\Microsoft\Windows\Temporary%20Internet%20Files\Content.Outlook\804UYHUG\netdev-innova-perf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2"/>
    </mc:Choice>
    <mc:Fallback>
      <c:style val="1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1 unidirectional TCP Stream(s) IPSec tunnel aes256
(40GbE, linked-list)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3"/>
          <c:order val="3"/>
          <c:tx>
            <c:v>No-IPSec CPU</c:v>
          </c:tx>
          <c:spPr>
            <a:solidFill>
              <a:srgbClr val="FF9900"/>
            </a:solidFill>
            <a:ln>
              <a:solidFill>
                <a:srgbClr val="FF9900"/>
              </a:solidFill>
            </a:ln>
          </c:spPr>
          <c:invertIfNegative val="0"/>
          <c:cat>
            <c:multiLvlStrRef>
              <c:f>'No-IPSec throughput results'!$J$127:$K$142</c:f>
              <c:multiLvlStrCache>
                <c:ptCount val="15"/>
                <c:lvl>
                  <c:pt idx="0">
                    <c:v>TX</c:v>
                  </c:pt>
                  <c:pt idx="2">
                    <c:v>RX</c:v>
                  </c:pt>
                  <c:pt idx="3">
                    <c:v>TX</c:v>
                  </c:pt>
                  <c:pt idx="5">
                    <c:v>RX</c:v>
                  </c:pt>
                  <c:pt idx="6">
                    <c:v>TX</c:v>
                  </c:pt>
                  <c:pt idx="8">
                    <c:v>RX</c:v>
                  </c:pt>
                  <c:pt idx="9">
                    <c:v>TX</c:v>
                  </c:pt>
                  <c:pt idx="11">
                    <c:v>RX</c:v>
                  </c:pt>
                  <c:pt idx="12">
                    <c:v>TX</c:v>
                  </c:pt>
                  <c:pt idx="14">
                    <c:v>RX</c:v>
                  </c:pt>
                </c:lvl>
                <c:lvl>
                  <c:pt idx="0">
                    <c:v>64</c:v>
                  </c:pt>
                  <c:pt idx="3">
                    <c:v>256</c:v>
                  </c:pt>
                  <c:pt idx="6">
                    <c:v>1024</c:v>
                  </c:pt>
                  <c:pt idx="9">
                    <c:v>1500</c:v>
                  </c:pt>
                  <c:pt idx="12">
                    <c:v>16384</c:v>
                  </c:pt>
                </c:lvl>
              </c:multiLvlStrCache>
            </c:multiLvlStrRef>
          </c:cat>
          <c:val>
            <c:numRef>
              <c:f>'No-IPSec throughput results'!$N$127:$N$141</c:f>
              <c:numCache>
                <c:formatCode>General</c:formatCode>
                <c:ptCount val="15"/>
                <c:pt idx="0">
                  <c:v>16.989999999999998</c:v>
                </c:pt>
                <c:pt idx="2">
                  <c:v>1.83</c:v>
                </c:pt>
                <c:pt idx="3">
                  <c:v>16.89</c:v>
                </c:pt>
                <c:pt idx="5">
                  <c:v>3.24</c:v>
                </c:pt>
                <c:pt idx="6">
                  <c:v>16.91</c:v>
                </c:pt>
                <c:pt idx="8">
                  <c:v>8.49</c:v>
                </c:pt>
                <c:pt idx="9">
                  <c:v>16.96</c:v>
                </c:pt>
                <c:pt idx="11">
                  <c:v>11.23</c:v>
                </c:pt>
                <c:pt idx="12">
                  <c:v>7.13</c:v>
                </c:pt>
                <c:pt idx="14">
                  <c:v>14.21</c:v>
                </c:pt>
              </c:numCache>
            </c:numRef>
          </c:val>
        </c:ser>
        <c:ser>
          <c:idx val="4"/>
          <c:order val="4"/>
          <c:tx>
            <c:v>Innova CPU</c:v>
          </c:tx>
          <c:spPr>
            <a:solidFill>
              <a:srgbClr val="0066CC"/>
            </a:solidFill>
            <a:ln>
              <a:solidFill>
                <a:srgbClr val="0066CC"/>
              </a:solidFill>
            </a:ln>
          </c:spPr>
          <c:invertIfNegative val="0"/>
          <c:cat>
            <c:multiLvlStrRef>
              <c:f>'Innova throughput results'!$J$127:$K$142</c:f>
              <c:multiLvlStrCache>
                <c:ptCount val="15"/>
                <c:lvl>
                  <c:pt idx="0">
                    <c:v>TX</c:v>
                  </c:pt>
                  <c:pt idx="2">
                    <c:v>RX</c:v>
                  </c:pt>
                  <c:pt idx="3">
                    <c:v>TX</c:v>
                  </c:pt>
                  <c:pt idx="5">
                    <c:v>RX</c:v>
                  </c:pt>
                  <c:pt idx="6">
                    <c:v>TX</c:v>
                  </c:pt>
                  <c:pt idx="8">
                    <c:v>RX</c:v>
                  </c:pt>
                  <c:pt idx="9">
                    <c:v>TX</c:v>
                  </c:pt>
                  <c:pt idx="11">
                    <c:v>RX</c:v>
                  </c:pt>
                  <c:pt idx="12">
                    <c:v>TX</c:v>
                  </c:pt>
                  <c:pt idx="14">
                    <c:v>RX</c:v>
                  </c:pt>
                </c:lvl>
                <c:lvl>
                  <c:pt idx="0">
                    <c:v>64</c:v>
                  </c:pt>
                  <c:pt idx="3">
                    <c:v>256</c:v>
                  </c:pt>
                  <c:pt idx="6">
                    <c:v>1024</c:v>
                  </c:pt>
                  <c:pt idx="9">
                    <c:v>1500</c:v>
                  </c:pt>
                  <c:pt idx="12">
                    <c:v>16384</c:v>
                  </c:pt>
                </c:lvl>
              </c:multiLvlStrCache>
            </c:multiLvlStrRef>
          </c:cat>
          <c:val>
            <c:numRef>
              <c:f>'Innova throughput results'!$N$127:$N$141</c:f>
              <c:numCache>
                <c:formatCode>General</c:formatCode>
                <c:ptCount val="15"/>
                <c:pt idx="0">
                  <c:v>17.079999999999998</c:v>
                </c:pt>
                <c:pt idx="2">
                  <c:v>2.23</c:v>
                </c:pt>
                <c:pt idx="3">
                  <c:v>17.14</c:v>
                </c:pt>
                <c:pt idx="5">
                  <c:v>3.46</c:v>
                </c:pt>
                <c:pt idx="6">
                  <c:v>17.079999999999998</c:v>
                </c:pt>
                <c:pt idx="8">
                  <c:v>10.38</c:v>
                </c:pt>
                <c:pt idx="9">
                  <c:v>13.64</c:v>
                </c:pt>
                <c:pt idx="11">
                  <c:v>26.94</c:v>
                </c:pt>
                <c:pt idx="12">
                  <c:v>4.95</c:v>
                </c:pt>
                <c:pt idx="14">
                  <c:v>26.89</c:v>
                </c:pt>
              </c:numCache>
            </c:numRef>
          </c:val>
        </c:ser>
        <c:ser>
          <c:idx val="5"/>
          <c:order val="5"/>
          <c:tx>
            <c:v>AES-NI CPU</c:v>
          </c:tx>
          <c:spPr>
            <a:solidFill>
              <a:srgbClr val="008000"/>
            </a:solidFill>
            <a:ln>
              <a:solidFill>
                <a:srgbClr val="008000"/>
              </a:solidFill>
            </a:ln>
          </c:spPr>
          <c:invertIfNegative val="0"/>
          <c:cat>
            <c:multiLvlStrRef>
              <c:f>'AES-NI throughput results'!$J$127:$K$142</c:f>
              <c:multiLvlStrCache>
                <c:ptCount val="15"/>
                <c:lvl>
                  <c:pt idx="0">
                    <c:v>TX</c:v>
                  </c:pt>
                  <c:pt idx="2">
                    <c:v>RX</c:v>
                  </c:pt>
                  <c:pt idx="3">
                    <c:v>TX</c:v>
                  </c:pt>
                  <c:pt idx="5">
                    <c:v>RX</c:v>
                  </c:pt>
                  <c:pt idx="6">
                    <c:v>TX</c:v>
                  </c:pt>
                  <c:pt idx="8">
                    <c:v>RX</c:v>
                  </c:pt>
                  <c:pt idx="9">
                    <c:v>TX</c:v>
                  </c:pt>
                  <c:pt idx="11">
                    <c:v>RX</c:v>
                  </c:pt>
                  <c:pt idx="12">
                    <c:v>TX</c:v>
                  </c:pt>
                  <c:pt idx="14">
                    <c:v>RX</c:v>
                  </c:pt>
                </c:lvl>
                <c:lvl>
                  <c:pt idx="0">
                    <c:v>64</c:v>
                  </c:pt>
                  <c:pt idx="3">
                    <c:v>256</c:v>
                  </c:pt>
                  <c:pt idx="6">
                    <c:v>1024</c:v>
                  </c:pt>
                  <c:pt idx="9">
                    <c:v>1500</c:v>
                  </c:pt>
                  <c:pt idx="12">
                    <c:v>16384</c:v>
                  </c:pt>
                </c:lvl>
              </c:multiLvlStrCache>
            </c:multiLvlStrRef>
          </c:cat>
          <c:val>
            <c:numRef>
              <c:f>'AES-NI throughput results'!$N$127:$N$141</c:f>
              <c:numCache>
                <c:formatCode>General</c:formatCode>
                <c:ptCount val="15"/>
                <c:pt idx="0">
                  <c:v>17.25</c:v>
                </c:pt>
                <c:pt idx="2">
                  <c:v>2.9</c:v>
                </c:pt>
                <c:pt idx="3">
                  <c:v>17.18</c:v>
                </c:pt>
                <c:pt idx="5">
                  <c:v>3.39</c:v>
                </c:pt>
                <c:pt idx="6">
                  <c:v>17.170000000000002</c:v>
                </c:pt>
                <c:pt idx="8">
                  <c:v>3.33</c:v>
                </c:pt>
                <c:pt idx="9">
                  <c:v>17.14</c:v>
                </c:pt>
                <c:pt idx="11">
                  <c:v>3.36</c:v>
                </c:pt>
                <c:pt idx="12">
                  <c:v>17.12</c:v>
                </c:pt>
                <c:pt idx="14">
                  <c:v>3.07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35"/>
        <c:axId val="293142272"/>
        <c:axId val="293143952"/>
      </c:barChart>
      <c:lineChart>
        <c:grouping val="standard"/>
        <c:varyColors val="0"/>
        <c:ser>
          <c:idx val="0"/>
          <c:order val="0"/>
          <c:tx>
            <c:v>No-IPSec</c:v>
          </c:tx>
          <c:spPr>
            <a:ln w="25400">
              <a:solidFill>
                <a:srgbClr val="FF9900"/>
              </a:solidFill>
            </a:ln>
          </c:spPr>
          <c:marker>
            <c:symbol val="circle"/>
            <c:size val="5"/>
            <c:spPr>
              <a:solidFill>
                <a:srgbClr val="FF9900"/>
              </a:solidFill>
              <a:ln>
                <a:solidFill>
                  <a:srgbClr val="FF9900"/>
                </a:solidFill>
              </a:ln>
            </c:spPr>
          </c:marker>
          <c:cat>
            <c:multiLvlStrRef>
              <c:f>'No-IPSec throughput results'!$J$127:$K$142</c:f>
              <c:multiLvlStrCache>
                <c:ptCount val="15"/>
                <c:lvl>
                  <c:pt idx="0">
                    <c:v>TX</c:v>
                  </c:pt>
                  <c:pt idx="2">
                    <c:v>RX</c:v>
                  </c:pt>
                  <c:pt idx="3">
                    <c:v>TX</c:v>
                  </c:pt>
                  <c:pt idx="5">
                    <c:v>RX</c:v>
                  </c:pt>
                  <c:pt idx="6">
                    <c:v>TX</c:v>
                  </c:pt>
                  <c:pt idx="8">
                    <c:v>RX</c:v>
                  </c:pt>
                  <c:pt idx="9">
                    <c:v>TX</c:v>
                  </c:pt>
                  <c:pt idx="11">
                    <c:v>RX</c:v>
                  </c:pt>
                  <c:pt idx="12">
                    <c:v>TX</c:v>
                  </c:pt>
                  <c:pt idx="14">
                    <c:v>RX</c:v>
                  </c:pt>
                </c:lvl>
                <c:lvl>
                  <c:pt idx="0">
                    <c:v>64</c:v>
                  </c:pt>
                  <c:pt idx="3">
                    <c:v>256</c:v>
                  </c:pt>
                  <c:pt idx="6">
                    <c:v>1024</c:v>
                  </c:pt>
                  <c:pt idx="9">
                    <c:v>1500</c:v>
                  </c:pt>
                  <c:pt idx="12">
                    <c:v>16384</c:v>
                  </c:pt>
                </c:lvl>
              </c:multiLvlStrCache>
            </c:multiLvlStrRef>
          </c:cat>
          <c:val>
            <c:numRef>
              <c:f>'No-IPSec throughput results'!$M$127:$M$141</c:f>
              <c:numCache>
                <c:formatCode>General</c:formatCode>
                <c:ptCount val="15"/>
                <c:pt idx="0">
                  <c:v>#N/A</c:v>
                </c:pt>
                <c:pt idx="1">
                  <c:v>1.8</c:v>
                </c:pt>
                <c:pt idx="2">
                  <c:v>#N/A</c:v>
                </c:pt>
                <c:pt idx="3">
                  <c:v>#N/A</c:v>
                </c:pt>
                <c:pt idx="4">
                  <c:v>6.65</c:v>
                </c:pt>
                <c:pt idx="5">
                  <c:v>#N/A</c:v>
                </c:pt>
                <c:pt idx="6">
                  <c:v>#N/A</c:v>
                </c:pt>
                <c:pt idx="7">
                  <c:v>22.83</c:v>
                </c:pt>
                <c:pt idx="8">
                  <c:v>#N/A</c:v>
                </c:pt>
                <c:pt idx="9">
                  <c:v>#N/A</c:v>
                </c:pt>
                <c:pt idx="10">
                  <c:v>29.72</c:v>
                </c:pt>
                <c:pt idx="11">
                  <c:v>#N/A</c:v>
                </c:pt>
                <c:pt idx="12">
                  <c:v>#N/A</c:v>
                </c:pt>
                <c:pt idx="13">
                  <c:v>37.659999999999997</c:v>
                </c:pt>
                <c:pt idx="14">
                  <c:v>#N/A</c:v>
                </c:pt>
              </c:numCache>
            </c:numRef>
          </c:val>
          <c:smooth val="0"/>
        </c:ser>
        <c:ser>
          <c:idx val="1"/>
          <c:order val="1"/>
          <c:tx>
            <c:v>Innova</c:v>
          </c:tx>
          <c:spPr>
            <a:ln w="25400">
              <a:solidFill>
                <a:srgbClr val="0066CC"/>
              </a:solidFill>
            </a:ln>
          </c:spPr>
          <c:marker>
            <c:symbol val="circle"/>
            <c:size val="5"/>
            <c:spPr>
              <a:solidFill>
                <a:srgbClr val="0066CC"/>
              </a:solidFill>
              <a:ln>
                <a:solidFill>
                  <a:srgbClr val="0066CC"/>
                </a:solidFill>
              </a:ln>
            </c:spPr>
          </c:marker>
          <c:cat>
            <c:multiLvlStrRef>
              <c:f>'Innova throughput results'!$J$127:$K$142</c:f>
              <c:multiLvlStrCache>
                <c:ptCount val="15"/>
                <c:lvl>
                  <c:pt idx="0">
                    <c:v>TX</c:v>
                  </c:pt>
                  <c:pt idx="2">
                    <c:v>RX</c:v>
                  </c:pt>
                  <c:pt idx="3">
                    <c:v>TX</c:v>
                  </c:pt>
                  <c:pt idx="5">
                    <c:v>RX</c:v>
                  </c:pt>
                  <c:pt idx="6">
                    <c:v>TX</c:v>
                  </c:pt>
                  <c:pt idx="8">
                    <c:v>RX</c:v>
                  </c:pt>
                  <c:pt idx="9">
                    <c:v>TX</c:v>
                  </c:pt>
                  <c:pt idx="11">
                    <c:v>RX</c:v>
                  </c:pt>
                  <c:pt idx="12">
                    <c:v>TX</c:v>
                  </c:pt>
                  <c:pt idx="14">
                    <c:v>RX</c:v>
                  </c:pt>
                </c:lvl>
                <c:lvl>
                  <c:pt idx="0">
                    <c:v>64</c:v>
                  </c:pt>
                  <c:pt idx="3">
                    <c:v>256</c:v>
                  </c:pt>
                  <c:pt idx="6">
                    <c:v>1024</c:v>
                  </c:pt>
                  <c:pt idx="9">
                    <c:v>1500</c:v>
                  </c:pt>
                  <c:pt idx="12">
                    <c:v>16384</c:v>
                  </c:pt>
                </c:lvl>
              </c:multiLvlStrCache>
            </c:multiLvlStrRef>
          </c:cat>
          <c:val>
            <c:numRef>
              <c:f>'Innova throughput results'!$M$127:$M$141</c:f>
              <c:numCache>
                <c:formatCode>General</c:formatCode>
                <c:ptCount val="15"/>
                <c:pt idx="0">
                  <c:v>#N/A</c:v>
                </c:pt>
                <c:pt idx="1">
                  <c:v>1.52</c:v>
                </c:pt>
                <c:pt idx="2">
                  <c:v>#N/A</c:v>
                </c:pt>
                <c:pt idx="3">
                  <c:v>#N/A</c:v>
                </c:pt>
                <c:pt idx="4">
                  <c:v>5.58</c:v>
                </c:pt>
                <c:pt idx="5">
                  <c:v>#N/A</c:v>
                </c:pt>
                <c:pt idx="6">
                  <c:v>#N/A</c:v>
                </c:pt>
                <c:pt idx="7">
                  <c:v>19.73</c:v>
                </c:pt>
                <c:pt idx="8">
                  <c:v>#N/A</c:v>
                </c:pt>
                <c:pt idx="9">
                  <c:v>#N/A</c:v>
                </c:pt>
                <c:pt idx="10">
                  <c:v>25.39</c:v>
                </c:pt>
                <c:pt idx="11">
                  <c:v>#N/A</c:v>
                </c:pt>
                <c:pt idx="12">
                  <c:v>#N/A</c:v>
                </c:pt>
                <c:pt idx="13">
                  <c:v>25.38</c:v>
                </c:pt>
                <c:pt idx="14">
                  <c:v>#N/A</c:v>
                </c:pt>
              </c:numCache>
            </c:numRef>
          </c:val>
          <c:smooth val="0"/>
        </c:ser>
        <c:ser>
          <c:idx val="2"/>
          <c:order val="2"/>
          <c:tx>
            <c:v>AES-NI</c:v>
          </c:tx>
          <c:spPr>
            <a:ln w="25400">
              <a:solidFill>
                <a:srgbClr val="008000"/>
              </a:solidFill>
            </a:ln>
          </c:spPr>
          <c:marker>
            <c:symbol val="circle"/>
            <c:size val="5"/>
            <c:spPr>
              <a:solidFill>
                <a:srgbClr val="008000"/>
              </a:solidFill>
              <a:ln>
                <a:solidFill>
                  <a:srgbClr val="008000"/>
                </a:solidFill>
              </a:ln>
            </c:spPr>
          </c:marker>
          <c:cat>
            <c:multiLvlStrRef>
              <c:f>'AES-NI throughput results'!$J$127:$K$142</c:f>
              <c:multiLvlStrCache>
                <c:ptCount val="15"/>
                <c:lvl>
                  <c:pt idx="0">
                    <c:v>TX</c:v>
                  </c:pt>
                  <c:pt idx="2">
                    <c:v>RX</c:v>
                  </c:pt>
                  <c:pt idx="3">
                    <c:v>TX</c:v>
                  </c:pt>
                  <c:pt idx="5">
                    <c:v>RX</c:v>
                  </c:pt>
                  <c:pt idx="6">
                    <c:v>TX</c:v>
                  </c:pt>
                  <c:pt idx="8">
                    <c:v>RX</c:v>
                  </c:pt>
                  <c:pt idx="9">
                    <c:v>TX</c:v>
                  </c:pt>
                  <c:pt idx="11">
                    <c:v>RX</c:v>
                  </c:pt>
                  <c:pt idx="12">
                    <c:v>TX</c:v>
                  </c:pt>
                  <c:pt idx="14">
                    <c:v>RX</c:v>
                  </c:pt>
                </c:lvl>
                <c:lvl>
                  <c:pt idx="0">
                    <c:v>64</c:v>
                  </c:pt>
                  <c:pt idx="3">
                    <c:v>256</c:v>
                  </c:pt>
                  <c:pt idx="6">
                    <c:v>1024</c:v>
                  </c:pt>
                  <c:pt idx="9">
                    <c:v>1500</c:v>
                  </c:pt>
                  <c:pt idx="12">
                    <c:v>16384</c:v>
                  </c:pt>
                </c:lvl>
              </c:multiLvlStrCache>
            </c:multiLvlStrRef>
          </c:cat>
          <c:val>
            <c:numRef>
              <c:f>'AES-NI throughput results'!$M$127:$M$141</c:f>
              <c:numCache>
                <c:formatCode>General</c:formatCode>
                <c:ptCount val="15"/>
                <c:pt idx="0">
                  <c:v>#N/A</c:v>
                </c:pt>
                <c:pt idx="1">
                  <c:v>1.08</c:v>
                </c:pt>
                <c:pt idx="2">
                  <c:v>#N/A</c:v>
                </c:pt>
                <c:pt idx="3">
                  <c:v>#N/A</c:v>
                </c:pt>
                <c:pt idx="4">
                  <c:v>1.83</c:v>
                </c:pt>
                <c:pt idx="5">
                  <c:v>#N/A</c:v>
                </c:pt>
                <c:pt idx="6">
                  <c:v>#N/A</c:v>
                </c:pt>
                <c:pt idx="7">
                  <c:v>2.2799999999999998</c:v>
                </c:pt>
                <c:pt idx="8">
                  <c:v>#N/A</c:v>
                </c:pt>
                <c:pt idx="9">
                  <c:v>#N/A</c:v>
                </c:pt>
                <c:pt idx="10">
                  <c:v>2.35</c:v>
                </c:pt>
                <c:pt idx="11">
                  <c:v>#N/A</c:v>
                </c:pt>
                <c:pt idx="12">
                  <c:v>#N/A</c:v>
                </c:pt>
                <c:pt idx="13">
                  <c:v>2.77</c:v>
                </c:pt>
                <c:pt idx="1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3143392"/>
        <c:axId val="293144512"/>
      </c:lineChart>
      <c:catAx>
        <c:axId val="2931433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600" baseline="0"/>
                </a:pPr>
                <a:r>
                  <a:rPr lang="en-US" sz="1600" baseline="0"/>
                  <a:t>Message Size (bytes)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93144512"/>
        <c:crosses val="autoZero"/>
        <c:auto val="1"/>
        <c:lblAlgn val="ctr"/>
        <c:lblOffset val="100"/>
        <c:noMultiLvlLbl val="0"/>
      </c:catAx>
      <c:valAx>
        <c:axId val="29314451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600" baseline="0"/>
                </a:pPr>
                <a:r>
                  <a:rPr lang="en-US" sz="1600" baseline="0"/>
                  <a:t>Throughput (Gb/s)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93143392"/>
        <c:crosses val="autoZero"/>
        <c:crossBetween val="between"/>
      </c:valAx>
      <c:valAx>
        <c:axId val="293143952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600" baseline="0"/>
                </a:pPr>
                <a:r>
                  <a:rPr lang="en-US" sz="1600" baseline="0"/>
                  <a:t>CPU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93142272"/>
        <c:crosses val="max"/>
        <c:crossBetween val="between"/>
      </c:valAx>
      <c:catAx>
        <c:axId val="2931422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293143952"/>
        <c:crosses val="autoZero"/>
        <c:auto val="1"/>
        <c:lblAlgn val="ctr"/>
        <c:lblOffset val="100"/>
        <c:noMultiLvlLbl val="0"/>
      </c:catAx>
    </c:plotArea>
    <c:legend>
      <c:legendPos val="b"/>
      <c:layout/>
      <c:overlay val="0"/>
      <c:txPr>
        <a:bodyPr/>
        <a:lstStyle/>
        <a:p>
          <a:pPr>
            <a:defRPr sz="1200" baseline="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>
            <a:lvl1pPr defTabSz="931769">
              <a:defRPr sz="1200" b="0" dirty="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118" y="0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>
            <a:lvl1pPr algn="r" defTabSz="931769"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fld id="{8095EEA3-525F-7F4B-8B73-3F9E7D9982C6}" type="datetime1">
              <a:rPr lang="en-US"/>
              <a:pPr>
                <a:defRPr/>
              </a:pPr>
              <a:t>10/30/17</a:t>
            </a:fld>
            <a:endParaRPr lang="en-US" dirty="0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8443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b" anchorCtr="0" compatLnSpc="1">
            <a:prstTxWarp prst="textNoShape">
              <a:avLst/>
            </a:prstTxWarp>
          </a:bodyPr>
          <a:lstStyle>
            <a:lvl1pPr defTabSz="931769">
              <a:defRPr sz="1200" b="0" dirty="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118" y="6658443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b" anchorCtr="0" compatLnSpc="1">
            <a:prstTxWarp prst="textNoShape">
              <a:avLst/>
            </a:prstTxWarp>
          </a:bodyPr>
          <a:lstStyle>
            <a:lvl1pPr algn="r" defTabSz="931769"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fld id="{57ED2BC3-F589-CD45-B2EF-3C13F1507F1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7474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>
            <a:lvl1pPr defTabSz="931769">
              <a:defRPr sz="1200" b="0" dirty="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7118" y="0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>
            <a:lvl1pPr algn="r" defTabSz="931769"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fld id="{EE831723-7541-DC4C-9A30-FC10FB29D011}" type="datetime1">
              <a:rPr lang="en-US"/>
              <a:pPr>
                <a:defRPr/>
              </a:pPr>
              <a:t>10/30/17</a:t>
            </a:fld>
            <a:endParaRPr lang="en-US" dirty="0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12988" y="527050"/>
            <a:ext cx="4672012" cy="26273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378" y="3329222"/>
            <a:ext cx="7439646" cy="3154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8443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b" anchorCtr="0" compatLnSpc="1">
            <a:prstTxWarp prst="textNoShape">
              <a:avLst/>
            </a:prstTxWarp>
          </a:bodyPr>
          <a:lstStyle>
            <a:lvl1pPr defTabSz="931769">
              <a:defRPr sz="1200" b="0" dirty="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7118" y="6658443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b" anchorCtr="0" compatLnSpc="1">
            <a:prstTxWarp prst="textNoShape">
              <a:avLst/>
            </a:prstTxWarp>
          </a:bodyPr>
          <a:lstStyle>
            <a:lvl1pPr algn="r" defTabSz="931769"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fld id="{7023F7C0-8181-5241-967D-41CF93AC32E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1825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652462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Arial" charset="0"/>
        <a:ea typeface="Arial" pitchFamily="36" charset="0"/>
        <a:cs typeface="Arial" charset="0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Arial" charset="0"/>
        <a:ea typeface="Arial" pitchFamily="36" charset="0"/>
        <a:cs typeface="Arial" charset="0"/>
      </a:defRPr>
    </a:lvl3pPr>
    <a:lvl4pPr marL="1958974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Arial" charset="0"/>
        <a:ea typeface="Arial" pitchFamily="36" charset="0"/>
        <a:cs typeface="Arial" charset="0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Arial" charset="0"/>
        <a:ea typeface="Arial" pitchFamily="36" charset="0"/>
        <a:cs typeface="Arial" charset="0"/>
      </a:defRPr>
    </a:lvl5pPr>
    <a:lvl6pPr marL="3265389" algn="l" defTabSz="1306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3918466" algn="l" defTabSz="1306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571542" algn="l" defTabSz="1306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224621" algn="l" defTabSz="1306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23F7C0-8181-5241-967D-41CF93AC32E7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169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dirty="0" smtClean="0"/>
              <a:t>IPsec basics</a:t>
            </a:r>
          </a:p>
          <a:p>
            <a:pPr marL="342900" indent="-342900"/>
            <a:r>
              <a:rPr lang="en-US" dirty="0" smtClean="0"/>
              <a:t>Status</a:t>
            </a:r>
          </a:p>
          <a:p>
            <a:pPr marL="342900" indent="-342900"/>
            <a:r>
              <a:rPr lang="en-US" dirty="0" smtClean="0"/>
              <a:t>Kernel</a:t>
            </a:r>
          </a:p>
          <a:p>
            <a:pPr marL="682625" lvl="1" indent="-342900"/>
            <a:r>
              <a:rPr lang="en-US" dirty="0" smtClean="0"/>
              <a:t>Control path</a:t>
            </a:r>
          </a:p>
          <a:p>
            <a:pPr marL="682625" lvl="1" indent="-342900"/>
            <a:r>
              <a:rPr lang="en-US" dirty="0" smtClean="0"/>
              <a:t>Driver’s data path</a:t>
            </a:r>
          </a:p>
          <a:p>
            <a:pPr marL="342900" indent="-342900"/>
            <a:r>
              <a:rPr lang="en-US" dirty="0" smtClean="0"/>
              <a:t>Linux Near Future</a:t>
            </a:r>
          </a:p>
          <a:p>
            <a:pPr marL="682625" lvl="1" indent="-342900"/>
            <a:r>
              <a:rPr lang="en-US" dirty="0" smtClean="0"/>
              <a:t>ESN</a:t>
            </a:r>
          </a:p>
          <a:p>
            <a:pPr marL="682625" lvl="1" indent="-342900"/>
            <a:r>
              <a:rPr lang="en-US" dirty="0" smtClean="0"/>
              <a:t>Trailer removal</a:t>
            </a:r>
          </a:p>
          <a:p>
            <a:pPr marL="342900" indent="-342900"/>
            <a:r>
              <a:rPr lang="en-US" dirty="0" smtClean="0"/>
              <a:t>Performance</a:t>
            </a:r>
          </a:p>
          <a:p>
            <a:pPr marL="342900" indent="-342900"/>
            <a:r>
              <a:rPr lang="en-US" dirty="0" smtClean="0"/>
              <a:t>DPDK</a:t>
            </a:r>
          </a:p>
          <a:p>
            <a:pPr marL="682625" lvl="1" indent="-342900"/>
            <a:r>
              <a:rPr lang="en-US" dirty="0" smtClean="0"/>
              <a:t>Control-path</a:t>
            </a:r>
          </a:p>
          <a:p>
            <a:pPr marL="682625" lvl="1" indent="-342900"/>
            <a:r>
              <a:rPr lang="en-US" dirty="0" smtClean="0"/>
              <a:t>Data-path</a:t>
            </a:r>
          </a:p>
          <a:p>
            <a:pPr marL="342900" indent="-342900"/>
            <a:r>
              <a:rPr lang="en-US" dirty="0" smtClean="0"/>
              <a:t>Full offload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23F7C0-8181-5241-967D-41CF93AC32E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622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23F7C0-8181-5241-967D-41CF93AC32E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877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23F7C0-8181-5241-967D-41CF93AC32E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171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229_PPT_CoverSlide_rev2d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64373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906"/>
          <a:stretch/>
        </p:blipFill>
        <p:spPr>
          <a:xfrm>
            <a:off x="2176" y="6278159"/>
            <a:ext cx="14628226" cy="195144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73323" y="7281889"/>
            <a:ext cx="9381490" cy="389254"/>
          </a:xfrm>
          <a:ln>
            <a:noFill/>
          </a:ln>
        </p:spPr>
        <p:txBody>
          <a:bodyPr anchor="ctr">
            <a:noAutofit/>
          </a:bodyPr>
          <a:lstStyle>
            <a:lvl1pPr marL="0" indent="0" algn="l">
              <a:buClr>
                <a:schemeClr val="accent1"/>
              </a:buClr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Sub Title Slide Name Here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 hasCustomPrompt="1"/>
          </p:nvPr>
        </p:nvSpPr>
        <p:spPr>
          <a:xfrm>
            <a:off x="473323" y="7755256"/>
            <a:ext cx="4848225" cy="389254"/>
          </a:xfrm>
          <a:ln>
            <a:noFill/>
          </a:ln>
        </p:spPr>
        <p:txBody>
          <a:bodyPr anchor="ctr">
            <a:noAutofit/>
          </a:bodyPr>
          <a:lstStyle>
            <a:lvl1pPr marL="0" indent="0" algn="l">
              <a:buClr>
                <a:schemeClr val="accent1"/>
              </a:buClr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CONFERENCE NAME  I  YEAR DATE</a:t>
            </a:r>
            <a:endParaRPr lang="en-US" dirty="0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473323" y="6324402"/>
            <a:ext cx="9392037" cy="866899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33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66961" y="1247338"/>
            <a:ext cx="13436948" cy="6395446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48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0" y="1054099"/>
            <a:ext cx="14630400" cy="7175501"/>
          </a:xfrm>
          <a:prstGeom prst="rect">
            <a:avLst/>
          </a:prstGeom>
          <a:solidFill>
            <a:srgbClr val="26395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1" hasCustomPrompt="1"/>
          </p:nvPr>
        </p:nvSpPr>
        <p:spPr>
          <a:xfrm>
            <a:off x="0" y="4316096"/>
            <a:ext cx="14630400" cy="855978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Clr>
                <a:schemeClr val="accent1"/>
              </a:buClr>
              <a:buNone/>
              <a:defRPr sz="3200">
                <a:solidFill>
                  <a:schemeClr val="bg1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Sub Title Slide Name Here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63326"/>
            <a:ext cx="14630400" cy="1050333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5642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68960" y="-1"/>
            <a:ext cx="11798301" cy="105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3200" b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574163" y="1239522"/>
            <a:ext cx="6245738" cy="2046603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4"/>
          </p:nvPr>
        </p:nvSpPr>
        <p:spPr>
          <a:xfrm>
            <a:off x="7413113" y="1239522"/>
            <a:ext cx="6245738" cy="2046603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5"/>
          </p:nvPr>
        </p:nvSpPr>
        <p:spPr>
          <a:xfrm>
            <a:off x="555113" y="4658997"/>
            <a:ext cx="6245738" cy="2046603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6"/>
          </p:nvPr>
        </p:nvSpPr>
        <p:spPr>
          <a:xfrm>
            <a:off x="7394063" y="4658997"/>
            <a:ext cx="6245738" cy="2046603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327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 Hori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68960" y="-1"/>
            <a:ext cx="11798301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3200" b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3"/>
          </p:nvPr>
        </p:nvSpPr>
        <p:spPr>
          <a:xfrm>
            <a:off x="574163" y="1239522"/>
            <a:ext cx="13532362" cy="260857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4"/>
          </p:nvPr>
        </p:nvSpPr>
        <p:spPr>
          <a:xfrm>
            <a:off x="564638" y="4506597"/>
            <a:ext cx="13532362" cy="260857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9846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 noChangeArrowheads="1"/>
          </p:cNvSpPr>
          <p:nvPr>
            <p:ph type="title"/>
          </p:nvPr>
        </p:nvSpPr>
        <p:spPr bwMode="white">
          <a:xfrm>
            <a:off x="568960" y="0"/>
            <a:ext cx="11798301" cy="105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3200" b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574163" y="1239522"/>
            <a:ext cx="6360037" cy="651382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7327388" y="1229997"/>
            <a:ext cx="6779137" cy="298957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7336913" y="4487547"/>
            <a:ext cx="6779137" cy="327532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8062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 noChangeArrowheads="1"/>
          </p:cNvSpPr>
          <p:nvPr>
            <p:ph type="title"/>
          </p:nvPr>
        </p:nvSpPr>
        <p:spPr bwMode="white">
          <a:xfrm>
            <a:off x="568960" y="0"/>
            <a:ext cx="11798301" cy="105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3200" b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574163" y="1239522"/>
            <a:ext cx="6360037" cy="651382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7327388" y="1229996"/>
            <a:ext cx="6779137" cy="6529703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2980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 noChangeArrowheads="1"/>
          </p:cNvSpPr>
          <p:nvPr>
            <p:ph type="title"/>
          </p:nvPr>
        </p:nvSpPr>
        <p:spPr bwMode="white">
          <a:xfrm>
            <a:off x="568960" y="0"/>
            <a:ext cx="11798301" cy="1040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3200" b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877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9720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14630400" cy="11811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202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ellanox_PP_Page_banner.jpg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"/>
            <a:ext cx="14630400" cy="105410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auto">
          <a:xfrm>
            <a:off x="0" y="7897427"/>
            <a:ext cx="14630400" cy="33217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1440" tIns="45720" rIns="91440" bIns="45720"/>
          <a:lstStyle/>
          <a:p>
            <a:pPr>
              <a:defRPr/>
            </a:pPr>
            <a:endParaRPr lang="en-US" sz="18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white">
          <a:xfrm>
            <a:off x="393705" y="7916866"/>
            <a:ext cx="10728325" cy="301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598" tIns="65298" rIns="130598" bIns="65298"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dirty="0" smtClean="0">
                <a:solidFill>
                  <a:schemeClr val="bg1"/>
                </a:solidFill>
              </a:rPr>
              <a:t>© 2016 Mellanox Technologies		</a:t>
            </a:r>
            <a:r>
              <a:rPr lang="en-US" sz="1100" b="0" dirty="0">
                <a:solidFill>
                  <a:srgbClr val="000000"/>
                </a:solidFill>
              </a:rPr>
              <a:t>			</a:t>
            </a: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68326" y="0"/>
            <a:ext cx="11798301" cy="105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325" y="1239842"/>
            <a:ext cx="13696950" cy="647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32" name="TextBox 11"/>
          <p:cNvSpPr txBox="1">
            <a:spLocks noChangeArrowheads="1"/>
          </p:cNvSpPr>
          <p:nvPr/>
        </p:nvSpPr>
        <p:spPr bwMode="auto">
          <a:xfrm>
            <a:off x="12255501" y="7916866"/>
            <a:ext cx="1909763" cy="304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14" tIns="65309" rIns="130614" bIns="65309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100" b="0">
                <a:solidFill>
                  <a:srgbClr val="FFFFFF"/>
                </a:solidFill>
              </a:rPr>
              <a:pPr algn="r" eaLnBrk="1" hangingPunct="1"/>
              <a:t>‹#›</a:t>
            </a:fld>
            <a:endParaRPr lang="en-US" sz="1100" b="0" dirty="0">
              <a:solidFill>
                <a:srgbClr val="FFFFFF"/>
              </a:solidFill>
            </a:endParaRPr>
          </a:p>
        </p:txBody>
      </p:sp>
      <p:pic>
        <p:nvPicPr>
          <p:cNvPr id="2" name="Picture 18"/>
          <p:cNvPicPr>
            <a:picLocks noChangeAspect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23"/>
          <a:stretch/>
        </p:blipFill>
        <p:spPr bwMode="auto">
          <a:xfrm>
            <a:off x="12907182" y="100012"/>
            <a:ext cx="1148248" cy="956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8"/>
          <p:cNvSpPr>
            <a:spLocks noChangeArrowheads="1"/>
          </p:cNvSpPr>
          <p:nvPr/>
        </p:nvSpPr>
        <p:spPr bwMode="white">
          <a:xfrm>
            <a:off x="0" y="7915752"/>
            <a:ext cx="14630400" cy="301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598" tIns="65298" rIns="130598" bIns="65298">
            <a:spAutoFit/>
          </a:bodyPr>
          <a:lstStyle/>
          <a:p>
            <a:pPr algn="ctr" eaLnBrk="0" hangingPunct="0"/>
            <a:r>
              <a:rPr lang="en-US" sz="1100" b="0" dirty="0" smtClean="0">
                <a:solidFill>
                  <a:schemeClr val="bg1"/>
                </a:solidFill>
              </a:rPr>
              <a:t>-</a:t>
            </a:r>
            <a:r>
              <a:rPr lang="en-US" sz="1100" b="0" baseline="0" dirty="0" smtClean="0">
                <a:solidFill>
                  <a:schemeClr val="bg1"/>
                </a:solidFill>
              </a:rPr>
              <a:t> </a:t>
            </a:r>
            <a:r>
              <a:rPr lang="en-US" sz="1100" b="0" dirty="0" smtClean="0">
                <a:solidFill>
                  <a:schemeClr val="bg1"/>
                </a:solidFill>
              </a:rPr>
              <a:t>Mellanox Confidential</a:t>
            </a:r>
            <a:r>
              <a:rPr lang="en-US" sz="1100" b="0" baseline="0" dirty="0" smtClean="0">
                <a:solidFill>
                  <a:schemeClr val="bg1"/>
                </a:solidFill>
              </a:rPr>
              <a:t> -</a:t>
            </a:r>
            <a:endParaRPr lang="en-US" sz="1100" b="0" dirty="0">
              <a:solidFill>
                <a:srgbClr val="000000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7849" y="6863984"/>
            <a:ext cx="9525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286" r:id="rId1"/>
    <p:sldLayoutId id="2147485296" r:id="rId2"/>
    <p:sldLayoutId id="2147485288" r:id="rId3"/>
    <p:sldLayoutId id="2147485290" r:id="rId4"/>
    <p:sldLayoutId id="2147485291" r:id="rId5"/>
    <p:sldLayoutId id="2147485292" r:id="rId6"/>
    <p:sldLayoutId id="2147485297" r:id="rId7"/>
    <p:sldLayoutId id="2147485293" r:id="rId8"/>
    <p:sldLayoutId id="2147485294" r:id="rId9"/>
    <p:sldLayoutId id="2147485298" r:id="rId10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3200" b="0" baseline="0">
          <a:solidFill>
            <a:schemeClr val="bg1"/>
          </a:solidFill>
          <a:latin typeface="+mj-lt"/>
          <a:ea typeface="Arial" pitchFamily="34" charset="0"/>
          <a:cs typeface="Arial" pitchFamily="34" charset="0"/>
        </a:defRPr>
      </a:lvl1pPr>
      <a:lvl2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2pPr>
      <a:lvl3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3pPr>
      <a:lvl4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4pPr>
      <a:lvl5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5pPr>
      <a:lvl6pPr marL="653077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  <a:cs typeface="Arial" charset="0"/>
        </a:defRPr>
      </a:lvl6pPr>
      <a:lvl7pPr marL="1306155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  <a:cs typeface="Arial" charset="0"/>
        </a:defRPr>
      </a:lvl7pPr>
      <a:lvl8pPr marL="1959234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  <a:cs typeface="Arial" charset="0"/>
        </a:defRPr>
      </a:lvl8pPr>
      <a:lvl9pPr marL="261231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28600" indent="-246888" algn="l" rtl="0" eaLnBrk="1" fontAlgn="base" hangingPunct="1">
        <a:spcBef>
          <a:spcPts val="600"/>
        </a:spcBef>
        <a:spcAft>
          <a:spcPct val="0"/>
        </a:spcAft>
        <a:buClr>
          <a:schemeClr val="bg2">
            <a:lumMod val="75000"/>
          </a:schemeClr>
        </a:buClr>
        <a:buSzPct val="110000"/>
        <a:buFont typeface="Wingdings" charset="0"/>
        <a:buChar char="§"/>
        <a:defRPr sz="2400">
          <a:solidFill>
            <a:schemeClr val="tx2"/>
          </a:solidFill>
          <a:latin typeface="+mn-lt"/>
          <a:ea typeface="ＭＳ Ｐゴシック" charset="0"/>
          <a:cs typeface="Arial" pitchFamily="-108" charset="0"/>
        </a:defRPr>
      </a:lvl1pPr>
      <a:lvl2pPr marL="568325" indent="-255589" algn="l" rtl="0" eaLnBrk="1" fontAlgn="base" hangingPunct="1">
        <a:spcBef>
          <a:spcPts val="426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105000"/>
        <a:buFont typeface="Arial" charset="0"/>
        <a:buChar char="•"/>
        <a:defRPr sz="2100">
          <a:solidFill>
            <a:schemeClr val="tx1">
              <a:lumMod val="75000"/>
              <a:lumOff val="25000"/>
            </a:schemeClr>
          </a:solidFill>
          <a:latin typeface="+mn-lt"/>
          <a:ea typeface="Arial" pitchFamily="36" charset="0"/>
          <a:cs typeface="Arial" pitchFamily="-108" charset="0"/>
        </a:defRPr>
      </a:lvl2pPr>
      <a:lvl3pPr marL="822325" indent="-239714" algn="l" rtl="0" eaLnBrk="1" fontAlgn="base" hangingPunct="1"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104000"/>
        <a:buFont typeface="Lucida Grande" charset="0"/>
        <a:buChar char="-"/>
        <a:defRPr sz="1900">
          <a:solidFill>
            <a:schemeClr val="tx1">
              <a:lumMod val="75000"/>
              <a:lumOff val="25000"/>
            </a:schemeClr>
          </a:solidFill>
          <a:latin typeface="+mn-lt"/>
          <a:ea typeface="Arial" pitchFamily="36" charset="0"/>
          <a:cs typeface="Arial" pitchFamily="-108" charset="0"/>
        </a:defRPr>
      </a:lvl3pPr>
      <a:lvl4pPr marL="1097280" indent="-274320" algn="l" rtl="0" eaLnBrk="1" fontAlgn="base" hangingPunct="1">
        <a:spcBef>
          <a:spcPct val="20000"/>
        </a:spcBef>
        <a:spcAft>
          <a:spcPct val="0"/>
        </a:spcAft>
        <a:buClr>
          <a:schemeClr val="bg1">
            <a:lumMod val="50000"/>
          </a:schemeClr>
        </a:buClr>
        <a:buFont typeface="Wingdings" charset="0"/>
        <a:buChar char="§"/>
        <a:defRPr sz="1800">
          <a:solidFill>
            <a:schemeClr val="bg1">
              <a:lumMod val="50000"/>
            </a:schemeClr>
          </a:solidFill>
          <a:latin typeface="+mn-lt"/>
          <a:ea typeface="Arial" pitchFamily="36" charset="0"/>
          <a:cs typeface="Arial" pitchFamily="-108" charset="0"/>
        </a:defRPr>
      </a:lvl4pPr>
      <a:lvl5pPr marL="1316736" indent="-210312" algn="l" rtl="0" eaLnBrk="1" fontAlgn="base" hangingPunct="1">
        <a:spcBef>
          <a:spcPct val="20000"/>
        </a:spcBef>
        <a:spcAft>
          <a:spcPct val="0"/>
        </a:spcAft>
        <a:buClr>
          <a:schemeClr val="bg1">
            <a:lumMod val="50000"/>
          </a:schemeClr>
        </a:buClr>
        <a:buFont typeface="Lucida Grande" charset="0"/>
        <a:buChar char="›"/>
        <a:defRPr sz="1400">
          <a:solidFill>
            <a:schemeClr val="bg1">
              <a:lumMod val="50000"/>
            </a:schemeClr>
          </a:solidFill>
          <a:latin typeface="+mn-lt"/>
          <a:ea typeface="Arial" pitchFamily="36" charset="0"/>
          <a:cs typeface="Arial" pitchFamily="-108" charset="0"/>
        </a:defRPr>
      </a:lvl5pPr>
      <a:lvl6pPr marL="3591926" indent="-326539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j-lt"/>
          <a:cs typeface="+mn-cs"/>
        </a:defRPr>
      </a:lvl6pPr>
      <a:lvl7pPr marL="4245003" indent="-326539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j-lt"/>
          <a:cs typeface="+mn-cs"/>
        </a:defRPr>
      </a:lvl7pPr>
      <a:lvl8pPr marL="4898082" indent="-326539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j-lt"/>
          <a:cs typeface="+mn-cs"/>
        </a:defRPr>
      </a:lvl8pPr>
      <a:lvl9pPr marL="5551160" indent="-326539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j-lt"/>
          <a:cs typeface="+mn-cs"/>
        </a:defRPr>
      </a:lvl9pPr>
    </p:bodyStyle>
    <p:otherStyle>
      <a:defPPr>
        <a:defRPr lang="en-US"/>
      </a:defPPr>
      <a:lvl1pPr marL="0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077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155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234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310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389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466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42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621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smtClean="0"/>
              <a:t>Boris Pismenny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 smtClean="0"/>
              <a:t>November 2017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IPsec Update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90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/>
            <a:r>
              <a:rPr lang="en-US" dirty="0" smtClean="0"/>
              <a:t>ESN</a:t>
            </a:r>
            <a:endParaRPr lang="en-US" dirty="0"/>
          </a:p>
          <a:p>
            <a:pPr marL="342900" indent="-342900"/>
            <a:r>
              <a:rPr lang="en-US" dirty="0"/>
              <a:t>Trailer </a:t>
            </a:r>
            <a:r>
              <a:rPr lang="en-US" dirty="0" smtClean="0"/>
              <a:t>removal</a:t>
            </a:r>
          </a:p>
          <a:p>
            <a:pPr marL="342900" indent="-342900"/>
            <a:r>
              <a:rPr lang="en-US" dirty="0" smtClean="0"/>
              <a:t>VLAN support</a:t>
            </a:r>
            <a:endParaRPr lang="en-US" dirty="0"/>
          </a:p>
          <a:p>
            <a:pPr marL="342900" indent="-342900"/>
            <a:r>
              <a:rPr lang="en-US" dirty="0" smtClean="0"/>
              <a:t>Performance Update</a:t>
            </a:r>
            <a:endParaRPr lang="en-US" dirty="0"/>
          </a:p>
          <a:p>
            <a:pPr marL="342900" indent="-342900"/>
            <a:r>
              <a:rPr lang="en-US" dirty="0" smtClean="0"/>
              <a:t>Full offload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57470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Problem with Sequence numbers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With high connection speed sequence numbers are depleted quickly.</a:t>
                </a:r>
              </a:p>
              <a:p>
                <a:r>
                  <a:rPr lang="en-US" dirty="0" smtClean="0"/>
                  <a:t>For example: Using minimum ESP IPv4 transport mode packets:</a:t>
                </a:r>
              </a:p>
              <a:p>
                <a:pPr marL="0" indent="0">
                  <a:buNone/>
                </a:pPr>
                <a:r>
                  <a:rPr lang="en-US" dirty="0" smtClean="0"/>
                  <a:t>Eth + IP + ESP + TCP = 14 + 20 + (16+20) + 20 = 90</a:t>
                </a:r>
              </a:p>
              <a:p>
                <a:pPr marL="0" indent="0">
                  <a:buNone/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 smtClean="0"/>
                  <a:t>Lets calculate how many packets we can pass per second</a:t>
                </a:r>
                <a:endParaRPr lang="en-US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40×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8∗90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p>
                      </m:sSup>
                    </m:oMath>
                  </m:oMathPara>
                </a14:m>
                <a:endParaRPr lang="en-US" b="0" dirty="0" smtClean="0"/>
              </a:p>
              <a:p>
                <a:pPr marL="0" indent="0">
                  <a:buNone/>
                </a:pPr>
                <a:r>
                  <a:rPr lang="en-US" dirty="0" smtClean="0"/>
                  <a:t>In the worst case, we can pass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lang="en-US" dirty="0" smtClean="0"/>
                  <a:t> packets per second, and the SA needs to be replaced at least every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25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dirty="0" smtClean="0"/>
                  <a:t>seconds which are 2 minutes.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 rotWithShape="0">
                <a:blip r:embed="rId2"/>
                <a:stretch>
                  <a:fillRect l="-1407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793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Extended Sequence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From RFC4303 (ESP):</a:t>
            </a:r>
          </a:p>
          <a:p>
            <a:pPr marL="0" indent="0">
              <a:buNone/>
            </a:pPr>
            <a:r>
              <a:rPr lang="en-US" dirty="0"/>
              <a:t>“to support high-speed IPsec implementations, Extended Sequence Numbers (ESNs) SHOULD be </a:t>
            </a:r>
            <a:r>
              <a:rPr lang="en-US" dirty="0" smtClean="0"/>
              <a:t>implemented</a:t>
            </a:r>
            <a:r>
              <a:rPr lang="en-US" dirty="0"/>
              <a:t>, as an extension to the current, 32-bit sequence number </a:t>
            </a:r>
            <a:r>
              <a:rPr lang="en-US" dirty="0" smtClean="0"/>
              <a:t>field…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Only the low-order 32 bits of the sequence number are transmitted in the plaintext ESP header of each packet, thus minimizing packet overhead</a:t>
            </a:r>
            <a:r>
              <a:rPr lang="en-US" dirty="0" smtClean="0"/>
              <a:t>. The </a:t>
            </a:r>
            <a:r>
              <a:rPr lang="en-US" dirty="0"/>
              <a:t>high-order 32 bits are maintained as part of the sequence number counter by both transmitter and receiver and are included in the computation of the </a:t>
            </a:r>
            <a:r>
              <a:rPr lang="en-US" dirty="0" smtClean="0"/>
              <a:t>ICV in an algorithm/mode-specific fashion.</a:t>
            </a:r>
          </a:p>
        </p:txBody>
      </p:sp>
    </p:spTree>
    <p:extLst>
      <p:ext uri="{BB962C8B-B14F-4D97-AF65-F5344CB8AC3E}">
        <p14:creationId xmlns:p14="http://schemas.microsoft.com/office/powerpoint/2010/main" val="124246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/>
            <a:r>
              <a:rPr lang="en-US" dirty="0" smtClean="0"/>
              <a:t>ESN </a:t>
            </a:r>
            <a:r>
              <a:rPr lang="en-US" dirty="0" smtClean="0"/>
              <a:t>reduces the number of key renegotiation required for high performance tunnels</a:t>
            </a:r>
            <a:endParaRPr lang="en-US" dirty="0" smtClean="0"/>
          </a:p>
          <a:p>
            <a:pPr marL="342900" indent="-342900"/>
            <a:endParaRPr lang="en-US" dirty="0" smtClean="0"/>
          </a:p>
          <a:p>
            <a:pPr marL="0" indent="0">
              <a:buNone/>
            </a:pPr>
            <a:r>
              <a:rPr lang="en-US" b="1" u="sng" dirty="0" smtClean="0"/>
              <a:t>Send-side ESN:</a:t>
            </a:r>
          </a:p>
          <a:p>
            <a:pPr marL="342900" indent="-342900"/>
            <a:r>
              <a:rPr lang="en-US" dirty="0" smtClean="0"/>
              <a:t>Provided in the packet IV field</a:t>
            </a:r>
          </a:p>
          <a:p>
            <a:pPr marL="682625" lvl="1" indent="-342900"/>
            <a:r>
              <a:rPr lang="en-US" dirty="0" smtClean="0"/>
              <a:t>IV is transformed by hardware to wire format (</a:t>
            </a:r>
            <a:r>
              <a:rPr lang="en-US" dirty="0" err="1" smtClean="0"/>
              <a:t>seqiv</a:t>
            </a:r>
            <a:r>
              <a:rPr lang="en-US" dirty="0" smtClean="0"/>
              <a:t> – same as Linux)</a:t>
            </a:r>
          </a:p>
          <a:p>
            <a:pPr marL="0" indent="0">
              <a:buNone/>
            </a:pPr>
            <a:r>
              <a:rPr lang="en-US" b="1" u="sng" dirty="0" smtClean="0"/>
              <a:t>Receive-side ESN:</a:t>
            </a:r>
            <a:endParaRPr lang="en-US" dirty="0"/>
          </a:p>
          <a:p>
            <a:pPr marL="342900" indent="-342900"/>
            <a:r>
              <a:rPr lang="en-US" dirty="0" smtClean="0"/>
              <a:t>Needs state in HW</a:t>
            </a:r>
          </a:p>
          <a:p>
            <a:pPr marL="682625" lvl="1" indent="-342900"/>
            <a:r>
              <a:rPr lang="en-US" dirty="0" smtClean="0"/>
              <a:t>HW doesn’t update ESN without software intervention</a:t>
            </a:r>
          </a:p>
          <a:p>
            <a:pPr marL="342900" indent="-342900"/>
            <a:r>
              <a:rPr lang="en-US" dirty="0" smtClean="0"/>
              <a:t>Periodically updated from software (once every 2^31 packets)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    ESN 1		  </a:t>
            </a:r>
            <a:r>
              <a:rPr lang="en-US" dirty="0" smtClean="0"/>
              <a:t>ESN </a:t>
            </a:r>
            <a:r>
              <a:rPr lang="en-US" dirty="0"/>
              <a:t>2		  </a:t>
            </a:r>
            <a:r>
              <a:rPr lang="en-US" dirty="0" smtClean="0"/>
              <a:t>  ESN </a:t>
            </a:r>
            <a:r>
              <a:rPr lang="en-US" dirty="0"/>
              <a:t>3    </a:t>
            </a:r>
          </a:p>
          <a:p>
            <a:pPr marL="0" indent="0">
              <a:buNone/>
            </a:pPr>
            <a:r>
              <a:rPr lang="en-US" dirty="0"/>
              <a:t>|-------------*-------------|-------------*-------------|-------------*-------------|</a:t>
            </a:r>
          </a:p>
          <a:p>
            <a:pPr marL="0" indent="0">
              <a:buNone/>
            </a:pPr>
            <a:r>
              <a:rPr lang="en-US" dirty="0"/>
              <a:t>^             </a:t>
            </a:r>
            <a:r>
              <a:rPr lang="en-US" dirty="0" smtClean="0"/>
              <a:t>  ^               ^               ^               ^                ^               ^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^ </a:t>
            </a:r>
            <a:r>
              <a:rPr lang="en-US" dirty="0"/>
              <a:t>- marks where to call </a:t>
            </a:r>
            <a:r>
              <a:rPr lang="en-US" dirty="0" smtClean="0"/>
              <a:t>HW </a:t>
            </a:r>
            <a:r>
              <a:rPr lang="en-US" dirty="0"/>
              <a:t>to update the ESN state machine.</a:t>
            </a:r>
          </a:p>
          <a:p>
            <a:r>
              <a:rPr lang="en-US" dirty="0"/>
              <a:t>| - marks the start of the ESN scope (0-2^32-1). When the bottom of the replay window crosses this point move overlap to zero and increment ESN.</a:t>
            </a:r>
          </a:p>
          <a:p>
            <a:r>
              <a:rPr lang="en-US" dirty="0"/>
              <a:t>* - marks the middle of the ESN scope (2^31). When the bottom of the replay window crosses this point move overlap to one.</a:t>
            </a:r>
          </a:p>
          <a:p>
            <a:pPr marL="0" indent="0">
              <a:buNone/>
            </a:pPr>
            <a:endParaRPr lang="en-US" dirty="0" smtClean="0"/>
          </a:p>
          <a:p>
            <a:pPr marL="342900" indent="-342900"/>
            <a:endParaRPr lang="en-US" dirty="0" smtClean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264643"/>
              </p:ext>
            </p:extLst>
          </p:nvPr>
        </p:nvGraphicFramePr>
        <p:xfrm>
          <a:off x="12636499" y="1549940"/>
          <a:ext cx="1022351" cy="19457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2351"/>
              </a:tblGrid>
              <a:tr h="4914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SPI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</a:tr>
              <a:tr h="4914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SEQ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</a:tr>
              <a:tr h="9627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IV (ESN)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439650" y="1158141"/>
            <a:ext cx="1323975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b="0" dirty="0" smtClean="0"/>
              <a:t>Send-side </a:t>
            </a:r>
            <a:br>
              <a:rPr lang="en-US" sz="1200" b="0" dirty="0" smtClean="0"/>
            </a:br>
            <a:r>
              <a:rPr lang="en-US" sz="1200" b="0" dirty="0" smtClean="0"/>
              <a:t>ESP header</a:t>
            </a:r>
            <a:endParaRPr lang="en-US" sz="1200" b="0" dirty="0"/>
          </a:p>
        </p:txBody>
      </p:sp>
      <p:sp>
        <p:nvSpPr>
          <p:cNvPr id="6" name="Rectangle 5"/>
          <p:cNvSpPr/>
          <p:nvPr/>
        </p:nvSpPr>
        <p:spPr bwMode="auto">
          <a:xfrm>
            <a:off x="391919" y="4445060"/>
            <a:ext cx="8607115" cy="1063641"/>
          </a:xfrm>
          <a:prstGeom prst="rect">
            <a:avLst/>
          </a:prstGeom>
          <a:noFill/>
          <a:ln w="50800" cmpd="sng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643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Rx </a:t>
            </a:r>
            <a:r>
              <a:rPr lang="en-US" dirty="0" smtClean="0"/>
              <a:t>trailer removal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dirty="0"/>
              <a:t>Rx trailer </a:t>
            </a:r>
            <a:r>
              <a:rPr lang="en-US" dirty="0" smtClean="0"/>
              <a:t>removal </a:t>
            </a:r>
            <a:r>
              <a:rPr lang="en-US" dirty="0" smtClean="0"/>
              <a:t>improves </a:t>
            </a:r>
            <a:r>
              <a:rPr lang="en-US" dirty="0" smtClean="0"/>
              <a:t>performance by 10</a:t>
            </a:r>
            <a:r>
              <a:rPr lang="en-US" dirty="0" smtClean="0"/>
              <a:t>%</a:t>
            </a:r>
          </a:p>
          <a:p>
            <a:pPr marL="682625" lvl="1" indent="-342900"/>
            <a:r>
              <a:rPr lang="en-US" dirty="0" smtClean="0"/>
              <a:t>From 23.6Gbps to 25.5Gbps on </a:t>
            </a:r>
            <a:r>
              <a:rPr lang="en-US" dirty="0" err="1" smtClean="0"/>
              <a:t>iperf</a:t>
            </a:r>
            <a:endParaRPr lang="en-US" dirty="0" smtClean="0"/>
          </a:p>
          <a:p>
            <a:pPr marL="682625" lvl="1" indent="-342900"/>
            <a:r>
              <a:rPr lang="en-US" dirty="0" smtClean="0"/>
              <a:t>No </a:t>
            </a:r>
            <a:r>
              <a:rPr lang="en-US" dirty="0" smtClean="0"/>
              <a:t>need to access the end of the packet -&gt; Save 1-2 cache line accesses per packet</a:t>
            </a:r>
          </a:p>
          <a:p>
            <a:pPr marL="342900" indent="-342900"/>
            <a:r>
              <a:rPr lang="en-US" dirty="0" smtClean="0"/>
              <a:t>Next-header field is placed in </a:t>
            </a:r>
            <a:r>
              <a:rPr lang="en-US" dirty="0" err="1" smtClean="0"/>
              <a:t>xfrm_offload</a:t>
            </a:r>
            <a:r>
              <a:rPr lang="en-US" dirty="0" smtClean="0"/>
              <a:t>(</a:t>
            </a:r>
            <a:r>
              <a:rPr lang="en-US" dirty="0" err="1" smtClean="0"/>
              <a:t>skb</a:t>
            </a:r>
            <a:r>
              <a:rPr lang="en-US" dirty="0" smtClean="0"/>
              <a:t>)</a:t>
            </a:r>
          </a:p>
          <a:p>
            <a:pPr marL="342900" indent="-342900"/>
            <a:r>
              <a:rPr lang="en-US" dirty="0" err="1" smtClean="0"/>
              <a:t>Tcpdump</a:t>
            </a:r>
            <a:r>
              <a:rPr lang="en-US" dirty="0" smtClean="0"/>
              <a:t> will never see trailer</a:t>
            </a:r>
          </a:p>
          <a:p>
            <a:pPr marL="342900" indent="-342900"/>
            <a:endParaRPr lang="en-US" dirty="0" smtClean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00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Encapsulations inside encapsulations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dirty="0" smtClean="0"/>
              <a:t>In virtualized environments ESP is </a:t>
            </a:r>
            <a:r>
              <a:rPr lang="en-US" dirty="0" err="1" smtClean="0"/>
              <a:t>overlayed</a:t>
            </a:r>
            <a:r>
              <a:rPr lang="en-US" dirty="0" smtClean="0"/>
              <a:t> with VXLAN/GRE/etc.</a:t>
            </a:r>
          </a:p>
          <a:p>
            <a:pPr marL="682625" lvl="1" indent="-342900"/>
            <a:r>
              <a:rPr lang="en-US" dirty="0" smtClean="0"/>
              <a:t>i.e. [VXLAN | ESP | </a:t>
            </a:r>
            <a:r>
              <a:rPr lang="en-US" dirty="0"/>
              <a:t>TCP] or </a:t>
            </a:r>
            <a:r>
              <a:rPr lang="en-US" dirty="0" smtClean="0"/>
              <a:t>[GRE </a:t>
            </a:r>
            <a:r>
              <a:rPr lang="en-US" dirty="0"/>
              <a:t>| ESP | TCP</a:t>
            </a:r>
            <a:r>
              <a:rPr lang="en-US" dirty="0" smtClean="0"/>
              <a:t>]</a:t>
            </a:r>
          </a:p>
          <a:p>
            <a:pPr marL="342900" indent="-342900"/>
            <a:r>
              <a:rPr lang="en-US" dirty="0" smtClean="0"/>
              <a:t>We suggest to advertise support for crypto offload on the overlay device</a:t>
            </a:r>
          </a:p>
          <a:p>
            <a:pPr marL="682625" lvl="1" indent="-342900"/>
            <a:r>
              <a:rPr lang="en-US" dirty="0" err="1" smtClean="0"/>
              <a:t>xdo_dev_state_add</a:t>
            </a:r>
            <a:r>
              <a:rPr lang="en-US" dirty="0" smtClean="0"/>
              <a:t>/del called from the upper device until the physical device.</a:t>
            </a:r>
          </a:p>
          <a:p>
            <a:pPr marL="342900" indent="-342900"/>
            <a:endParaRPr lang="en-US" dirty="0" smtClean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90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– single stream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42900" indent="-342900"/>
            <a:endParaRPr lang="en-US" b="1" u="sng" dirty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8410273"/>
              </p:ext>
            </p:extLst>
          </p:nvPr>
        </p:nvGraphicFramePr>
        <p:xfrm>
          <a:off x="566960" y="1247338"/>
          <a:ext cx="12983939" cy="6512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487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IPsec full offload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Full offload will be supported in Connectx6-Lx</a:t>
            </a:r>
          </a:p>
          <a:p>
            <a:pPr marL="342900" indent="-342900"/>
            <a:endParaRPr lang="en-US" dirty="0"/>
          </a:p>
          <a:p>
            <a:pPr marL="0" indent="0">
              <a:buNone/>
            </a:pPr>
            <a:r>
              <a:rPr lang="en-US" b="1" u="sng" dirty="0" smtClean="0"/>
              <a:t>Requirements to move from partial offload to full offload:</a:t>
            </a:r>
            <a:endParaRPr lang="en-US" b="1" u="sng" dirty="0"/>
          </a:p>
          <a:p>
            <a:pPr marL="342900" indent="-342900"/>
            <a:r>
              <a:rPr lang="en-US" dirty="0" smtClean="0"/>
              <a:t>ESP </a:t>
            </a:r>
            <a:r>
              <a:rPr lang="en-US" dirty="0" err="1" smtClean="0"/>
              <a:t>Decapsulation</a:t>
            </a:r>
            <a:r>
              <a:rPr lang="en-US" dirty="0" smtClean="0"/>
              <a:t>/Encapsulation</a:t>
            </a:r>
          </a:p>
          <a:p>
            <a:pPr marL="342900" indent="-342900"/>
            <a:r>
              <a:rPr lang="en-US" dirty="0" smtClean="0"/>
              <a:t>Replay protection</a:t>
            </a:r>
          </a:p>
          <a:p>
            <a:pPr marL="342900" indent="-342900"/>
            <a:r>
              <a:rPr lang="en-US" dirty="0" smtClean="0"/>
              <a:t>IPsec Policy</a:t>
            </a:r>
          </a:p>
          <a:p>
            <a:pPr marL="342900" indent="-342900"/>
            <a:endParaRPr lang="en-US" dirty="0"/>
          </a:p>
          <a:p>
            <a:pPr marL="0" indent="0">
              <a:buNone/>
            </a:pPr>
            <a:r>
              <a:rPr lang="en-US" b="1" u="sng" dirty="0" smtClean="0"/>
              <a:t>Benefits of full offload:</a:t>
            </a:r>
          </a:p>
          <a:p>
            <a:pPr marL="342900" indent="-342900"/>
            <a:r>
              <a:rPr lang="en-US" dirty="0" smtClean="0"/>
              <a:t>SRIOV – Hypervisor can configure IPsec for all guests. Guests are unaware of IPsec.</a:t>
            </a:r>
          </a:p>
          <a:p>
            <a:pPr marL="342900" indent="-342900"/>
            <a:r>
              <a:rPr lang="en-US" dirty="0" smtClean="0"/>
              <a:t>RSS according to inner fields</a:t>
            </a:r>
          </a:p>
          <a:p>
            <a:pPr marL="342900" indent="-342900"/>
            <a:r>
              <a:rPr lang="en-US" dirty="0" smtClean="0"/>
              <a:t>LRO</a:t>
            </a:r>
          </a:p>
          <a:p>
            <a:pPr marL="342900" indent="-342900"/>
            <a:r>
              <a:rPr lang="en-US" dirty="0" smtClean="0"/>
              <a:t>ESP encapsulation with any other supported </a:t>
            </a:r>
            <a:r>
              <a:rPr lang="en-US" dirty="0" smtClean="0"/>
              <a:t>encapsulation offload</a:t>
            </a:r>
            <a:endParaRPr lang="en-US" b="1" u="sng" dirty="0" smtClean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548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IPsec full offload – control path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/>
            <a:r>
              <a:rPr lang="en-US" dirty="0"/>
              <a:t>Driver is called </a:t>
            </a:r>
            <a:r>
              <a:rPr lang="en-US" dirty="0" smtClean="0"/>
              <a:t>anytime a Security Association or </a:t>
            </a:r>
            <a:r>
              <a:rPr lang="en-US" b="1" dirty="0" smtClean="0"/>
              <a:t>Security Policy </a:t>
            </a:r>
            <a:r>
              <a:rPr lang="en-US" dirty="0"/>
              <a:t>is added/deleted</a:t>
            </a:r>
            <a:r>
              <a:rPr lang="en-US" dirty="0" smtClean="0"/>
              <a:t>.</a:t>
            </a:r>
          </a:p>
          <a:p>
            <a:pPr marL="682625" lvl="1" indent="-342900"/>
            <a:r>
              <a:rPr lang="en-US" dirty="0" smtClean="0"/>
              <a:t>Do we need anything else?</a:t>
            </a:r>
            <a:endParaRPr lang="en-US" dirty="0"/>
          </a:p>
          <a:p>
            <a:pPr marL="339725" lvl="1" indent="0">
              <a:buNone/>
            </a:pPr>
            <a:endParaRPr lang="en-US" dirty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77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IPsec full offload – data path exceptions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/>
            <a:r>
              <a:rPr lang="en-US" dirty="0" smtClean="0"/>
              <a:t>HW will pass </a:t>
            </a:r>
            <a:r>
              <a:rPr lang="en-US" dirty="0"/>
              <a:t>IP </a:t>
            </a:r>
            <a:r>
              <a:rPr lang="en-US" dirty="0" smtClean="0"/>
              <a:t>fragmented packets to the hypervisor without processing</a:t>
            </a:r>
          </a:p>
          <a:p>
            <a:pPr marL="682625" lvl="1" indent="-342900"/>
            <a:r>
              <a:rPr lang="en-US" dirty="0" smtClean="0"/>
              <a:t>Software needs an interface to get/set </a:t>
            </a:r>
            <a:r>
              <a:rPr lang="en-US" dirty="0"/>
              <a:t>HW </a:t>
            </a:r>
            <a:r>
              <a:rPr lang="en-US" dirty="0" smtClean="0"/>
              <a:t>replay-protection</a:t>
            </a:r>
          </a:p>
          <a:p>
            <a:pPr marL="682625" lvl="1" indent="-342900"/>
            <a:r>
              <a:rPr lang="en-US" dirty="0" smtClean="0"/>
              <a:t>Another option is to drop IP fragments</a:t>
            </a:r>
          </a:p>
          <a:p>
            <a:pPr marL="0" indent="0">
              <a:buNone/>
            </a:pPr>
            <a:endParaRPr lang="en-US" dirty="0"/>
          </a:p>
          <a:p>
            <a:pPr marL="342900" indent="-342900"/>
            <a:r>
              <a:rPr lang="en-US" dirty="0" smtClean="0"/>
              <a:t>Hypervisor will forward packets to guest after handling the exception</a:t>
            </a:r>
          </a:p>
          <a:p>
            <a:pPr marL="682625" lvl="1" indent="-342900"/>
            <a:r>
              <a:rPr lang="en-US" dirty="0" smtClean="0"/>
              <a:t>Similar to OVS offload slow-path</a:t>
            </a:r>
          </a:p>
          <a:p>
            <a:pPr marL="682625" lvl="1" indent="-342900"/>
            <a:endParaRPr lang="en-US" dirty="0"/>
          </a:p>
          <a:p>
            <a:pPr marL="342900" indent="-342900"/>
            <a:endParaRPr lang="en-US" dirty="0" smtClean="0"/>
          </a:p>
          <a:p>
            <a:pPr marL="342900" indent="-342900"/>
            <a:endParaRPr lang="en-US" b="1" u="sng" dirty="0"/>
          </a:p>
          <a:p>
            <a:pPr marL="342900" indent="-342900"/>
            <a:endParaRPr lang="en-US" b="1" u="sng" dirty="0" smtClean="0"/>
          </a:p>
          <a:p>
            <a:pPr marL="342900" indent="-342900"/>
            <a:endParaRPr lang="en-US" b="1" u="sng" dirty="0" smtClean="0"/>
          </a:p>
          <a:p>
            <a:pPr marL="342900" indent="-3429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405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3"/>
          </p:nvPr>
        </p:nvSpPr>
        <p:spPr>
          <a:xfrm>
            <a:off x="571969" y="6780943"/>
            <a:ext cx="8515772" cy="912345"/>
          </a:xfrm>
        </p:spPr>
        <p:txBody>
          <a:bodyPr/>
          <a:lstStyle/>
          <a:p>
            <a:r>
              <a:rPr lang="en-US" sz="66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9443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llanoxTheme2">
  <a:themeElements>
    <a:clrScheme name="Custom 1">
      <a:dk1>
        <a:srgbClr val="000000"/>
      </a:dk1>
      <a:lt1>
        <a:srgbClr val="FFFFFF"/>
      </a:lt1>
      <a:dk2>
        <a:srgbClr val="002B60"/>
      </a:dk2>
      <a:lt2>
        <a:srgbClr val="50A1D6"/>
      </a:lt2>
      <a:accent1>
        <a:srgbClr val="00518E"/>
      </a:accent1>
      <a:accent2>
        <a:srgbClr val="5DA533"/>
      </a:accent2>
      <a:accent3>
        <a:srgbClr val="EF9314"/>
      </a:accent3>
      <a:accent4>
        <a:srgbClr val="FF5A00"/>
      </a:accent4>
      <a:accent5>
        <a:srgbClr val="E33D12"/>
      </a:accent5>
      <a:accent6>
        <a:srgbClr val="49305F"/>
      </a:accent6>
      <a:hlink>
        <a:srgbClr val="00518E"/>
      </a:hlink>
      <a:folHlink>
        <a:srgbClr val="4E575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>
          <a:noFill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  <a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a:style>
    </a:spDef>
    <a:lnDef>
      <a:spPr bwMode="auto">
        <a:solidFill>
          <a:schemeClr val="accent1"/>
        </a:solidFill>
        <a:ln w="12700" cap="flat" cmpd="sng" algn="ctr">
          <a:solidFill>
            <a:schemeClr val="accent1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lIns="0" tIns="0" rIns="0" bIns="0" rtlCol="0" anchor="ctr" anchorCtr="0">
        <a:spAutoFit/>
      </a:bodyPr>
      <a:lstStyle>
        <a:defPPr algn="ctr">
          <a:defRPr sz="1200" b="0" dirty="0"/>
        </a:defPPr>
      </a:lstStyle>
    </a:txDef>
  </a:objectDefaults>
  <a:extraClrSchemeLst>
    <a:extraClrScheme>
      <a:clrScheme name="mlnx_new_temp_200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3">
        <a:dk1>
          <a:srgbClr val="000000"/>
        </a:dk1>
        <a:lt1>
          <a:srgbClr val="FFFFFF"/>
        </a:lt1>
        <a:dk2>
          <a:srgbClr val="000066"/>
        </a:dk2>
        <a:lt2>
          <a:srgbClr val="000000"/>
        </a:lt2>
        <a:accent1>
          <a:srgbClr val="000066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14">
        <a:dk1>
          <a:srgbClr val="000000"/>
        </a:dk1>
        <a:lt1>
          <a:srgbClr val="FFFFFF"/>
        </a:lt1>
        <a:dk2>
          <a:srgbClr val="000066"/>
        </a:dk2>
        <a:lt2>
          <a:srgbClr val="000000"/>
        </a:lt2>
        <a:accent1>
          <a:srgbClr val="0000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E78A2D"/>
        </a:accent6>
        <a:hlink>
          <a:srgbClr val="4D4D4D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971958029AC94B927C9D744D383D69" ma:contentTypeVersion="9" ma:contentTypeDescription="Create a new document." ma:contentTypeScope="" ma:versionID="3a30572a6bfdabee1d7e937dc5bee9e9">
  <xsd:schema xmlns:xsd="http://www.w3.org/2001/XMLSchema" xmlns:xs="http://www.w3.org/2001/XMLSchema" xmlns:p="http://schemas.microsoft.com/office/2006/metadata/properties" xmlns:ns2="6c79c3cc-6104-4721-8d0f-dcd12c31a59c" xmlns:ns3="f6932a1d-93ab-44e9-9070-3c8e591f0422" targetNamespace="http://schemas.microsoft.com/office/2006/metadata/properties" ma:root="true" ma:fieldsID="a5a417fd9294f7f98897fe022ed95b06" ns2:_="" ns3:_="">
    <xsd:import namespace="6c79c3cc-6104-4721-8d0f-dcd12c31a59c"/>
    <xsd:import namespace="f6932a1d-93ab-44e9-9070-3c8e591f0422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TaxCatchAll" minOccurs="0"/>
                <xsd:element ref="ns3:ob0f2669c25f4d35b84445d1e0d91f54" minOccurs="0"/>
                <xsd:element ref="ns3:i3c7b412a0c043c5aa4ce8272439ba40" minOccurs="0"/>
                <xsd:element ref="ns3:lc15ae86e2914bd38ef0beeaac5fd0f8" minOccurs="0"/>
                <xsd:element ref="ns3:gb7abbf445624acab0945d5162548443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79c3cc-6104-4721-8d0f-dcd12c31a59c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932a1d-93ab-44e9-9070-3c8e591f0422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description="" ma:hidden="true" ma:list="{1b93c3f5-aa71-4546-84d5-69811ed3e136}" ma:internalName="TaxCatchAll" ma:showField="CatchAllData" ma:web="3eed3c37-5613-432a-ab2b-e3b1abeb611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b0f2669c25f4d35b84445d1e0d91f54" ma:index="12" nillable="true" ma:taxonomy="true" ma:internalName="ob0f2669c25f4d35b84445d1e0d91f54" ma:taxonomyFieldName="Document_Type" ma:displayName="Document Type" ma:readOnly="false" ma:default="" ma:fieldId="{8b0f2669-c25f-4d35-b844-45d1e0d91f54}" ma:sspId="5ef4f091-9e57-4986-983b-3928e86d97f4" ma:termSetId="1300fbf2-f4c5-4efa-87b7-0737e7ecd0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3c7b412a0c043c5aa4ce8272439ba40" ma:index="13" nillable="true" ma:taxonomy="true" ma:internalName="i3c7b412a0c043c5aa4ce8272439ba40" ma:taxonomyFieldName="Product_x0020_Category" ma:displayName="Product Category" ma:readOnly="false" ma:default="" ma:fieldId="{23c7b412-a0c0-43c5-aa4c-e8272439ba40}" ma:sspId="5ef4f091-9e57-4986-983b-3928e86d97f4" ma:termSetId="a1bb132f-0df5-48c4-aa07-bebcb1b1aaa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15ae86e2914bd38ef0beeaac5fd0f8" ma:index="14" nillable="true" ma:taxonomy="true" ma:internalName="lc15ae86e2914bd38ef0beeaac5fd0f8" ma:taxonomyFieldName="Product_x0020_Family" ma:displayName="Product Family" ma:readOnly="false" ma:default="" ma:fieldId="{5c15ae86-e291-4bd3-8ef0-beeaac5fd0f8}" ma:sspId="5ef4f091-9e57-4986-983b-3928e86d97f4" ma:termSetId="1c43c893-65fb-4ac6-a007-c61ef019f1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b7abbf445624acab0945d5162548443" ma:index="15" nillable="true" ma:taxonomy="true" ma:internalName="gb7abbf445624acab0945d5162548443" ma:taxonomyFieldName="Product_x0020_Name" ma:displayName="Product Name" ma:default="" ma:fieldId="{0b7abbf4-4562-4aca-b094-5d5162548443}" ma:sspId="5ef4f091-9e57-4986-983b-3928e86d97f4" ma:termSetId="58851ee2-bdc0-4a0f-bab8-9403bd807dcf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b7abbf445624acab0945d5162548443 xmlns="f6932a1d-93ab-44e9-9070-3c8e591f0422">
      <Terms xmlns="http://schemas.microsoft.com/office/infopath/2007/PartnerControls"/>
    </gb7abbf445624acab0945d5162548443>
    <i3c7b412a0c043c5aa4ce8272439ba40 xmlns="f6932a1d-93ab-44e9-9070-3c8e591f0422">
      <Terms xmlns="http://schemas.microsoft.com/office/infopath/2007/PartnerControls"/>
    </i3c7b412a0c043c5aa4ce8272439ba40>
    <ob0f2669c25f4d35b84445d1e0d91f54 xmlns="f6932a1d-93ab-44e9-9070-3c8e591f0422">
      <Terms xmlns="http://schemas.microsoft.com/office/infopath/2007/PartnerControls"/>
    </ob0f2669c25f4d35b84445d1e0d91f54>
    <TaxCatchAll xmlns="f6932a1d-93ab-44e9-9070-3c8e591f0422"/>
    <lc15ae86e2914bd38ef0beeaac5fd0f8 xmlns="f6932a1d-93ab-44e9-9070-3c8e591f0422">
      <Terms xmlns="http://schemas.microsoft.com/office/infopath/2007/PartnerControls"/>
    </lc15ae86e2914bd38ef0beeaac5fd0f8>
    <_dlc_DocId xmlns="6c79c3cc-6104-4721-8d0f-dcd12c31a59c">MLNX1-44-187</_dlc_DocId>
    <_dlc_DocIdUrl xmlns="6c79c3cc-6104-4721-8d0f-dcd12c31a59c">
      <Url>https://portalx.mellanox.com/sites/Architecture/SWArch/AdvancedDev/_layouts/15/DocIdRedir.aspx?ID=MLNX1-44-187</Url>
      <Description>MLNX1-44-187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089C51C7-602C-4E57-8E0A-968AE79727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79c3cc-6104-4721-8d0f-dcd12c31a59c"/>
    <ds:schemaRef ds:uri="f6932a1d-93ab-44e9-9070-3c8e591f04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025844-E1B7-41CF-83BC-8E26C162966B}">
  <ds:schemaRefs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f6932a1d-93ab-44e9-9070-3c8e591f0422"/>
    <ds:schemaRef ds:uri="6c79c3cc-6104-4721-8d0f-dcd12c31a59c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6E117725-7844-4D54-9562-47FD3E7AE5A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802952A-FDD0-480D-96C3-A6EDE261221D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28875</TotalTime>
  <Words>458</Words>
  <Application>Microsoft Office PowerPoint</Application>
  <PresentationFormat>Custom</PresentationFormat>
  <Paragraphs>129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MS PGothic</vt:lpstr>
      <vt:lpstr>Arial</vt:lpstr>
      <vt:lpstr>Arial Narrow Bold</vt:lpstr>
      <vt:lpstr>Calibri</vt:lpstr>
      <vt:lpstr>Cambria Math</vt:lpstr>
      <vt:lpstr>Lucida Grande</vt:lpstr>
      <vt:lpstr>Wingdings</vt:lpstr>
      <vt:lpstr>MellanoxTheme2</vt:lpstr>
      <vt:lpstr>IPsec Update</vt:lpstr>
      <vt:lpstr>Overview</vt:lpstr>
      <vt:lpstr>A Problem with Sequence numbers</vt:lpstr>
      <vt:lpstr>Extended Sequence Numbers</vt:lpstr>
      <vt:lpstr>ESN</vt:lpstr>
      <vt:lpstr>Rx trailer removal</vt:lpstr>
      <vt:lpstr>Encapsulations inside encapsulations</vt:lpstr>
      <vt:lpstr>Performance – single stream</vt:lpstr>
      <vt:lpstr>IPsec full offload</vt:lpstr>
      <vt:lpstr>IPsec full offload – control path</vt:lpstr>
      <vt:lpstr>IPsec full offload – data path exceptions</vt:lpstr>
      <vt:lpstr>PowerPoint Presentation</vt:lpstr>
    </vt:vector>
  </TitlesOfParts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Containers ramp-up</dc:title>
  <dc:creator>adv-dev</dc:creator>
  <cp:lastModifiedBy>Boris Pismenny</cp:lastModifiedBy>
  <cp:revision>2053</cp:revision>
  <cp:lastPrinted>2012-11-12T23:29:59Z</cp:lastPrinted>
  <dcterms:created xsi:type="dcterms:W3CDTF">2011-02-19T01:27:26Z</dcterms:created>
  <dcterms:modified xsi:type="dcterms:W3CDTF">2017-10-30T20:37:29Z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0x010100CE971958029AC94B927C9D744D383D69</vt:lpwstr>
  </property>
  <property fmtid="{D5CDD505-2E9C-101B-9397-08002B2CF9AE}" pid="3" name="Product_x0020_Family">
    <vt:lpwstr/>
  </property>
  <property fmtid="{D5CDD505-2E9C-101B-9397-08002B2CF9AE}" pid="4" name="Document_Type">
    <vt:lpwstr/>
  </property>
  <property fmtid="{D5CDD505-2E9C-101B-9397-08002B2CF9AE}" pid="5" name="Product_x0020_Category">
    <vt:lpwstr/>
  </property>
  <property fmtid="{D5CDD505-2E9C-101B-9397-08002B2CF9AE}" pid="6" name="Product_x0020_Name">
    <vt:lpwstr/>
  </property>
  <property fmtid="{D5CDD505-2E9C-101B-9397-08002B2CF9AE}" pid="7" name="Product Family">
    <vt:lpwstr/>
  </property>
  <property fmtid="{D5CDD505-2E9C-101B-9397-08002B2CF9AE}" pid="8" name="Product Category">
    <vt:lpwstr/>
  </property>
  <property fmtid="{D5CDD505-2E9C-101B-9397-08002B2CF9AE}" pid="9" name="Product Name">
    <vt:lpwstr/>
  </property>
  <property fmtid="{D5CDD505-2E9C-101B-9397-08002B2CF9AE}" pid="10" name="Approvers">
    <vt:lpwstr/>
  </property>
  <property fmtid="{D5CDD505-2E9C-101B-9397-08002B2CF9AE}" pid="11" name="_dlc_DocIdItemGuid">
    <vt:lpwstr>7aa852af-c4c9-4bc8-ae5b-6b8d06e97c7a</vt:lpwstr>
  </property>
</Properties>
</file>