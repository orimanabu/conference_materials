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285" r:id="rId4"/>
  </p:sldMasterIdLst>
  <p:notesMasterIdLst>
    <p:notesMasterId r:id="rId30"/>
  </p:notesMasterIdLst>
  <p:handoutMasterIdLst>
    <p:handoutMasterId r:id="rId31"/>
  </p:handoutMasterIdLst>
  <p:sldIdLst>
    <p:sldId id="637" r:id="rId5"/>
    <p:sldId id="651" r:id="rId6"/>
    <p:sldId id="650" r:id="rId7"/>
    <p:sldId id="648" r:id="rId8"/>
    <p:sldId id="646" r:id="rId9"/>
    <p:sldId id="647" r:id="rId10"/>
    <p:sldId id="652" r:id="rId11"/>
    <p:sldId id="653" r:id="rId12"/>
    <p:sldId id="654" r:id="rId13"/>
    <p:sldId id="655" r:id="rId14"/>
    <p:sldId id="658" r:id="rId15"/>
    <p:sldId id="657" r:id="rId16"/>
    <p:sldId id="660" r:id="rId17"/>
    <p:sldId id="661" r:id="rId18"/>
    <p:sldId id="662" r:id="rId19"/>
    <p:sldId id="670" r:id="rId20"/>
    <p:sldId id="665" r:id="rId21"/>
    <p:sldId id="663" r:id="rId22"/>
    <p:sldId id="638" r:id="rId23"/>
    <p:sldId id="664" r:id="rId24"/>
    <p:sldId id="666" r:id="rId25"/>
    <p:sldId id="668" r:id="rId26"/>
    <p:sldId id="667" r:id="rId27"/>
    <p:sldId id="669" r:id="rId28"/>
    <p:sldId id="574" r:id="rId29"/>
  </p:sldIdLst>
  <p:sldSz cx="14630400" cy="8229600"/>
  <p:notesSz cx="9296400" cy="7010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652462" indent="-195262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1304925" indent="-390525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958974" indent="-587374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2611438" indent="-782638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5CA533"/>
    <a:srgbClr val="001946"/>
    <a:srgbClr val="263951"/>
    <a:srgbClr val="009D96"/>
    <a:srgbClr val="AFCA24"/>
    <a:srgbClr val="DAE9B3"/>
    <a:srgbClr val="CC4D16"/>
    <a:srgbClr val="EF9310"/>
    <a:srgbClr val="53E6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45" autoAdjust="0"/>
  </p:normalViewPr>
  <p:slideViewPr>
    <p:cSldViewPr snapToGrid="0">
      <p:cViewPr varScale="1">
        <p:scale>
          <a:sx n="86" d="100"/>
          <a:sy n="86" d="100"/>
        </p:scale>
        <p:origin x="132" y="306"/>
      </p:cViewPr>
      <p:guideLst>
        <p:guide orient="horz" pos="2592"/>
        <p:guide pos="46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67118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8095EEA3-525F-7F4B-8B73-3F9E7D9982C6}" type="datetime1">
              <a:rPr lang="en-US"/>
              <a:pPr>
                <a:defRPr/>
              </a:pPr>
              <a:t>11/1/2017</a:t>
            </a:fld>
            <a:endParaRPr lang="en-US" dirty="0"/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84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67118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57ED2BC3-F589-CD45-B2EF-3C13F1507F1F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7474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67118" y="0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EE831723-7541-DC4C-9A30-FC10FB29D011}" type="datetime1">
              <a:rPr lang="en-US"/>
              <a:pPr>
                <a:defRPr/>
              </a:pPr>
              <a:t>11/1/2017</a:t>
            </a:fld>
            <a:endParaRPr lang="en-US" dirty="0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312988" y="527050"/>
            <a:ext cx="4672012" cy="26273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1638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378" y="3329222"/>
            <a:ext cx="7439646" cy="3154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639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defTabSz="931769">
              <a:defRPr sz="1200" b="0" dirty="0">
                <a:latin typeface="Arial" charset="0"/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639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67118" y="6658443"/>
            <a:ext cx="4027178" cy="350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65" tIns="46583" rIns="93165" bIns="46583" numCol="1" anchor="b" anchorCtr="0" compatLnSpc="1">
            <a:prstTxWarp prst="textNoShape">
              <a:avLst/>
            </a:prstTxWarp>
          </a:bodyPr>
          <a:lstStyle>
            <a:lvl1pPr algn="r" defTabSz="931769">
              <a:defRPr sz="1200" b="0">
                <a:ea typeface="+mn-ea"/>
                <a:cs typeface="Arial" charset="0"/>
              </a:defRPr>
            </a:lvl1pPr>
          </a:lstStyle>
          <a:p>
            <a:pPr>
              <a:defRPr/>
            </a:pPr>
            <a:fld id="{7023F7C0-8181-5241-967D-41CF93AC32E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1825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652462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3pPr>
    <a:lvl4pPr marL="1958974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800" kern="1200">
        <a:solidFill>
          <a:schemeClr val="tx1"/>
        </a:solidFill>
        <a:latin typeface="Arial" charset="0"/>
        <a:ea typeface="Arial" pitchFamily="36" charset="0"/>
        <a:cs typeface="Arial" charset="0"/>
      </a:defRPr>
    </a:lvl5pPr>
    <a:lvl6pPr marL="3265389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3918466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571542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224621" algn="l" defTabSz="1306155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229_PPT_CoverSlide_rev2d.jp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4630400" cy="643737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4906"/>
          <a:stretch/>
        </p:blipFill>
        <p:spPr>
          <a:xfrm>
            <a:off x="2176" y="6278159"/>
            <a:ext cx="14628226" cy="195144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3" hasCustomPrompt="1"/>
          </p:nvPr>
        </p:nvSpPr>
        <p:spPr>
          <a:xfrm>
            <a:off x="473323" y="7281889"/>
            <a:ext cx="9381490" cy="389254"/>
          </a:xfrm>
          <a:ln>
            <a:noFill/>
          </a:ln>
        </p:spPr>
        <p:txBody>
          <a:bodyPr anchor="ctr">
            <a:noAutofit/>
          </a:bodyPr>
          <a:lstStyle>
            <a:lvl1pPr marL="0" indent="0" algn="l">
              <a:buClr>
                <a:schemeClr val="accent1"/>
              </a:buClr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Sub Title Slide Name Here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 hasCustomPrompt="1"/>
          </p:nvPr>
        </p:nvSpPr>
        <p:spPr>
          <a:xfrm>
            <a:off x="473323" y="7755256"/>
            <a:ext cx="4848225" cy="389254"/>
          </a:xfrm>
          <a:ln>
            <a:noFill/>
          </a:ln>
        </p:spPr>
        <p:txBody>
          <a:bodyPr anchor="ctr">
            <a:noAutofit/>
          </a:bodyPr>
          <a:lstStyle>
            <a:lvl1pPr marL="0" indent="0" algn="l">
              <a:buClr>
                <a:schemeClr val="accent1"/>
              </a:buClr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CONFERENCE NAME  I  YEAR DATE</a:t>
            </a:r>
            <a:endParaRPr lang="en-US" dirty="0"/>
          </a:p>
        </p:txBody>
      </p:sp>
      <p:sp>
        <p:nvSpPr>
          <p:cNvPr id="11" name="Title 3"/>
          <p:cNvSpPr>
            <a:spLocks noGrp="1"/>
          </p:cNvSpPr>
          <p:nvPr>
            <p:ph type="title"/>
          </p:nvPr>
        </p:nvSpPr>
        <p:spPr>
          <a:xfrm>
            <a:off x="473323" y="6324402"/>
            <a:ext cx="9392037" cy="866899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9339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66961" y="1247338"/>
            <a:ext cx="13436948" cy="6395446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648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 bwMode="auto">
          <a:xfrm>
            <a:off x="0" y="1054099"/>
            <a:ext cx="14630400" cy="7175501"/>
          </a:xfrm>
          <a:prstGeom prst="rect">
            <a:avLst/>
          </a:prstGeom>
          <a:solidFill>
            <a:srgbClr val="26395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1" hasCustomPrompt="1"/>
          </p:nvPr>
        </p:nvSpPr>
        <p:spPr>
          <a:xfrm>
            <a:off x="0" y="4316096"/>
            <a:ext cx="14630400" cy="855978"/>
          </a:xfrm>
          <a:ln>
            <a:noFill/>
          </a:ln>
        </p:spPr>
        <p:txBody>
          <a:bodyPr>
            <a:normAutofit/>
          </a:bodyPr>
          <a:lstStyle>
            <a:lvl1pPr marL="0" indent="0" algn="ctr">
              <a:buClr>
                <a:schemeClr val="accent1"/>
              </a:buClr>
              <a:buNone/>
              <a:defRPr sz="3200">
                <a:solidFill>
                  <a:schemeClr val="bg1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6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Sub Title Slide Name Here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3163326"/>
            <a:ext cx="14630400" cy="1050333"/>
          </a:xfrm>
        </p:spPr>
        <p:txBody>
          <a:bodyPr>
            <a:normAutofit/>
          </a:bodyPr>
          <a:lstStyle>
            <a:lvl1pPr algn="ctr"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95642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 4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-1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7413113" y="1239522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5"/>
          </p:nvPr>
        </p:nvSpPr>
        <p:spPr>
          <a:xfrm>
            <a:off x="555113" y="4658997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6"/>
          </p:nvPr>
        </p:nvSpPr>
        <p:spPr>
          <a:xfrm>
            <a:off x="7394063" y="4658997"/>
            <a:ext cx="6245738" cy="20466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3276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 Hori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-1"/>
            <a:ext cx="11798301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6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13532362" cy="260857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4"/>
          </p:nvPr>
        </p:nvSpPr>
        <p:spPr>
          <a:xfrm>
            <a:off x="564638" y="4506597"/>
            <a:ext cx="13532362" cy="260857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65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79846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0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6360037" cy="651382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7327388" y="1229997"/>
            <a:ext cx="6779137" cy="298957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5"/>
          </p:nvPr>
        </p:nvSpPr>
        <p:spPr>
          <a:xfrm>
            <a:off x="7336913" y="4487547"/>
            <a:ext cx="6779137" cy="327532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8062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0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574163" y="1239522"/>
            <a:ext cx="6360037" cy="6513828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7327388" y="1229996"/>
            <a:ext cx="6779137" cy="6529703"/>
          </a:xfrm>
          <a:ln>
            <a:noFill/>
          </a:ln>
        </p:spPr>
        <p:txBody>
          <a:bodyPr>
            <a:normAutofit/>
          </a:bodyPr>
          <a:lstStyle>
            <a:lvl1pPr>
              <a:buClr>
                <a:schemeClr val="bg2">
                  <a:lumMod val="75000"/>
                </a:schemeClr>
              </a:buClr>
              <a:defRPr sz="2400">
                <a:solidFill>
                  <a:schemeClr val="tx2"/>
                </a:solidFill>
              </a:defRPr>
            </a:lvl1pPr>
            <a:lvl2pPr>
              <a:buClr>
                <a:schemeClr val="tx1">
                  <a:lumMod val="75000"/>
                  <a:lumOff val="25000"/>
                </a:schemeClr>
              </a:buCl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4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829805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 noChangeArrowheads="1"/>
          </p:cNvSpPr>
          <p:nvPr>
            <p:ph type="title"/>
          </p:nvPr>
        </p:nvSpPr>
        <p:spPr bwMode="white">
          <a:xfrm>
            <a:off x="568960" y="0"/>
            <a:ext cx="11798301" cy="1040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3200" b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00877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197204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 bwMode="auto">
          <a:xfrm>
            <a:off x="0" y="0"/>
            <a:ext cx="14630400" cy="1181100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2025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llanox_PP_Page_banner.jpg"/>
          <p:cNvPicPr>
            <a:picLocks noChangeAspect="1"/>
          </p:cNvPicPr>
          <p:nvPr/>
        </p:nvPicPr>
        <p:blipFill>
          <a:blip r:embed="rId1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"/>
            <a:ext cx="14630400" cy="105410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auto">
          <a:xfrm>
            <a:off x="0" y="7897427"/>
            <a:ext cx="14630400" cy="33217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91440" tIns="45720" rIns="91440" bIns="45720"/>
          <a:lstStyle/>
          <a:p>
            <a:pPr>
              <a:defRPr/>
            </a:pPr>
            <a:endParaRPr lang="en-US" sz="1800" dirty="0">
              <a:solidFill>
                <a:schemeClr val="tx1"/>
              </a:solidFill>
              <a:latin typeface="Arial" charset="0"/>
              <a:cs typeface="Arial" charset="0"/>
            </a:endParaRPr>
          </a:p>
        </p:txBody>
      </p:sp>
      <p:sp>
        <p:nvSpPr>
          <p:cNvPr id="1028" name="Rectangle 8"/>
          <p:cNvSpPr>
            <a:spLocks noChangeArrowheads="1"/>
          </p:cNvSpPr>
          <p:nvPr/>
        </p:nvSpPr>
        <p:spPr bwMode="white">
          <a:xfrm>
            <a:off x="393705" y="7916866"/>
            <a:ext cx="10728325" cy="301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598" tIns="65298" rIns="130598" bIns="65298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0" dirty="0" smtClean="0">
                <a:solidFill>
                  <a:schemeClr val="bg1"/>
                </a:solidFill>
              </a:rPr>
              <a:t>© 2016 Mellanox Technologies		</a:t>
            </a:r>
            <a:r>
              <a:rPr lang="en-US" sz="1100" b="0" dirty="0">
                <a:solidFill>
                  <a:srgbClr val="000000"/>
                </a:solidFill>
              </a:rPr>
              <a:t>			</a:t>
            </a:r>
          </a:p>
        </p:txBody>
      </p:sp>
      <p:sp>
        <p:nvSpPr>
          <p:cNvPr id="1029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568326" y="0"/>
            <a:ext cx="11798301" cy="1050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3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8325" y="1239842"/>
            <a:ext cx="13696950" cy="6475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32" name="TextBox 11"/>
          <p:cNvSpPr txBox="1">
            <a:spLocks noChangeArrowheads="1"/>
          </p:cNvSpPr>
          <p:nvPr/>
        </p:nvSpPr>
        <p:spPr bwMode="auto">
          <a:xfrm>
            <a:off x="12255501" y="7916866"/>
            <a:ext cx="1909763" cy="3042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14" tIns="65309" rIns="130614" bIns="65309"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r" eaLnBrk="1" hangingPunct="1"/>
            <a:fld id="{7764118D-58D9-484E-865A-9D5019AA1089}" type="slidenum">
              <a:rPr lang="en-US" sz="1100" b="0">
                <a:solidFill>
                  <a:srgbClr val="FFFFFF"/>
                </a:solidFill>
              </a:rPr>
              <a:pPr algn="r" eaLnBrk="1" hangingPunct="1"/>
              <a:t>‹#›</a:t>
            </a:fld>
            <a:endParaRPr lang="en-US" sz="1100" b="0" dirty="0">
              <a:solidFill>
                <a:srgbClr val="FFFFFF"/>
              </a:solidFill>
            </a:endParaRPr>
          </a:p>
        </p:txBody>
      </p:sp>
      <p:pic>
        <p:nvPicPr>
          <p:cNvPr id="2" name="Picture 18"/>
          <p:cNvPicPr>
            <a:picLocks noChangeAspect="1"/>
          </p:cNvPicPr>
          <p:nvPr/>
        </p:nvPicPr>
        <p:blipFill rotWithShape="1">
          <a:blip r:embed="rId1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23"/>
          <a:stretch/>
        </p:blipFill>
        <p:spPr bwMode="auto">
          <a:xfrm>
            <a:off x="12907182" y="100012"/>
            <a:ext cx="1148248" cy="956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8"/>
          <p:cNvSpPr>
            <a:spLocks noChangeArrowheads="1"/>
          </p:cNvSpPr>
          <p:nvPr/>
        </p:nvSpPr>
        <p:spPr bwMode="white">
          <a:xfrm>
            <a:off x="0" y="7915752"/>
            <a:ext cx="14630400" cy="3011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30598" tIns="65298" rIns="130598" bIns="65298">
            <a:spAutoFit/>
          </a:bodyPr>
          <a:lstStyle/>
          <a:p>
            <a:pPr algn="ctr" eaLnBrk="0" hangingPunct="0"/>
            <a:r>
              <a:rPr lang="en-US" sz="1100" b="0" dirty="0" smtClean="0">
                <a:solidFill>
                  <a:schemeClr val="bg1"/>
                </a:solidFill>
              </a:rPr>
              <a:t>-</a:t>
            </a:r>
            <a:r>
              <a:rPr lang="en-US" sz="1100" b="0" baseline="0" dirty="0" smtClean="0">
                <a:solidFill>
                  <a:schemeClr val="bg1"/>
                </a:solidFill>
              </a:rPr>
              <a:t> </a:t>
            </a:r>
            <a:r>
              <a:rPr lang="en-US" sz="1100" b="0" dirty="0" smtClean="0">
                <a:solidFill>
                  <a:schemeClr val="bg1"/>
                </a:solidFill>
              </a:rPr>
              <a:t>Mellanox Confidential</a:t>
            </a:r>
            <a:r>
              <a:rPr lang="en-US" sz="1100" b="0" baseline="0" dirty="0" smtClean="0">
                <a:solidFill>
                  <a:schemeClr val="bg1"/>
                </a:solidFill>
              </a:rPr>
              <a:t> -</a:t>
            </a:r>
            <a:endParaRPr lang="en-US" sz="1100" b="0" dirty="0">
              <a:solidFill>
                <a:srgbClr val="000000"/>
              </a:solidFill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97849" y="6863984"/>
            <a:ext cx="952500" cy="952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86" r:id="rId1"/>
    <p:sldLayoutId id="2147485296" r:id="rId2"/>
    <p:sldLayoutId id="2147485288" r:id="rId3"/>
    <p:sldLayoutId id="2147485290" r:id="rId4"/>
    <p:sldLayoutId id="2147485291" r:id="rId5"/>
    <p:sldLayoutId id="2147485292" r:id="rId6"/>
    <p:sldLayoutId id="2147485297" r:id="rId7"/>
    <p:sldLayoutId id="2147485293" r:id="rId8"/>
    <p:sldLayoutId id="2147485294" r:id="rId9"/>
    <p:sldLayoutId id="2147485298" r:id="rId10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3200" b="0" baseline="0">
          <a:solidFill>
            <a:schemeClr val="bg1"/>
          </a:solidFill>
          <a:latin typeface="+mj-lt"/>
          <a:ea typeface="Arial" pitchFamily="34" charset="0"/>
          <a:cs typeface="Arial" pitchFamily="34" charset="0"/>
        </a:defRPr>
      </a:lvl1pPr>
      <a:lvl2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2pPr>
      <a:lvl3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3pPr>
      <a:lvl4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4pPr>
      <a:lvl5pPr algn="l" rtl="0" eaLnBrk="1" fontAlgn="base" hangingPunct="1">
        <a:lnSpc>
          <a:spcPts val="4038"/>
        </a:lnSpc>
        <a:spcBef>
          <a:spcPct val="0"/>
        </a:spcBef>
        <a:spcAft>
          <a:spcPct val="0"/>
        </a:spcAft>
        <a:defRPr sz="4000" b="1">
          <a:solidFill>
            <a:schemeClr val="bg1"/>
          </a:solidFill>
          <a:latin typeface="Arial Narrow Bold" pitchFamily="-108" charset="0"/>
          <a:ea typeface="Arial" pitchFamily="36" charset="0"/>
          <a:cs typeface="Arial" charset="0"/>
        </a:defRPr>
      </a:lvl5pPr>
      <a:lvl6pPr marL="653077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6pPr>
      <a:lvl7pPr marL="1306155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7pPr>
      <a:lvl8pPr marL="1959234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8pPr>
      <a:lvl9pPr marL="261231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28600" indent="-246888" algn="l" rtl="0" eaLnBrk="1" fontAlgn="base" hangingPunct="1">
        <a:spcBef>
          <a:spcPts val="600"/>
        </a:spcBef>
        <a:spcAft>
          <a:spcPct val="0"/>
        </a:spcAft>
        <a:buClr>
          <a:schemeClr val="bg2">
            <a:lumMod val="75000"/>
          </a:schemeClr>
        </a:buClr>
        <a:buSzPct val="110000"/>
        <a:buFont typeface="Wingdings" charset="0"/>
        <a:buChar char="§"/>
        <a:defRPr sz="2400">
          <a:solidFill>
            <a:schemeClr val="tx2"/>
          </a:solidFill>
          <a:latin typeface="+mn-lt"/>
          <a:ea typeface="ＭＳ Ｐゴシック" charset="0"/>
          <a:cs typeface="Arial" pitchFamily="-108" charset="0"/>
        </a:defRPr>
      </a:lvl1pPr>
      <a:lvl2pPr marL="568325" indent="-255589" algn="l" rtl="0" eaLnBrk="1" fontAlgn="base" hangingPunct="1">
        <a:spcBef>
          <a:spcPts val="426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5000"/>
        <a:buFont typeface="Arial" charset="0"/>
        <a:buChar char="•"/>
        <a:defRPr sz="2100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2pPr>
      <a:lvl3pPr marL="822325" indent="-239714" algn="l" rtl="0" eaLnBrk="1" fontAlgn="base" hangingPunct="1">
        <a:spcBef>
          <a:spcPct val="20000"/>
        </a:spcBef>
        <a:spcAft>
          <a:spcPct val="0"/>
        </a:spcAft>
        <a:buClr>
          <a:schemeClr val="tx1">
            <a:lumMod val="75000"/>
            <a:lumOff val="25000"/>
          </a:schemeClr>
        </a:buClr>
        <a:buSzPct val="104000"/>
        <a:buFont typeface="Lucida Grande" charset="0"/>
        <a:buChar char="-"/>
        <a:defRPr sz="1900">
          <a:solidFill>
            <a:schemeClr val="tx1">
              <a:lumMod val="75000"/>
              <a:lumOff val="25000"/>
            </a:schemeClr>
          </a:solidFill>
          <a:latin typeface="+mn-lt"/>
          <a:ea typeface="Arial" pitchFamily="36" charset="0"/>
          <a:cs typeface="Arial" pitchFamily="-108" charset="0"/>
        </a:defRPr>
      </a:lvl3pPr>
      <a:lvl4pPr marL="1097280" indent="-274320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Wingdings" charset="0"/>
        <a:buChar char="§"/>
        <a:defRPr sz="1800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4pPr>
      <a:lvl5pPr marL="1316736" indent="-210312" algn="l" rtl="0" eaLnBrk="1" fontAlgn="base" hangingPunct="1">
        <a:spcBef>
          <a:spcPct val="20000"/>
        </a:spcBef>
        <a:spcAft>
          <a:spcPct val="0"/>
        </a:spcAft>
        <a:buClr>
          <a:schemeClr val="bg1">
            <a:lumMod val="50000"/>
          </a:schemeClr>
        </a:buClr>
        <a:buFont typeface="Lucida Grande" charset="0"/>
        <a:buChar char="›"/>
        <a:defRPr sz="1400">
          <a:solidFill>
            <a:schemeClr val="bg1">
              <a:lumMod val="50000"/>
            </a:schemeClr>
          </a:solidFill>
          <a:latin typeface="+mn-lt"/>
          <a:ea typeface="Arial" pitchFamily="36" charset="0"/>
          <a:cs typeface="Arial" pitchFamily="-108" charset="0"/>
        </a:defRPr>
      </a:lvl5pPr>
      <a:lvl6pPr marL="3591926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6pPr>
      <a:lvl7pPr marL="4245003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7pPr>
      <a:lvl8pPr marL="4898082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8pPr>
      <a:lvl9pPr marL="5551160" indent="-326539" algn="l" rtl="0" eaLnBrk="1" fontAlgn="base" hangingPunct="1">
        <a:spcBef>
          <a:spcPct val="20000"/>
        </a:spcBef>
        <a:spcAft>
          <a:spcPct val="0"/>
        </a:spcAft>
        <a:buChar char="»"/>
        <a:defRPr sz="2200">
          <a:solidFill>
            <a:schemeClr val="tx1"/>
          </a:solidFill>
          <a:latin typeface="+mj-lt"/>
          <a:cs typeface="+mn-cs"/>
        </a:defRPr>
      </a:lvl9pPr>
    </p:bodyStyle>
    <p:otherStyle>
      <a:defPPr>
        <a:defRPr lang="en-US"/>
      </a:defPPr>
      <a:lvl1pPr marL="0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077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155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234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310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389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466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542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621" algn="l" defTabSz="1306155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dirty="0" smtClean="0"/>
              <a:t>Achiad Shochat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en-US" dirty="0" smtClean="0"/>
              <a:t>Netdev 2.2, Nov-2017, Seoul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Multi-PCIe socket </a:t>
            </a:r>
            <a:r>
              <a:rPr lang="en-US" dirty="0" smtClean="0"/>
              <a:t>network device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904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description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91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Until recently all NICs had a single PCIe bus connectivity to the server</a:t>
            </a:r>
          </a:p>
          <a:p>
            <a:r>
              <a:rPr lang="en-US" dirty="0" smtClean="0"/>
              <a:t>NICs with multiple PCIe bus connectivity </a:t>
            </a:r>
            <a:r>
              <a:rPr lang="en-US" dirty="0" smtClean="0"/>
              <a:t>are beginning to show up</a:t>
            </a:r>
          </a:p>
          <a:p>
            <a:r>
              <a:rPr lang="en-US" dirty="0" smtClean="0"/>
              <a:t>The motivations are described in the following slides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015" y="2942481"/>
            <a:ext cx="5151437" cy="4262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38755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Port BW &gt; PCIe BW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2480823" y="2022896"/>
            <a:ext cx="2698957" cy="11586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CPU</a:t>
            </a:r>
          </a:p>
        </p:txBody>
      </p:sp>
      <p:sp>
        <p:nvSpPr>
          <p:cNvPr id="17" name="Rounded Rectangle 16"/>
          <p:cNvSpPr/>
          <p:nvPr/>
        </p:nvSpPr>
        <p:spPr bwMode="auto">
          <a:xfrm>
            <a:off x="2692217" y="2837440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Gen3</a:t>
            </a:r>
            <a:r>
              <a:rPr kumimoji="0" lang="en-US" sz="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sz="1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x16</a:t>
            </a: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0" name="Rounded Rectangle 29"/>
          <p:cNvSpPr/>
          <p:nvPr/>
        </p:nvSpPr>
        <p:spPr bwMode="auto">
          <a:xfrm>
            <a:off x="2480823" y="3789635"/>
            <a:ext cx="1297859" cy="11279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NIC</a:t>
            </a:r>
          </a:p>
        </p:txBody>
      </p:sp>
      <p:cxnSp>
        <p:nvCxnSpPr>
          <p:cNvPr id="22" name="Straight Connector 21"/>
          <p:cNvCxnSpPr>
            <a:stCxn id="17" idx="2"/>
          </p:cNvCxnSpPr>
          <p:nvPr/>
        </p:nvCxnSpPr>
        <p:spPr bwMode="auto">
          <a:xfrm>
            <a:off x="3149417" y="3181569"/>
            <a:ext cx="0" cy="59960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2486907" y="3388498"/>
            <a:ext cx="62356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 smtClean="0"/>
              <a:t>100 Gb/s</a:t>
            </a:r>
            <a:endParaRPr lang="en-US" sz="1200" b="0" dirty="0"/>
          </a:p>
        </p:txBody>
      </p:sp>
      <p:sp>
        <p:nvSpPr>
          <p:cNvPr id="49" name="Rounded Rectangle 48"/>
          <p:cNvSpPr/>
          <p:nvPr/>
        </p:nvSpPr>
        <p:spPr bwMode="auto">
          <a:xfrm>
            <a:off x="2692217" y="3789636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I/F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0" name="Rounded Rectangle 49"/>
          <p:cNvSpPr/>
          <p:nvPr/>
        </p:nvSpPr>
        <p:spPr bwMode="auto">
          <a:xfrm>
            <a:off x="2692217" y="4573474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PORT</a:t>
            </a:r>
          </a:p>
        </p:txBody>
      </p:sp>
      <p:cxnSp>
        <p:nvCxnSpPr>
          <p:cNvPr id="43" name="Straight Connector 42"/>
          <p:cNvCxnSpPr>
            <a:stCxn id="50" idx="2"/>
          </p:cNvCxnSpPr>
          <p:nvPr/>
        </p:nvCxnSpPr>
        <p:spPr bwMode="auto">
          <a:xfrm>
            <a:off x="3149417" y="4917603"/>
            <a:ext cx="0" cy="40893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3" name="TextBox 52"/>
          <p:cNvSpPr txBox="1"/>
          <p:nvPr/>
        </p:nvSpPr>
        <p:spPr>
          <a:xfrm>
            <a:off x="2480823" y="5098128"/>
            <a:ext cx="62356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/>
              <a:t>2</a:t>
            </a:r>
            <a:r>
              <a:rPr lang="en-US" sz="1200" b="0" dirty="0" smtClean="0"/>
              <a:t>00 Gb/s</a:t>
            </a:r>
            <a:endParaRPr lang="en-US" sz="1200" b="0" dirty="0"/>
          </a:p>
        </p:txBody>
      </p:sp>
      <p:sp>
        <p:nvSpPr>
          <p:cNvPr id="69" name="Rounded Rectangle 68"/>
          <p:cNvSpPr/>
          <p:nvPr/>
        </p:nvSpPr>
        <p:spPr bwMode="auto">
          <a:xfrm>
            <a:off x="4063817" y="2837440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Gen3</a:t>
            </a:r>
            <a:r>
              <a:rPr kumimoji="0" lang="en-US" sz="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sz="1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x16</a:t>
            </a: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0" name="Rounded Rectangle 69"/>
          <p:cNvSpPr/>
          <p:nvPr/>
        </p:nvSpPr>
        <p:spPr bwMode="auto">
          <a:xfrm>
            <a:off x="7962307" y="2022896"/>
            <a:ext cx="2698957" cy="11586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CPU</a:t>
            </a:r>
          </a:p>
        </p:txBody>
      </p:sp>
      <p:sp>
        <p:nvSpPr>
          <p:cNvPr id="71" name="Rounded Rectangle 70"/>
          <p:cNvSpPr/>
          <p:nvPr/>
        </p:nvSpPr>
        <p:spPr bwMode="auto">
          <a:xfrm>
            <a:off x="8173701" y="2837440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Gen3</a:t>
            </a:r>
            <a:r>
              <a:rPr kumimoji="0" lang="en-US" sz="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sz="1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x16</a:t>
            </a: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2" name="Rounded Rectangle 71"/>
          <p:cNvSpPr/>
          <p:nvPr/>
        </p:nvSpPr>
        <p:spPr bwMode="auto">
          <a:xfrm>
            <a:off x="7962307" y="3789635"/>
            <a:ext cx="2698957" cy="11279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NIC</a:t>
            </a:r>
          </a:p>
        </p:txBody>
      </p:sp>
      <p:cxnSp>
        <p:nvCxnSpPr>
          <p:cNvPr id="73" name="Straight Connector 72"/>
          <p:cNvCxnSpPr>
            <a:stCxn id="71" idx="2"/>
          </p:cNvCxnSpPr>
          <p:nvPr/>
        </p:nvCxnSpPr>
        <p:spPr bwMode="auto">
          <a:xfrm>
            <a:off x="8630901" y="3181569"/>
            <a:ext cx="0" cy="59960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4" name="TextBox 73"/>
          <p:cNvSpPr txBox="1"/>
          <p:nvPr/>
        </p:nvSpPr>
        <p:spPr>
          <a:xfrm>
            <a:off x="7968391" y="3388498"/>
            <a:ext cx="62356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 smtClean="0"/>
              <a:t>100 Gb/s</a:t>
            </a:r>
            <a:endParaRPr lang="en-US" sz="1200" b="0" dirty="0"/>
          </a:p>
        </p:txBody>
      </p:sp>
      <p:sp>
        <p:nvSpPr>
          <p:cNvPr id="75" name="Rounded Rectangle 74"/>
          <p:cNvSpPr/>
          <p:nvPr/>
        </p:nvSpPr>
        <p:spPr bwMode="auto">
          <a:xfrm>
            <a:off x="8173701" y="3789636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I/F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6" name="Rounded Rectangle 75"/>
          <p:cNvSpPr/>
          <p:nvPr/>
        </p:nvSpPr>
        <p:spPr bwMode="auto">
          <a:xfrm>
            <a:off x="8842295" y="4573474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PORT</a:t>
            </a:r>
          </a:p>
        </p:txBody>
      </p:sp>
      <p:cxnSp>
        <p:nvCxnSpPr>
          <p:cNvPr id="77" name="Straight Connector 76"/>
          <p:cNvCxnSpPr>
            <a:stCxn id="76" idx="2"/>
          </p:cNvCxnSpPr>
          <p:nvPr/>
        </p:nvCxnSpPr>
        <p:spPr bwMode="auto">
          <a:xfrm>
            <a:off x="9299495" y="4917603"/>
            <a:ext cx="0" cy="40893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8" name="TextBox 77"/>
          <p:cNvSpPr txBox="1"/>
          <p:nvPr/>
        </p:nvSpPr>
        <p:spPr>
          <a:xfrm>
            <a:off x="8630901" y="5098128"/>
            <a:ext cx="62356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/>
              <a:t>2</a:t>
            </a:r>
            <a:r>
              <a:rPr lang="en-US" sz="1200" b="0" dirty="0" smtClean="0"/>
              <a:t>00 Gb/s</a:t>
            </a:r>
            <a:endParaRPr lang="en-US" sz="1200" b="0" dirty="0"/>
          </a:p>
        </p:txBody>
      </p:sp>
      <p:sp>
        <p:nvSpPr>
          <p:cNvPr id="79" name="Rounded Rectangle 78"/>
          <p:cNvSpPr/>
          <p:nvPr/>
        </p:nvSpPr>
        <p:spPr bwMode="auto">
          <a:xfrm>
            <a:off x="9545301" y="2837440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Gen3</a:t>
            </a:r>
            <a:r>
              <a:rPr kumimoji="0" lang="en-US" sz="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sz="1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x16</a:t>
            </a: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80" name="Rounded Rectangle 79"/>
          <p:cNvSpPr/>
          <p:nvPr/>
        </p:nvSpPr>
        <p:spPr bwMode="auto">
          <a:xfrm>
            <a:off x="9545301" y="3789636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I/F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81" name="Straight Connector 80"/>
          <p:cNvCxnSpPr/>
          <p:nvPr/>
        </p:nvCxnSpPr>
        <p:spPr bwMode="auto">
          <a:xfrm>
            <a:off x="9996808" y="3197472"/>
            <a:ext cx="0" cy="59960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2" name="TextBox 81"/>
          <p:cNvSpPr txBox="1"/>
          <p:nvPr/>
        </p:nvSpPr>
        <p:spPr>
          <a:xfrm>
            <a:off x="9334298" y="3404401"/>
            <a:ext cx="62356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 smtClean="0"/>
              <a:t>100 Gb/s</a:t>
            </a:r>
            <a:endParaRPr lang="en-US" sz="1200" b="0" dirty="0"/>
          </a:p>
        </p:txBody>
      </p:sp>
      <p:sp>
        <p:nvSpPr>
          <p:cNvPr id="45" name="Right Arrow 44"/>
          <p:cNvSpPr/>
          <p:nvPr/>
        </p:nvSpPr>
        <p:spPr bwMode="auto">
          <a:xfrm>
            <a:off x="5956528" y="2927463"/>
            <a:ext cx="1170038" cy="993058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59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loud 32"/>
          <p:cNvSpPr/>
          <p:nvPr/>
        </p:nvSpPr>
        <p:spPr bwMode="auto">
          <a:xfrm>
            <a:off x="2933698" y="5570932"/>
            <a:ext cx="5429866" cy="1131835"/>
          </a:xfrm>
          <a:prstGeom prst="cloud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NUMA system, </a:t>
            </a:r>
            <a:r>
              <a:rPr lang="en-US" dirty="0" smtClean="0"/>
              <a:t>NIC with single PCIe bus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3362631" y="2030621"/>
            <a:ext cx="1976285" cy="1882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CPU 0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3627033" y="2648096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</a:t>
            </a:r>
            <a:endParaRPr kumimoji="0" 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2373957" y="2648096"/>
            <a:ext cx="747250" cy="64892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MEM</a:t>
            </a:r>
          </a:p>
        </p:txBody>
      </p:sp>
      <p:cxnSp>
        <p:nvCxnSpPr>
          <p:cNvPr id="12" name="Straight Connector 11"/>
          <p:cNvCxnSpPr>
            <a:stCxn id="10" idx="3"/>
            <a:endCxn id="4" idx="1"/>
          </p:cNvCxnSpPr>
          <p:nvPr/>
        </p:nvCxnSpPr>
        <p:spPr bwMode="auto">
          <a:xfrm flipV="1">
            <a:off x="3121207" y="2971930"/>
            <a:ext cx="241424" cy="63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ounded Rectangle 16"/>
          <p:cNvSpPr/>
          <p:nvPr/>
        </p:nvSpPr>
        <p:spPr bwMode="auto">
          <a:xfrm>
            <a:off x="3854244" y="3637935"/>
            <a:ext cx="914400" cy="275304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 Socket</a:t>
            </a:r>
          </a:p>
        </p:txBody>
      </p:sp>
      <p:cxnSp>
        <p:nvCxnSpPr>
          <p:cNvPr id="28" name="Straight Arrow Connector 27"/>
          <p:cNvCxnSpPr>
            <a:stCxn id="4" idx="3"/>
          </p:cNvCxnSpPr>
          <p:nvPr/>
        </p:nvCxnSpPr>
        <p:spPr bwMode="auto">
          <a:xfrm flipV="1">
            <a:off x="5338916" y="2971929"/>
            <a:ext cx="619432" cy="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5515582" y="2764387"/>
            <a:ext cx="26609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dirty="0" smtClean="0"/>
              <a:t>QPI</a:t>
            </a:r>
            <a:endParaRPr lang="en-US" sz="1200" dirty="0"/>
          </a:p>
        </p:txBody>
      </p:sp>
      <p:sp>
        <p:nvSpPr>
          <p:cNvPr id="30" name="Rounded Rectangle 29"/>
          <p:cNvSpPr/>
          <p:nvPr/>
        </p:nvSpPr>
        <p:spPr bwMode="auto">
          <a:xfrm>
            <a:off x="6243483" y="4279458"/>
            <a:ext cx="1297859" cy="9389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NIC</a:t>
            </a:r>
          </a:p>
        </p:txBody>
      </p:sp>
      <p:sp>
        <p:nvSpPr>
          <p:cNvPr id="31" name="Rounded Rectangle 30"/>
          <p:cNvSpPr/>
          <p:nvPr/>
        </p:nvSpPr>
        <p:spPr bwMode="auto">
          <a:xfrm>
            <a:off x="6684705" y="4270997"/>
            <a:ext cx="454744" cy="270387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I/F</a:t>
            </a:r>
          </a:p>
        </p:txBody>
      </p:sp>
      <p:sp>
        <p:nvSpPr>
          <p:cNvPr id="32" name="Rounded Rectangle 31"/>
          <p:cNvSpPr/>
          <p:nvPr/>
        </p:nvSpPr>
        <p:spPr bwMode="auto">
          <a:xfrm>
            <a:off x="6684705" y="4969926"/>
            <a:ext cx="444912" cy="256973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Port</a:t>
            </a:r>
          </a:p>
        </p:txBody>
      </p:sp>
      <p:cxnSp>
        <p:nvCxnSpPr>
          <p:cNvPr id="35" name="Straight Connector 34"/>
          <p:cNvCxnSpPr>
            <a:stCxn id="60" idx="2"/>
            <a:endCxn id="31" idx="0"/>
          </p:cNvCxnSpPr>
          <p:nvPr/>
        </p:nvCxnSpPr>
        <p:spPr bwMode="auto">
          <a:xfrm>
            <a:off x="6906090" y="3938746"/>
            <a:ext cx="5987" cy="33225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Oval 38"/>
          <p:cNvSpPr/>
          <p:nvPr/>
        </p:nvSpPr>
        <p:spPr bwMode="auto">
          <a:xfrm>
            <a:off x="4386256" y="2648096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</a:t>
            </a:r>
            <a:endParaRPr kumimoji="0" lang="en-US" sz="11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6" name="Rounded Rectangle 55"/>
          <p:cNvSpPr/>
          <p:nvPr/>
        </p:nvSpPr>
        <p:spPr bwMode="auto">
          <a:xfrm>
            <a:off x="5957277" y="2056128"/>
            <a:ext cx="1976285" cy="1882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CPU 1</a:t>
            </a:r>
          </a:p>
        </p:txBody>
      </p:sp>
      <p:sp>
        <p:nvSpPr>
          <p:cNvPr id="57" name="Oval 56"/>
          <p:cNvSpPr/>
          <p:nvPr/>
        </p:nvSpPr>
        <p:spPr bwMode="auto">
          <a:xfrm>
            <a:off x="6221679" y="2673603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8" name="Rounded Rectangle 57"/>
          <p:cNvSpPr/>
          <p:nvPr/>
        </p:nvSpPr>
        <p:spPr bwMode="auto">
          <a:xfrm>
            <a:off x="8197964" y="2672972"/>
            <a:ext cx="747250" cy="64892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MEM</a:t>
            </a:r>
          </a:p>
        </p:txBody>
      </p:sp>
      <p:cxnSp>
        <p:nvCxnSpPr>
          <p:cNvPr id="59" name="Straight Connector 58"/>
          <p:cNvCxnSpPr>
            <a:stCxn id="58" idx="1"/>
            <a:endCxn id="56" idx="3"/>
          </p:cNvCxnSpPr>
          <p:nvPr/>
        </p:nvCxnSpPr>
        <p:spPr bwMode="auto">
          <a:xfrm flipH="1">
            <a:off x="7933562" y="2997436"/>
            <a:ext cx="264402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Rounded Rectangle 59"/>
          <p:cNvSpPr/>
          <p:nvPr/>
        </p:nvSpPr>
        <p:spPr bwMode="auto">
          <a:xfrm>
            <a:off x="6448890" y="3663442"/>
            <a:ext cx="914400" cy="275304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 Socket</a:t>
            </a:r>
          </a:p>
        </p:txBody>
      </p:sp>
      <p:sp>
        <p:nvSpPr>
          <p:cNvPr id="61" name="Oval 60"/>
          <p:cNvSpPr/>
          <p:nvPr/>
        </p:nvSpPr>
        <p:spPr bwMode="auto">
          <a:xfrm>
            <a:off x="6980902" y="2673603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5" name="Straight Connector 4"/>
          <p:cNvCxnSpPr>
            <a:stCxn id="32" idx="2"/>
            <a:endCxn id="33" idx="3"/>
          </p:cNvCxnSpPr>
          <p:nvPr/>
        </p:nvCxnSpPr>
        <p:spPr bwMode="auto">
          <a:xfrm flipH="1">
            <a:off x="5648631" y="5226899"/>
            <a:ext cx="1258530" cy="40874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902246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Cloud 32"/>
          <p:cNvSpPr/>
          <p:nvPr/>
        </p:nvSpPr>
        <p:spPr bwMode="auto">
          <a:xfrm>
            <a:off x="2933698" y="5570932"/>
            <a:ext cx="5429866" cy="1131835"/>
          </a:xfrm>
          <a:prstGeom prst="cloud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NUMA system,  </a:t>
            </a:r>
            <a:r>
              <a:rPr lang="en-US" dirty="0" smtClean="0"/>
              <a:t>NIC with multiple PCIe buses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3362631" y="2030621"/>
            <a:ext cx="1976285" cy="1882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CPU 0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3627033" y="2648096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2373957" y="2648096"/>
            <a:ext cx="747250" cy="64892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MEM</a:t>
            </a:r>
          </a:p>
        </p:txBody>
      </p:sp>
      <p:cxnSp>
        <p:nvCxnSpPr>
          <p:cNvPr id="12" name="Straight Connector 11"/>
          <p:cNvCxnSpPr>
            <a:stCxn id="10" idx="3"/>
            <a:endCxn id="4" idx="1"/>
          </p:cNvCxnSpPr>
          <p:nvPr/>
        </p:nvCxnSpPr>
        <p:spPr bwMode="auto">
          <a:xfrm flipV="1">
            <a:off x="3121207" y="2971930"/>
            <a:ext cx="241424" cy="63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ounded Rectangle 16"/>
          <p:cNvSpPr/>
          <p:nvPr/>
        </p:nvSpPr>
        <p:spPr bwMode="auto">
          <a:xfrm>
            <a:off x="3854244" y="3637935"/>
            <a:ext cx="914400" cy="275304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 Socket</a:t>
            </a:r>
          </a:p>
        </p:txBody>
      </p:sp>
      <p:cxnSp>
        <p:nvCxnSpPr>
          <p:cNvPr id="28" name="Straight Arrow Connector 27"/>
          <p:cNvCxnSpPr>
            <a:stCxn id="4" idx="3"/>
          </p:cNvCxnSpPr>
          <p:nvPr/>
        </p:nvCxnSpPr>
        <p:spPr bwMode="auto">
          <a:xfrm flipV="1">
            <a:off x="5338916" y="2971929"/>
            <a:ext cx="619432" cy="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29" name="TextBox 28"/>
          <p:cNvSpPr txBox="1"/>
          <p:nvPr/>
        </p:nvSpPr>
        <p:spPr>
          <a:xfrm>
            <a:off x="5515582" y="2764387"/>
            <a:ext cx="26609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dirty="0" smtClean="0"/>
              <a:t>QPI</a:t>
            </a:r>
            <a:endParaRPr lang="en-US" sz="1200" dirty="0"/>
          </a:p>
        </p:txBody>
      </p:sp>
      <p:sp>
        <p:nvSpPr>
          <p:cNvPr id="30" name="Rounded Rectangle 29"/>
          <p:cNvSpPr/>
          <p:nvPr/>
        </p:nvSpPr>
        <p:spPr bwMode="auto">
          <a:xfrm>
            <a:off x="4986024" y="4306858"/>
            <a:ext cx="1297859" cy="9389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NIC</a:t>
            </a:r>
          </a:p>
        </p:txBody>
      </p:sp>
      <p:sp>
        <p:nvSpPr>
          <p:cNvPr id="31" name="Rounded Rectangle 30"/>
          <p:cNvSpPr/>
          <p:nvPr/>
        </p:nvSpPr>
        <p:spPr bwMode="auto">
          <a:xfrm>
            <a:off x="5729905" y="4306858"/>
            <a:ext cx="454744" cy="270387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I/F</a:t>
            </a:r>
          </a:p>
        </p:txBody>
      </p:sp>
      <p:sp>
        <p:nvSpPr>
          <p:cNvPr id="32" name="Rounded Rectangle 31"/>
          <p:cNvSpPr/>
          <p:nvPr/>
        </p:nvSpPr>
        <p:spPr bwMode="auto">
          <a:xfrm>
            <a:off x="5427246" y="4997326"/>
            <a:ext cx="444912" cy="256973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Port</a:t>
            </a:r>
          </a:p>
        </p:txBody>
      </p:sp>
      <p:cxnSp>
        <p:nvCxnSpPr>
          <p:cNvPr id="35" name="Straight Connector 34"/>
          <p:cNvCxnSpPr>
            <a:stCxn id="60" idx="2"/>
            <a:endCxn id="31" idx="0"/>
          </p:cNvCxnSpPr>
          <p:nvPr/>
        </p:nvCxnSpPr>
        <p:spPr bwMode="auto">
          <a:xfrm flipH="1">
            <a:off x="5957277" y="3938746"/>
            <a:ext cx="948813" cy="36811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Oval 38"/>
          <p:cNvSpPr/>
          <p:nvPr/>
        </p:nvSpPr>
        <p:spPr bwMode="auto">
          <a:xfrm>
            <a:off x="4386256" y="2648096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6" name="Rounded Rectangle 55"/>
          <p:cNvSpPr/>
          <p:nvPr/>
        </p:nvSpPr>
        <p:spPr bwMode="auto">
          <a:xfrm>
            <a:off x="5957277" y="2056128"/>
            <a:ext cx="1976285" cy="1882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CPU 1</a:t>
            </a:r>
          </a:p>
        </p:txBody>
      </p:sp>
      <p:sp>
        <p:nvSpPr>
          <p:cNvPr id="57" name="Oval 56"/>
          <p:cNvSpPr/>
          <p:nvPr/>
        </p:nvSpPr>
        <p:spPr bwMode="auto">
          <a:xfrm>
            <a:off x="6221679" y="2673603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8" name="Rounded Rectangle 57"/>
          <p:cNvSpPr/>
          <p:nvPr/>
        </p:nvSpPr>
        <p:spPr bwMode="auto">
          <a:xfrm>
            <a:off x="8197964" y="2672972"/>
            <a:ext cx="747250" cy="64892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MEM</a:t>
            </a:r>
          </a:p>
        </p:txBody>
      </p:sp>
      <p:cxnSp>
        <p:nvCxnSpPr>
          <p:cNvPr id="59" name="Straight Connector 58"/>
          <p:cNvCxnSpPr>
            <a:stCxn id="58" idx="1"/>
            <a:endCxn id="56" idx="3"/>
          </p:cNvCxnSpPr>
          <p:nvPr/>
        </p:nvCxnSpPr>
        <p:spPr bwMode="auto">
          <a:xfrm flipH="1">
            <a:off x="7933562" y="2997436"/>
            <a:ext cx="264402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Rounded Rectangle 59"/>
          <p:cNvSpPr/>
          <p:nvPr/>
        </p:nvSpPr>
        <p:spPr bwMode="auto">
          <a:xfrm>
            <a:off x="6448890" y="3663442"/>
            <a:ext cx="914400" cy="275304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 Socket</a:t>
            </a:r>
          </a:p>
        </p:txBody>
      </p:sp>
      <p:sp>
        <p:nvSpPr>
          <p:cNvPr id="61" name="Oval 60"/>
          <p:cNvSpPr/>
          <p:nvPr/>
        </p:nvSpPr>
        <p:spPr bwMode="auto">
          <a:xfrm>
            <a:off x="6980902" y="2673603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5" name="Straight Connector 4"/>
          <p:cNvCxnSpPr>
            <a:stCxn id="32" idx="2"/>
            <a:endCxn id="33" idx="3"/>
          </p:cNvCxnSpPr>
          <p:nvPr/>
        </p:nvCxnSpPr>
        <p:spPr bwMode="auto">
          <a:xfrm flipH="1">
            <a:off x="5648631" y="5254299"/>
            <a:ext cx="1071" cy="38134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ounded Rectangle 25"/>
          <p:cNvSpPr/>
          <p:nvPr/>
        </p:nvSpPr>
        <p:spPr bwMode="auto">
          <a:xfrm>
            <a:off x="5167165" y="4306858"/>
            <a:ext cx="454744" cy="270387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I/F</a:t>
            </a:r>
          </a:p>
        </p:txBody>
      </p:sp>
      <p:cxnSp>
        <p:nvCxnSpPr>
          <p:cNvPr id="11" name="Straight Connector 10"/>
          <p:cNvCxnSpPr>
            <a:endCxn id="17" idx="2"/>
          </p:cNvCxnSpPr>
          <p:nvPr/>
        </p:nvCxnSpPr>
        <p:spPr bwMode="auto">
          <a:xfrm flipH="1" flipV="1">
            <a:off x="4311444" y="3913239"/>
            <a:ext cx="1077403" cy="38515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79082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/>
          <p:cNvSpPr/>
          <p:nvPr/>
        </p:nvSpPr>
        <p:spPr bwMode="auto">
          <a:xfrm>
            <a:off x="5796116" y="1410447"/>
            <a:ext cx="3381751" cy="25813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HOST B</a:t>
            </a:r>
          </a:p>
        </p:txBody>
      </p:sp>
      <p:sp>
        <p:nvSpPr>
          <p:cNvPr id="3" name="Rounded Rectangle 2"/>
          <p:cNvSpPr/>
          <p:nvPr/>
        </p:nvSpPr>
        <p:spPr bwMode="auto">
          <a:xfrm>
            <a:off x="2111023" y="1408897"/>
            <a:ext cx="3360628" cy="258132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HOST A</a:t>
            </a:r>
          </a:p>
        </p:txBody>
      </p:sp>
      <p:sp>
        <p:nvSpPr>
          <p:cNvPr id="33" name="Cloud 32"/>
          <p:cNvSpPr/>
          <p:nvPr/>
        </p:nvSpPr>
        <p:spPr bwMode="auto">
          <a:xfrm>
            <a:off x="2933698" y="5570932"/>
            <a:ext cx="5429866" cy="1131835"/>
          </a:xfrm>
          <a:prstGeom prst="cloud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Network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Multi-host NIC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3362631" y="2030621"/>
            <a:ext cx="1976285" cy="1882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CPU 0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3627033" y="2648096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2373957" y="2648096"/>
            <a:ext cx="747250" cy="64892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MEM</a:t>
            </a:r>
          </a:p>
        </p:txBody>
      </p:sp>
      <p:cxnSp>
        <p:nvCxnSpPr>
          <p:cNvPr id="12" name="Straight Connector 11"/>
          <p:cNvCxnSpPr>
            <a:stCxn id="10" idx="3"/>
            <a:endCxn id="4" idx="1"/>
          </p:cNvCxnSpPr>
          <p:nvPr/>
        </p:nvCxnSpPr>
        <p:spPr bwMode="auto">
          <a:xfrm flipV="1">
            <a:off x="3121207" y="2971930"/>
            <a:ext cx="241424" cy="63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Rounded Rectangle 16"/>
          <p:cNvSpPr/>
          <p:nvPr/>
        </p:nvSpPr>
        <p:spPr bwMode="auto">
          <a:xfrm>
            <a:off x="3854244" y="3637935"/>
            <a:ext cx="914400" cy="275304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 Socket</a:t>
            </a:r>
          </a:p>
        </p:txBody>
      </p:sp>
      <p:sp>
        <p:nvSpPr>
          <p:cNvPr id="30" name="Rounded Rectangle 29"/>
          <p:cNvSpPr/>
          <p:nvPr/>
        </p:nvSpPr>
        <p:spPr bwMode="auto">
          <a:xfrm>
            <a:off x="4986024" y="4306858"/>
            <a:ext cx="1297859" cy="93898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NIC</a:t>
            </a:r>
          </a:p>
        </p:txBody>
      </p:sp>
      <p:sp>
        <p:nvSpPr>
          <p:cNvPr id="31" name="Rounded Rectangle 30"/>
          <p:cNvSpPr/>
          <p:nvPr/>
        </p:nvSpPr>
        <p:spPr bwMode="auto">
          <a:xfrm>
            <a:off x="5729905" y="4306858"/>
            <a:ext cx="454744" cy="270387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I/F</a:t>
            </a:r>
          </a:p>
        </p:txBody>
      </p:sp>
      <p:sp>
        <p:nvSpPr>
          <p:cNvPr id="32" name="Rounded Rectangle 31"/>
          <p:cNvSpPr/>
          <p:nvPr/>
        </p:nvSpPr>
        <p:spPr bwMode="auto">
          <a:xfrm>
            <a:off x="5427246" y="4997326"/>
            <a:ext cx="444912" cy="256973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Port</a:t>
            </a:r>
          </a:p>
        </p:txBody>
      </p:sp>
      <p:cxnSp>
        <p:nvCxnSpPr>
          <p:cNvPr id="35" name="Straight Connector 34"/>
          <p:cNvCxnSpPr>
            <a:stCxn id="60" idx="2"/>
            <a:endCxn id="31" idx="0"/>
          </p:cNvCxnSpPr>
          <p:nvPr/>
        </p:nvCxnSpPr>
        <p:spPr bwMode="auto">
          <a:xfrm flipH="1">
            <a:off x="5957277" y="3938746"/>
            <a:ext cx="948813" cy="368112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9" name="Oval 38"/>
          <p:cNvSpPr/>
          <p:nvPr/>
        </p:nvSpPr>
        <p:spPr bwMode="auto">
          <a:xfrm>
            <a:off x="4386256" y="2648096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6" name="Rounded Rectangle 55"/>
          <p:cNvSpPr/>
          <p:nvPr/>
        </p:nvSpPr>
        <p:spPr bwMode="auto">
          <a:xfrm>
            <a:off x="5957277" y="2056128"/>
            <a:ext cx="1976285" cy="188261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CPU 0</a:t>
            </a:r>
          </a:p>
        </p:txBody>
      </p:sp>
      <p:sp>
        <p:nvSpPr>
          <p:cNvPr id="57" name="Oval 56"/>
          <p:cNvSpPr/>
          <p:nvPr/>
        </p:nvSpPr>
        <p:spPr bwMode="auto">
          <a:xfrm>
            <a:off x="6221679" y="2673603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8" name="Rounded Rectangle 57"/>
          <p:cNvSpPr/>
          <p:nvPr/>
        </p:nvSpPr>
        <p:spPr bwMode="auto">
          <a:xfrm>
            <a:off x="8197964" y="2672972"/>
            <a:ext cx="747250" cy="648928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MEM</a:t>
            </a:r>
          </a:p>
        </p:txBody>
      </p:sp>
      <p:cxnSp>
        <p:nvCxnSpPr>
          <p:cNvPr id="59" name="Straight Connector 58"/>
          <p:cNvCxnSpPr>
            <a:stCxn id="58" idx="1"/>
            <a:endCxn id="56" idx="3"/>
          </p:cNvCxnSpPr>
          <p:nvPr/>
        </p:nvCxnSpPr>
        <p:spPr bwMode="auto">
          <a:xfrm flipH="1">
            <a:off x="7933562" y="2997436"/>
            <a:ext cx="264402" cy="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0" name="Rounded Rectangle 59"/>
          <p:cNvSpPr/>
          <p:nvPr/>
        </p:nvSpPr>
        <p:spPr bwMode="auto">
          <a:xfrm>
            <a:off x="6448890" y="3663442"/>
            <a:ext cx="914400" cy="275304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 Socket</a:t>
            </a:r>
          </a:p>
        </p:txBody>
      </p:sp>
      <p:sp>
        <p:nvSpPr>
          <p:cNvPr id="61" name="Oval 60"/>
          <p:cNvSpPr/>
          <p:nvPr/>
        </p:nvSpPr>
        <p:spPr bwMode="auto">
          <a:xfrm>
            <a:off x="6980902" y="2673603"/>
            <a:ext cx="609600" cy="601915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  <a:sym typeface="Wingdings" panose="05000000000000000000" pitchFamily="2" charset="2"/>
              </a:rPr>
              <a:t>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5" name="Straight Connector 4"/>
          <p:cNvCxnSpPr>
            <a:stCxn id="32" idx="2"/>
            <a:endCxn id="33" idx="3"/>
          </p:cNvCxnSpPr>
          <p:nvPr/>
        </p:nvCxnSpPr>
        <p:spPr bwMode="auto">
          <a:xfrm flipH="1">
            <a:off x="5648631" y="5254299"/>
            <a:ext cx="1071" cy="381347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Rounded Rectangle 25"/>
          <p:cNvSpPr/>
          <p:nvPr/>
        </p:nvSpPr>
        <p:spPr bwMode="auto">
          <a:xfrm>
            <a:off x="5167165" y="4306858"/>
            <a:ext cx="454744" cy="270387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I/F</a:t>
            </a:r>
          </a:p>
        </p:txBody>
      </p:sp>
      <p:cxnSp>
        <p:nvCxnSpPr>
          <p:cNvPr id="11" name="Straight Connector 10"/>
          <p:cNvCxnSpPr>
            <a:endCxn id="17" idx="2"/>
          </p:cNvCxnSpPr>
          <p:nvPr/>
        </p:nvCxnSpPr>
        <p:spPr bwMode="auto">
          <a:xfrm flipH="1" flipV="1">
            <a:off x="4311444" y="3913239"/>
            <a:ext cx="1077403" cy="38515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95444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model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562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N/A for multi-host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Since in the multi-host NIC case each server sees just a single NIC PCIe bus</a:t>
            </a:r>
          </a:p>
          <a:p>
            <a:r>
              <a:rPr lang="en-US" dirty="0" smtClean="0"/>
              <a:t>The server is not aware of sharing the network port with other servers</a:t>
            </a:r>
          </a:p>
        </p:txBody>
      </p:sp>
    </p:spTree>
    <p:extLst>
      <p:ext uri="{BB962C8B-B14F-4D97-AF65-F5344CB8AC3E}">
        <p14:creationId xmlns:p14="http://schemas.microsoft.com/office/powerpoint/2010/main" val="3371299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/>
          <p:cNvSpPr/>
          <p:nvPr/>
        </p:nvSpPr>
        <p:spPr bwMode="auto">
          <a:xfrm>
            <a:off x="3171754" y="3061663"/>
            <a:ext cx="6592711" cy="11159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Physical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Elements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Netdev per </a:t>
            </a:r>
            <a:r>
              <a:rPr lang="en-US" dirty="0" smtClean="0"/>
              <a:t>port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 bwMode="auto">
          <a:xfrm>
            <a:off x="6701410" y="3061665"/>
            <a:ext cx="627652" cy="37216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I/F</a:t>
            </a:r>
          </a:p>
        </p:txBody>
      </p:sp>
      <p:sp>
        <p:nvSpPr>
          <p:cNvPr id="6" name="Rounded Rectangle 5"/>
          <p:cNvSpPr/>
          <p:nvPr/>
        </p:nvSpPr>
        <p:spPr bwMode="auto">
          <a:xfrm>
            <a:off x="6038554" y="3872220"/>
            <a:ext cx="859113" cy="305409"/>
          </a:xfrm>
          <a:prstGeom prst="round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Port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5573690" y="3061663"/>
            <a:ext cx="627652" cy="37216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I/F</a:t>
            </a:r>
          </a:p>
        </p:txBody>
      </p:sp>
      <p:sp>
        <p:nvSpPr>
          <p:cNvPr id="15" name="Rounded Rectangle 14"/>
          <p:cNvSpPr/>
          <p:nvPr/>
        </p:nvSpPr>
        <p:spPr bwMode="auto">
          <a:xfrm>
            <a:off x="3171754" y="1759880"/>
            <a:ext cx="6592711" cy="111596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SW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Model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800" dirty="0" smtClean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6" name="Rounded Rectangle 15"/>
          <p:cNvSpPr/>
          <p:nvPr/>
        </p:nvSpPr>
        <p:spPr bwMode="auto">
          <a:xfrm>
            <a:off x="6701410" y="2503412"/>
            <a:ext cx="627652" cy="37216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device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Rounded Rectangle 16"/>
          <p:cNvSpPr/>
          <p:nvPr/>
        </p:nvSpPr>
        <p:spPr bwMode="auto">
          <a:xfrm>
            <a:off x="6038552" y="1759610"/>
            <a:ext cx="859113" cy="305409"/>
          </a:xfrm>
          <a:prstGeom prst="roundRect">
            <a:avLst/>
          </a:prstGeom>
          <a:solidFill>
            <a:srgbClr val="92D05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netdev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Rounded Rectangle 17"/>
          <p:cNvSpPr/>
          <p:nvPr/>
        </p:nvSpPr>
        <p:spPr bwMode="auto">
          <a:xfrm>
            <a:off x="5573690" y="2503410"/>
            <a:ext cx="627652" cy="372166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device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0" name="Straight Connector 19"/>
          <p:cNvCxnSpPr>
            <a:stCxn id="18" idx="0"/>
            <a:endCxn id="17" idx="2"/>
          </p:cNvCxnSpPr>
          <p:nvPr/>
        </p:nvCxnSpPr>
        <p:spPr bwMode="auto">
          <a:xfrm flipV="1">
            <a:off x="5887516" y="2065019"/>
            <a:ext cx="580593" cy="4383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Straight Connector 21"/>
          <p:cNvCxnSpPr>
            <a:endCxn id="16" idx="0"/>
          </p:cNvCxnSpPr>
          <p:nvPr/>
        </p:nvCxnSpPr>
        <p:spPr bwMode="auto">
          <a:xfrm>
            <a:off x="6468108" y="2065019"/>
            <a:ext cx="547128" cy="438393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>
            <a:stCxn id="8" idx="2"/>
            <a:endCxn id="6" idx="0"/>
          </p:cNvCxnSpPr>
          <p:nvPr/>
        </p:nvCxnSpPr>
        <p:spPr bwMode="auto">
          <a:xfrm>
            <a:off x="5887516" y="3433829"/>
            <a:ext cx="580595" cy="43839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Straight Connector 25"/>
          <p:cNvCxnSpPr>
            <a:stCxn id="5" idx="2"/>
            <a:endCxn id="6" idx="0"/>
          </p:cNvCxnSpPr>
          <p:nvPr/>
        </p:nvCxnSpPr>
        <p:spPr bwMode="auto">
          <a:xfrm flipH="1">
            <a:off x="6468111" y="3433831"/>
            <a:ext cx="547125" cy="43838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741998" y="4757955"/>
            <a:ext cx="9083897" cy="2769989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0" dirty="0" smtClean="0"/>
              <a:t>Aligned with the </a:t>
            </a:r>
            <a:r>
              <a:rPr lang="en-US" sz="2000" b="0" dirty="0" smtClean="0"/>
              <a:t>netdev per port </a:t>
            </a:r>
            <a:r>
              <a:rPr lang="en-US" sz="2000" b="0" dirty="0" smtClean="0"/>
              <a:t>kernel convention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0" dirty="0" smtClean="0"/>
              <a:t>Layers partitioning</a:t>
            </a:r>
          </a:p>
          <a:p>
            <a:pPr marL="823912" lvl="1" indent="-171450">
              <a:buFont typeface="Arial" panose="020B0604020202020204" pitchFamily="34" charset="0"/>
              <a:buChar char="•"/>
            </a:pPr>
            <a:r>
              <a:rPr lang="en-US" sz="2000" b="0" dirty="0" smtClean="0"/>
              <a:t>PCI subsystem is </a:t>
            </a:r>
            <a:r>
              <a:rPr lang="en-US" sz="2000" b="0" dirty="0" smtClean="0"/>
              <a:t>unaware - </a:t>
            </a:r>
            <a:r>
              <a:rPr lang="en-US" sz="2000" b="0" dirty="0" smtClean="0"/>
              <a:t>PCI device per PCI bus</a:t>
            </a:r>
          </a:p>
          <a:p>
            <a:pPr marL="823912" lvl="1" indent="-171450">
              <a:buFont typeface="Arial" panose="020B0604020202020204" pitchFamily="34" charset="0"/>
              <a:buChar char="•"/>
            </a:pPr>
            <a:r>
              <a:rPr lang="en-US" sz="2000" b="0" dirty="0" smtClean="0"/>
              <a:t>Net subsystem </a:t>
            </a:r>
            <a:r>
              <a:rPr lang="en-US" sz="2000" b="0" dirty="0" smtClean="0"/>
              <a:t>is </a:t>
            </a:r>
            <a:r>
              <a:rPr lang="en-US" sz="2000" b="0" dirty="0" smtClean="0"/>
              <a:t>unaware – network device per network port</a:t>
            </a:r>
            <a:endParaRPr lang="en-US" sz="2000" b="0" dirty="0" smtClean="0"/>
          </a:p>
          <a:p>
            <a:pPr marL="823912" lvl="1" indent="-171450">
              <a:buFont typeface="Arial" panose="020B0604020202020204" pitchFamily="34" charset="0"/>
              <a:buChar char="•"/>
            </a:pPr>
            <a:r>
              <a:rPr lang="en-US" sz="2000" b="0" dirty="0" smtClean="0"/>
              <a:t>The whole aggregation logic is encapsulated in the network device driver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0" dirty="0" smtClean="0"/>
              <a:t>Symmetric </a:t>
            </a:r>
            <a:r>
              <a:rPr lang="en-US" sz="2000" b="0" dirty="0"/>
              <a:t>modeling of the physical elements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b="0" dirty="0"/>
              <a:t>Good Out-Of-Box experience, no admin configurations</a:t>
            </a:r>
          </a:p>
          <a:p>
            <a:endParaRPr lang="en-US" sz="2000" b="0" dirty="0" smtClean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1471522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Netdev creation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dirty="0" smtClean="0"/>
              <a:t>a netdev </a:t>
            </a:r>
            <a:r>
              <a:rPr lang="en-US" dirty="0" smtClean="0"/>
              <a:t>per</a:t>
            </a:r>
            <a:r>
              <a:rPr lang="en-US" dirty="0" smtClean="0"/>
              <a:t> </a:t>
            </a:r>
            <a:r>
              <a:rPr lang="en-US" dirty="0" smtClean="0"/>
              <a:t>PCI probe does not fit</a:t>
            </a:r>
          </a:p>
          <a:p>
            <a:r>
              <a:rPr lang="en-US" dirty="0"/>
              <a:t>Static approach</a:t>
            </a:r>
          </a:p>
          <a:p>
            <a:pPr lvl="1"/>
            <a:r>
              <a:rPr lang="en-US" dirty="0" smtClean="0"/>
              <a:t>Create the netdev only when all PCIe buses </a:t>
            </a:r>
            <a:r>
              <a:rPr lang="en-US" dirty="0" smtClean="0"/>
              <a:t>of the device are </a:t>
            </a:r>
            <a:r>
              <a:rPr lang="en-US" dirty="0" smtClean="0"/>
              <a:t>probed</a:t>
            </a:r>
          </a:p>
          <a:p>
            <a:r>
              <a:rPr lang="en-US" dirty="0" smtClean="0"/>
              <a:t>Dynamic </a:t>
            </a:r>
            <a:r>
              <a:rPr lang="en-US" dirty="0"/>
              <a:t>approach</a:t>
            </a:r>
          </a:p>
          <a:p>
            <a:pPr lvl="1"/>
            <a:r>
              <a:rPr lang="en-US" dirty="0" smtClean="0"/>
              <a:t>Create the netdev upon </a:t>
            </a:r>
            <a:r>
              <a:rPr lang="en-US" dirty="0"/>
              <a:t>probe of first PCI bus of the device</a:t>
            </a:r>
          </a:p>
          <a:p>
            <a:pPr lvl="1"/>
            <a:r>
              <a:rPr lang="en-US" dirty="0"/>
              <a:t>Requires dynamic adjustment of the netdev/device resources</a:t>
            </a:r>
          </a:p>
          <a:p>
            <a:pPr lvl="2"/>
            <a:r>
              <a:rPr lang="en-US" dirty="0"/>
              <a:t>Since </a:t>
            </a:r>
            <a:r>
              <a:rPr lang="en-US" dirty="0" smtClean="0"/>
              <a:t>some device </a:t>
            </a:r>
            <a:r>
              <a:rPr lang="en-US" dirty="0"/>
              <a:t>resources </a:t>
            </a:r>
            <a:r>
              <a:rPr lang="en-US" dirty="0" smtClean="0"/>
              <a:t>are per </a:t>
            </a:r>
            <a:r>
              <a:rPr lang="en-US" dirty="0"/>
              <a:t>PCI </a:t>
            </a:r>
            <a:r>
              <a:rPr lang="en-US" dirty="0" smtClean="0"/>
              <a:t>bus </a:t>
            </a:r>
            <a:r>
              <a:rPr lang="en-US" dirty="0"/>
              <a:t>(e.g #RX/TX queues)</a:t>
            </a:r>
          </a:p>
          <a:p>
            <a:pPr lvl="1"/>
            <a:r>
              <a:rPr lang="en-US" dirty="0" smtClean="0"/>
              <a:t>C</a:t>
            </a:r>
            <a:r>
              <a:rPr lang="en-US" dirty="0" smtClean="0"/>
              <a:t>omplicated…</a:t>
            </a:r>
            <a:endParaRPr lang="en-US" dirty="0"/>
          </a:p>
          <a:p>
            <a:r>
              <a:rPr lang="en-US" dirty="0"/>
              <a:t>Multi-PCIe bus device detection</a:t>
            </a:r>
          </a:p>
          <a:p>
            <a:pPr lvl="1"/>
            <a:r>
              <a:rPr lang="en-US" dirty="0"/>
              <a:t>Device specific method</a:t>
            </a:r>
          </a:p>
          <a:p>
            <a:pPr lvl="1"/>
            <a:r>
              <a:rPr lang="en-US" dirty="0"/>
              <a:t>Reasonable since it is the device driver that handles the PCI devices aggregation into a single netdev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4599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not Linux bond/team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Breaking the </a:t>
            </a:r>
            <a:r>
              <a:rPr lang="en-US" dirty="0" smtClean="0"/>
              <a:t>netdev per port </a:t>
            </a:r>
            <a:r>
              <a:rPr lang="en-US" dirty="0" smtClean="0"/>
              <a:t>convention</a:t>
            </a:r>
          </a:p>
          <a:p>
            <a:pPr lvl="1"/>
            <a:r>
              <a:rPr lang="en-US" dirty="0" smtClean="0"/>
              <a:t>Creates ambiguity when it comes to device management</a:t>
            </a:r>
          </a:p>
          <a:p>
            <a:pPr lvl="1"/>
            <a:r>
              <a:rPr lang="en-US" dirty="0" smtClean="0"/>
              <a:t>For example</a:t>
            </a:r>
          </a:p>
          <a:p>
            <a:pPr lvl="2"/>
            <a:r>
              <a:rPr lang="en-US" dirty="0" smtClean="0"/>
              <a:t>Which slave I/F shows the physical port speed?</a:t>
            </a:r>
          </a:p>
          <a:p>
            <a:pPr lvl="2"/>
            <a:r>
              <a:rPr lang="en-US" dirty="0" smtClean="0"/>
              <a:t>On which </a:t>
            </a:r>
            <a:r>
              <a:rPr lang="en-US" dirty="0" smtClean="0"/>
              <a:t>slave netdev should flow steering rules be applied?</a:t>
            </a:r>
          </a:p>
          <a:p>
            <a:r>
              <a:rPr lang="en-US" dirty="0" smtClean="0"/>
              <a:t>No straightforward mean to affine RX traffic to PCIe </a:t>
            </a:r>
            <a:r>
              <a:rPr lang="en-US" dirty="0" smtClean="0"/>
              <a:t>bus</a:t>
            </a:r>
            <a:endParaRPr lang="en-US" dirty="0" smtClean="0"/>
          </a:p>
          <a:p>
            <a:r>
              <a:rPr lang="en-US" dirty="0" smtClean="0"/>
              <a:t>Redundant netdevs burden in the system</a:t>
            </a:r>
          </a:p>
          <a:p>
            <a:r>
              <a:rPr lang="en-US" dirty="0" smtClean="0"/>
              <a:t>Cumbersome admin management</a:t>
            </a:r>
          </a:p>
          <a:p>
            <a:pPr lvl="1"/>
            <a:r>
              <a:rPr lang="en-US" dirty="0" smtClean="0"/>
              <a:t>Not working Out-Of-Box</a:t>
            </a:r>
          </a:p>
          <a:p>
            <a:pPr lvl="1"/>
            <a:r>
              <a:rPr lang="en-US" dirty="0" smtClean="0"/>
              <a:t>Need to apply configurations per slave netdev (e.g RSS, ethtool </a:t>
            </a:r>
            <a:r>
              <a:rPr lang="en-US" dirty="0" smtClean="0"/>
              <a:t>settings)</a:t>
            </a:r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5566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TX/RX queues PCIe bus affinity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Ordering must be kept within a given TX/RX queue</a:t>
            </a:r>
          </a:p>
          <a:p>
            <a:r>
              <a:rPr lang="en-US" dirty="0" smtClean="0"/>
              <a:t>The </a:t>
            </a:r>
            <a:r>
              <a:rPr lang="en-US" dirty="0" smtClean="0"/>
              <a:t>PCI-SIG </a:t>
            </a:r>
            <a:r>
              <a:rPr lang="en-US" dirty="0" smtClean="0"/>
              <a:t>spec does not guaranty any ordering between different PCIe </a:t>
            </a:r>
            <a:r>
              <a:rPr lang="en-US" dirty="0" smtClean="0"/>
              <a:t>buses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Conclusion: </a:t>
            </a:r>
            <a:r>
              <a:rPr lang="en-US" dirty="0" smtClean="0">
                <a:sym typeface="Wingdings" panose="05000000000000000000" pitchFamily="2" charset="2"/>
              </a:rPr>
              <a:t>each </a:t>
            </a:r>
            <a:r>
              <a:rPr lang="en-US" dirty="0" smtClean="0">
                <a:sym typeface="Wingdings" panose="05000000000000000000" pitchFamily="2" charset="2"/>
              </a:rPr>
              <a:t>T</a:t>
            </a:r>
            <a:r>
              <a:rPr lang="en-US" dirty="0" smtClean="0">
                <a:sym typeface="Wingdings" panose="05000000000000000000" pitchFamily="2" charset="2"/>
              </a:rPr>
              <a:t>X/RX </a:t>
            </a:r>
            <a:r>
              <a:rPr lang="en-US" dirty="0" smtClean="0">
                <a:sym typeface="Wingdings" panose="05000000000000000000" pitchFamily="2" charset="2"/>
              </a:rPr>
              <a:t>queue must be affined with a single PCIe </a:t>
            </a:r>
            <a:r>
              <a:rPr lang="en-US" dirty="0" smtClean="0">
                <a:sym typeface="Wingdings" panose="05000000000000000000" pitchFamily="2" charset="2"/>
              </a:rPr>
              <a:t>bus</a:t>
            </a:r>
          </a:p>
          <a:p>
            <a:r>
              <a:rPr lang="en-US" dirty="0" smtClean="0">
                <a:sym typeface="Wingdings" panose="05000000000000000000" pitchFamily="2" charset="2"/>
              </a:rPr>
              <a:t>TX/RX queues are already affined with CPU cores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NUMA </a:t>
            </a:r>
            <a:r>
              <a:rPr lang="en-US" dirty="0" smtClean="0">
                <a:sym typeface="Wingdings" panose="05000000000000000000" pitchFamily="2" charset="2"/>
              </a:rPr>
              <a:t>systems</a:t>
            </a:r>
          </a:p>
          <a:p>
            <a:pPr lvl="1"/>
            <a:r>
              <a:rPr lang="en-US" dirty="0" smtClean="0">
                <a:sym typeface="Wingdings" panose="05000000000000000000" pitchFamily="2" charset="2"/>
              </a:rPr>
              <a:t>Affine </a:t>
            </a:r>
            <a:r>
              <a:rPr lang="en-US" dirty="0" smtClean="0">
                <a:sym typeface="Wingdings" panose="05000000000000000000" pitchFamily="2" charset="2"/>
              </a:rPr>
              <a:t>queues with the </a:t>
            </a:r>
            <a:r>
              <a:rPr lang="en-US" dirty="0" smtClean="0">
                <a:sym typeface="Wingdings" panose="05000000000000000000" pitchFamily="2" charset="2"/>
              </a:rPr>
              <a:t>local PCIe bus of the core they are associated with</a:t>
            </a:r>
            <a:endParaRPr lang="en-US" dirty="0" smtClean="0">
              <a:sym typeface="Wingdings" panose="05000000000000000000" pitchFamily="2" charset="2"/>
            </a:endParaRPr>
          </a:p>
          <a:p>
            <a:r>
              <a:rPr lang="en-US" dirty="0" smtClean="0">
                <a:sym typeface="Wingdings" panose="05000000000000000000" pitchFamily="2" charset="2"/>
              </a:rPr>
              <a:t>Non </a:t>
            </a:r>
            <a:r>
              <a:rPr lang="en-US" dirty="0" smtClean="0">
                <a:sym typeface="Wingdings" panose="05000000000000000000" pitchFamily="2" charset="2"/>
              </a:rPr>
              <a:t>NUMA </a:t>
            </a:r>
            <a:r>
              <a:rPr lang="en-US" dirty="0" smtClean="0">
                <a:sym typeface="Wingdings" panose="05000000000000000000" pitchFamily="2" charset="2"/>
              </a:rPr>
              <a:t>systems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D</a:t>
            </a:r>
            <a:r>
              <a:rPr lang="en-US" dirty="0" smtClean="0">
                <a:sym typeface="Wingdings" panose="05000000000000000000" pitchFamily="2" charset="2"/>
              </a:rPr>
              <a:t>istribute </a:t>
            </a:r>
            <a:r>
              <a:rPr lang="en-US" dirty="0" smtClean="0">
                <a:sym typeface="Wingdings" panose="05000000000000000000" pitchFamily="2" charset="2"/>
              </a:rPr>
              <a:t>the queues evenly among the </a:t>
            </a:r>
            <a:r>
              <a:rPr lang="en-US" dirty="0" smtClean="0">
                <a:sym typeface="Wingdings" panose="05000000000000000000" pitchFamily="2" charset="2"/>
              </a:rPr>
              <a:t>device </a:t>
            </a:r>
            <a:r>
              <a:rPr lang="en-US" dirty="0" smtClean="0">
                <a:sym typeface="Wingdings" panose="05000000000000000000" pitchFamily="2" charset="2"/>
              </a:rPr>
              <a:t>PCIe </a:t>
            </a:r>
            <a:r>
              <a:rPr lang="en-US" dirty="0" smtClean="0">
                <a:sym typeface="Wingdings" panose="05000000000000000000" pitchFamily="2" charset="2"/>
              </a:rPr>
              <a:t>buses</a:t>
            </a:r>
            <a:endParaRPr lang="en-US" dirty="0" smtClean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049150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Device resources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Through which PCIe bus?</a:t>
            </a:r>
          </a:p>
          <a:p>
            <a:r>
              <a:rPr lang="en-US" dirty="0" smtClean="0"/>
              <a:t>Vendor specific </a:t>
            </a:r>
            <a:r>
              <a:rPr lang="en-US" dirty="0" smtClean="0"/>
              <a:t>policy</a:t>
            </a:r>
          </a:p>
          <a:p>
            <a:r>
              <a:rPr lang="en-US" dirty="0" smtClean="0"/>
              <a:t>Might be</a:t>
            </a:r>
            <a:endParaRPr lang="en-US" dirty="0" smtClean="0"/>
          </a:p>
          <a:p>
            <a:pPr lvl="1"/>
            <a:r>
              <a:rPr lang="en-US" dirty="0" smtClean="0"/>
              <a:t>Option 1</a:t>
            </a:r>
          </a:p>
          <a:p>
            <a:pPr lvl="2"/>
            <a:r>
              <a:rPr lang="en-US" dirty="0" smtClean="0"/>
              <a:t>Through </a:t>
            </a:r>
            <a:r>
              <a:rPr lang="en-US" dirty="0" smtClean="0"/>
              <a:t>one of the buses</a:t>
            </a:r>
          </a:p>
          <a:p>
            <a:pPr lvl="1"/>
            <a:r>
              <a:rPr lang="en-US" dirty="0" smtClean="0"/>
              <a:t>Option 2</a:t>
            </a:r>
          </a:p>
          <a:p>
            <a:pPr lvl="2"/>
            <a:r>
              <a:rPr lang="en-US" dirty="0" smtClean="0"/>
              <a:t>Affined </a:t>
            </a:r>
            <a:r>
              <a:rPr lang="en-US" dirty="0" smtClean="0"/>
              <a:t>resources </a:t>
            </a:r>
            <a:r>
              <a:rPr lang="en-US" dirty="0" smtClean="0"/>
              <a:t>(TX/RX queues) through </a:t>
            </a:r>
            <a:r>
              <a:rPr lang="en-US" dirty="0" smtClean="0"/>
              <a:t>their designated </a:t>
            </a:r>
            <a:r>
              <a:rPr lang="en-US" dirty="0" smtClean="0"/>
              <a:t>bus</a:t>
            </a:r>
          </a:p>
          <a:p>
            <a:pPr lvl="2"/>
            <a:r>
              <a:rPr lang="en-US" dirty="0" smtClean="0"/>
              <a:t>Non-affined resources (RSS indirection table, flow steering) through </a:t>
            </a:r>
            <a:r>
              <a:rPr lang="en-US" dirty="0" smtClean="0"/>
              <a:t>one of the buses</a:t>
            </a:r>
          </a:p>
          <a:p>
            <a:pPr lvl="1"/>
            <a:r>
              <a:rPr lang="en-US" dirty="0" smtClean="0"/>
              <a:t>Option 3</a:t>
            </a:r>
          </a:p>
          <a:p>
            <a:pPr lvl="2"/>
            <a:r>
              <a:rPr lang="en-US" dirty="0" smtClean="0"/>
              <a:t>Any </a:t>
            </a:r>
            <a:r>
              <a:rPr lang="en-US" dirty="0" smtClean="0"/>
              <a:t>resource through any bus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6829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aRFS (Accelerated Receive Flow Steering)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The NIC needs to support flow steering rules pointing to an RX queue affined with any PCIe bus</a:t>
            </a:r>
          </a:p>
          <a:p>
            <a:r>
              <a:rPr lang="en-US" dirty="0" smtClean="0"/>
              <a:t>Naturally enforces locality in NUMA systems</a:t>
            </a:r>
          </a:p>
          <a:p>
            <a:r>
              <a:rPr lang="en-US" dirty="0" smtClean="0"/>
              <a:t>Eliminates DMA traffic on the QPI</a:t>
            </a:r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71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RSS (Receive Side Scaling)</a:t>
            </a:r>
            <a:endParaRPr lang="en-US" dirty="0"/>
          </a:p>
        </p:txBody>
      </p:sp>
      <p:sp>
        <p:nvSpPr>
          <p:cNvPr id="3" name="Rounded Rectangle 2"/>
          <p:cNvSpPr/>
          <p:nvPr/>
        </p:nvSpPr>
        <p:spPr bwMode="auto">
          <a:xfrm>
            <a:off x="2052161" y="1630242"/>
            <a:ext cx="2698957" cy="21646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CPU</a:t>
            </a:r>
          </a:p>
        </p:txBody>
      </p:sp>
      <p:sp>
        <p:nvSpPr>
          <p:cNvPr id="4" name="Rounded Rectangle 3"/>
          <p:cNvSpPr/>
          <p:nvPr/>
        </p:nvSpPr>
        <p:spPr bwMode="auto">
          <a:xfrm>
            <a:off x="2263555" y="3450758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Gen3</a:t>
            </a:r>
            <a:r>
              <a:rPr kumimoji="0" lang="en-US" sz="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sz="1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x16</a:t>
            </a: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2052161" y="4402953"/>
            <a:ext cx="2698957" cy="186403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NIC</a:t>
            </a: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6" name="Straight Connector 5"/>
          <p:cNvCxnSpPr>
            <a:stCxn id="4" idx="2"/>
          </p:cNvCxnSpPr>
          <p:nvPr/>
        </p:nvCxnSpPr>
        <p:spPr bwMode="auto">
          <a:xfrm>
            <a:off x="2720755" y="3794887"/>
            <a:ext cx="0" cy="59960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8" name="Rounded Rectangle 7"/>
          <p:cNvSpPr/>
          <p:nvPr/>
        </p:nvSpPr>
        <p:spPr bwMode="auto">
          <a:xfrm>
            <a:off x="2263555" y="4402954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I/F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2" name="Rounded Rectangle 11"/>
          <p:cNvSpPr/>
          <p:nvPr/>
        </p:nvSpPr>
        <p:spPr bwMode="auto">
          <a:xfrm>
            <a:off x="3635155" y="3450758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Gen3</a:t>
            </a:r>
            <a:r>
              <a:rPr kumimoji="0" lang="en-US" sz="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sz="1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x16</a:t>
            </a: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3" name="Rounded Rectangle 12"/>
          <p:cNvSpPr/>
          <p:nvPr/>
        </p:nvSpPr>
        <p:spPr bwMode="auto">
          <a:xfrm>
            <a:off x="3635155" y="4402954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I/F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4" name="Straight Connector 13"/>
          <p:cNvCxnSpPr/>
          <p:nvPr/>
        </p:nvCxnSpPr>
        <p:spPr bwMode="auto">
          <a:xfrm>
            <a:off x="4086662" y="3810790"/>
            <a:ext cx="0" cy="59960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triangle" w="med" len="med"/>
            <a:tailEnd type="none" w="med" len="med"/>
          </a:ln>
          <a:effectLst/>
        </p:spPr>
      </p:cxnSp>
      <p:sp>
        <p:nvSpPr>
          <p:cNvPr id="16" name="Rectangle 15"/>
          <p:cNvSpPr/>
          <p:nvPr/>
        </p:nvSpPr>
        <p:spPr bwMode="auto">
          <a:xfrm>
            <a:off x="2263555" y="2666921"/>
            <a:ext cx="301083" cy="74101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X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Q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6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#1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2831645" y="2666921"/>
            <a:ext cx="301083" cy="741011"/>
          </a:xfrm>
          <a:prstGeom prst="rect">
            <a:avLst/>
          </a:prstGeom>
          <a:solidFill>
            <a:srgbClr val="FFFF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X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Q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6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#2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3646785" y="2669436"/>
            <a:ext cx="301083" cy="7410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X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Q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6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#3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4214875" y="2669436"/>
            <a:ext cx="301083" cy="741011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R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X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Q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6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#4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6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2105436" y="5279653"/>
            <a:ext cx="323385" cy="301083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4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2428821" y="5279653"/>
            <a:ext cx="323385" cy="301083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2" name="Rectangle 21"/>
          <p:cNvSpPr/>
          <p:nvPr/>
        </p:nvSpPr>
        <p:spPr bwMode="auto">
          <a:xfrm>
            <a:off x="2752206" y="5279653"/>
            <a:ext cx="323385" cy="3010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3075591" y="5279653"/>
            <a:ext cx="323385" cy="301083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2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4" name="Rectangle 23"/>
          <p:cNvSpPr/>
          <p:nvPr/>
        </p:nvSpPr>
        <p:spPr bwMode="auto">
          <a:xfrm>
            <a:off x="3384110" y="5279653"/>
            <a:ext cx="323385" cy="3010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3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3707495" y="5279653"/>
            <a:ext cx="323385" cy="301083"/>
          </a:xfrm>
          <a:prstGeom prst="rect">
            <a:avLst/>
          </a:prstGeom>
          <a:solidFill>
            <a:srgbClr val="FFFF00"/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>
                <a:solidFill>
                  <a:schemeClr val="tx1"/>
                </a:solidFill>
                <a:latin typeface="Arial" charset="0"/>
                <a:cs typeface="Arial" charset="0"/>
              </a:rPr>
              <a:t>2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6" name="Rectangle 25"/>
          <p:cNvSpPr/>
          <p:nvPr/>
        </p:nvSpPr>
        <p:spPr bwMode="auto">
          <a:xfrm>
            <a:off x="4030880" y="5279653"/>
            <a:ext cx="323385" cy="301083"/>
          </a:xfrm>
          <a:prstGeom prst="rect">
            <a:avLst/>
          </a:prstGeom>
          <a:solidFill>
            <a:schemeClr val="accent4"/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4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7" name="Rectangle 26"/>
          <p:cNvSpPr/>
          <p:nvPr/>
        </p:nvSpPr>
        <p:spPr bwMode="auto">
          <a:xfrm>
            <a:off x="4354265" y="5279653"/>
            <a:ext cx="323385" cy="30108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1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84386" y="5279653"/>
            <a:ext cx="1431482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 smtClean="0"/>
              <a:t>RSS indirection table</a:t>
            </a:r>
            <a:endParaRPr lang="en-US" sz="1200" b="0" dirty="0"/>
          </a:p>
        </p:txBody>
      </p:sp>
      <p:cxnSp>
        <p:nvCxnSpPr>
          <p:cNvPr id="30" name="Straight Arrow Connector 29"/>
          <p:cNvCxnSpPr>
            <a:endCxn id="20" idx="1"/>
          </p:cNvCxnSpPr>
          <p:nvPr/>
        </p:nvCxnSpPr>
        <p:spPr bwMode="auto">
          <a:xfrm>
            <a:off x="1616927" y="5386039"/>
            <a:ext cx="488509" cy="44156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2" name="Straight Arrow Connector 31"/>
          <p:cNvCxnSpPr>
            <a:stCxn id="20" idx="0"/>
          </p:cNvCxnSpPr>
          <p:nvPr/>
        </p:nvCxnSpPr>
        <p:spPr bwMode="auto">
          <a:xfrm flipV="1">
            <a:off x="2267129" y="4747083"/>
            <a:ext cx="1819533" cy="53257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Straight Arrow Connector 33"/>
          <p:cNvCxnSpPr>
            <a:stCxn id="26" idx="0"/>
            <a:endCxn id="13" idx="2"/>
          </p:cNvCxnSpPr>
          <p:nvPr/>
        </p:nvCxnSpPr>
        <p:spPr bwMode="auto">
          <a:xfrm flipH="1" flipV="1">
            <a:off x="4092355" y="4747083"/>
            <a:ext cx="100218" cy="53257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6" name="Straight Arrow Connector 35"/>
          <p:cNvCxnSpPr>
            <a:stCxn id="24" idx="0"/>
          </p:cNvCxnSpPr>
          <p:nvPr/>
        </p:nvCxnSpPr>
        <p:spPr bwMode="auto">
          <a:xfrm flipV="1">
            <a:off x="3545803" y="4747083"/>
            <a:ext cx="544433" cy="53257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Straight Arrow Connector 37"/>
          <p:cNvCxnSpPr>
            <a:stCxn id="21" idx="0"/>
            <a:endCxn id="8" idx="2"/>
          </p:cNvCxnSpPr>
          <p:nvPr/>
        </p:nvCxnSpPr>
        <p:spPr bwMode="auto">
          <a:xfrm flipV="1">
            <a:off x="2590514" y="4747083"/>
            <a:ext cx="130241" cy="53257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Straight Arrow Connector 39"/>
          <p:cNvCxnSpPr>
            <a:endCxn id="8" idx="2"/>
          </p:cNvCxnSpPr>
          <p:nvPr/>
        </p:nvCxnSpPr>
        <p:spPr bwMode="auto">
          <a:xfrm flipH="1" flipV="1">
            <a:off x="2720755" y="4747083"/>
            <a:ext cx="178278" cy="53257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Straight Arrow Connector 41"/>
          <p:cNvCxnSpPr>
            <a:stCxn id="23" idx="0"/>
          </p:cNvCxnSpPr>
          <p:nvPr/>
        </p:nvCxnSpPr>
        <p:spPr bwMode="auto">
          <a:xfrm flipH="1" flipV="1">
            <a:off x="2707743" y="4747083"/>
            <a:ext cx="529541" cy="53257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Straight Arrow Connector 43"/>
          <p:cNvCxnSpPr>
            <a:stCxn id="25" idx="0"/>
          </p:cNvCxnSpPr>
          <p:nvPr/>
        </p:nvCxnSpPr>
        <p:spPr bwMode="auto">
          <a:xfrm flipH="1" flipV="1">
            <a:off x="2692850" y="4747083"/>
            <a:ext cx="1176338" cy="53257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Straight Arrow Connector 45"/>
          <p:cNvCxnSpPr>
            <a:stCxn id="27" idx="0"/>
          </p:cNvCxnSpPr>
          <p:nvPr/>
        </p:nvCxnSpPr>
        <p:spPr bwMode="auto">
          <a:xfrm flipH="1" flipV="1">
            <a:off x="2678925" y="4747083"/>
            <a:ext cx="1837033" cy="53257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7" name="Right Arrow 46"/>
          <p:cNvSpPr/>
          <p:nvPr/>
        </p:nvSpPr>
        <p:spPr bwMode="auto">
          <a:xfrm rot="16200000">
            <a:off x="2762343" y="6077530"/>
            <a:ext cx="1232660" cy="266248"/>
          </a:xfrm>
          <a:prstGeom prst="rightArrow">
            <a:avLst/>
          </a:prstGeom>
          <a:solidFill>
            <a:srgbClr val="00206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063458" y="6840571"/>
            <a:ext cx="63042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 smtClean="0"/>
              <a:t>RX traffic</a:t>
            </a:r>
            <a:endParaRPr lang="en-US" sz="1200" b="0" dirty="0"/>
          </a:p>
        </p:txBody>
      </p:sp>
      <p:sp>
        <p:nvSpPr>
          <p:cNvPr id="49" name="Oval 48"/>
          <p:cNvSpPr/>
          <p:nvPr/>
        </p:nvSpPr>
        <p:spPr bwMode="auto">
          <a:xfrm>
            <a:off x="2196083" y="2168482"/>
            <a:ext cx="436025" cy="41109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  <a:endParaRPr kumimoji="0" lang="en-US" sz="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1" name="Oval 50"/>
          <p:cNvSpPr/>
          <p:nvPr/>
        </p:nvSpPr>
        <p:spPr bwMode="auto">
          <a:xfrm>
            <a:off x="2764173" y="2168482"/>
            <a:ext cx="436025" cy="41109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  <a:endParaRPr kumimoji="0" lang="en-US" sz="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2" name="Oval 51"/>
          <p:cNvSpPr/>
          <p:nvPr/>
        </p:nvSpPr>
        <p:spPr bwMode="auto">
          <a:xfrm>
            <a:off x="3568162" y="2165438"/>
            <a:ext cx="436025" cy="41109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  <a:endParaRPr kumimoji="0" lang="en-US" sz="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3" name="Oval 52"/>
          <p:cNvSpPr/>
          <p:nvPr/>
        </p:nvSpPr>
        <p:spPr bwMode="auto">
          <a:xfrm>
            <a:off x="4136252" y="2165438"/>
            <a:ext cx="436025" cy="41109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Core </a:t>
            </a:r>
            <a:endParaRPr kumimoji="0" lang="en-US" sz="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6110582" y="2370983"/>
            <a:ext cx="73152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smtClean="0"/>
              <a:t>The </a:t>
            </a:r>
            <a:r>
              <a:rPr lang="en-US" dirty="0"/>
              <a:t>NIC needs to support a single indirection table where each entry may point to an RX queue affined with any PCIe bus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Implicitly controls the load </a:t>
            </a:r>
            <a:r>
              <a:rPr lang="en-US" dirty="0" smtClean="0"/>
              <a:t>balance </a:t>
            </a:r>
            <a:r>
              <a:rPr lang="en-US" dirty="0"/>
              <a:t>over the device PCIe buses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Implicitly controls the load </a:t>
            </a:r>
            <a:r>
              <a:rPr lang="en-US" dirty="0" smtClean="0"/>
              <a:t>balance </a:t>
            </a:r>
            <a:r>
              <a:rPr lang="en-US" dirty="0"/>
              <a:t>over NUMA system memories</a:t>
            </a:r>
          </a:p>
        </p:txBody>
      </p:sp>
    </p:spTree>
    <p:extLst>
      <p:ext uri="{BB962C8B-B14F-4D97-AF65-F5344CB8AC3E}">
        <p14:creationId xmlns:p14="http://schemas.microsoft.com/office/powerpoint/2010/main" val="3596562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Virtualization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43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SR-IOV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Need to configure the virtualization management SW to assign VMs with VF per PCIe bus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3384394" y="2092122"/>
            <a:ext cx="1817650" cy="13604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VM A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7" name="Rounded Rectangle 6"/>
          <p:cNvSpPr/>
          <p:nvPr/>
        </p:nvSpPr>
        <p:spPr bwMode="auto">
          <a:xfrm>
            <a:off x="925551" y="5874913"/>
            <a:ext cx="11166060" cy="11279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NIC</a:t>
            </a:r>
          </a:p>
        </p:txBody>
      </p:sp>
      <p:sp>
        <p:nvSpPr>
          <p:cNvPr id="8" name="Rounded Rectangle 7"/>
          <p:cNvSpPr/>
          <p:nvPr/>
        </p:nvSpPr>
        <p:spPr bwMode="auto">
          <a:xfrm>
            <a:off x="3233853" y="5874913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I/F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9" name="Rounded Rectangle 8"/>
          <p:cNvSpPr/>
          <p:nvPr/>
        </p:nvSpPr>
        <p:spPr bwMode="auto">
          <a:xfrm>
            <a:off x="8856745" y="5874913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I/F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3384394" y="5241154"/>
            <a:ext cx="613317" cy="35683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PF0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1" name="Rounded Rectangle 10"/>
          <p:cNvSpPr/>
          <p:nvPr/>
        </p:nvSpPr>
        <p:spPr bwMode="auto">
          <a:xfrm>
            <a:off x="9007286" y="5241154"/>
            <a:ext cx="613317" cy="35683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PF0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3" name="Straight Connector 12"/>
          <p:cNvCxnSpPr>
            <a:stCxn id="10" idx="2"/>
          </p:cNvCxnSpPr>
          <p:nvPr/>
        </p:nvCxnSpPr>
        <p:spPr bwMode="auto">
          <a:xfrm flipH="1">
            <a:off x="3691052" y="5597992"/>
            <a:ext cx="1" cy="27692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>
            <a:stCxn id="11" idx="2"/>
          </p:cNvCxnSpPr>
          <p:nvPr/>
        </p:nvCxnSpPr>
        <p:spPr bwMode="auto">
          <a:xfrm flipH="1">
            <a:off x="9313944" y="5597992"/>
            <a:ext cx="1" cy="27692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9" name="Rounded Rectangle 18"/>
          <p:cNvSpPr/>
          <p:nvPr/>
        </p:nvSpPr>
        <p:spPr bwMode="auto">
          <a:xfrm>
            <a:off x="3531217" y="3108442"/>
            <a:ext cx="583581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socket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0" name="Rounded Rectangle 19"/>
          <p:cNvSpPr/>
          <p:nvPr/>
        </p:nvSpPr>
        <p:spPr bwMode="auto">
          <a:xfrm>
            <a:off x="4499408" y="3108442"/>
            <a:ext cx="583581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socket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1" name="Rounded Rectangle 20"/>
          <p:cNvSpPr/>
          <p:nvPr/>
        </p:nvSpPr>
        <p:spPr bwMode="auto">
          <a:xfrm>
            <a:off x="2620536" y="4601817"/>
            <a:ext cx="613317" cy="35683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VF1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2" name="Rounded Rectangle 21"/>
          <p:cNvSpPr/>
          <p:nvPr/>
        </p:nvSpPr>
        <p:spPr bwMode="auto">
          <a:xfrm>
            <a:off x="3384394" y="4605898"/>
            <a:ext cx="613317" cy="35683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VF2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3" name="Rounded Rectangle 22"/>
          <p:cNvSpPr/>
          <p:nvPr/>
        </p:nvSpPr>
        <p:spPr bwMode="auto">
          <a:xfrm>
            <a:off x="4148252" y="4601817"/>
            <a:ext cx="613317" cy="35683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VF3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25" name="Straight Connector 24"/>
          <p:cNvCxnSpPr>
            <a:stCxn id="21" idx="2"/>
            <a:endCxn id="10" idx="0"/>
          </p:cNvCxnSpPr>
          <p:nvPr/>
        </p:nvCxnSpPr>
        <p:spPr bwMode="auto">
          <a:xfrm>
            <a:off x="2927195" y="4958655"/>
            <a:ext cx="763858" cy="2824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>
            <a:stCxn id="22" idx="2"/>
            <a:endCxn id="10" idx="0"/>
          </p:cNvCxnSpPr>
          <p:nvPr/>
        </p:nvCxnSpPr>
        <p:spPr bwMode="auto">
          <a:xfrm>
            <a:off x="3691053" y="4962736"/>
            <a:ext cx="0" cy="2784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9" name="Straight Connector 28"/>
          <p:cNvCxnSpPr>
            <a:stCxn id="23" idx="2"/>
            <a:endCxn id="10" idx="0"/>
          </p:cNvCxnSpPr>
          <p:nvPr/>
        </p:nvCxnSpPr>
        <p:spPr bwMode="auto">
          <a:xfrm flipH="1">
            <a:off x="3691053" y="4958655"/>
            <a:ext cx="763858" cy="2824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0" name="Rounded Rectangle 29"/>
          <p:cNvSpPr/>
          <p:nvPr/>
        </p:nvSpPr>
        <p:spPr bwMode="auto">
          <a:xfrm>
            <a:off x="5586654" y="2103949"/>
            <a:ext cx="1817650" cy="13604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VM B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1" name="Rounded Rectangle 30"/>
          <p:cNvSpPr/>
          <p:nvPr/>
        </p:nvSpPr>
        <p:spPr bwMode="auto">
          <a:xfrm>
            <a:off x="5733477" y="3120269"/>
            <a:ext cx="583581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socket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2" name="Rounded Rectangle 31"/>
          <p:cNvSpPr/>
          <p:nvPr/>
        </p:nvSpPr>
        <p:spPr bwMode="auto">
          <a:xfrm>
            <a:off x="6701668" y="3120269"/>
            <a:ext cx="583581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socket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3" name="Rounded Rectangle 32"/>
          <p:cNvSpPr/>
          <p:nvPr/>
        </p:nvSpPr>
        <p:spPr bwMode="auto">
          <a:xfrm>
            <a:off x="7768599" y="2103949"/>
            <a:ext cx="1817650" cy="136044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VM C</a:t>
            </a: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4" name="Rounded Rectangle 33"/>
          <p:cNvSpPr/>
          <p:nvPr/>
        </p:nvSpPr>
        <p:spPr bwMode="auto">
          <a:xfrm>
            <a:off x="7915422" y="3120269"/>
            <a:ext cx="583581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socket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5" name="Rounded Rectangle 34"/>
          <p:cNvSpPr/>
          <p:nvPr/>
        </p:nvSpPr>
        <p:spPr bwMode="auto">
          <a:xfrm>
            <a:off x="8883613" y="3120269"/>
            <a:ext cx="583581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socket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6" name="Rounded Rectangle 35"/>
          <p:cNvSpPr/>
          <p:nvPr/>
        </p:nvSpPr>
        <p:spPr bwMode="auto">
          <a:xfrm>
            <a:off x="8243429" y="4601817"/>
            <a:ext cx="613317" cy="35683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VF1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7" name="Rounded Rectangle 36"/>
          <p:cNvSpPr/>
          <p:nvPr/>
        </p:nvSpPr>
        <p:spPr bwMode="auto">
          <a:xfrm>
            <a:off x="9007287" y="4605898"/>
            <a:ext cx="613317" cy="35683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VF2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8" name="Rounded Rectangle 37"/>
          <p:cNvSpPr/>
          <p:nvPr/>
        </p:nvSpPr>
        <p:spPr bwMode="auto">
          <a:xfrm>
            <a:off x="9771145" y="4601817"/>
            <a:ext cx="613317" cy="35683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VF3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39" name="Straight Connector 38"/>
          <p:cNvCxnSpPr>
            <a:stCxn id="36" idx="2"/>
          </p:cNvCxnSpPr>
          <p:nvPr/>
        </p:nvCxnSpPr>
        <p:spPr bwMode="auto">
          <a:xfrm>
            <a:off x="8550088" y="4958655"/>
            <a:ext cx="763858" cy="2824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0" name="Straight Connector 39"/>
          <p:cNvCxnSpPr>
            <a:stCxn id="37" idx="2"/>
          </p:cNvCxnSpPr>
          <p:nvPr/>
        </p:nvCxnSpPr>
        <p:spPr bwMode="auto">
          <a:xfrm>
            <a:off x="9313946" y="4962736"/>
            <a:ext cx="0" cy="278418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/>
          <p:cNvCxnSpPr>
            <a:stCxn id="38" idx="2"/>
          </p:cNvCxnSpPr>
          <p:nvPr/>
        </p:nvCxnSpPr>
        <p:spPr bwMode="auto">
          <a:xfrm flipH="1">
            <a:off x="9313946" y="4958655"/>
            <a:ext cx="763858" cy="28249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2" name="Rounded Rectangle 41"/>
          <p:cNvSpPr/>
          <p:nvPr/>
        </p:nvSpPr>
        <p:spPr bwMode="auto">
          <a:xfrm>
            <a:off x="5976822" y="6658751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4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Port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44" name="Straight Connector 43"/>
          <p:cNvCxnSpPr>
            <a:stCxn id="21" idx="0"/>
            <a:endCxn id="19" idx="2"/>
          </p:cNvCxnSpPr>
          <p:nvPr/>
        </p:nvCxnSpPr>
        <p:spPr bwMode="auto">
          <a:xfrm flipV="1">
            <a:off x="2927195" y="3452571"/>
            <a:ext cx="895813" cy="11492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6" name="Straight Connector 45"/>
          <p:cNvCxnSpPr>
            <a:stCxn id="36" idx="0"/>
            <a:endCxn id="20" idx="2"/>
          </p:cNvCxnSpPr>
          <p:nvPr/>
        </p:nvCxnSpPr>
        <p:spPr bwMode="auto">
          <a:xfrm flipH="1" flipV="1">
            <a:off x="4791199" y="3452571"/>
            <a:ext cx="3758889" cy="114924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/>
          <p:cNvCxnSpPr>
            <a:stCxn id="22" idx="0"/>
            <a:endCxn id="31" idx="2"/>
          </p:cNvCxnSpPr>
          <p:nvPr/>
        </p:nvCxnSpPr>
        <p:spPr bwMode="auto">
          <a:xfrm flipV="1">
            <a:off x="3691053" y="3464398"/>
            <a:ext cx="2334215" cy="1141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1" name="Straight Connector 50"/>
          <p:cNvCxnSpPr>
            <a:stCxn id="37" idx="0"/>
            <a:endCxn id="32" idx="2"/>
          </p:cNvCxnSpPr>
          <p:nvPr/>
        </p:nvCxnSpPr>
        <p:spPr bwMode="auto">
          <a:xfrm flipH="1" flipV="1">
            <a:off x="6993459" y="3464398"/>
            <a:ext cx="2320487" cy="1141500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3" name="Straight Connector 52"/>
          <p:cNvCxnSpPr>
            <a:stCxn id="23" idx="0"/>
            <a:endCxn id="34" idx="2"/>
          </p:cNvCxnSpPr>
          <p:nvPr/>
        </p:nvCxnSpPr>
        <p:spPr bwMode="auto">
          <a:xfrm flipV="1">
            <a:off x="4454911" y="3464398"/>
            <a:ext cx="3752302" cy="11374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5" name="Straight Connector 54"/>
          <p:cNvCxnSpPr>
            <a:stCxn id="38" idx="0"/>
            <a:endCxn id="35" idx="2"/>
          </p:cNvCxnSpPr>
          <p:nvPr/>
        </p:nvCxnSpPr>
        <p:spPr bwMode="auto">
          <a:xfrm flipH="1" flipV="1">
            <a:off x="9175404" y="3464398"/>
            <a:ext cx="902400" cy="1137419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089607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Congestion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82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RX traffic congestion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Congestion on one PCIe bus may propagate and block traffic destined to other PCIe buses</a:t>
            </a:r>
          </a:p>
          <a:p>
            <a:r>
              <a:rPr lang="en-US" dirty="0" smtClean="0"/>
              <a:t>Very likely to happen in case a single PCIe bus BW is smaller than the network BW</a:t>
            </a:r>
          </a:p>
          <a:p>
            <a:r>
              <a:rPr lang="en-US" dirty="0" smtClean="0"/>
              <a:t>The device should deploy some method to avoid that, e.g the WRED (Weighted Random Early Drop) algorithm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1293878" y="3450253"/>
            <a:ext cx="2698957" cy="1158673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CPU</a:t>
            </a:r>
          </a:p>
        </p:txBody>
      </p:sp>
      <p:sp>
        <p:nvSpPr>
          <p:cNvPr id="5" name="Rounded Rectangle 4"/>
          <p:cNvSpPr/>
          <p:nvPr/>
        </p:nvSpPr>
        <p:spPr bwMode="auto">
          <a:xfrm>
            <a:off x="1505272" y="4264797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Gen3</a:t>
            </a:r>
            <a:r>
              <a:rPr kumimoji="0" lang="en-US" sz="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sz="1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x16</a:t>
            </a: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1293878" y="5216992"/>
            <a:ext cx="2698957" cy="112796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dirty="0">
              <a:solidFill>
                <a:schemeClr val="tx1"/>
              </a:solidFill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NIC</a:t>
            </a:r>
          </a:p>
        </p:txBody>
      </p:sp>
      <p:cxnSp>
        <p:nvCxnSpPr>
          <p:cNvPr id="7" name="Straight Connector 6"/>
          <p:cNvCxnSpPr>
            <a:stCxn id="5" idx="2"/>
          </p:cNvCxnSpPr>
          <p:nvPr/>
        </p:nvCxnSpPr>
        <p:spPr bwMode="auto">
          <a:xfrm>
            <a:off x="1962472" y="4608926"/>
            <a:ext cx="0" cy="59960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1299962" y="4815855"/>
            <a:ext cx="62356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 smtClean="0"/>
              <a:t>100 Gb/s</a:t>
            </a:r>
            <a:endParaRPr lang="en-US" sz="1200" b="0" dirty="0"/>
          </a:p>
        </p:txBody>
      </p:sp>
      <p:sp>
        <p:nvSpPr>
          <p:cNvPr id="9" name="Rounded Rectangle 8"/>
          <p:cNvSpPr/>
          <p:nvPr/>
        </p:nvSpPr>
        <p:spPr bwMode="auto">
          <a:xfrm>
            <a:off x="1505272" y="5216993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I/F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2129261" y="6000831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PORT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>
            <a:off x="2631066" y="6344960"/>
            <a:ext cx="0" cy="408931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1962472" y="6525485"/>
            <a:ext cx="62356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/>
              <a:t>2</a:t>
            </a:r>
            <a:r>
              <a:rPr lang="en-US" sz="1200" b="0" dirty="0" smtClean="0"/>
              <a:t>00 Gb/s</a:t>
            </a:r>
            <a:endParaRPr lang="en-US" sz="1200" b="0" dirty="0"/>
          </a:p>
        </p:txBody>
      </p:sp>
      <p:sp>
        <p:nvSpPr>
          <p:cNvPr id="13" name="Rounded Rectangle 12"/>
          <p:cNvSpPr/>
          <p:nvPr/>
        </p:nvSpPr>
        <p:spPr bwMode="auto">
          <a:xfrm>
            <a:off x="2876872" y="4264797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</a:t>
            </a: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CIe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Gen3</a:t>
            </a:r>
            <a:r>
              <a:rPr kumimoji="0" lang="en-US" sz="8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</a:t>
            </a:r>
            <a:r>
              <a:rPr lang="en-US" sz="10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x16</a:t>
            </a:r>
            <a:endParaRPr kumimoji="0" lang="en-US" sz="1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4" name="Rounded Rectangle 13"/>
          <p:cNvSpPr/>
          <p:nvPr/>
        </p:nvSpPr>
        <p:spPr bwMode="auto">
          <a:xfrm>
            <a:off x="2876872" y="5216993"/>
            <a:ext cx="914400" cy="344129"/>
          </a:xfrm>
          <a:prstGeom prst="roundRect">
            <a:avLst/>
          </a:prstGeom>
          <a:solidFill>
            <a:srgbClr val="FFFF9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I/F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cxnSp>
        <p:nvCxnSpPr>
          <p:cNvPr id="15" name="Straight Connector 14"/>
          <p:cNvCxnSpPr/>
          <p:nvPr/>
        </p:nvCxnSpPr>
        <p:spPr bwMode="auto">
          <a:xfrm>
            <a:off x="3328379" y="4624829"/>
            <a:ext cx="0" cy="599606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2665869" y="4831758"/>
            <a:ext cx="623569" cy="184666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 smtClean="0"/>
              <a:t>100 Gb/s</a:t>
            </a:r>
            <a:endParaRPr lang="en-US" sz="1200" b="0" dirty="0"/>
          </a:p>
        </p:txBody>
      </p:sp>
      <p:sp>
        <p:nvSpPr>
          <p:cNvPr id="17" name="Rectangle 16"/>
          <p:cNvSpPr/>
          <p:nvPr/>
        </p:nvSpPr>
        <p:spPr bwMode="auto">
          <a:xfrm>
            <a:off x="7584053" y="4529472"/>
            <a:ext cx="758283" cy="17198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18" name="Right Arrow 17"/>
          <p:cNvSpPr/>
          <p:nvPr/>
        </p:nvSpPr>
        <p:spPr bwMode="auto">
          <a:xfrm rot="16200000">
            <a:off x="7555041" y="6379350"/>
            <a:ext cx="813773" cy="553703"/>
          </a:xfrm>
          <a:prstGeom prst="rightArrow">
            <a:avLst/>
          </a:prstGeom>
          <a:solidFill>
            <a:srgbClr val="00206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1" name="Rounded Rectangle 20"/>
          <p:cNvSpPr/>
          <p:nvPr/>
        </p:nvSpPr>
        <p:spPr bwMode="auto">
          <a:xfrm>
            <a:off x="6867178" y="3455749"/>
            <a:ext cx="914400" cy="344129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</a:t>
            </a: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I/F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#1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2" name="Rounded Rectangle 21"/>
          <p:cNvSpPr/>
          <p:nvPr/>
        </p:nvSpPr>
        <p:spPr bwMode="auto">
          <a:xfrm>
            <a:off x="8238778" y="3455749"/>
            <a:ext cx="914400" cy="34412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800" dirty="0" smtClean="0">
                <a:solidFill>
                  <a:schemeClr val="tx1"/>
                </a:solidFill>
                <a:latin typeface="Arial" charset="0"/>
                <a:cs typeface="Arial" charset="0"/>
              </a:rPr>
              <a:t>PCIe I/F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#2</a:t>
            </a:r>
            <a:endParaRPr kumimoji="0" lang="en-US" sz="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7" name="Right Arrow 26"/>
          <p:cNvSpPr/>
          <p:nvPr/>
        </p:nvSpPr>
        <p:spPr bwMode="auto">
          <a:xfrm rot="19033497">
            <a:off x="7937415" y="4022752"/>
            <a:ext cx="843958" cy="254613"/>
          </a:xfrm>
          <a:prstGeom prst="rightArrow">
            <a:avLst/>
          </a:prstGeom>
          <a:solidFill>
            <a:srgbClr val="00206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8" name="Right Arrow 27"/>
          <p:cNvSpPr/>
          <p:nvPr/>
        </p:nvSpPr>
        <p:spPr bwMode="auto">
          <a:xfrm rot="13348528">
            <a:off x="7207713" y="4029977"/>
            <a:ext cx="843958" cy="254613"/>
          </a:xfrm>
          <a:prstGeom prst="rightArrow">
            <a:avLst/>
          </a:prstGeom>
          <a:solidFill>
            <a:srgbClr val="00206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29" name="Rectangle 28"/>
          <p:cNvSpPr/>
          <p:nvPr/>
        </p:nvSpPr>
        <p:spPr bwMode="auto">
          <a:xfrm>
            <a:off x="7587140" y="4532658"/>
            <a:ext cx="755195" cy="1944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packet 1</a:t>
            </a: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0" name="Rectangle 29"/>
          <p:cNvSpPr/>
          <p:nvPr/>
        </p:nvSpPr>
        <p:spPr bwMode="auto">
          <a:xfrm>
            <a:off x="7587140" y="4729663"/>
            <a:ext cx="755195" cy="1944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packet 2</a:t>
            </a: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2" name="Rectangle 31"/>
          <p:cNvSpPr/>
          <p:nvPr/>
        </p:nvSpPr>
        <p:spPr bwMode="auto">
          <a:xfrm>
            <a:off x="7584053" y="4929181"/>
            <a:ext cx="755195" cy="19442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packet 3</a:t>
            </a: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3" name="Rectangle 32"/>
          <p:cNvSpPr/>
          <p:nvPr/>
        </p:nvSpPr>
        <p:spPr bwMode="auto">
          <a:xfrm>
            <a:off x="7584053" y="5115035"/>
            <a:ext cx="755195" cy="1944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packet 4</a:t>
            </a: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4" name="Rectangle 33"/>
          <p:cNvSpPr/>
          <p:nvPr/>
        </p:nvSpPr>
        <p:spPr bwMode="auto">
          <a:xfrm>
            <a:off x="7584053" y="5312040"/>
            <a:ext cx="755195" cy="19442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packet 5</a:t>
            </a: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5" name="Rectangle 34"/>
          <p:cNvSpPr/>
          <p:nvPr/>
        </p:nvSpPr>
        <p:spPr bwMode="auto">
          <a:xfrm>
            <a:off x="7581897" y="5501695"/>
            <a:ext cx="757351" cy="20176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9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packet 6</a:t>
            </a: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421455" y="4981282"/>
            <a:ext cx="538609" cy="369332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200" b="0" dirty="0" smtClean="0"/>
              <a:t>Port RX</a:t>
            </a:r>
          </a:p>
          <a:p>
            <a:pPr algn="ctr"/>
            <a:r>
              <a:rPr lang="en-US" sz="1200" b="0" dirty="0" smtClean="0"/>
              <a:t>Buffer</a:t>
            </a:r>
          </a:p>
        </p:txBody>
      </p:sp>
      <p:cxnSp>
        <p:nvCxnSpPr>
          <p:cNvPr id="39" name="Straight Arrow Connector 38"/>
          <p:cNvCxnSpPr>
            <a:stCxn id="37" idx="3"/>
          </p:cNvCxnSpPr>
          <p:nvPr/>
        </p:nvCxnSpPr>
        <p:spPr bwMode="auto">
          <a:xfrm>
            <a:off x="6960064" y="5165948"/>
            <a:ext cx="595528" cy="58487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lumMod val="75000"/>
              </a:schemeClr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7747915" y="7060038"/>
            <a:ext cx="407163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400" dirty="0" smtClean="0"/>
              <a:t>200g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8432653" y="4159957"/>
            <a:ext cx="407163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400" dirty="0"/>
              <a:t>1</a:t>
            </a:r>
            <a:r>
              <a:rPr lang="en-US" sz="1400" dirty="0" smtClean="0"/>
              <a:t>00g</a:t>
            </a:r>
            <a:endParaRPr lang="en-US" sz="1400" dirty="0"/>
          </a:p>
        </p:txBody>
      </p:sp>
      <p:sp>
        <p:nvSpPr>
          <p:cNvPr id="43" name="TextBox 42"/>
          <p:cNvSpPr txBox="1"/>
          <p:nvPr/>
        </p:nvSpPr>
        <p:spPr>
          <a:xfrm>
            <a:off x="7148429" y="4159957"/>
            <a:ext cx="407163" cy="215444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spAutoFit/>
          </a:bodyPr>
          <a:lstStyle/>
          <a:p>
            <a:pPr algn="ctr"/>
            <a:r>
              <a:rPr lang="en-US" sz="1400" dirty="0" smtClean="0"/>
              <a:t>1</a:t>
            </a:r>
            <a:r>
              <a:rPr lang="en-US" sz="1400" dirty="0" smtClean="0"/>
              <a:t>00g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20282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Some NUMA performance numbers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73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info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Server</a:t>
            </a:r>
          </a:p>
          <a:p>
            <a:pPr lvl="1"/>
            <a:r>
              <a:rPr lang="en-US" dirty="0" smtClean="0"/>
              <a:t>Dell </a:t>
            </a:r>
            <a:r>
              <a:rPr lang="en-US" dirty="0"/>
              <a:t>R730 CPU E5-2687W v4 @ 3.00GHz</a:t>
            </a:r>
          </a:p>
          <a:p>
            <a:pPr lvl="1"/>
            <a:r>
              <a:rPr lang="en-US" dirty="0" smtClean="0"/>
              <a:t>Running </a:t>
            </a:r>
            <a:r>
              <a:rPr lang="en-US" dirty="0"/>
              <a:t>at 3.2GHz no HT 24 cores</a:t>
            </a:r>
          </a:p>
          <a:p>
            <a:r>
              <a:rPr lang="en-US" dirty="0" smtClean="0"/>
              <a:t>OS</a:t>
            </a:r>
          </a:p>
          <a:p>
            <a:pPr lvl="1"/>
            <a:r>
              <a:rPr lang="en-US" dirty="0" smtClean="0"/>
              <a:t>RH7.3</a:t>
            </a:r>
            <a:endParaRPr lang="en-US" dirty="0"/>
          </a:p>
          <a:p>
            <a:r>
              <a:rPr lang="en-US" dirty="0" smtClean="0"/>
              <a:t>NIC</a:t>
            </a:r>
          </a:p>
          <a:p>
            <a:pPr lvl="1"/>
            <a:r>
              <a:rPr lang="en-US" dirty="0" smtClean="0"/>
              <a:t>Mellanox ConnectX-4</a:t>
            </a:r>
          </a:p>
          <a:p>
            <a:pPr lvl="1"/>
            <a:r>
              <a:rPr lang="en-US" dirty="0" smtClean="0"/>
              <a:t>Eth port speed: 100g</a:t>
            </a:r>
          </a:p>
          <a:p>
            <a:pPr lvl="1"/>
            <a:r>
              <a:rPr lang="en-US" dirty="0"/>
              <a:t>2</a:t>
            </a:r>
            <a:r>
              <a:rPr lang="en-US" dirty="0" smtClean="0"/>
              <a:t> PCIe gen3 x8 sockets</a:t>
            </a:r>
          </a:p>
        </p:txBody>
      </p:sp>
    </p:spTree>
    <p:extLst>
      <p:ext uri="{BB962C8B-B14F-4D97-AF65-F5344CB8AC3E}">
        <p14:creationId xmlns:p14="http://schemas.microsoft.com/office/powerpoint/2010/main" val="3906301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Network throughput with SW QPI load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516" y="1803964"/>
            <a:ext cx="6444031" cy="5279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094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TCP latency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646" y="1693261"/>
            <a:ext cx="6358679" cy="5456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867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3"/>
          </p:nvPr>
        </p:nvSpPr>
        <p:spPr>
          <a:xfrm>
            <a:off x="571969" y="6780943"/>
            <a:ext cx="8515772" cy="912345"/>
          </a:xfrm>
        </p:spPr>
        <p:txBody>
          <a:bodyPr/>
          <a:lstStyle/>
          <a:p>
            <a:r>
              <a:rPr lang="en-US" sz="660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94430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ellanoxTheme2">
  <a:themeElements>
    <a:clrScheme name="Custom 1">
      <a:dk1>
        <a:srgbClr val="000000"/>
      </a:dk1>
      <a:lt1>
        <a:srgbClr val="FFFFFF"/>
      </a:lt1>
      <a:dk2>
        <a:srgbClr val="002B60"/>
      </a:dk2>
      <a:lt2>
        <a:srgbClr val="50A1D6"/>
      </a:lt2>
      <a:accent1>
        <a:srgbClr val="00518E"/>
      </a:accent1>
      <a:accent2>
        <a:srgbClr val="5DA533"/>
      </a:accent2>
      <a:accent3>
        <a:srgbClr val="EF9314"/>
      </a:accent3>
      <a:accent4>
        <a:srgbClr val="FF5A00"/>
      </a:accent4>
      <a:accent5>
        <a:srgbClr val="E33D12"/>
      </a:accent5>
      <a:accent6>
        <a:srgbClr val="49305F"/>
      </a:accent6>
      <a:hlink>
        <a:srgbClr val="00518E"/>
      </a:hlink>
      <a:folHlink>
        <a:srgbClr val="4E575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>
            <a:lumMod val="85000"/>
          </a:schemeClr>
        </a:solidFill>
        <a:ln>
          <a:noFill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cs typeface="Arial" charset="0"/>
          </a:defRPr>
        </a:defPPr>
      </a:lstStyle>
      <a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a:style>
    </a:spDef>
    <a:lnDef>
      <a:spPr bwMode="auto">
        <a:solidFill>
          <a:schemeClr val="accent1"/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round/>
          <a:headEnd type="none" w="med" len="med"/>
          <a:tailEnd type="none" w="med" len="med"/>
        </a:ln>
        <a:effectLst/>
      </a:spPr>
      <a:bodyPr/>
      <a:lstStyle/>
    </a:lnDef>
    <a:txDef>
      <a:spPr>
        <a:noFill/>
      </a:spPr>
      <a:bodyPr wrap="square" lIns="0" tIns="0" rIns="0" bIns="0" rtlCol="0" anchor="ctr" anchorCtr="0">
        <a:spAutoFit/>
      </a:bodyPr>
      <a:lstStyle>
        <a:defPPr algn="ctr">
          <a:defRPr sz="1200" b="0" dirty="0"/>
        </a:defPPr>
      </a:lstStyle>
    </a:txDef>
  </a:objectDefaults>
  <a:extraClrSchemeLst>
    <a:extraClrScheme>
      <a:clrScheme name="mlnx_new_temp_200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lnx_new_temp_2009 13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lnx_new_temp_2009 14">
        <a:dk1>
          <a:srgbClr val="000000"/>
        </a:dk1>
        <a:lt1>
          <a:srgbClr val="FFFFFF"/>
        </a:lt1>
        <a:dk2>
          <a:srgbClr val="000066"/>
        </a:dk2>
        <a:lt2>
          <a:srgbClr val="000000"/>
        </a:lt2>
        <a:accent1>
          <a:srgbClr val="000066"/>
        </a:accent1>
        <a:accent2>
          <a:srgbClr val="FF9933"/>
        </a:accent2>
        <a:accent3>
          <a:srgbClr val="FFFFFF"/>
        </a:accent3>
        <a:accent4>
          <a:srgbClr val="000000"/>
        </a:accent4>
        <a:accent5>
          <a:srgbClr val="AAAAB8"/>
        </a:accent5>
        <a:accent6>
          <a:srgbClr val="E78A2D"/>
        </a:accent6>
        <a:hlink>
          <a:srgbClr val="4D4D4D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2" id="{9C99B854-0C4E-4F7D-8199-DAB3ADA44B10}" vid="{897C5FA8-537E-4730-ABD1-1C77A3B645B8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rder0 xmlns="f83cece0-6c47-43bd-a956-2d3178e5700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BE88FB999BA44C91483A9500B9862F" ma:contentTypeVersion="1" ma:contentTypeDescription="Create a new document." ma:contentTypeScope="" ma:versionID="5b4277933b21b5177c66e98b04231df5">
  <xsd:schema xmlns:xsd="http://www.w3.org/2001/XMLSchema" xmlns:xs="http://www.w3.org/2001/XMLSchema" xmlns:p="http://schemas.microsoft.com/office/2006/metadata/properties" xmlns:ns2="f83cece0-6c47-43bd-a956-2d3178e5700d" targetNamespace="http://schemas.microsoft.com/office/2006/metadata/properties" ma:root="true" ma:fieldsID="899aefa1ae86d299e221e8f8a1538978" ns2:_="">
    <xsd:import namespace="f83cece0-6c47-43bd-a956-2d3178e5700d"/>
    <xsd:element name="properties">
      <xsd:complexType>
        <xsd:sequence>
          <xsd:element name="documentManagement">
            <xsd:complexType>
              <xsd:all>
                <xsd:element ref="ns2:Order0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3cece0-6c47-43bd-a956-2d3178e5700d" elementFormDefault="qualified">
    <xsd:import namespace="http://schemas.microsoft.com/office/2006/documentManagement/types"/>
    <xsd:import namespace="http://schemas.microsoft.com/office/infopath/2007/PartnerControls"/>
    <xsd:element name="Order0" ma:index="8" nillable="true" ma:displayName="Order" ma:internalName="Order0">
      <xsd:simpleType>
        <xsd:restriction base="dms:Number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F025844-E1B7-41CF-83BC-8E26C162966B}">
  <ds:schemaRefs>
    <ds:schemaRef ds:uri="http://schemas.microsoft.com/office/2006/documentManagement/types"/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  <ds:schemaRef ds:uri="f83cece0-6c47-43bd-a956-2d3178e5700d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CDB3F46-0A93-450A-A8FA-DC3C11E7D0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83cece0-6c47-43bd-a956-2d3178e570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E117725-7844-4D54-9562-47FD3E7AE5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2016 Mellanox Software Confidential</Template>
  <TotalTime>8322</TotalTime>
  <Words>910</Words>
  <Application>Microsoft Office PowerPoint</Application>
  <PresentationFormat>Custom</PresentationFormat>
  <Paragraphs>328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ＭＳ Ｐゴシック</vt:lpstr>
      <vt:lpstr>Arial</vt:lpstr>
      <vt:lpstr>Arial Narrow Bold</vt:lpstr>
      <vt:lpstr>Lucida Grande</vt:lpstr>
      <vt:lpstr>Wingdings</vt:lpstr>
      <vt:lpstr>MellanoxTheme2</vt:lpstr>
      <vt:lpstr>Multi-PCIe socket network device</vt:lpstr>
      <vt:lpstr>Problem description</vt:lpstr>
      <vt:lpstr>Introduction</vt:lpstr>
      <vt:lpstr>Port BW &gt; PCIe BW</vt:lpstr>
      <vt:lpstr>NUMA system, NIC with single PCIe bus</vt:lpstr>
      <vt:lpstr>NUMA system,  NIC with multiple PCIe buses</vt:lpstr>
      <vt:lpstr>Multi-host NIC</vt:lpstr>
      <vt:lpstr>Software model</vt:lpstr>
      <vt:lpstr>N/A for multi-host</vt:lpstr>
      <vt:lpstr>Netdev per port</vt:lpstr>
      <vt:lpstr>Netdev creation</vt:lpstr>
      <vt:lpstr>Why not Linux bond/team</vt:lpstr>
      <vt:lpstr>TX/RX queues PCIe bus affinity</vt:lpstr>
      <vt:lpstr>Device resources management</vt:lpstr>
      <vt:lpstr>aRFS (Accelerated Receive Flow Steering)</vt:lpstr>
      <vt:lpstr>RSS (Receive Side Scaling)</vt:lpstr>
      <vt:lpstr>Virtualization</vt:lpstr>
      <vt:lpstr>SR-IOV</vt:lpstr>
      <vt:lpstr>Congestion</vt:lpstr>
      <vt:lpstr>RX traffic congestion</vt:lpstr>
      <vt:lpstr> Some NUMA performance numbers</vt:lpstr>
      <vt:lpstr>System info</vt:lpstr>
      <vt:lpstr>Network throughput with SW QPI load</vt:lpstr>
      <vt:lpstr>TCP latency</vt:lpstr>
      <vt:lpstr>PowerPoint Presentation</vt:lpstr>
    </vt:vector>
  </TitlesOfParts>
  <Company>Mellanox</Company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Dror Goldenberg</dc:creator>
  <cp:lastModifiedBy>Achiad Shochat</cp:lastModifiedBy>
  <cp:revision>100</cp:revision>
  <cp:lastPrinted>2012-11-12T23:29:59Z</cp:lastPrinted>
  <dcterms:created xsi:type="dcterms:W3CDTF">2016-06-08T08:12:10Z</dcterms:created>
  <dcterms:modified xsi:type="dcterms:W3CDTF">2017-11-01T15:23:54Z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0x010100FFBE88FB999BA44C91483A9500B9862F</vt:lpwstr>
  </property>
</Properties>
</file>