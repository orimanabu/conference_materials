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285" r:id="rId5"/>
  </p:sldMasterIdLst>
  <p:notesMasterIdLst>
    <p:notesMasterId r:id="rId25"/>
  </p:notesMasterIdLst>
  <p:handoutMasterIdLst>
    <p:handoutMasterId r:id="rId26"/>
  </p:handoutMasterIdLst>
  <p:sldIdLst>
    <p:sldId id="637" r:id="rId6"/>
    <p:sldId id="712" r:id="rId7"/>
    <p:sldId id="764" r:id="rId8"/>
    <p:sldId id="763" r:id="rId9"/>
    <p:sldId id="761" r:id="rId10"/>
    <p:sldId id="783" r:id="rId11"/>
    <p:sldId id="734" r:id="rId12"/>
    <p:sldId id="772" r:id="rId13"/>
    <p:sldId id="773" r:id="rId14"/>
    <p:sldId id="774" r:id="rId15"/>
    <p:sldId id="776" r:id="rId16"/>
    <p:sldId id="782" r:id="rId17"/>
    <p:sldId id="777" r:id="rId18"/>
    <p:sldId id="780" r:id="rId19"/>
    <p:sldId id="781" r:id="rId20"/>
    <p:sldId id="779" r:id="rId21"/>
    <p:sldId id="744" r:id="rId22"/>
    <p:sldId id="574" r:id="rId23"/>
    <p:sldId id="778" r:id="rId24"/>
  </p:sldIdLst>
  <p:sldSz cx="14630400" cy="8229600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52462" indent="-195262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304925" indent="-390525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958974" indent="-587374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611438" indent="-782638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0DB"/>
    <a:srgbClr val="5CA533"/>
    <a:srgbClr val="E7E9EE"/>
    <a:srgbClr val="001946"/>
    <a:srgbClr val="263951"/>
    <a:srgbClr val="009D96"/>
    <a:srgbClr val="AFCA24"/>
    <a:srgbClr val="DAE9B3"/>
    <a:srgbClr val="CC4D16"/>
    <a:srgbClr val="EF93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3869" autoAdjust="0"/>
  </p:normalViewPr>
  <p:slideViewPr>
    <p:cSldViewPr snapToGrid="0">
      <p:cViewPr varScale="1">
        <p:scale>
          <a:sx n="58" d="100"/>
          <a:sy n="58" d="100"/>
        </p:scale>
        <p:origin x="660" y="84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orisp\Documents\TLS_performance\with%20ktl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 smtClean="0">
                <a:effectLst/>
              </a:rPr>
              <a:t>Send-Side Bandwidth/Cycles </a:t>
            </a:r>
            <a:r>
              <a:rPr lang="en-US" sz="1800" b="0" i="0" baseline="0" dirty="0">
                <a:effectLst/>
              </a:rPr>
              <a:t>normalized to </a:t>
            </a:r>
            <a:r>
              <a:rPr lang="en-US" sz="1800" b="0" i="0" baseline="0" dirty="0" err="1">
                <a:effectLst/>
              </a:rPr>
              <a:t>OpenSSLL</a:t>
            </a:r>
            <a:endParaRPr lang="en-US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758378900925244"/>
          <c:y val="0.16638366839791863"/>
          <c:w val="0.87241621099074762"/>
          <c:h val="0.55645871792932178"/>
        </c:manualLayout>
      </c:layout>
      <c:barChart>
        <c:barDir val="col"/>
        <c:grouping val="clustered"/>
        <c:varyColors val="0"/>
        <c:ser>
          <c:idx val="0"/>
          <c:order val="0"/>
          <c:tx>
            <c:v>tcp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cpu!$A$1:$I$1</c:f>
              <c:numCache>
                <c:formatCode>0</c:formatCode>
                <c:ptCount val="1"/>
                <c:pt idx="0">
                  <c:v>16384</c:v>
                </c:pt>
              </c:numCache>
            </c:numRef>
          </c:cat>
          <c:val>
            <c:numRef>
              <c:f>cpu!$A$36:$I$36</c:f>
              <c:numCache>
                <c:formatCode>0.0</c:formatCode>
                <c:ptCount val="1"/>
                <c:pt idx="0">
                  <c:v>5.426688632619439</c:v>
                </c:pt>
              </c:numCache>
            </c:numRef>
          </c:val>
        </c:ser>
        <c:ser>
          <c:idx val="1"/>
          <c:order val="1"/>
          <c:tx>
            <c:v>ktls+offload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cpu!$A$1:$I$1</c:f>
              <c:numCache>
                <c:formatCode>0</c:formatCode>
                <c:ptCount val="1"/>
                <c:pt idx="0">
                  <c:v>16384</c:v>
                </c:pt>
              </c:numCache>
            </c:numRef>
          </c:cat>
          <c:val>
            <c:numRef>
              <c:f>cpu!$A$35:$I$35</c:f>
              <c:numCache>
                <c:formatCode>0.0</c:formatCode>
                <c:ptCount val="1"/>
                <c:pt idx="0">
                  <c:v>3.0512107979356884</c:v>
                </c:pt>
              </c:numCache>
            </c:numRef>
          </c:val>
        </c:ser>
        <c:ser>
          <c:idx val="3"/>
          <c:order val="2"/>
          <c:tx>
            <c:v>openssl</c:v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cpu!$A$1:$I$1</c:f>
              <c:numCache>
                <c:formatCode>0</c:formatCode>
                <c:ptCount val="1"/>
                <c:pt idx="0">
                  <c:v>16384</c:v>
                </c:pt>
              </c:numCache>
            </c:numRef>
          </c:cat>
          <c:val>
            <c:numRef>
              <c:f>cpu!$A$38:$I$38</c:f>
              <c:numCache>
                <c:formatCode>0.0</c:formatCode>
                <c:ptCount val="1"/>
                <c:pt idx="0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372416"/>
        <c:axId val="154372808"/>
        <c:extLst>
          <c:ext xmlns:c15="http://schemas.microsoft.com/office/drawing/2012/chart" uri="{02D57815-91ED-43cb-92C2-25804820EDAC}">
            <c15:filteredBarSeries>
              <c15:ser>
                <c:idx val="4"/>
                <c:order val="3"/>
                <c:tx>
                  <c:v>sw ktls</c:v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cpu!$A$1:$I$1</c15:sqref>
                        </c15:formulaRef>
                      </c:ext>
                    </c:extLst>
                    <c:numCache>
                      <c:formatCode>0</c:formatCode>
                      <c:ptCount val="1"/>
                      <c:pt idx="0">
                        <c:v>16384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cpu!$A$39:$I$39</c15:sqref>
                        </c15:formulaRef>
                      </c:ext>
                    </c:extLst>
                    <c:numCache>
                      <c:formatCode>0.0</c:formatCode>
                      <c:ptCount val="1"/>
                      <c:pt idx="0">
                        <c:v>0.49981575011380136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54372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Record Size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372808"/>
        <c:crosses val="autoZero"/>
        <c:auto val="1"/>
        <c:lblAlgn val="ctr"/>
        <c:lblOffset val="100"/>
        <c:noMultiLvlLbl val="0"/>
      </c:catAx>
      <c:valAx>
        <c:axId val="154372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Speedup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372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8095EEA3-525F-7F4B-8B73-3F9E7D9982C6}" type="datetime1">
              <a:rPr lang="en-US"/>
              <a:pPr>
                <a:defRPr/>
              </a:pPr>
              <a:t>11/16/2017</a:t>
            </a:fld>
            <a:endParaRPr lang="en-US" dirty="0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 smtClean="0"/>
              <a:t>On receive</a:t>
            </a:r>
            <a:endParaRPr lang="en-US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57ED2BC3-F589-CD45-B2EF-3C13F1507F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474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EE831723-7541-DC4C-9A30-FC10FB29D011}" type="datetime1">
              <a:rPr lang="en-US"/>
              <a:pPr>
                <a:defRPr/>
              </a:pPr>
              <a:t>11/16/2017</a:t>
            </a:fld>
            <a:endParaRPr lang="en-US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2988" y="527050"/>
            <a:ext cx="4672012" cy="2627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378" y="3329222"/>
            <a:ext cx="7439646" cy="315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 smtClean="0"/>
              <a:t>On receive</a:t>
            </a:r>
            <a:endParaRPr lang="en-US" dirty="0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7023F7C0-8181-5241-967D-41CF93AC32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825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652462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3pPr>
    <a:lvl4pPr marL="1958974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5pPr>
    <a:lvl6pPr marL="3265389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466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542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621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6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 -&gt; TLS Data Fragments</a:t>
            </a:r>
          </a:p>
          <a:p>
            <a:r>
              <a:rPr lang="en-US" dirty="0" smtClean="0"/>
              <a:t>H –</a:t>
            </a:r>
            <a:r>
              <a:rPr lang="en-US" baseline="0" dirty="0" smtClean="0"/>
              <a:t> header</a:t>
            </a:r>
          </a:p>
          <a:p>
            <a:r>
              <a:rPr lang="en-US" baseline="0" dirty="0" smtClean="0"/>
              <a:t>T – authentication tag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2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TLS Record 1 | TLS Record 2 </a:t>
            </a:r>
            <a:r>
              <a:rPr lang="en-US" dirty="0" smtClean="0">
                <a:sym typeface="Wingdings" panose="05000000000000000000" pitchFamily="2" charset="2"/>
              </a:rPr>
              <a:t> 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65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Mark socket as offloaded</a:t>
            </a:r>
          </a:p>
          <a:p>
            <a:r>
              <a:rPr lang="en-US" dirty="0" smtClean="0"/>
              <a:t>Data path</a:t>
            </a:r>
            <a:r>
              <a:rPr lang="en-US" baseline="0" dirty="0" smtClean="0"/>
              <a:t> is unchanged*</a:t>
            </a:r>
            <a:endParaRPr lang="en-US" dirty="0" smtClean="0"/>
          </a:p>
          <a:p>
            <a:r>
              <a:rPr lang="en-US" dirty="0" err="1" smtClean="0"/>
              <a:t>tcpdump</a:t>
            </a:r>
            <a:r>
              <a:rPr lang="en-US" dirty="0" smtClean="0"/>
              <a:t> - plaintext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4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04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74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6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Could we combine TLS </a:t>
            </a:r>
            <a:r>
              <a:rPr lang="en-US" dirty="0" err="1" smtClean="0"/>
              <a:t>skb</a:t>
            </a:r>
            <a:r>
              <a:rPr lang="en-US" dirty="0" smtClean="0"/>
              <a:t> metadata with IPsec’s </a:t>
            </a:r>
            <a:r>
              <a:rPr lang="en-US" dirty="0" err="1" smtClean="0"/>
              <a:t>sec_path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4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229_PPT_CoverSlide_rev2d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64373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6"/>
          <a:stretch/>
        </p:blipFill>
        <p:spPr>
          <a:xfrm>
            <a:off x="2176" y="6278159"/>
            <a:ext cx="14628226" cy="195144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3323" y="7281889"/>
            <a:ext cx="9381490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73323" y="7755256"/>
            <a:ext cx="4848225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CONFERENCE NAME  I  YEAR DATE</a:t>
            </a:r>
            <a:endParaRPr lang="en-US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473323" y="6324402"/>
            <a:ext cx="9392037" cy="866899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3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13436948" cy="6395446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8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1054099"/>
            <a:ext cx="14630400" cy="7175501"/>
          </a:xfrm>
          <a:prstGeom prst="rect">
            <a:avLst/>
          </a:prstGeom>
          <a:solidFill>
            <a:srgbClr val="2639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0" y="4316096"/>
            <a:ext cx="14630400" cy="855978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Clr>
                <a:schemeClr val="accent1"/>
              </a:buClr>
              <a:buNone/>
              <a:defRPr sz="3200">
                <a:solidFill>
                  <a:schemeClr val="bg1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63326"/>
            <a:ext cx="14630400" cy="105033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64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741311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/>
          </p:nvPr>
        </p:nvSpPr>
        <p:spPr>
          <a:xfrm>
            <a:off x="55511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739406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27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Hor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564638" y="4506597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84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7"/>
            <a:ext cx="6779137" cy="2989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7336913" y="4487547"/>
            <a:ext cx="6779137" cy="32753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06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6"/>
            <a:ext cx="6779137" cy="65297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98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4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877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972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14630400" cy="1181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202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llanox_PP_Page_banner.jp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"/>
            <a:ext cx="14630400" cy="10541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0" y="7897427"/>
            <a:ext cx="14630400" cy="33217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/>
          <a:lstStyle/>
          <a:p>
            <a:pPr>
              <a:defRPr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white">
          <a:xfrm>
            <a:off x="393705" y="7916866"/>
            <a:ext cx="10728325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8" tIns="65298" rIns="130598" bIns="65298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 smtClean="0">
                <a:solidFill>
                  <a:schemeClr val="bg1"/>
                </a:solidFill>
              </a:rPr>
              <a:t>© 2016 Mellanox Technologies		</a:t>
            </a:r>
            <a:r>
              <a:rPr lang="en-US" sz="1100" b="0" dirty="0">
                <a:solidFill>
                  <a:srgbClr val="000000"/>
                </a:solidFill>
              </a:rPr>
              <a:t>			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326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239842"/>
            <a:ext cx="13696950" cy="647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32" name="TextBox 11"/>
          <p:cNvSpPr txBox="1">
            <a:spLocks noChangeArrowheads="1"/>
          </p:cNvSpPr>
          <p:nvPr/>
        </p:nvSpPr>
        <p:spPr bwMode="auto">
          <a:xfrm>
            <a:off x="12255501" y="7916866"/>
            <a:ext cx="1909763" cy="30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14" tIns="65309" rIns="130614" bIns="65309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100" b="0">
                <a:solidFill>
                  <a:srgbClr val="FFFFFF"/>
                </a:solidFill>
              </a:rPr>
              <a:pPr algn="r" eaLnBrk="1" hangingPunct="1"/>
              <a:t>‹#›</a:t>
            </a:fld>
            <a:endParaRPr lang="en-US" sz="1100" b="0" dirty="0">
              <a:solidFill>
                <a:srgbClr val="FFFFFF"/>
              </a:solidFill>
            </a:endParaRPr>
          </a:p>
        </p:txBody>
      </p:sp>
      <p:pic>
        <p:nvPicPr>
          <p:cNvPr id="2" name="Picture 18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3"/>
          <a:stretch/>
        </p:blipFill>
        <p:spPr bwMode="auto">
          <a:xfrm>
            <a:off x="12907182" y="100012"/>
            <a:ext cx="1148248" cy="9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8"/>
          <p:cNvSpPr>
            <a:spLocks noChangeArrowheads="1"/>
          </p:cNvSpPr>
          <p:nvPr/>
        </p:nvSpPr>
        <p:spPr bwMode="white">
          <a:xfrm>
            <a:off x="0" y="7915752"/>
            <a:ext cx="14630400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598" tIns="65298" rIns="130598" bIns="65298">
            <a:spAutoFit/>
          </a:bodyPr>
          <a:lstStyle/>
          <a:p>
            <a:pPr algn="ctr" eaLnBrk="0" hangingPunct="0"/>
            <a:r>
              <a:rPr lang="en-US" sz="1100" b="0" dirty="0" smtClean="0">
                <a:solidFill>
                  <a:schemeClr val="bg1"/>
                </a:solidFill>
              </a:rPr>
              <a:t>-</a:t>
            </a:r>
            <a:r>
              <a:rPr lang="en-US" sz="1100" b="0" baseline="0" dirty="0" smtClean="0">
                <a:solidFill>
                  <a:schemeClr val="bg1"/>
                </a:solidFill>
              </a:rPr>
              <a:t> </a:t>
            </a:r>
            <a:r>
              <a:rPr lang="en-US" sz="1100" b="0" dirty="0" smtClean="0">
                <a:solidFill>
                  <a:schemeClr val="bg1"/>
                </a:solidFill>
              </a:rPr>
              <a:t>Mellanox Confidential</a:t>
            </a:r>
            <a:r>
              <a:rPr lang="en-US" sz="1100" b="0" baseline="0" dirty="0" smtClean="0">
                <a:solidFill>
                  <a:schemeClr val="bg1"/>
                </a:solidFill>
              </a:rPr>
              <a:t> -</a:t>
            </a:r>
            <a:endParaRPr lang="en-US" sz="1100" b="0" dirty="0">
              <a:solidFill>
                <a:srgbClr val="000000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7849" y="6863984"/>
            <a:ext cx="9525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86" r:id="rId1"/>
    <p:sldLayoutId id="2147485296" r:id="rId2"/>
    <p:sldLayoutId id="2147485288" r:id="rId3"/>
    <p:sldLayoutId id="2147485290" r:id="rId4"/>
    <p:sldLayoutId id="2147485291" r:id="rId5"/>
    <p:sldLayoutId id="2147485292" r:id="rId6"/>
    <p:sldLayoutId id="2147485297" r:id="rId7"/>
    <p:sldLayoutId id="2147485293" r:id="rId8"/>
    <p:sldLayoutId id="2147485294" r:id="rId9"/>
    <p:sldLayoutId id="2147485298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3200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65307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6pPr>
      <a:lvl7pPr marL="1306155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7pPr>
      <a:lvl8pPr marL="1959234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8pPr>
      <a:lvl9pPr marL="261231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28600" indent="-246888" algn="l" rtl="0" eaLnBrk="1" fontAlgn="base" hangingPunct="1">
        <a:spcBef>
          <a:spcPts val="600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24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568325" indent="-255589" algn="l" rtl="0" eaLnBrk="1" fontAlgn="base" hangingPunct="1">
        <a:spcBef>
          <a:spcPts val="42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21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822325" indent="-239714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9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1097280" indent="-274320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8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1316736" indent="-210312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14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3591926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6pPr>
      <a:lvl7pPr marL="4245003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7pPr>
      <a:lvl8pPr marL="4898082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8pPr>
      <a:lvl9pPr marL="5551160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77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34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1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389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466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2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21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smtClean="0"/>
              <a:t>Boris Pismenny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 err="1" smtClean="0"/>
              <a:t>Novmember</a:t>
            </a:r>
            <a:r>
              <a:rPr lang="en-US" dirty="0" smtClean="0"/>
              <a:t> 2017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Receive Side Crypto Offload to NIC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/>
            <a:r>
              <a:rPr lang="en-US" dirty="0" smtClean="0"/>
              <a:t>Background</a:t>
            </a:r>
          </a:p>
          <a:p>
            <a:pPr marL="342900" indent="-342900"/>
            <a:r>
              <a:rPr lang="en-US" dirty="0" smtClean="0"/>
              <a:t>Motivation</a:t>
            </a:r>
          </a:p>
          <a:p>
            <a:pPr marL="342900" indent="-342900"/>
            <a:r>
              <a:rPr lang="en-US" dirty="0"/>
              <a:t>Control </a:t>
            </a:r>
            <a:r>
              <a:rPr lang="en-US" dirty="0" smtClean="0"/>
              <a:t>Path</a:t>
            </a:r>
          </a:p>
          <a:p>
            <a:pPr marL="342900" indent="-342900"/>
            <a:r>
              <a:rPr lang="en-US" dirty="0" smtClean="0"/>
              <a:t>Model</a:t>
            </a:r>
          </a:p>
          <a:p>
            <a:pPr marL="342900" indent="-342900"/>
            <a:r>
              <a:rPr lang="en-US" dirty="0" smtClean="0"/>
              <a:t>Data Path</a:t>
            </a:r>
          </a:p>
          <a:p>
            <a:pPr marL="342900" indent="-342900"/>
            <a:r>
              <a:rPr lang="en-US" dirty="0" smtClean="0"/>
              <a:t>Summary</a:t>
            </a:r>
          </a:p>
          <a:p>
            <a:pPr marL="342900" indent="-342900"/>
            <a:r>
              <a:rPr lang="en-US" dirty="0" smtClean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45747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</a:t>
            </a:r>
            <a:r>
              <a:rPr lang="en-US" dirty="0"/>
              <a:t>Record Protocol: Application Data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0"/>
            <p:extLst/>
          </p:nvPr>
        </p:nvGraphicFramePr>
        <p:xfrm>
          <a:off x="5911527" y="1690425"/>
          <a:ext cx="645510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51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/>
          </p:nvPr>
        </p:nvGraphicFramePr>
        <p:xfrm>
          <a:off x="4411979" y="2968095"/>
          <a:ext cx="240283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83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9665" y="1564934"/>
            <a:ext cx="3026721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u="sng" dirty="0" smtClean="0"/>
              <a:t>User Space: </a:t>
            </a:r>
            <a:r>
              <a:rPr lang="en-US" b="0" dirty="0" smtClean="0"/>
              <a:t>Application Data</a:t>
            </a:r>
            <a:endParaRPr lang="en-US" b="0" dirty="0"/>
          </a:p>
        </p:txBody>
      </p:sp>
      <p:sp>
        <p:nvSpPr>
          <p:cNvPr id="13" name="TextBox 12"/>
          <p:cNvSpPr txBox="1"/>
          <p:nvPr/>
        </p:nvSpPr>
        <p:spPr>
          <a:xfrm>
            <a:off x="446256" y="2807866"/>
            <a:ext cx="3026721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u="sng" dirty="0" smtClean="0"/>
              <a:t>KTLS: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/>
              <a:t>Fragment (2^14)</a:t>
            </a:r>
            <a:endParaRPr lang="en-US" b="0" dirty="0"/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/>
          </p:nvPr>
        </p:nvGraphicFramePr>
        <p:xfrm>
          <a:off x="3840478" y="6320428"/>
          <a:ext cx="102717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394"/>
                <a:gridCol w="1467395"/>
                <a:gridCol w="1467394"/>
                <a:gridCol w="1467395"/>
                <a:gridCol w="1467394"/>
                <a:gridCol w="1467395"/>
                <a:gridCol w="14673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10838" y="6183387"/>
            <a:ext cx="3026721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u="sng" dirty="0" smtClean="0"/>
              <a:t>TCP:</a:t>
            </a:r>
            <a:r>
              <a:rPr lang="en-US" dirty="0"/>
              <a:t/>
            </a:r>
            <a:br>
              <a:rPr lang="en-US" dirty="0"/>
            </a:br>
            <a:r>
              <a:rPr lang="en-US" b="0" dirty="0" smtClean="0"/>
              <a:t>Segment (MSS)</a:t>
            </a:r>
            <a:endParaRPr lang="en-US" b="0" dirty="0"/>
          </a:p>
        </p:txBody>
      </p:sp>
      <p:graphicFrame>
        <p:nvGraphicFramePr>
          <p:cNvPr id="17" name="Content Placeholder 3"/>
          <p:cNvGraphicFramePr>
            <a:graphicFrameLocks/>
          </p:cNvGraphicFramePr>
          <p:nvPr>
            <p:extLst/>
          </p:nvPr>
        </p:nvGraphicFramePr>
        <p:xfrm>
          <a:off x="4305299" y="4077626"/>
          <a:ext cx="2865119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059"/>
                <a:gridCol w="4800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(Data1)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3819" y="3943896"/>
            <a:ext cx="3672840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u="sng" dirty="0"/>
              <a:t>KTLS: 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b="0" dirty="0" smtClean="0"/>
              <a:t>Encrypt </a:t>
            </a:r>
            <a:r>
              <a:rPr lang="en-US" b="0" dirty="0"/>
              <a:t>&amp; Authenticate</a:t>
            </a:r>
          </a:p>
        </p:txBody>
      </p:sp>
      <p:graphicFrame>
        <p:nvGraphicFramePr>
          <p:cNvPr id="19" name="Content Placeholder 3"/>
          <p:cNvGraphicFramePr>
            <a:graphicFrameLocks/>
          </p:cNvGraphicFramePr>
          <p:nvPr>
            <p:extLst/>
          </p:nvPr>
        </p:nvGraphicFramePr>
        <p:xfrm>
          <a:off x="7848598" y="4077626"/>
          <a:ext cx="281940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241"/>
                <a:gridCol w="5181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(Data2)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ontent Placeholder 3"/>
          <p:cNvGraphicFramePr>
            <a:graphicFrameLocks/>
          </p:cNvGraphicFramePr>
          <p:nvPr>
            <p:extLst/>
          </p:nvPr>
        </p:nvGraphicFramePr>
        <p:xfrm>
          <a:off x="11346179" y="4083258"/>
          <a:ext cx="27660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5486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(Data3)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ontent Placeholder 3"/>
          <p:cNvGraphicFramePr>
            <a:graphicFrameLocks/>
          </p:cNvGraphicFramePr>
          <p:nvPr>
            <p:extLst/>
          </p:nvPr>
        </p:nvGraphicFramePr>
        <p:xfrm>
          <a:off x="7914160" y="2968095"/>
          <a:ext cx="2325534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5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Content Placeholder 3"/>
          <p:cNvGraphicFramePr>
            <a:graphicFrameLocks/>
          </p:cNvGraphicFramePr>
          <p:nvPr>
            <p:extLst/>
          </p:nvPr>
        </p:nvGraphicFramePr>
        <p:xfrm>
          <a:off x="11323320" y="2968095"/>
          <a:ext cx="22555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123" y="5047357"/>
            <a:ext cx="3672840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u="sng" dirty="0"/>
              <a:t>KTLS: 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b="0" dirty="0" smtClean="0"/>
              <a:t>TLS Records</a:t>
            </a:r>
            <a:endParaRPr lang="en-US" b="0" dirty="0"/>
          </a:p>
        </p:txBody>
      </p:sp>
      <p:graphicFrame>
        <p:nvGraphicFramePr>
          <p:cNvPr id="27" name="Content Placeholder 3"/>
          <p:cNvGraphicFramePr>
            <a:graphicFrameLocks/>
          </p:cNvGraphicFramePr>
          <p:nvPr>
            <p:extLst/>
          </p:nvPr>
        </p:nvGraphicFramePr>
        <p:xfrm>
          <a:off x="3802379" y="5183016"/>
          <a:ext cx="34594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651"/>
                <a:gridCol w="2292772"/>
                <a:gridCol w="541057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(Data1)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Content Placeholder 3"/>
          <p:cNvGraphicFramePr>
            <a:graphicFrameLocks/>
          </p:cNvGraphicFramePr>
          <p:nvPr>
            <p:extLst/>
          </p:nvPr>
        </p:nvGraphicFramePr>
        <p:xfrm>
          <a:off x="7403620" y="5183016"/>
          <a:ext cx="326438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68"/>
                <a:gridCol w="2275240"/>
                <a:gridCol w="495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(Data2)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Content Placeholder 3"/>
          <p:cNvGraphicFramePr>
            <a:graphicFrameLocks/>
          </p:cNvGraphicFramePr>
          <p:nvPr>
            <p:extLst/>
          </p:nvPr>
        </p:nvGraphicFramePr>
        <p:xfrm>
          <a:off x="10877280" y="5183016"/>
          <a:ext cx="3234959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186"/>
                <a:gridCol w="2062493"/>
                <a:gridCol w="567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061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Enc</a:t>
                      </a:r>
                      <a:r>
                        <a:rPr lang="en-US" dirty="0" smtClean="0"/>
                        <a:t>(Data3)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 bwMode="auto">
          <a:xfrm flipH="1">
            <a:off x="6723856" y="2164866"/>
            <a:ext cx="1190304" cy="862402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10198574" y="2097454"/>
            <a:ext cx="41120" cy="849163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12366627" y="2118932"/>
            <a:ext cx="1105533" cy="849163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10239694" y="2118932"/>
            <a:ext cx="1123632" cy="806208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7898441" y="2178104"/>
            <a:ext cx="41120" cy="849163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 flipH="1">
            <a:off x="4423723" y="2102721"/>
            <a:ext cx="1540813" cy="865374"/>
          </a:xfrm>
          <a:prstGeom prst="line">
            <a:avLst/>
          </a:prstGeom>
          <a:solidFill>
            <a:schemeClr val="accent1"/>
          </a:solidFill>
          <a:ln w="28575" cap="flat" cmpd="thickThin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Arrow Connector 72"/>
          <p:cNvCxnSpPr/>
          <p:nvPr/>
        </p:nvCxnSpPr>
        <p:spPr bwMode="auto">
          <a:xfrm>
            <a:off x="11978637" y="1934265"/>
            <a:ext cx="2699" cy="101235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7" name="Straight Arrow Connector 76"/>
          <p:cNvCxnSpPr>
            <a:stCxn id="4" idx="2"/>
          </p:cNvCxnSpPr>
          <p:nvPr/>
        </p:nvCxnSpPr>
        <p:spPr bwMode="auto">
          <a:xfrm flipH="1">
            <a:off x="9116297" y="2178105"/>
            <a:ext cx="22780" cy="79742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9" name="Straight Arrow Connector 78"/>
          <p:cNvCxnSpPr/>
          <p:nvPr/>
        </p:nvCxnSpPr>
        <p:spPr bwMode="auto">
          <a:xfrm>
            <a:off x="6326721" y="1989587"/>
            <a:ext cx="1349" cy="9947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6296818" y="3410056"/>
            <a:ext cx="1" cy="6538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2" name="Straight Arrow Connector 81"/>
          <p:cNvCxnSpPr/>
          <p:nvPr/>
        </p:nvCxnSpPr>
        <p:spPr bwMode="auto">
          <a:xfrm flipH="1">
            <a:off x="9131972" y="3442891"/>
            <a:ext cx="7105" cy="5755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3" name="Straight Arrow Connector 82"/>
          <p:cNvCxnSpPr/>
          <p:nvPr/>
        </p:nvCxnSpPr>
        <p:spPr bwMode="auto">
          <a:xfrm>
            <a:off x="11967127" y="3455775"/>
            <a:ext cx="7105" cy="65247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5" name="Straight Arrow Connector 84"/>
          <p:cNvCxnSpPr/>
          <p:nvPr/>
        </p:nvCxnSpPr>
        <p:spPr bwMode="auto">
          <a:xfrm>
            <a:off x="9128420" y="4497894"/>
            <a:ext cx="19305" cy="64666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6" name="Straight Arrow Connector 85"/>
          <p:cNvCxnSpPr/>
          <p:nvPr/>
        </p:nvCxnSpPr>
        <p:spPr bwMode="auto">
          <a:xfrm flipH="1">
            <a:off x="11967127" y="4519017"/>
            <a:ext cx="14209" cy="6794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97" name="Straight Arrow Connector 96"/>
          <p:cNvCxnSpPr/>
          <p:nvPr/>
        </p:nvCxnSpPr>
        <p:spPr bwMode="auto">
          <a:xfrm>
            <a:off x="6296817" y="4531790"/>
            <a:ext cx="1" cy="6538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06" name="Straight Arrow Connector 105"/>
          <p:cNvCxnSpPr/>
          <p:nvPr/>
        </p:nvCxnSpPr>
        <p:spPr bwMode="auto">
          <a:xfrm>
            <a:off x="6312537" y="3393510"/>
            <a:ext cx="635192" cy="7023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cxnSp>
        <p:nvCxnSpPr>
          <p:cNvPr id="109" name="Straight Arrow Connector 108"/>
          <p:cNvCxnSpPr/>
          <p:nvPr/>
        </p:nvCxnSpPr>
        <p:spPr bwMode="auto">
          <a:xfrm>
            <a:off x="9697493" y="3361556"/>
            <a:ext cx="635192" cy="7023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>
            <a:off x="13154564" y="3375269"/>
            <a:ext cx="635192" cy="70235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cxnSp>
        <p:nvCxnSpPr>
          <p:cNvPr id="111" name="Straight Arrow Connector 110"/>
          <p:cNvCxnSpPr/>
          <p:nvPr/>
        </p:nvCxnSpPr>
        <p:spPr bwMode="auto">
          <a:xfrm flipH="1">
            <a:off x="11105727" y="4533284"/>
            <a:ext cx="875610" cy="66513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cxnSp>
        <p:nvCxnSpPr>
          <p:cNvPr id="114" name="Straight Arrow Connector 113"/>
          <p:cNvCxnSpPr/>
          <p:nvPr/>
        </p:nvCxnSpPr>
        <p:spPr bwMode="auto">
          <a:xfrm flipH="1">
            <a:off x="7612899" y="4547845"/>
            <a:ext cx="875610" cy="66513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cxnSp>
        <p:nvCxnSpPr>
          <p:cNvPr id="117" name="Straight Arrow Connector 116"/>
          <p:cNvCxnSpPr/>
          <p:nvPr/>
        </p:nvCxnSpPr>
        <p:spPr bwMode="auto">
          <a:xfrm flipH="1">
            <a:off x="4163536" y="4561917"/>
            <a:ext cx="875610" cy="66513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>
                <a:lumMod val="75000"/>
              </a:schemeClr>
            </a:solidFill>
            <a:prstDash val="sysDot"/>
            <a:round/>
            <a:headEnd type="none" w="med" len="med"/>
            <a:tailEnd type="triangle" w="lg" len="lg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3935120" y="7254097"/>
            <a:ext cx="3605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H – TLS Record Header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8239669" y="7212690"/>
            <a:ext cx="5275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T – TLS Record Authentication Tag</a:t>
            </a:r>
          </a:p>
        </p:txBody>
      </p:sp>
    </p:spTree>
    <p:extLst>
      <p:ext uri="{BB962C8B-B14F-4D97-AF65-F5344CB8AC3E}">
        <p14:creationId xmlns:p14="http://schemas.microsoft.com/office/powerpoint/2010/main" val="325371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550"/>
    </mc:Choice>
    <mc:Fallback xmlns="">
      <p:transition spd="slow" advTm="11355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Crypto Offload vs. Other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6736364" cy="6395446"/>
          </a:xfrm>
        </p:spPr>
        <p:txBody>
          <a:bodyPr>
            <a:normAutofit/>
          </a:bodyPr>
          <a:lstStyle/>
          <a:p>
            <a:r>
              <a:rPr lang="en-US" dirty="0" smtClean="0"/>
              <a:t>Ideally, packets would be processed independently:</a:t>
            </a:r>
          </a:p>
          <a:p>
            <a:pPr lvl="1"/>
            <a:r>
              <a:rPr lang="en-US" dirty="0" smtClean="0"/>
              <a:t>IPsec</a:t>
            </a:r>
          </a:p>
          <a:p>
            <a:pPr lvl="1"/>
            <a:r>
              <a:rPr lang="en-US" dirty="0" smtClean="0"/>
              <a:t>DTLS</a:t>
            </a:r>
          </a:p>
          <a:p>
            <a:pPr lvl="1"/>
            <a:r>
              <a:rPr lang="en-US" dirty="0" smtClean="0"/>
              <a:t>QUIC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However, in TLS </a:t>
            </a:r>
            <a:r>
              <a:rPr lang="en-US" b="1" u="sng" dirty="0" smtClean="0"/>
              <a:t>each record</a:t>
            </a:r>
            <a:r>
              <a:rPr lang="en-US" dirty="0" smtClean="0"/>
              <a:t> is processed independently</a:t>
            </a:r>
          </a:p>
          <a:p>
            <a:endParaRPr lang="en-US" dirty="0"/>
          </a:p>
          <a:p>
            <a:r>
              <a:rPr lang="en-US" dirty="0" smtClean="0"/>
              <a:t>Each record has an Out-Of-Band sequence number that is used for decryption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Intermediate record state must be tracked by hardware</a:t>
            </a:r>
          </a:p>
          <a:p>
            <a:pPr lvl="1"/>
            <a:r>
              <a:rPr lang="en-US" dirty="0"/>
              <a:t>Used by subsequent packets that are part of a previous </a:t>
            </a:r>
            <a:r>
              <a:rPr lang="en-US" dirty="0" smtClean="0"/>
              <a:t>record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7638549" y="1964583"/>
          <a:ext cx="6365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349"/>
                <a:gridCol w="318101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7638549" y="2844859"/>
          <a:ext cx="636536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787"/>
                <a:gridCol w="2121786"/>
                <a:gridCol w="212178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04397" y="1634978"/>
            <a:ext cx="2173603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TLS Records: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904397" y="2527400"/>
            <a:ext cx="2173603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TCP Packets: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245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701"/>
    </mc:Choice>
    <mc:Fallback xmlns="">
      <p:transition spd="slow" advTm="10070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5900516" cy="6395446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Setup: Two Xeon E5-2620 v3 machines connected back-to-back with Innova-TLS-Tx NICs (ConnectX4-Lx + Xilinx FPGA)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Run IPerf2 with a patch to use OpenSSL for the handshake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Compare the data path of the following:</a:t>
            </a:r>
          </a:p>
          <a:p>
            <a:pPr marL="682625" lvl="1" indent="-342900"/>
            <a:r>
              <a:rPr lang="en-US" dirty="0"/>
              <a:t>OpenSSL 1.1.0e </a:t>
            </a:r>
            <a:r>
              <a:rPr lang="en-US" dirty="0" err="1"/>
              <a:t>SSL_write</a:t>
            </a:r>
            <a:r>
              <a:rPr lang="en-US" dirty="0"/>
              <a:t>/</a:t>
            </a:r>
            <a:r>
              <a:rPr lang="en-US" dirty="0" err="1"/>
              <a:t>SSL_read</a:t>
            </a:r>
            <a:endParaRPr lang="en-US" dirty="0"/>
          </a:p>
          <a:p>
            <a:pPr marL="682625" lvl="1" indent="-342900"/>
            <a:r>
              <a:rPr lang="en-US" dirty="0"/>
              <a:t>Kernel TLS </a:t>
            </a:r>
            <a:r>
              <a:rPr lang="en-US" dirty="0" smtClean="0"/>
              <a:t>send/</a:t>
            </a:r>
            <a:r>
              <a:rPr lang="en-US" dirty="0" err="1" smtClean="0"/>
              <a:t>recv</a:t>
            </a:r>
            <a:r>
              <a:rPr lang="en-US" dirty="0" smtClean="0"/>
              <a:t> with offload</a:t>
            </a:r>
          </a:p>
          <a:p>
            <a:pPr marL="682625" lvl="1" indent="-342900"/>
            <a:r>
              <a:rPr lang="en-US" dirty="0" smtClean="0"/>
              <a:t>TCP </a:t>
            </a:r>
            <a:r>
              <a:rPr lang="en-US" dirty="0"/>
              <a:t>send/</a:t>
            </a:r>
            <a:r>
              <a:rPr lang="en-US" dirty="0" err="1"/>
              <a:t>recv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/>
              <a:t>upper bound)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Everything is normalized to </a:t>
            </a:r>
            <a:r>
              <a:rPr lang="en-US" dirty="0" err="1"/>
              <a:t>SSL_write</a:t>
            </a:r>
            <a:r>
              <a:rPr lang="en-US" dirty="0"/>
              <a:t>/</a:t>
            </a:r>
            <a:r>
              <a:rPr lang="en-US" dirty="0" err="1"/>
              <a:t>SSL_read</a:t>
            </a:r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342900" indent="-342900"/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563265"/>
              </p:ext>
            </p:extLst>
          </p:nvPr>
        </p:nvGraphicFramePr>
        <p:xfrm>
          <a:off x="7599311" y="1247338"/>
          <a:ext cx="6940654" cy="6580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964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Path</a:t>
            </a:r>
            <a:endParaRPr lang="he-IL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6577417" cy="6395446"/>
          </a:xfrm>
        </p:spPr>
        <p:txBody>
          <a:bodyPr>
            <a:normAutofit/>
          </a:bodyPr>
          <a:lstStyle/>
          <a:p>
            <a:r>
              <a:rPr lang="en-US" dirty="0" err="1"/>
              <a:t>kTLS</a:t>
            </a:r>
            <a:r>
              <a:rPr lang="en-US" dirty="0"/>
              <a:t> is Now Upstream</a:t>
            </a:r>
            <a:r>
              <a:rPr lang="en-US" dirty="0" smtClean="0"/>
              <a:t>!</a:t>
            </a:r>
          </a:p>
          <a:p>
            <a:pPr lvl="1"/>
            <a:r>
              <a:rPr lang="en-US" dirty="0" smtClean="0"/>
              <a:t>Currently, only send-side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User interface</a:t>
            </a:r>
          </a:p>
          <a:p>
            <a:pPr lvl="1"/>
            <a:r>
              <a:rPr lang="en-US" dirty="0" smtClean="0"/>
              <a:t>Starts with a TCP connection</a:t>
            </a:r>
          </a:p>
          <a:p>
            <a:pPr lvl="1"/>
            <a:r>
              <a:rPr lang="en-US" dirty="0" smtClean="0"/>
              <a:t>Enable </a:t>
            </a:r>
            <a:r>
              <a:rPr lang="en-US" dirty="0" err="1" smtClean="0"/>
              <a:t>kTLS</a:t>
            </a:r>
            <a:r>
              <a:rPr lang="en-US" dirty="0" smtClean="0"/>
              <a:t> with </a:t>
            </a:r>
            <a:r>
              <a:rPr lang="en-US" dirty="0" err="1" smtClean="0"/>
              <a:t>setsockopt</a:t>
            </a:r>
            <a:r>
              <a:rPr lang="en-US" dirty="0" smtClean="0"/>
              <a:t>()</a:t>
            </a:r>
          </a:p>
          <a:p>
            <a:pPr lvl="2"/>
            <a:r>
              <a:rPr lang="en-US" dirty="0"/>
              <a:t>Redirects user Send() call to </a:t>
            </a:r>
            <a:r>
              <a:rPr lang="en-US" dirty="0" err="1"/>
              <a:t>kTLS</a:t>
            </a:r>
            <a:r>
              <a:rPr lang="en-US" dirty="0"/>
              <a:t> </a:t>
            </a:r>
            <a:r>
              <a:rPr lang="en-US" dirty="0" smtClean="0"/>
              <a:t>functions, which calls </a:t>
            </a:r>
            <a:r>
              <a:rPr lang="en-US" dirty="0" err="1" smtClean="0"/>
              <a:t>do_tcp_sendpages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Straightforward </a:t>
            </a:r>
            <a:r>
              <a:rPr lang="en-US" dirty="0" err="1" smtClean="0"/>
              <a:t>uAPI</a:t>
            </a:r>
            <a:r>
              <a:rPr lang="en-US" dirty="0" smtClean="0"/>
              <a:t> extension for Rx</a:t>
            </a:r>
          </a:p>
          <a:p>
            <a:pPr lvl="1"/>
            <a:r>
              <a:rPr lang="en-US" dirty="0" smtClean="0"/>
              <a:t>TLS_RX socket option</a:t>
            </a:r>
            <a:endParaRPr lang="en-US" dirty="0"/>
          </a:p>
          <a:p>
            <a:pPr lvl="1"/>
            <a:r>
              <a:rPr lang="en-US" dirty="0" smtClean="0"/>
              <a:t>TLS </a:t>
            </a:r>
            <a:r>
              <a:rPr lang="en-US" dirty="0" err="1" smtClean="0"/>
              <a:t>recvmsg</a:t>
            </a:r>
            <a:r>
              <a:rPr lang="en-US" dirty="0" smtClean="0"/>
              <a:t> replaces TCP </a:t>
            </a:r>
            <a:r>
              <a:rPr lang="en-US" dirty="0" err="1" smtClean="0"/>
              <a:t>recvmsg</a:t>
            </a:r>
            <a:r>
              <a:rPr lang="en-US" dirty="0" smtClean="0"/>
              <a:t>	</a:t>
            </a:r>
            <a:endParaRPr lang="he-I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058" y="1050333"/>
            <a:ext cx="67532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5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568960" y="1131800"/>
            <a:ext cx="8648495" cy="6513828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 smtClean="0"/>
              <a:t>Offload initialization requires</a:t>
            </a:r>
            <a:r>
              <a:rPr lang="en-US" dirty="0"/>
              <a:t>:</a:t>
            </a:r>
          </a:p>
          <a:p>
            <a:pPr marL="796925" lvl="1" indent="-457200">
              <a:buFont typeface="+mj-lt"/>
              <a:buAutoNum type="arabicPeriod"/>
            </a:pPr>
            <a:r>
              <a:rPr lang="en-US" dirty="0"/>
              <a:t>Crypto material (keys, cipher)</a:t>
            </a:r>
          </a:p>
          <a:p>
            <a:pPr marL="796925" lvl="1" indent="-457200">
              <a:buFont typeface="+mj-lt"/>
              <a:buAutoNum type="arabicPeriod"/>
            </a:pPr>
            <a:r>
              <a:rPr lang="en-US" dirty="0"/>
              <a:t>5-tuple</a:t>
            </a:r>
          </a:p>
          <a:p>
            <a:pPr marL="796925" lvl="1" indent="-457200">
              <a:buFont typeface="+mj-lt"/>
              <a:buAutoNum type="arabicPeriod"/>
            </a:pPr>
            <a:r>
              <a:rPr lang="en-US" dirty="0"/>
              <a:t>TCP sequence number of next TLS record</a:t>
            </a:r>
          </a:p>
          <a:p>
            <a:pPr marL="796925" lvl="1" indent="-457200">
              <a:buFont typeface="+mj-lt"/>
              <a:buAutoNum type="arabicPeriod"/>
            </a:pPr>
            <a:r>
              <a:rPr lang="en-US" dirty="0"/>
              <a:t>TLS record sequence number of next TLS </a:t>
            </a:r>
            <a:r>
              <a:rPr lang="en-US" dirty="0" smtClean="0"/>
              <a:t>record</a:t>
            </a:r>
          </a:p>
          <a:p>
            <a:endParaRPr lang="en-US" dirty="0"/>
          </a:p>
          <a:p>
            <a:r>
              <a:rPr lang="en-US" dirty="0" smtClean="0"/>
              <a:t>Hardware decrypts in-order incoming packets</a:t>
            </a:r>
          </a:p>
          <a:p>
            <a:pPr lvl="1"/>
            <a:r>
              <a:rPr lang="en-US" dirty="0" smtClean="0"/>
              <a:t>Headers are unmodified - only the payload is processed </a:t>
            </a:r>
          </a:p>
          <a:p>
            <a:pPr lvl="1"/>
            <a:r>
              <a:rPr lang="en-US" dirty="0" smtClean="0"/>
              <a:t>OOO packets are unmodified</a:t>
            </a:r>
          </a:p>
          <a:p>
            <a:endParaRPr lang="en-US" dirty="0" smtClean="0"/>
          </a:p>
          <a:p>
            <a:r>
              <a:rPr lang="en-US" dirty="0" smtClean="0"/>
              <a:t>Software stack is unchanged</a:t>
            </a:r>
          </a:p>
          <a:p>
            <a:pPr lvl="1"/>
            <a:r>
              <a:rPr lang="en-US" dirty="0" err="1" smtClean="0"/>
              <a:t>kTLS</a:t>
            </a:r>
            <a:r>
              <a:rPr lang="en-US" dirty="0" smtClean="0"/>
              <a:t> (without crypto)</a:t>
            </a:r>
          </a:p>
          <a:p>
            <a:pPr lvl="1"/>
            <a:r>
              <a:rPr lang="en-US" dirty="0" smtClean="0"/>
              <a:t>TCP/IP</a:t>
            </a:r>
          </a:p>
          <a:p>
            <a:pPr lvl="1"/>
            <a:r>
              <a:rPr lang="en-US" dirty="0" smtClean="0"/>
              <a:t>Congestion control</a:t>
            </a:r>
          </a:p>
          <a:p>
            <a:pPr lvl="1"/>
            <a:r>
              <a:rPr lang="en-US" dirty="0" smtClean="0"/>
              <a:t>Memory management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he-IL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9659815" y="2942492"/>
            <a:ext cx="3270739" cy="9144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TCP</a:t>
            </a:r>
            <a:endParaRPr kumimoji="0" lang="he-IL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9659814" y="4660559"/>
            <a:ext cx="3270739" cy="9144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  <a:endParaRPr kumimoji="0" lang="he-IL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Cloud Callout 6"/>
          <p:cNvSpPr/>
          <p:nvPr/>
        </p:nvSpPr>
        <p:spPr bwMode="auto">
          <a:xfrm>
            <a:off x="9784447" y="6246950"/>
            <a:ext cx="3048000" cy="1211873"/>
          </a:xfrm>
          <a:prstGeom prst="cloudCallou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Network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Up-Down Arrow 7"/>
          <p:cNvSpPr/>
          <p:nvPr/>
        </p:nvSpPr>
        <p:spPr bwMode="auto">
          <a:xfrm>
            <a:off x="11113477" y="3856892"/>
            <a:ext cx="457200" cy="80366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Up-Down Arrow 8"/>
          <p:cNvSpPr/>
          <p:nvPr/>
        </p:nvSpPr>
        <p:spPr bwMode="auto">
          <a:xfrm>
            <a:off x="11113477" y="5541062"/>
            <a:ext cx="457200" cy="80366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70137" y="3981726"/>
            <a:ext cx="2265685" cy="553998"/>
          </a:xfrm>
          <a:prstGeom prst="rect">
            <a:avLst/>
          </a:prstGeom>
          <a:noFill/>
        </p:spPr>
        <p:txBody>
          <a:bodyPr wrap="none" lIns="0" tIns="0" rIns="0" bIns="0" rtlCol="1" anchor="ctr" anchorCtr="0">
            <a:spAutoFit/>
          </a:bodyPr>
          <a:lstStyle/>
          <a:p>
            <a:pPr algn="ctr"/>
            <a:r>
              <a:rPr lang="en-US" sz="1800" b="0" dirty="0" smtClean="0"/>
              <a:t>TCP segments of</a:t>
            </a:r>
          </a:p>
          <a:p>
            <a:pPr algn="ctr"/>
            <a:r>
              <a:rPr lang="en-US" sz="1800" b="0" dirty="0"/>
              <a:t>plaintext TLS </a:t>
            </a:r>
            <a:r>
              <a:rPr lang="en-US" sz="1800" b="0" dirty="0" smtClean="0"/>
              <a:t>records*</a:t>
            </a:r>
            <a:endParaRPr lang="he-IL" sz="18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11673957" y="5699793"/>
            <a:ext cx="2316981" cy="553998"/>
          </a:xfrm>
          <a:prstGeom prst="rect">
            <a:avLst/>
          </a:prstGeom>
          <a:noFill/>
        </p:spPr>
        <p:txBody>
          <a:bodyPr wrap="none" lIns="0" tIns="0" rIns="0" bIns="0" rtlCol="1" anchor="ctr" anchorCtr="0">
            <a:spAutoFit/>
          </a:bodyPr>
          <a:lstStyle/>
          <a:p>
            <a:pPr algn="ctr"/>
            <a:r>
              <a:rPr lang="en-US" sz="1800" b="0" dirty="0" smtClean="0"/>
              <a:t>TCP segments of</a:t>
            </a:r>
          </a:p>
          <a:p>
            <a:pPr algn="ctr"/>
            <a:r>
              <a:rPr lang="en-US" sz="1800" b="0" dirty="0"/>
              <a:t>ciphertext TLS records</a:t>
            </a:r>
            <a:endParaRPr lang="he-IL" sz="1800" b="0" dirty="0"/>
          </a:p>
        </p:txBody>
      </p:sp>
      <p:sp>
        <p:nvSpPr>
          <p:cNvPr id="13" name="Rounded Rectangle 12"/>
          <p:cNvSpPr/>
          <p:nvPr/>
        </p:nvSpPr>
        <p:spPr bwMode="auto">
          <a:xfrm>
            <a:off x="9706707" y="1165241"/>
            <a:ext cx="3270739" cy="9144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KTLS</a:t>
            </a:r>
            <a:endParaRPr kumimoji="0" lang="he-IL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Up-Down Arrow 13"/>
          <p:cNvSpPr/>
          <p:nvPr/>
        </p:nvSpPr>
        <p:spPr bwMode="auto">
          <a:xfrm>
            <a:off x="11113477" y="2104928"/>
            <a:ext cx="457200" cy="80366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00114" y="2234067"/>
            <a:ext cx="2064668" cy="553998"/>
          </a:xfrm>
          <a:prstGeom prst="rect">
            <a:avLst/>
          </a:prstGeom>
          <a:noFill/>
        </p:spPr>
        <p:txBody>
          <a:bodyPr wrap="none" lIns="0" tIns="0" rIns="0" bIns="0" rtlCol="1" anchor="ctr" anchorCtr="0">
            <a:spAutoFit/>
          </a:bodyPr>
          <a:lstStyle/>
          <a:p>
            <a:pPr algn="ctr"/>
            <a:r>
              <a:rPr lang="en-US" sz="1800" b="0" dirty="0" smtClean="0"/>
              <a:t>TLS record plaintext</a:t>
            </a:r>
            <a:br>
              <a:rPr lang="en-US" sz="1800" b="0" dirty="0" smtClean="0"/>
            </a:br>
            <a:r>
              <a:rPr lang="en-US" sz="1800" b="0" dirty="0" smtClean="0"/>
              <a:t>byte stream*</a:t>
            </a:r>
            <a:endParaRPr lang="he-IL" sz="1800" b="0" dirty="0"/>
          </a:p>
        </p:txBody>
      </p:sp>
      <p:sp>
        <p:nvSpPr>
          <p:cNvPr id="4" name="TextBox 3"/>
          <p:cNvSpPr txBox="1"/>
          <p:nvPr/>
        </p:nvSpPr>
        <p:spPr>
          <a:xfrm>
            <a:off x="7135092" y="7556414"/>
            <a:ext cx="6477302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0" b="0" dirty="0" smtClean="0"/>
              <a:t>*While receiving, there might be both plaintext and ciphertext packets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8169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272"/>
    </mc:Choice>
    <mc:Fallback xmlns="">
      <p:transition spd="slow" advTm="170272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Path – Fast Path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12950920" cy="6395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1) Check </a:t>
            </a:r>
            <a:r>
              <a:rPr lang="en-US" dirty="0"/>
              <a:t>all packets in record </a:t>
            </a:r>
            <a:r>
              <a:rPr lang="en-US" dirty="0" smtClean="0"/>
              <a:t>are </a:t>
            </a:r>
            <a:r>
              <a:rPr lang="en-US" dirty="0"/>
              <a:t>decrypted – </a:t>
            </a:r>
            <a:r>
              <a:rPr lang="en-US" dirty="0" smtClean="0"/>
              <a:t>OK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2) Copy plaintext data to </a:t>
            </a:r>
            <a:r>
              <a:rPr lang="en-US" dirty="0" err="1" smtClean="0"/>
              <a:t>userspace</a:t>
            </a:r>
            <a:endParaRPr lang="en-US" dirty="0" smtClean="0"/>
          </a:p>
        </p:txBody>
      </p:sp>
      <p:sp>
        <p:nvSpPr>
          <p:cNvPr id="28" name="TextBox 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29" name="TextBox 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3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96437"/>
              </p:ext>
            </p:extLst>
          </p:nvPr>
        </p:nvGraphicFramePr>
        <p:xfrm>
          <a:off x="1112520" y="5251865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545"/>
                <a:gridCol w="3877008"/>
                <a:gridCol w="3877008"/>
              </a:tblGrid>
              <a:tr h="375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TLS Record 3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5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sp>
        <p:nvSpPr>
          <p:cNvPr id="6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7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12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75598"/>
              </p:ext>
            </p:extLst>
          </p:nvPr>
        </p:nvGraphicFramePr>
        <p:xfrm>
          <a:off x="1112519" y="6371240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23"/>
                <a:gridCol w="1674223"/>
                <a:gridCol w="1674223"/>
                <a:gridCol w="1674223"/>
                <a:gridCol w="1674223"/>
                <a:gridCol w="1674223"/>
                <a:gridCol w="1674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040438" y="5751251"/>
            <a:ext cx="1439056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600" u="sng" dirty="0" smtClean="0"/>
              <a:t>Legend:</a:t>
            </a:r>
          </a:p>
          <a:p>
            <a:pPr algn="ctr"/>
            <a:r>
              <a:rPr lang="en-US" sz="1600" b="0" dirty="0" smtClean="0">
                <a:solidFill>
                  <a:schemeClr val="tx2"/>
                </a:solidFill>
              </a:rPr>
              <a:t>Decrypted</a:t>
            </a:r>
            <a:endParaRPr lang="en-US" sz="16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96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Path – </a:t>
            </a:r>
            <a:r>
              <a:rPr lang="en-US" dirty="0" smtClean="0"/>
              <a:t>Slow Path (Partial Decryption)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12950920" cy="6395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1) Check </a:t>
            </a:r>
            <a:r>
              <a:rPr lang="en-US" dirty="0"/>
              <a:t>all packets in record </a:t>
            </a:r>
            <a:r>
              <a:rPr lang="en-US" dirty="0" smtClean="0"/>
              <a:t>are </a:t>
            </a:r>
            <a:r>
              <a:rPr lang="en-US" dirty="0"/>
              <a:t>decrypted – </a:t>
            </a:r>
            <a:r>
              <a:rPr lang="en-US" b="1" u="sng" dirty="0"/>
              <a:t>Wrong</a:t>
            </a:r>
            <a:r>
              <a:rPr lang="en-US" b="1" u="sng" dirty="0" smtClean="0"/>
              <a:t>!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1.1) Is some part of the record decrypted</a:t>
            </a:r>
            <a:r>
              <a:rPr lang="en-US" dirty="0"/>
              <a:t>? – OK</a:t>
            </a:r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dirty="0" smtClean="0"/>
              <a:t>1.1.1) </a:t>
            </a:r>
            <a:r>
              <a:rPr lang="en-US" b="1" u="sng" dirty="0"/>
              <a:t>Partial </a:t>
            </a:r>
            <a:r>
              <a:rPr lang="en-US" b="1" u="sng" dirty="0" smtClean="0"/>
              <a:t>decryption:</a:t>
            </a:r>
            <a:r>
              <a:rPr lang="en-US" dirty="0" smtClean="0"/>
              <a:t> </a:t>
            </a:r>
            <a:r>
              <a:rPr lang="en-US" dirty="0"/>
              <a:t>Decrypt the remaining packets in </a:t>
            </a:r>
            <a:r>
              <a:rPr lang="en-US" dirty="0" smtClean="0"/>
              <a:t>software.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2) Copy plaintext data to </a:t>
            </a:r>
            <a:r>
              <a:rPr lang="en-US" dirty="0" err="1" smtClean="0"/>
              <a:t>userspace</a:t>
            </a:r>
            <a:endParaRPr lang="en-US" dirty="0" smtClean="0"/>
          </a:p>
        </p:txBody>
      </p:sp>
      <p:sp>
        <p:nvSpPr>
          <p:cNvPr id="28" name="TextBox 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29" name="TextBox 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3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31367"/>
              </p:ext>
            </p:extLst>
          </p:nvPr>
        </p:nvGraphicFramePr>
        <p:xfrm>
          <a:off x="1112520" y="5251865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545"/>
                <a:gridCol w="3877008"/>
                <a:gridCol w="3877008"/>
              </a:tblGrid>
              <a:tr h="375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TLS Record 3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5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sp>
        <p:nvSpPr>
          <p:cNvPr id="6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7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12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1860"/>
              </p:ext>
            </p:extLst>
          </p:nvPr>
        </p:nvGraphicFramePr>
        <p:xfrm>
          <a:off x="1112519" y="6371240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23"/>
                <a:gridCol w="1674223"/>
                <a:gridCol w="1674223"/>
                <a:gridCol w="1674223"/>
                <a:gridCol w="1674223"/>
                <a:gridCol w="1674223"/>
                <a:gridCol w="1674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761469" y="5686062"/>
            <a:ext cx="1868931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600" u="sng" dirty="0" smtClean="0"/>
              <a:t>Legend:</a:t>
            </a:r>
          </a:p>
          <a:p>
            <a:pPr algn="ctr"/>
            <a:r>
              <a:rPr lang="en-US" sz="1600" b="0" dirty="0" smtClean="0">
                <a:solidFill>
                  <a:schemeClr val="tx2"/>
                </a:solidFill>
              </a:rPr>
              <a:t>Decrypted</a:t>
            </a:r>
          </a:p>
          <a:p>
            <a:pPr algn="ctr"/>
            <a:r>
              <a:rPr lang="en-US" sz="1600" b="0" dirty="0">
                <a:solidFill>
                  <a:schemeClr val="accent3">
                    <a:lumMod val="75000"/>
                  </a:schemeClr>
                </a:solidFill>
              </a:rPr>
              <a:t>Partially </a:t>
            </a:r>
            <a:r>
              <a:rPr lang="en-US" sz="1600" b="0" dirty="0" smtClean="0">
                <a:solidFill>
                  <a:schemeClr val="accent3">
                    <a:lumMod val="75000"/>
                  </a:schemeClr>
                </a:solidFill>
              </a:rPr>
              <a:t>Decrypted</a:t>
            </a:r>
            <a:endParaRPr lang="en-US" sz="16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0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Path – Slow Path </a:t>
            </a:r>
            <a:r>
              <a:rPr lang="en-US" dirty="0" smtClean="0"/>
              <a:t>(Resync)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12950920" cy="6395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1) Check </a:t>
            </a:r>
            <a:r>
              <a:rPr lang="en-US" dirty="0"/>
              <a:t>all packets in record </a:t>
            </a:r>
            <a:r>
              <a:rPr lang="en-US" dirty="0" smtClean="0"/>
              <a:t>are </a:t>
            </a:r>
            <a:r>
              <a:rPr lang="en-US" dirty="0"/>
              <a:t>decrypted – </a:t>
            </a:r>
            <a:r>
              <a:rPr lang="en-US" b="1" u="sng" dirty="0"/>
              <a:t>Wrong</a:t>
            </a:r>
            <a:r>
              <a:rPr lang="en-US" b="1" u="sng" dirty="0" smtClean="0"/>
              <a:t>!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1.1) Is some part of the record decrypted? – </a:t>
            </a:r>
            <a:r>
              <a:rPr lang="en-US" b="1" u="sng" dirty="0"/>
              <a:t>Wrong</a:t>
            </a:r>
            <a:r>
              <a:rPr lang="en-US" b="1" u="sng" dirty="0" smtClean="0"/>
              <a:t>!</a:t>
            </a:r>
          </a:p>
          <a:p>
            <a:pPr marL="0" indent="0">
              <a:buNone/>
            </a:pPr>
            <a:r>
              <a:rPr lang="en-US" b="1" dirty="0" smtClean="0"/>
              <a:t>		</a:t>
            </a:r>
            <a:r>
              <a:rPr lang="en-US" dirty="0" smtClean="0"/>
              <a:t>1.1.1) </a:t>
            </a:r>
            <a:r>
              <a:rPr lang="en-US" b="1" u="sng" dirty="0"/>
              <a:t>Partial </a:t>
            </a:r>
            <a:r>
              <a:rPr lang="en-US" b="1" u="sng" dirty="0" smtClean="0"/>
              <a:t>decryption:</a:t>
            </a:r>
            <a:r>
              <a:rPr lang="en-US" dirty="0" smtClean="0"/>
              <a:t> </a:t>
            </a:r>
            <a:r>
              <a:rPr lang="en-US" dirty="0"/>
              <a:t>Decrypt the remaining packets in </a:t>
            </a:r>
            <a:r>
              <a:rPr lang="en-US" dirty="0" smtClean="0"/>
              <a:t>software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1.2) Otherwise, the record is ciphertext – use the software crypto implementation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</a:t>
            </a:r>
            <a:r>
              <a:rPr lang="en-US" dirty="0" smtClean="0"/>
              <a:t>1.2.1) Call the driver for HW </a:t>
            </a:r>
            <a:r>
              <a:rPr lang="en-US" b="1" u="sng" dirty="0" smtClean="0"/>
              <a:t>Resynchronization</a:t>
            </a:r>
            <a:endParaRPr lang="en-US" b="1" u="sng" dirty="0"/>
          </a:p>
          <a:p>
            <a:pPr marL="0" indent="0">
              <a:buNone/>
            </a:pPr>
            <a:r>
              <a:rPr lang="en-US" dirty="0" smtClean="0"/>
              <a:t>2) Copy plaintext data to </a:t>
            </a:r>
            <a:r>
              <a:rPr lang="en-US" dirty="0" err="1" smtClean="0"/>
              <a:t>userspace</a:t>
            </a:r>
            <a:endParaRPr lang="en-US" dirty="0" smtClean="0"/>
          </a:p>
        </p:txBody>
      </p:sp>
      <p:sp>
        <p:nvSpPr>
          <p:cNvPr id="28" name="TextBox 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29" name="TextBox 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3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17163"/>
              </p:ext>
            </p:extLst>
          </p:nvPr>
        </p:nvGraphicFramePr>
        <p:xfrm>
          <a:off x="1112520" y="5251865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545"/>
                <a:gridCol w="3877008"/>
                <a:gridCol w="3877008"/>
              </a:tblGrid>
              <a:tr h="375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TLS Record 3</a:t>
                      </a:r>
                      <a:endParaRPr lang="en-US" b="1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5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sp>
        <p:nvSpPr>
          <p:cNvPr id="6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7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12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22417"/>
              </p:ext>
            </p:extLst>
          </p:nvPr>
        </p:nvGraphicFramePr>
        <p:xfrm>
          <a:off x="1112519" y="6371240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23"/>
                <a:gridCol w="1674223"/>
                <a:gridCol w="1674223"/>
                <a:gridCol w="1674223"/>
                <a:gridCol w="1674223"/>
                <a:gridCol w="1674223"/>
                <a:gridCol w="1674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532557" y="5562950"/>
            <a:ext cx="2097843" cy="9848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600" u="sng" dirty="0" smtClean="0"/>
              <a:t>Legend:</a:t>
            </a:r>
          </a:p>
          <a:p>
            <a:pPr algn="ctr"/>
            <a:r>
              <a:rPr lang="en-US" sz="1600" b="0" dirty="0" smtClean="0">
                <a:solidFill>
                  <a:schemeClr val="tx2"/>
                </a:solidFill>
              </a:rPr>
              <a:t>Decrypted</a:t>
            </a:r>
          </a:p>
          <a:p>
            <a:pPr algn="ctr"/>
            <a:r>
              <a:rPr lang="en-US" sz="1600" b="0" dirty="0">
                <a:solidFill>
                  <a:schemeClr val="accent3">
                    <a:lumMod val="75000"/>
                  </a:schemeClr>
                </a:solidFill>
              </a:rPr>
              <a:t>Partially Decrypted</a:t>
            </a:r>
          </a:p>
          <a:p>
            <a:pPr algn="ctr"/>
            <a:r>
              <a:rPr lang="en-US" sz="1600" b="0" dirty="0" smtClean="0">
                <a:solidFill>
                  <a:schemeClr val="accent5">
                    <a:lumMod val="75000"/>
                  </a:schemeClr>
                </a:solidFill>
              </a:rPr>
              <a:t>Encrypted</a:t>
            </a:r>
            <a:endParaRPr lang="en-US" sz="16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83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Decryption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3100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Observations:</a:t>
            </a:r>
          </a:p>
          <a:p>
            <a:pPr marL="342900" indent="-342900"/>
            <a:r>
              <a:rPr lang="en-US" dirty="0" smtClean="0"/>
              <a:t>In AES counter mode, given the counter (IV) and the key – it is possible to generate the keystream</a:t>
            </a:r>
          </a:p>
          <a:p>
            <a:pPr marL="682625" lvl="1" indent="-342900"/>
            <a:r>
              <a:rPr lang="en-US" dirty="0" smtClean="0"/>
              <a:t>Ciphertext = Plaintext XOR Keystream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7327388" y="1229997"/>
            <a:ext cx="6981040" cy="2904122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Partial Decryption Algorithm*:</a:t>
            </a:r>
            <a:endParaRPr lang="en-US" b="1" u="sng" dirty="0"/>
          </a:p>
          <a:p>
            <a:pPr marL="457200" indent="-457200">
              <a:buAutoNum type="arabicParenR"/>
            </a:pPr>
            <a:r>
              <a:rPr lang="en-US" dirty="0"/>
              <a:t>Calculate keystream by encrypting zeros</a:t>
            </a:r>
          </a:p>
          <a:p>
            <a:pPr marL="457200" indent="-457200">
              <a:buAutoNum type="arabicParenR"/>
            </a:pPr>
            <a:r>
              <a:rPr lang="en-US" dirty="0"/>
              <a:t>For each </a:t>
            </a:r>
            <a:r>
              <a:rPr lang="en-US" dirty="0" smtClean="0"/>
              <a:t>plaintext packet XOR </a:t>
            </a:r>
            <a:r>
              <a:rPr lang="en-US" dirty="0"/>
              <a:t>with keystream to obtain </a:t>
            </a:r>
            <a:r>
              <a:rPr lang="en-US" dirty="0" smtClean="0"/>
              <a:t>ciphertext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Decrypt and authenticate the </a:t>
            </a:r>
            <a:r>
              <a:rPr lang="en-US" dirty="0" smtClean="0"/>
              <a:t>ciphertext record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Return plaintext and authentication </a:t>
            </a:r>
            <a:r>
              <a:rPr lang="en-US" dirty="0" smtClean="0"/>
              <a:t>result</a:t>
            </a: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8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407545"/>
              </p:ext>
            </p:extLst>
          </p:nvPr>
        </p:nvGraphicFramePr>
        <p:xfrm>
          <a:off x="1112520" y="5251865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5545"/>
                <a:gridCol w="3877008"/>
                <a:gridCol w="3877008"/>
              </a:tblGrid>
              <a:tr h="375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TLS Record 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TLS Record 3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27"/>
          <p:cNvSpPr txBox="1"/>
          <p:nvPr/>
        </p:nvSpPr>
        <p:spPr>
          <a:xfrm>
            <a:off x="-148948" y="4826773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20" name="TextBox 28"/>
          <p:cNvSpPr txBox="1"/>
          <p:nvPr/>
        </p:nvSpPr>
        <p:spPr>
          <a:xfrm>
            <a:off x="-148949" y="5935917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Packets:</a:t>
            </a:r>
            <a:endParaRPr lang="en-US" sz="2000" u="sng" dirty="0"/>
          </a:p>
        </p:txBody>
      </p:sp>
      <p:graphicFrame>
        <p:nvGraphicFramePr>
          <p:cNvPr id="2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337940"/>
              </p:ext>
            </p:extLst>
          </p:nvPr>
        </p:nvGraphicFramePr>
        <p:xfrm>
          <a:off x="1112519" y="6371240"/>
          <a:ext cx="1171956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23"/>
                <a:gridCol w="1674223"/>
                <a:gridCol w="1674223"/>
                <a:gridCol w="1674223"/>
                <a:gridCol w="1674223"/>
                <a:gridCol w="1674223"/>
                <a:gridCol w="16742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2761469" y="5686062"/>
            <a:ext cx="1868931" cy="7386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600" u="sng" dirty="0" smtClean="0"/>
              <a:t>Legend:</a:t>
            </a:r>
          </a:p>
          <a:p>
            <a:pPr algn="ctr"/>
            <a:r>
              <a:rPr lang="en-US" sz="1600" b="0" dirty="0" smtClean="0">
                <a:solidFill>
                  <a:schemeClr val="tx2"/>
                </a:solidFill>
              </a:rPr>
              <a:t>Decrypted</a:t>
            </a:r>
          </a:p>
          <a:p>
            <a:pPr algn="ctr"/>
            <a:r>
              <a:rPr lang="en-US" sz="1600" b="0" dirty="0">
                <a:solidFill>
                  <a:schemeClr val="accent3">
                    <a:lumMod val="75000"/>
                  </a:schemeClr>
                </a:solidFill>
              </a:rPr>
              <a:t>Partially </a:t>
            </a:r>
            <a:r>
              <a:rPr lang="en-US" sz="1600" b="0" dirty="0" smtClean="0">
                <a:solidFill>
                  <a:schemeClr val="accent3">
                    <a:lumMod val="75000"/>
                  </a:schemeClr>
                </a:solidFill>
              </a:rPr>
              <a:t>Decrypted</a:t>
            </a:r>
            <a:endParaRPr lang="en-US" sz="1600" b="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8545" y="7529088"/>
            <a:ext cx="11755884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0" b="0" dirty="0" smtClean="0"/>
              <a:t>*This algorithm could be optimized to use one pass over the data instead of two passes as described here.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53509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Resynchronization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After packet drop/out-of-order hardware looses the following state required to offload the next TLS record:</a:t>
            </a:r>
          </a:p>
          <a:p>
            <a:pPr lvl="1"/>
            <a:r>
              <a:rPr lang="en-US" dirty="0" smtClean="0"/>
              <a:t>Location of TLS record frames in the TCP stream</a:t>
            </a:r>
          </a:p>
          <a:p>
            <a:pPr lvl="1"/>
            <a:r>
              <a:rPr lang="en-US" dirty="0" smtClean="0"/>
              <a:t>TLS record sequence number for each frame</a:t>
            </a:r>
          </a:p>
          <a:p>
            <a:endParaRPr lang="en-US" dirty="0" smtClean="0"/>
          </a:p>
          <a:p>
            <a:r>
              <a:rPr lang="en-US" dirty="0" smtClean="0"/>
              <a:t>SW assistance is needed!</a:t>
            </a:r>
          </a:p>
          <a:p>
            <a:endParaRPr lang="en-US" dirty="0" smtClean="0"/>
          </a:p>
          <a:p>
            <a:r>
              <a:rPr lang="en-US" dirty="0" smtClean="0"/>
              <a:t>Resynchronization process</a:t>
            </a:r>
          </a:p>
          <a:p>
            <a:pPr lvl="1"/>
            <a:r>
              <a:rPr lang="en-US" dirty="0" err="1" smtClean="0"/>
              <a:t>kTLS</a:t>
            </a:r>
            <a:r>
              <a:rPr lang="en-US" dirty="0" smtClean="0"/>
              <a:t> requests driver to resynchronize for every received record that was not decrypted</a:t>
            </a:r>
          </a:p>
          <a:p>
            <a:pPr lvl="2"/>
            <a:r>
              <a:rPr lang="en-US" dirty="0" err="1" smtClean="0"/>
              <a:t>kTLS</a:t>
            </a:r>
            <a:r>
              <a:rPr lang="en-US" dirty="0" smtClean="0"/>
              <a:t> provides driver with TCP SN corresponding to first byte of record</a:t>
            </a:r>
          </a:p>
          <a:p>
            <a:pPr lvl="1"/>
            <a:r>
              <a:rPr lang="en-US" dirty="0" smtClean="0"/>
              <a:t>Driver attempts to resynchronize HW based on this information</a:t>
            </a:r>
          </a:p>
          <a:p>
            <a:endParaRPr lang="en-US" b="1" u="sng" dirty="0"/>
          </a:p>
          <a:p>
            <a:pPr marL="0" indent="0">
              <a:buNone/>
            </a:pPr>
            <a:r>
              <a:rPr lang="en-US" b="1" u="sng" dirty="0" smtClean="0"/>
              <a:t>Note:</a:t>
            </a:r>
            <a:r>
              <a:rPr lang="en-US" dirty="0" smtClean="0"/>
              <a:t> Hardware will not decrypt any packet until resync is accepted by software.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65349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36"/>
    </mc:Choice>
    <mc:Fallback xmlns="">
      <p:transition spd="slow" advTm="76236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Optimizing Initial Synchronization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6632330" cy="6395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Consider the following scenario:</a:t>
            </a:r>
          </a:p>
          <a:p>
            <a:pPr marL="342900" indent="-342900"/>
            <a:r>
              <a:rPr lang="en-US" dirty="0" smtClean="0"/>
              <a:t>The user requests TLS offload after reading X bytes of data from TCP</a:t>
            </a:r>
          </a:p>
          <a:p>
            <a:pPr marL="342900" indent="-342900"/>
            <a:r>
              <a:rPr lang="en-US" dirty="0" smtClean="0"/>
              <a:t>At this time, the kernel has Y &gt; X bytes of data in the receive queue</a:t>
            </a:r>
          </a:p>
          <a:p>
            <a:pPr marL="342900" indent="-342900"/>
            <a:r>
              <a:rPr lang="en-US" dirty="0" smtClean="0"/>
              <a:t>At the same time, hardware processed Z &gt; Y &gt; X bytes of data</a:t>
            </a:r>
          </a:p>
          <a:p>
            <a:pPr marL="0" indent="0">
              <a:buNone/>
            </a:pPr>
            <a:r>
              <a:rPr lang="en-US" u="sng" dirty="0"/>
              <a:t>Problem</a:t>
            </a:r>
            <a:r>
              <a:rPr lang="en-US" u="sng" dirty="0" smtClean="0"/>
              <a:t>:</a:t>
            </a:r>
            <a:r>
              <a:rPr lang="en-US" dirty="0" smtClean="0"/>
              <a:t> Offload requires the state at the last record within Z bytes.</a:t>
            </a:r>
            <a:endParaRPr lang="en-US" b="1" u="sng" dirty="0" smtClean="0"/>
          </a:p>
          <a:p>
            <a:pPr marL="0" indent="0">
              <a:buNone/>
            </a:pPr>
            <a:endParaRPr lang="en-US" dirty="0" smtClean="0"/>
          </a:p>
          <a:p>
            <a:pPr marL="342900" indent="-342900"/>
            <a:r>
              <a:rPr lang="en-US" dirty="0" smtClean="0"/>
              <a:t>We suggest two techniques to mitigate this:</a:t>
            </a:r>
          </a:p>
          <a:p>
            <a:pPr marL="682625" lvl="1" indent="-342900"/>
            <a:r>
              <a:rPr lang="en-US" dirty="0" smtClean="0"/>
              <a:t>The kernel walks the receive queue and provides hardware with the TCP sequence of the most recent TLS record</a:t>
            </a:r>
          </a:p>
          <a:p>
            <a:pPr marL="682625" lvl="1" indent="-342900"/>
            <a:r>
              <a:rPr lang="en-US" dirty="0" smtClean="0"/>
              <a:t>Resync flow in HW</a:t>
            </a:r>
          </a:p>
          <a:p>
            <a:pPr marL="682625" lvl="1" indent="-342900"/>
            <a:endParaRPr lang="en-US" dirty="0" smtClean="0"/>
          </a:p>
          <a:p>
            <a:pPr marL="796925" lvl="1" indent="-457200">
              <a:buFont typeface="+mj-lt"/>
              <a:buAutoNum type="arabicPeriod"/>
            </a:pPr>
            <a:endParaRPr lang="en-US" dirty="0" smtClean="0"/>
          </a:p>
          <a:p>
            <a:pPr marL="682625" lvl="1" indent="-342900"/>
            <a:endParaRPr lang="en-US" dirty="0" smtClean="0"/>
          </a:p>
        </p:txBody>
      </p:sp>
      <p:sp>
        <p:nvSpPr>
          <p:cNvPr id="4" name="TextBox 9"/>
          <p:cNvSpPr txBox="1"/>
          <p:nvPr/>
        </p:nvSpPr>
        <p:spPr>
          <a:xfrm>
            <a:off x="7672962" y="1247338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sp>
        <p:nvSpPr>
          <p:cNvPr id="5" name="TextBox 16"/>
          <p:cNvSpPr txBox="1"/>
          <p:nvPr/>
        </p:nvSpPr>
        <p:spPr>
          <a:xfrm>
            <a:off x="7718752" y="3440344"/>
            <a:ext cx="5516380" cy="3132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 processed by the kernel:</a:t>
            </a:r>
            <a:endParaRPr lang="en-US" sz="2000" u="sng" dirty="0"/>
          </a:p>
        </p:txBody>
      </p:sp>
      <p:graphicFrame>
        <p:nvGraphicFramePr>
          <p:cNvPr id="6" name="Table 17"/>
          <p:cNvGraphicFramePr>
            <a:graphicFrameLocks noGrp="1"/>
          </p:cNvGraphicFramePr>
          <p:nvPr>
            <p:extLst/>
          </p:nvPr>
        </p:nvGraphicFramePr>
        <p:xfrm>
          <a:off x="8934428" y="1672430"/>
          <a:ext cx="463579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332"/>
                <a:gridCol w="1640233"/>
                <a:gridCol w="1640233"/>
              </a:tblGrid>
              <a:tr h="295409">
                <a:tc>
                  <a:txBody>
                    <a:bodyPr/>
                    <a:lstStyle/>
                    <a:p>
                      <a:r>
                        <a:rPr lang="en-US" dirty="0" smtClean="0"/>
                        <a:t>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14"/>
          <p:cNvGraphicFramePr>
            <a:graphicFrameLocks noGrp="1"/>
          </p:cNvGraphicFramePr>
          <p:nvPr>
            <p:extLst/>
          </p:nvPr>
        </p:nvGraphicFramePr>
        <p:xfrm>
          <a:off x="8938149" y="2761927"/>
          <a:ext cx="209574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046"/>
                <a:gridCol w="673239"/>
                <a:gridCol w="714457"/>
              </a:tblGrid>
              <a:tr h="484856"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16"/>
          <p:cNvSpPr txBox="1"/>
          <p:nvPr/>
        </p:nvSpPr>
        <p:spPr>
          <a:xfrm>
            <a:off x="8050309" y="2343841"/>
            <a:ext cx="4853267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/>
              <a:t>TCP </a:t>
            </a:r>
            <a:r>
              <a:rPr lang="en-US" sz="2000" u="sng" dirty="0" smtClean="0"/>
              <a:t>packets processed by userspace:</a:t>
            </a:r>
            <a:endParaRPr lang="en-US" sz="2000" u="sng" dirty="0"/>
          </a:p>
        </p:txBody>
      </p:sp>
      <p:sp>
        <p:nvSpPr>
          <p:cNvPr id="11" name="TextBox 16"/>
          <p:cNvSpPr txBox="1"/>
          <p:nvPr/>
        </p:nvSpPr>
        <p:spPr>
          <a:xfrm>
            <a:off x="7718752" y="4682138"/>
            <a:ext cx="5516380" cy="3132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TCP packets processed by hardware:</a:t>
            </a:r>
            <a:endParaRPr lang="en-US" sz="2000" u="sng" dirty="0"/>
          </a:p>
        </p:txBody>
      </p:sp>
      <p:graphicFrame>
        <p:nvGraphicFramePr>
          <p:cNvPr id="13" name="Table 14"/>
          <p:cNvGraphicFramePr>
            <a:graphicFrameLocks noGrp="1"/>
          </p:cNvGraphicFramePr>
          <p:nvPr>
            <p:extLst/>
          </p:nvPr>
        </p:nvGraphicFramePr>
        <p:xfrm>
          <a:off x="8934428" y="3957381"/>
          <a:ext cx="3310581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503"/>
                <a:gridCol w="665591"/>
                <a:gridCol w="704743"/>
                <a:gridCol w="588217"/>
                <a:gridCol w="692527"/>
              </a:tblGrid>
              <a:tr h="484856"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>
            <p:extLst/>
          </p:nvPr>
        </p:nvGraphicFramePr>
        <p:xfrm>
          <a:off x="8934428" y="5232507"/>
          <a:ext cx="4635798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392"/>
                <a:gridCol w="643276"/>
                <a:gridCol w="681116"/>
                <a:gridCol w="681117"/>
                <a:gridCol w="630663"/>
                <a:gridCol w="681117"/>
                <a:gridCol w="681117"/>
              </a:tblGrid>
              <a:tr h="484856"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9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Renegotiation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Before the ChangeCipherSpec (CCS) </a:t>
            </a:r>
            <a:r>
              <a:rPr lang="en-US" dirty="0" smtClean="0"/>
              <a:t>message the all data is encrypted using the old keys, after the CCS message all data is encrypted using new keys</a:t>
            </a:r>
          </a:p>
          <a:p>
            <a:pPr lvl="1"/>
            <a:endParaRPr lang="en-US" dirty="0"/>
          </a:p>
        </p:txBody>
      </p:sp>
      <p:pic>
        <p:nvPicPr>
          <p:cNvPr id="4100" name="Picture 4" descr="Image result for TLS handshak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777" y="2165212"/>
            <a:ext cx="7923416" cy="516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ight Brace 17"/>
          <p:cNvSpPr/>
          <p:nvPr/>
        </p:nvSpPr>
        <p:spPr bwMode="auto">
          <a:xfrm>
            <a:off x="11166763" y="2165212"/>
            <a:ext cx="665019" cy="3775347"/>
          </a:xfrm>
          <a:prstGeom prst="rightBrac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/>
          <p:cNvSpPr/>
          <p:nvPr/>
        </p:nvSpPr>
        <p:spPr bwMode="auto">
          <a:xfrm>
            <a:off x="11166763" y="6137564"/>
            <a:ext cx="456013" cy="443346"/>
          </a:xfrm>
          <a:prstGeom prst="rightBrac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1972555" y="3868219"/>
            <a:ext cx="1385454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b="0" dirty="0" smtClean="0"/>
              <a:t>old keys</a:t>
            </a:r>
            <a:endParaRPr lang="en-US" b="0" dirty="0"/>
          </a:p>
        </p:txBody>
      </p:sp>
      <p:sp>
        <p:nvSpPr>
          <p:cNvPr id="23" name="TextBox 22"/>
          <p:cNvSpPr txBox="1"/>
          <p:nvPr/>
        </p:nvSpPr>
        <p:spPr>
          <a:xfrm>
            <a:off x="12192001" y="6174571"/>
            <a:ext cx="1385454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b="0" dirty="0"/>
              <a:t>n</a:t>
            </a:r>
            <a:r>
              <a:rPr lang="en-US" b="0" dirty="0" smtClean="0"/>
              <a:t>ew keys</a:t>
            </a:r>
            <a:endParaRPr lang="en-US" b="0" dirty="0"/>
          </a:p>
        </p:txBody>
      </p:sp>
      <p:sp>
        <p:nvSpPr>
          <p:cNvPr id="24" name="Right Brace 23"/>
          <p:cNvSpPr/>
          <p:nvPr/>
        </p:nvSpPr>
        <p:spPr bwMode="auto">
          <a:xfrm flipH="1">
            <a:off x="2273297" y="2165212"/>
            <a:ext cx="727479" cy="3226779"/>
          </a:xfrm>
          <a:prstGeom prst="rightBrac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/>
          <p:cNvSpPr/>
          <p:nvPr/>
        </p:nvSpPr>
        <p:spPr bwMode="auto">
          <a:xfrm flipH="1">
            <a:off x="2501933" y="5588996"/>
            <a:ext cx="498843" cy="991914"/>
          </a:xfrm>
          <a:prstGeom prst="rightBrac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66961" y="3593935"/>
            <a:ext cx="1385454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b="0" dirty="0" smtClean="0"/>
              <a:t>old keys</a:t>
            </a:r>
            <a:endParaRPr lang="en-US" b="0" dirty="0"/>
          </a:p>
        </p:txBody>
      </p:sp>
      <p:sp>
        <p:nvSpPr>
          <p:cNvPr id="27" name="TextBox 26"/>
          <p:cNvSpPr txBox="1"/>
          <p:nvPr/>
        </p:nvSpPr>
        <p:spPr>
          <a:xfrm>
            <a:off x="592298" y="5900287"/>
            <a:ext cx="1385454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b="0" dirty="0"/>
              <a:t>n</a:t>
            </a:r>
            <a:r>
              <a:rPr lang="en-US" b="0" dirty="0" smtClean="0"/>
              <a:t>ew keys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6436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36"/>
    </mc:Choice>
    <mc:Fallback xmlns="">
      <p:transition spd="slow" advTm="76236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TLS Renegotiation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Assume packets are received in order during TLS key renegotiation</a:t>
            </a:r>
          </a:p>
          <a:p>
            <a:r>
              <a:rPr lang="en-US" dirty="0"/>
              <a:t>TLS Change Cipher Spec record is not identified by hardware, as a result old keys are used to decrypt data that was encrypted using new </a:t>
            </a:r>
            <a:r>
              <a:rPr lang="en-US" dirty="0" smtClean="0"/>
              <a:t>keys</a:t>
            </a:r>
          </a:p>
          <a:p>
            <a:r>
              <a:rPr lang="en-US" dirty="0" smtClean="0"/>
              <a:t>When </a:t>
            </a:r>
            <a:r>
              <a:rPr lang="en-US" dirty="0" err="1" smtClean="0"/>
              <a:t>kTLS</a:t>
            </a:r>
            <a:r>
              <a:rPr lang="en-US" dirty="0" smtClean="0"/>
              <a:t> first observes the CCS message:</a:t>
            </a:r>
          </a:p>
          <a:p>
            <a:pPr lvl="1"/>
            <a:r>
              <a:rPr lang="en-US" dirty="0" smtClean="0"/>
              <a:t>Request hardware to stop offload</a:t>
            </a:r>
          </a:p>
          <a:p>
            <a:pPr lvl="1"/>
            <a:r>
              <a:rPr lang="en-US" dirty="0" smtClean="0"/>
              <a:t>Walk all received packets and re-encrypt bad decrypted packets</a:t>
            </a:r>
            <a:endParaRPr lang="en-US" dirty="0"/>
          </a:p>
        </p:txBody>
      </p:sp>
      <p:sp>
        <p:nvSpPr>
          <p:cNvPr id="4" name="TextBox 9"/>
          <p:cNvSpPr txBox="1"/>
          <p:nvPr/>
        </p:nvSpPr>
        <p:spPr>
          <a:xfrm>
            <a:off x="-364165" y="5113054"/>
            <a:ext cx="2876096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 smtClean="0"/>
              <a:t>TLS records:</a:t>
            </a:r>
            <a:endParaRPr lang="en-US" sz="2000" u="sng" dirty="0"/>
          </a:p>
        </p:txBody>
      </p:sp>
      <p:graphicFrame>
        <p:nvGraphicFramePr>
          <p:cNvPr id="5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977955"/>
              </p:ext>
            </p:extLst>
          </p:nvPr>
        </p:nvGraphicFramePr>
        <p:xfrm>
          <a:off x="897301" y="5538146"/>
          <a:ext cx="1161413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875"/>
                <a:gridCol w="3179395"/>
                <a:gridCol w="2502047"/>
                <a:gridCol w="2949815"/>
              </a:tblGrid>
              <a:tr h="375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R2 (CCS)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R3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R4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013342"/>
              </p:ext>
            </p:extLst>
          </p:nvPr>
        </p:nvGraphicFramePr>
        <p:xfrm>
          <a:off x="897301" y="7155104"/>
          <a:ext cx="1165905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23"/>
                <a:gridCol w="1412823"/>
                <a:gridCol w="1282764"/>
                <a:gridCol w="1150374"/>
                <a:gridCol w="1258529"/>
                <a:gridCol w="1179871"/>
                <a:gridCol w="1386349"/>
                <a:gridCol w="1316688"/>
                <a:gridCol w="1258831"/>
              </a:tblGrid>
              <a:tr h="431002"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P2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P3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  <a:endParaRPr lang="en-US" sz="2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Box 16"/>
          <p:cNvSpPr txBox="1"/>
          <p:nvPr/>
        </p:nvSpPr>
        <p:spPr>
          <a:xfrm>
            <a:off x="9459" y="6681209"/>
            <a:ext cx="2205708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u="sng" dirty="0"/>
              <a:t>TCP </a:t>
            </a:r>
            <a:r>
              <a:rPr lang="en-US" sz="2000" u="sng" dirty="0" smtClean="0"/>
              <a:t>packets:</a:t>
            </a:r>
            <a:endParaRPr lang="en-US" sz="2000" u="sng" dirty="0"/>
          </a:p>
        </p:txBody>
      </p:sp>
      <p:sp>
        <p:nvSpPr>
          <p:cNvPr id="8" name="TextBox 16"/>
          <p:cNvSpPr txBox="1"/>
          <p:nvPr/>
        </p:nvSpPr>
        <p:spPr>
          <a:xfrm>
            <a:off x="5125449" y="6337544"/>
            <a:ext cx="3931434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decrypted using old key</a:t>
            </a:r>
            <a:endParaRPr lang="en-US" sz="2000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6943522" y="6701915"/>
            <a:ext cx="683826" cy="43248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7815324" y="6701915"/>
            <a:ext cx="294214" cy="4531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6"/>
          <p:cNvSpPr txBox="1"/>
          <p:nvPr/>
        </p:nvSpPr>
        <p:spPr>
          <a:xfrm>
            <a:off x="8435193" y="6321432"/>
            <a:ext cx="3931434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Authentication error</a:t>
            </a:r>
            <a:endParaRPr lang="en-US" sz="2000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9508842" y="6712268"/>
            <a:ext cx="683826" cy="43248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6"/>
          <p:cNvSpPr txBox="1"/>
          <p:nvPr/>
        </p:nvSpPr>
        <p:spPr>
          <a:xfrm>
            <a:off x="11219551" y="6321431"/>
            <a:ext cx="3931434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Stop decryption</a:t>
            </a:r>
            <a:endParaRPr lang="en-US" sz="2000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10893896" y="6633801"/>
            <a:ext cx="1289258" cy="50059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8313045" y="6687078"/>
            <a:ext cx="713607" cy="44732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6"/>
          <p:cNvSpPr txBox="1"/>
          <p:nvPr/>
        </p:nvSpPr>
        <p:spPr>
          <a:xfrm>
            <a:off x="1324035" y="4679240"/>
            <a:ext cx="3931434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encrypted using old key</a:t>
            </a:r>
            <a:endParaRPr lang="en-US" sz="2000" dirty="0"/>
          </a:p>
        </p:txBody>
      </p:sp>
      <p:cxnSp>
        <p:nvCxnSpPr>
          <p:cNvPr id="19" name="Straight Arrow Connector 18"/>
          <p:cNvCxnSpPr/>
          <p:nvPr/>
        </p:nvCxnSpPr>
        <p:spPr bwMode="auto">
          <a:xfrm flipH="1">
            <a:off x="3142108" y="5043611"/>
            <a:ext cx="683826" cy="43248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4013910" y="5043611"/>
            <a:ext cx="294214" cy="4531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16"/>
          <p:cNvSpPr txBox="1"/>
          <p:nvPr/>
        </p:nvSpPr>
        <p:spPr>
          <a:xfrm>
            <a:off x="7060935" y="4665730"/>
            <a:ext cx="3931434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2000" dirty="0" smtClean="0"/>
              <a:t>encrypted using new key</a:t>
            </a:r>
            <a:endParaRPr lang="en-US" sz="2000" dirty="0"/>
          </a:p>
        </p:txBody>
      </p:sp>
      <p:cxnSp>
        <p:nvCxnSpPr>
          <p:cNvPr id="22" name="Straight Arrow Connector 21"/>
          <p:cNvCxnSpPr/>
          <p:nvPr/>
        </p:nvCxnSpPr>
        <p:spPr bwMode="auto">
          <a:xfrm flipH="1">
            <a:off x="8879008" y="5030101"/>
            <a:ext cx="683826" cy="43248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9750810" y="5030101"/>
            <a:ext cx="294214" cy="45318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7126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36"/>
    </mc:Choice>
    <mc:Fallback xmlns="">
      <p:transition spd="slow" advTm="76236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/>
            <a:r>
              <a:rPr lang="en-US" b="1" u="sng" dirty="0" smtClean="0"/>
              <a:t>Problem 1:</a:t>
            </a:r>
            <a:r>
              <a:rPr lang="en-US" dirty="0" smtClean="0"/>
              <a:t> During initialization hardware already processed the next TLS record</a:t>
            </a:r>
          </a:p>
          <a:p>
            <a:pPr marL="796925" lvl="1" indent="-457200"/>
            <a:r>
              <a:rPr lang="en-US" dirty="0" smtClean="0"/>
              <a:t>Resync</a:t>
            </a:r>
          </a:p>
          <a:p>
            <a:pPr marL="796925" lvl="1" indent="-457200"/>
            <a:r>
              <a:rPr lang="en-US" dirty="0" smtClean="0"/>
              <a:t>Kernel provides the TCP sequence of the last record received to HW</a:t>
            </a:r>
          </a:p>
          <a:p>
            <a:pPr marL="457200" indent="-457200"/>
            <a:endParaRPr lang="en-US" b="1" u="sng" dirty="0" smtClean="0"/>
          </a:p>
          <a:p>
            <a:pPr marL="457200" indent="-457200"/>
            <a:r>
              <a:rPr lang="en-US" b="1" u="sng" dirty="0" smtClean="0"/>
              <a:t>Problem 2:</a:t>
            </a:r>
            <a:r>
              <a:rPr lang="en-US" dirty="0" smtClean="0"/>
              <a:t> Hardware lost </a:t>
            </a:r>
            <a:r>
              <a:rPr lang="en-US" dirty="0"/>
              <a:t>track of TLS records in the TCP stream </a:t>
            </a:r>
            <a:r>
              <a:rPr lang="en-US" dirty="0" smtClean="0"/>
              <a:t>due to packet drop/reorder</a:t>
            </a:r>
          </a:p>
          <a:p>
            <a:pPr marL="796925" lvl="1" indent="-457200"/>
            <a:r>
              <a:rPr lang="en-US" dirty="0" smtClean="0"/>
              <a:t>Resync</a:t>
            </a:r>
          </a:p>
          <a:p>
            <a:pPr marL="457200" indent="-457200"/>
            <a:endParaRPr lang="en-US" dirty="0"/>
          </a:p>
          <a:p>
            <a:pPr marL="457200" indent="-457200"/>
            <a:r>
              <a:rPr lang="en-US" b="1" u="sng" dirty="0" smtClean="0"/>
              <a:t>Problem 3:</a:t>
            </a:r>
            <a:r>
              <a:rPr lang="en-US" dirty="0" smtClean="0"/>
              <a:t> Old </a:t>
            </a:r>
            <a:r>
              <a:rPr lang="en-US" dirty="0"/>
              <a:t>keys are used to decrypt data that was encrypted using new </a:t>
            </a:r>
            <a:r>
              <a:rPr lang="en-US" dirty="0" smtClean="0"/>
              <a:t>keys after a TLS Change Cipher Spec record is not identified by hardware</a:t>
            </a:r>
          </a:p>
          <a:p>
            <a:pPr marL="796925" lvl="1" indent="-457200"/>
            <a:r>
              <a:rPr lang="en-US" dirty="0" err="1"/>
              <a:t>kTLS</a:t>
            </a:r>
            <a:r>
              <a:rPr lang="en-US" dirty="0"/>
              <a:t> will re-encrypt packets that were decrypted using the old </a:t>
            </a:r>
            <a:r>
              <a:rPr lang="en-US" dirty="0" smtClean="0"/>
              <a:t>key after processing CCS</a:t>
            </a:r>
          </a:p>
          <a:p>
            <a:pPr marL="796925" lvl="1" indent="-457200"/>
            <a:endParaRPr lang="en-US" b="1" u="sng" dirty="0" smtClean="0"/>
          </a:p>
          <a:p>
            <a:pPr marL="457200" indent="-457200"/>
            <a:r>
              <a:rPr lang="en-US" b="1" u="sng" dirty="0"/>
              <a:t>Problem </a:t>
            </a:r>
            <a:r>
              <a:rPr lang="en-US" b="1" u="sng" dirty="0" smtClean="0"/>
              <a:t>4:</a:t>
            </a:r>
            <a:r>
              <a:rPr lang="en-US" dirty="0" smtClean="0"/>
              <a:t> Some TLS records contain both ciphertext and plaintext packets</a:t>
            </a:r>
            <a:endParaRPr lang="en-US" dirty="0"/>
          </a:p>
          <a:p>
            <a:pPr marL="796925" lvl="1" indent="-457200"/>
            <a:r>
              <a:rPr lang="en-US" dirty="0" smtClean="0"/>
              <a:t>Partial decryption</a:t>
            </a:r>
            <a:endParaRPr lang="en-US" dirty="0"/>
          </a:p>
          <a:p>
            <a:pPr marL="457200" indent="-457200"/>
            <a:endParaRPr lang="en-US" b="1" u="sng" dirty="0"/>
          </a:p>
          <a:p>
            <a:pPr marL="457200" indent="-457200"/>
            <a:endParaRPr lang="en-US" b="1" u="sng" dirty="0"/>
          </a:p>
          <a:p>
            <a:pPr marL="457200" indent="-457200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9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12950920" cy="6395446"/>
          </a:xfrm>
        </p:spPr>
        <p:txBody>
          <a:bodyPr>
            <a:normAutofit/>
          </a:bodyPr>
          <a:lstStyle/>
          <a:p>
            <a:r>
              <a:rPr lang="en-US" dirty="0"/>
              <a:t>Need to pass 2 bits of metadata in the SKB</a:t>
            </a:r>
          </a:p>
          <a:p>
            <a:pPr lvl="1"/>
            <a:r>
              <a:rPr lang="en-US" dirty="0" err="1"/>
              <a:t>crypto_done</a:t>
            </a:r>
            <a:r>
              <a:rPr lang="en-US" dirty="0"/>
              <a:t> – was packet processed by hardware?</a:t>
            </a:r>
          </a:p>
          <a:p>
            <a:pPr lvl="1"/>
            <a:r>
              <a:rPr lang="en-US" dirty="0" err="1"/>
              <a:t>crypto_success</a:t>
            </a:r>
            <a:r>
              <a:rPr lang="en-US" dirty="0"/>
              <a:t> – was any error encountered during this packet’s processing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Prevent coalescing of plaintext and ciphertext SKBs</a:t>
            </a:r>
            <a:endParaRPr lang="en-US" sz="2100" dirty="0" smtClean="0"/>
          </a:p>
          <a:p>
            <a:pPr lvl="1"/>
            <a:r>
              <a:rPr lang="en-US" dirty="0" err="1" smtClean="0"/>
              <a:t>tcp_collapse</a:t>
            </a:r>
            <a:r>
              <a:rPr lang="en-US" dirty="0" smtClean="0"/>
              <a:t>/</a:t>
            </a:r>
            <a:r>
              <a:rPr lang="en-US" dirty="0" err="1" smtClean="0"/>
              <a:t>gro</a:t>
            </a:r>
            <a:r>
              <a:rPr lang="en-US" dirty="0" smtClean="0"/>
              <a:t> must not coalesce ciphertext and plaintext</a:t>
            </a:r>
          </a:p>
          <a:p>
            <a:endParaRPr lang="en-US" dirty="0"/>
          </a:p>
          <a:p>
            <a:r>
              <a:rPr lang="en-US" dirty="0" smtClean="0"/>
              <a:t>TCP OOO queue might get bloated with plaintext-ciphertext-plaintext-…</a:t>
            </a:r>
          </a:p>
          <a:p>
            <a:pPr lvl="1"/>
            <a:r>
              <a:rPr lang="en-US" dirty="0" smtClean="0"/>
              <a:t>Could re-encrypt packets in OOO queue when pruning</a:t>
            </a:r>
          </a:p>
          <a:p>
            <a:pPr marL="312736" lvl="1" indent="0">
              <a:buNone/>
            </a:pPr>
            <a:endParaRPr lang="en-US" dirty="0" smtClean="0"/>
          </a:p>
          <a:p>
            <a:r>
              <a:rPr lang="en-US" dirty="0" err="1" smtClean="0"/>
              <a:t>crypto_done</a:t>
            </a:r>
            <a:r>
              <a:rPr lang="en-US" dirty="0" smtClean="0"/>
              <a:t> &amp;&amp; !</a:t>
            </a:r>
            <a:r>
              <a:rPr lang="en-US" dirty="0" err="1" smtClean="0"/>
              <a:t>crypto_success</a:t>
            </a:r>
            <a:endParaRPr lang="en-US" dirty="0" smtClean="0"/>
          </a:p>
          <a:p>
            <a:pPr lvl="1"/>
            <a:r>
              <a:rPr lang="en-US" dirty="0" smtClean="0"/>
              <a:t>HW might continue processing a packet after encountering an error in the middle of it</a:t>
            </a:r>
          </a:p>
          <a:p>
            <a:pPr lvl="1"/>
            <a:r>
              <a:rPr lang="en-US" dirty="0" smtClean="0"/>
              <a:t>Call netdevice from </a:t>
            </a:r>
            <a:r>
              <a:rPr lang="en-US" dirty="0" err="1" smtClean="0"/>
              <a:t>kTLS</a:t>
            </a:r>
            <a:r>
              <a:rPr lang="en-US" dirty="0" smtClean="0"/>
              <a:t> to fix packet – revert the HW operation in software</a:t>
            </a:r>
          </a:p>
          <a:p>
            <a:pPr lvl="1"/>
            <a:endParaRPr lang="en-US" dirty="0" smtClean="0"/>
          </a:p>
          <a:p>
            <a:pPr marL="342900" indent="-342900"/>
            <a:r>
              <a:rPr lang="en-US" dirty="0" smtClean="0"/>
              <a:t>TLS offload uses CHECKSUM_UNNECESSARY</a:t>
            </a:r>
            <a:endParaRPr lang="en-US" dirty="0"/>
          </a:p>
          <a:p>
            <a:pPr marL="682625" lvl="1" indent="-342900"/>
            <a:r>
              <a:rPr lang="en-US" dirty="0" smtClean="0"/>
              <a:t>CHECKSUM_COMPLETE is meaningful only for the ciphertext that was replaced.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59797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571969" y="6780943"/>
            <a:ext cx="8515772" cy="912345"/>
          </a:xfrm>
        </p:spPr>
        <p:txBody>
          <a:bodyPr/>
          <a:lstStyle/>
          <a:p>
            <a:r>
              <a:rPr lang="en-US" sz="6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44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Decryption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66960" y="1247338"/>
            <a:ext cx="7505324" cy="6395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Observations:</a:t>
            </a:r>
          </a:p>
          <a:p>
            <a:pPr marL="342900" indent="-342900"/>
            <a:r>
              <a:rPr lang="en-US" dirty="0" smtClean="0"/>
              <a:t>Given the counter (IV) and the key - GCM allows for decryption of any cipher block in the record.</a:t>
            </a:r>
          </a:p>
          <a:p>
            <a:pPr marL="682625" lvl="1" indent="-342900"/>
            <a:r>
              <a:rPr lang="en-US" dirty="0" smtClean="0"/>
              <a:t>XOR ciphertext block with </a:t>
            </a:r>
            <a:r>
              <a:rPr lang="en-US" dirty="0" err="1" smtClean="0"/>
              <a:t>E_k</a:t>
            </a:r>
            <a:r>
              <a:rPr lang="en-US" dirty="0" smtClean="0"/>
              <a:t>(Counter + </a:t>
            </a:r>
            <a:r>
              <a:rPr lang="en-US" dirty="0" err="1" smtClean="0"/>
              <a:t>BlockNumber</a:t>
            </a:r>
            <a:r>
              <a:rPr lang="en-US" dirty="0" smtClean="0"/>
              <a:t>)</a:t>
            </a:r>
          </a:p>
          <a:p>
            <a:pPr marL="342900" indent="-342900"/>
            <a:r>
              <a:rPr lang="en-US" dirty="0" smtClean="0"/>
              <a:t>Authentication tag is computed over the ciphertext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Algorithm:</a:t>
            </a:r>
          </a:p>
          <a:p>
            <a:pPr marL="457200" indent="-457200">
              <a:buAutoNum type="arabicParenR"/>
            </a:pPr>
            <a:r>
              <a:rPr lang="en-US" dirty="0" smtClean="0"/>
              <a:t>Calculate keystream by encrypting the counters</a:t>
            </a:r>
          </a:p>
          <a:p>
            <a:pPr marL="457200" indent="-457200">
              <a:buAutoNum type="arabicParenR"/>
            </a:pPr>
            <a:r>
              <a:rPr lang="en-US" dirty="0" smtClean="0"/>
              <a:t>For each ciphertext block</a:t>
            </a:r>
          </a:p>
          <a:p>
            <a:pPr marL="796925" lvl="1" indent="-457200">
              <a:buAutoNum type="arabicParenR"/>
            </a:pPr>
            <a:r>
              <a:rPr lang="en-US" dirty="0" smtClean="0"/>
              <a:t>If plaintext: XOR with keystream to obtain ciphertext and multiply ciphertext with H</a:t>
            </a:r>
          </a:p>
          <a:p>
            <a:pPr marL="796925" lvl="1" indent="-457200">
              <a:buAutoNum type="arabicParenR"/>
            </a:pPr>
            <a:r>
              <a:rPr lang="en-US" smtClean="0"/>
              <a:t>If ciphertext: </a:t>
            </a:r>
            <a:r>
              <a:rPr lang="en-US" dirty="0" smtClean="0"/>
              <a:t>XOR with keystream to obtain plaintext and </a:t>
            </a:r>
            <a:r>
              <a:rPr lang="en-US" dirty="0" err="1" smtClean="0"/>
              <a:t>and</a:t>
            </a:r>
            <a:r>
              <a:rPr lang="en-US" dirty="0" smtClean="0"/>
              <a:t> multiply </a:t>
            </a:r>
            <a:r>
              <a:rPr lang="en-US" dirty="0"/>
              <a:t>ciphertext </a:t>
            </a:r>
            <a:r>
              <a:rPr lang="en-US" dirty="0" smtClean="0"/>
              <a:t>with H</a:t>
            </a:r>
          </a:p>
          <a:p>
            <a:pPr marL="457200" indent="-457200">
              <a:buAutoNum type="arabicParenR"/>
            </a:pPr>
            <a:r>
              <a:rPr lang="en-US" dirty="0" smtClean="0"/>
              <a:t>Check authentication tag</a:t>
            </a:r>
          </a:p>
          <a:p>
            <a:pPr marL="457200" indent="-457200">
              <a:buAutoNum type="arabicParenR"/>
            </a:pPr>
            <a:r>
              <a:rPr lang="en-US" dirty="0" smtClean="0"/>
              <a:t>Return plaintext and authentication result.</a:t>
            </a:r>
          </a:p>
          <a:p>
            <a:pPr marL="457200" indent="-457200">
              <a:buAutoNum type="arabicParenR"/>
            </a:pPr>
            <a:endParaRPr lang="en-US" dirty="0"/>
          </a:p>
        </p:txBody>
      </p:sp>
      <p:pic>
        <p:nvPicPr>
          <p:cNvPr id="1028" name="Picture 4" descr="GCM encryption operation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751" y="1150373"/>
            <a:ext cx="5414649" cy="546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53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88"/>
    </mc:Choice>
    <mc:Fallback xmlns="">
      <p:transition spd="slow" advTm="95788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llanoxTheme2">
  <a:themeElements>
    <a:clrScheme name="Custom 1">
      <a:dk1>
        <a:srgbClr val="000000"/>
      </a:dk1>
      <a:lt1>
        <a:srgbClr val="FFFFFF"/>
      </a:lt1>
      <a:dk2>
        <a:srgbClr val="002B60"/>
      </a:dk2>
      <a:lt2>
        <a:srgbClr val="50A1D6"/>
      </a:lt2>
      <a:accent1>
        <a:srgbClr val="00518E"/>
      </a:accent1>
      <a:accent2>
        <a:srgbClr val="5DA533"/>
      </a:accent2>
      <a:accent3>
        <a:srgbClr val="EF9314"/>
      </a:accent3>
      <a:accent4>
        <a:srgbClr val="FF5A00"/>
      </a:accent4>
      <a:accent5>
        <a:srgbClr val="E33D12"/>
      </a:accent5>
      <a:accent6>
        <a:srgbClr val="49305F"/>
      </a:accent6>
      <a:hlink>
        <a:srgbClr val="00518E"/>
      </a:hlink>
      <a:folHlink>
        <a:srgbClr val="4E575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b7abbf445624acab0945d5162548443 xmlns="f6932a1d-93ab-44e9-9070-3c8e591f0422">
      <Terms xmlns="http://schemas.microsoft.com/office/infopath/2007/PartnerControls"/>
    </gb7abbf445624acab0945d5162548443>
    <i3c7b412a0c043c5aa4ce8272439ba40 xmlns="f6932a1d-93ab-44e9-9070-3c8e591f0422">
      <Terms xmlns="http://schemas.microsoft.com/office/infopath/2007/PartnerControls"/>
    </i3c7b412a0c043c5aa4ce8272439ba40>
    <ob0f2669c25f4d35b84445d1e0d91f54 xmlns="f6932a1d-93ab-44e9-9070-3c8e591f0422">
      <Terms xmlns="http://schemas.microsoft.com/office/infopath/2007/PartnerControls"/>
    </ob0f2669c25f4d35b84445d1e0d91f54>
    <TaxCatchAll xmlns="f6932a1d-93ab-44e9-9070-3c8e591f0422"/>
    <lc15ae86e2914bd38ef0beeaac5fd0f8 xmlns="f6932a1d-93ab-44e9-9070-3c8e591f0422">
      <Terms xmlns="http://schemas.microsoft.com/office/infopath/2007/PartnerControls"/>
    </lc15ae86e2914bd38ef0beeaac5fd0f8>
    <_dlc_DocId xmlns="6c79c3cc-6104-4721-8d0f-dcd12c31a59c">MLNX1-44-187</_dlc_DocId>
    <_dlc_DocIdUrl xmlns="6c79c3cc-6104-4721-8d0f-dcd12c31a59c">
      <Url>https://portalx.mellanox.com/sites/Architecture/SWArch/AdvancedDev/_layouts/15/DocIdRedir.aspx?ID=MLNX1-44-187</Url>
      <Description>MLNX1-44-187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971958029AC94B927C9D744D383D69" ma:contentTypeVersion="9" ma:contentTypeDescription="Create a new document." ma:contentTypeScope="" ma:versionID="3a30572a6bfdabee1d7e937dc5bee9e9">
  <xsd:schema xmlns:xsd="http://www.w3.org/2001/XMLSchema" xmlns:xs="http://www.w3.org/2001/XMLSchema" xmlns:p="http://schemas.microsoft.com/office/2006/metadata/properties" xmlns:ns2="6c79c3cc-6104-4721-8d0f-dcd12c31a59c" xmlns:ns3="f6932a1d-93ab-44e9-9070-3c8e591f0422" targetNamespace="http://schemas.microsoft.com/office/2006/metadata/properties" ma:root="true" ma:fieldsID="a5a417fd9294f7f98897fe022ed95b06" ns2:_="" ns3:_="">
    <xsd:import namespace="6c79c3cc-6104-4721-8d0f-dcd12c31a59c"/>
    <xsd:import namespace="f6932a1d-93ab-44e9-9070-3c8e591f042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xCatchAll" minOccurs="0"/>
                <xsd:element ref="ns3:ob0f2669c25f4d35b84445d1e0d91f54" minOccurs="0"/>
                <xsd:element ref="ns3:i3c7b412a0c043c5aa4ce8272439ba40" minOccurs="0"/>
                <xsd:element ref="ns3:lc15ae86e2914bd38ef0beeaac5fd0f8" minOccurs="0"/>
                <xsd:element ref="ns3:gb7abbf445624acab0945d516254844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9c3cc-6104-4721-8d0f-dcd12c31a59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932a1d-93ab-44e9-9070-3c8e591f0422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description="" ma:hidden="true" ma:list="{1b93c3f5-aa71-4546-84d5-69811ed3e136}" ma:internalName="TaxCatchAll" ma:showField="CatchAllData" ma:web="3eed3c37-5613-432a-ab2b-e3b1abeb61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b0f2669c25f4d35b84445d1e0d91f54" ma:index="12" nillable="true" ma:taxonomy="true" ma:internalName="ob0f2669c25f4d35b84445d1e0d91f54" ma:taxonomyFieldName="Document_Type" ma:displayName="Document Type" ma:readOnly="false" ma:default="" ma:fieldId="{8b0f2669-c25f-4d35-b844-45d1e0d91f54}" ma:sspId="5ef4f091-9e57-4986-983b-3928e86d97f4" ma:termSetId="1300fbf2-f4c5-4efa-87b7-0737e7ecd0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3c7b412a0c043c5aa4ce8272439ba40" ma:index="13" nillable="true" ma:taxonomy="true" ma:internalName="i3c7b412a0c043c5aa4ce8272439ba40" ma:taxonomyFieldName="Product_x0020_Category" ma:displayName="Product Category" ma:readOnly="false" ma:default="" ma:fieldId="{23c7b412-a0c0-43c5-aa4c-e8272439ba40}" ma:sspId="5ef4f091-9e57-4986-983b-3928e86d97f4" ma:termSetId="a1bb132f-0df5-48c4-aa07-bebcb1b1aaa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15ae86e2914bd38ef0beeaac5fd0f8" ma:index="14" nillable="true" ma:taxonomy="true" ma:internalName="lc15ae86e2914bd38ef0beeaac5fd0f8" ma:taxonomyFieldName="Product_x0020_Family" ma:displayName="Product Family" ma:readOnly="false" ma:default="" ma:fieldId="{5c15ae86-e291-4bd3-8ef0-beeaac5fd0f8}" ma:sspId="5ef4f091-9e57-4986-983b-3928e86d97f4" ma:termSetId="1c43c893-65fb-4ac6-a007-c61ef019f1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b7abbf445624acab0945d5162548443" ma:index="15" nillable="true" ma:taxonomy="true" ma:internalName="gb7abbf445624acab0945d5162548443" ma:taxonomyFieldName="Product_x0020_Name" ma:displayName="Product Name" ma:default="" ma:fieldId="{0b7abbf4-4562-4aca-b094-5d5162548443}" ma:sspId="5ef4f091-9e57-4986-983b-3928e86d97f4" ma:termSetId="58851ee2-bdc0-4a0f-bab8-9403bd807dc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E117725-7844-4D54-9562-47FD3E7AE5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025844-E1B7-41CF-83BC-8E26C162966B}">
  <ds:schemaRefs>
    <ds:schemaRef ds:uri="http://purl.org/dc/elements/1.1/"/>
    <ds:schemaRef ds:uri="6c79c3cc-6104-4721-8d0f-dcd12c31a59c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f6932a1d-93ab-44e9-9070-3c8e591f0422"/>
  </ds:schemaRefs>
</ds:datastoreItem>
</file>

<file path=customXml/itemProps3.xml><?xml version="1.0" encoding="utf-8"?>
<ds:datastoreItem xmlns:ds="http://schemas.openxmlformats.org/officeDocument/2006/customXml" ds:itemID="{089C51C7-602C-4E57-8E0A-968AE79727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79c3cc-6104-4721-8d0f-dcd12c31a59c"/>
    <ds:schemaRef ds:uri="f6932a1d-93ab-44e9-9070-3c8e591f04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802952A-FDD0-480D-96C3-A6EDE261221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45393</TotalTime>
  <Words>1367</Words>
  <Application>Microsoft Office PowerPoint</Application>
  <PresentationFormat>Custom</PresentationFormat>
  <Paragraphs>364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ＭＳ Ｐゴシック</vt:lpstr>
      <vt:lpstr>Arial</vt:lpstr>
      <vt:lpstr>Arial Narrow Bold</vt:lpstr>
      <vt:lpstr>Lucida Grande</vt:lpstr>
      <vt:lpstr>Wingdings</vt:lpstr>
      <vt:lpstr>MellanoxTheme2</vt:lpstr>
      <vt:lpstr>TLS Receive Side Crypto Offload to NIC</vt:lpstr>
      <vt:lpstr>Overview</vt:lpstr>
      <vt:lpstr>TLS Record Protocol: Application Data </vt:lpstr>
      <vt:lpstr>TLS Crypto Offload vs. Other Protocols</vt:lpstr>
      <vt:lpstr>Motivation</vt:lpstr>
      <vt:lpstr>Control Path</vt:lpstr>
      <vt:lpstr>Model</vt:lpstr>
      <vt:lpstr>Data Path – Fast Path</vt:lpstr>
      <vt:lpstr>Data Path – Slow Path (Partial Decryption)</vt:lpstr>
      <vt:lpstr>Data Path – Slow Path (Resync)</vt:lpstr>
      <vt:lpstr>Partial Decryption</vt:lpstr>
      <vt:lpstr>Resynchronization</vt:lpstr>
      <vt:lpstr>Optimizing Initial Synchronization</vt:lpstr>
      <vt:lpstr>TLS Renegotiation</vt:lpstr>
      <vt:lpstr>TLS Renegotiation</vt:lpstr>
      <vt:lpstr>Summary</vt:lpstr>
      <vt:lpstr>Discussion</vt:lpstr>
      <vt:lpstr>PowerPoint Presentation</vt:lpstr>
      <vt:lpstr>Partial Decryption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Containers ramp-up</dc:title>
  <dc:creator>adv-dev</dc:creator>
  <cp:lastModifiedBy>Boris Pismenny</cp:lastModifiedBy>
  <cp:revision>2226</cp:revision>
  <cp:lastPrinted>2012-11-12T23:29:59Z</cp:lastPrinted>
  <dcterms:created xsi:type="dcterms:W3CDTF">2011-02-19T01:27:26Z</dcterms:created>
  <dcterms:modified xsi:type="dcterms:W3CDTF">2017-11-16T16:48:45Z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0x010100CE971958029AC94B927C9D744D383D69</vt:lpwstr>
  </property>
  <property fmtid="{D5CDD505-2E9C-101B-9397-08002B2CF9AE}" pid="3" name="Product_x0020_Family">
    <vt:lpwstr/>
  </property>
  <property fmtid="{D5CDD505-2E9C-101B-9397-08002B2CF9AE}" pid="4" name="Document_Type">
    <vt:lpwstr/>
  </property>
  <property fmtid="{D5CDD505-2E9C-101B-9397-08002B2CF9AE}" pid="5" name="Product_x0020_Category">
    <vt:lpwstr/>
  </property>
  <property fmtid="{D5CDD505-2E9C-101B-9397-08002B2CF9AE}" pid="6" name="Product_x0020_Name">
    <vt:lpwstr/>
  </property>
  <property fmtid="{D5CDD505-2E9C-101B-9397-08002B2CF9AE}" pid="7" name="Product Family">
    <vt:lpwstr/>
  </property>
  <property fmtid="{D5CDD505-2E9C-101B-9397-08002B2CF9AE}" pid="8" name="Product Category">
    <vt:lpwstr/>
  </property>
  <property fmtid="{D5CDD505-2E9C-101B-9397-08002B2CF9AE}" pid="9" name="Product Name">
    <vt:lpwstr/>
  </property>
  <property fmtid="{D5CDD505-2E9C-101B-9397-08002B2CF9AE}" pid="10" name="Approvers">
    <vt:lpwstr/>
  </property>
  <property fmtid="{D5CDD505-2E9C-101B-9397-08002B2CF9AE}" pid="11" name="_dlc_DocIdItemGuid">
    <vt:lpwstr>31d86525-7370-4d3b-972d-b2b004a07e7d</vt:lpwstr>
  </property>
</Properties>
</file>